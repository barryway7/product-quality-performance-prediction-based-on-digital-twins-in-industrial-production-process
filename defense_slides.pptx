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1.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2.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256" r:id="rId2"/>
    <p:sldId id="260" r:id="rId3"/>
    <p:sldId id="294" r:id="rId4"/>
    <p:sldId id="299" r:id="rId5"/>
    <p:sldId id="323" r:id="rId6"/>
    <p:sldId id="300" r:id="rId7"/>
    <p:sldId id="296" r:id="rId8"/>
    <p:sldId id="317" r:id="rId9"/>
    <p:sldId id="302" r:id="rId10"/>
    <p:sldId id="298" r:id="rId11"/>
    <p:sldId id="443" r:id="rId12"/>
    <p:sldId id="321" r:id="rId13"/>
    <p:sldId id="434" r:id="rId14"/>
    <p:sldId id="445" r:id="rId15"/>
    <p:sldId id="295" r:id="rId16"/>
    <p:sldId id="446" r:id="rId17"/>
    <p:sldId id="447" r:id="rId18"/>
    <p:sldId id="449" r:id="rId19"/>
    <p:sldId id="450" r:id="rId20"/>
    <p:sldId id="451" r:id="rId21"/>
    <p:sldId id="297" r:id="rId22"/>
    <p:sldId id="320" r:id="rId23"/>
    <p:sldId id="440" r:id="rId24"/>
    <p:sldId id="444" r:id="rId25"/>
    <p:sldId id="452" r:id="rId26"/>
    <p:sldId id="453" r:id="rId27"/>
    <p:sldId id="454" r:id="rId28"/>
    <p:sldId id="455" r:id="rId29"/>
    <p:sldId id="436" r:id="rId30"/>
    <p:sldId id="438" r:id="rId31"/>
    <p:sldId id="458" r:id="rId32"/>
    <p:sldId id="459" r:id="rId33"/>
    <p:sldId id="441" r:id="rId34"/>
    <p:sldId id="456" r:id="rId35"/>
    <p:sldId id="457" r:id="rId36"/>
    <p:sldId id="442" r:id="rId37"/>
    <p:sldId id="437" r:id="rId38"/>
    <p:sldId id="318" r:id="rId39"/>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蔚 付" initials="蔚付" lastIdx="2" clrIdx="0">
    <p:extLst>
      <p:ext uri="{19B8F6BF-5375-455C-9EA6-DF929625EA0E}">
        <p15:presenceInfo xmlns:p15="http://schemas.microsoft.com/office/powerpoint/2012/main" userId="eac3fd691c93263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a:srgbClr val="0170BD"/>
    <a:srgbClr val="7F7F7F"/>
    <a:srgbClr val="595959"/>
    <a:srgbClr val="1C4987"/>
    <a:srgbClr val="F2F2F2"/>
    <a:srgbClr val="014099"/>
    <a:srgbClr val="016FBD"/>
    <a:srgbClr val="1536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102" autoAdjust="0"/>
    <p:restoredTop sz="84997" autoAdjust="0"/>
  </p:normalViewPr>
  <p:slideViewPr>
    <p:cSldViewPr snapToGrid="0">
      <p:cViewPr varScale="1">
        <p:scale>
          <a:sx n="83" d="100"/>
          <a:sy n="83" d="100"/>
        </p:scale>
        <p:origin x="139" y="62"/>
      </p:cViewPr>
      <p:guideLst>
        <p:guide orient="horz" pos="2160"/>
        <p:guide pos="3840"/>
      </p:guideLst>
    </p:cSldViewPr>
  </p:slideViewPr>
  <p:notesTextViewPr>
    <p:cViewPr>
      <p:scale>
        <a:sx n="1" d="1"/>
        <a:sy n="1" d="1"/>
      </p:scale>
      <p:origin x="0" y="0"/>
    </p:cViewPr>
  </p:notesTextViewPr>
  <p:sorterViewPr>
    <p:cViewPr>
      <p:scale>
        <a:sx n="25" d="100"/>
        <a:sy n="25" d="100"/>
      </p:scale>
      <p:origin x="0" y="0"/>
    </p:cViewPr>
  </p:sorterViewPr>
  <p:notesViewPr>
    <p:cSldViewPr snapToGrid="0">
      <p:cViewPr varScale="1">
        <p:scale>
          <a:sx n="101" d="100"/>
          <a:sy n="101" d="100"/>
        </p:scale>
        <p:origin x="2228" y="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0738889C-B22C-4E65-86F8-0295B46EF47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1C9F797D-8B86-4807-82B1-96B381FE63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09316AC-052E-40B7-9486-8B03B86AE9EB}" type="datetimeFigureOut">
              <a:rPr lang="zh-CN" altLang="en-US" smtClean="0"/>
              <a:t>2025-06-04</a:t>
            </a:fld>
            <a:endParaRPr lang="zh-CN" altLang="en-US"/>
          </a:p>
        </p:txBody>
      </p:sp>
      <p:sp>
        <p:nvSpPr>
          <p:cNvPr id="4" name="页脚占位符 3">
            <a:extLst>
              <a:ext uri="{FF2B5EF4-FFF2-40B4-BE49-F238E27FC236}">
                <a16:creationId xmlns:a16="http://schemas.microsoft.com/office/drawing/2014/main" id="{9434196B-4B36-4F6B-AAF3-0D58F6B8FC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D91CB7E0-36C9-4B90-A463-99E8F98254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B7F682-55B2-4329-AC2C-A10F5E2B5A3A}" type="slidenum">
              <a:rPr lang="zh-CN" altLang="en-US" smtClean="0"/>
              <a:t>‹#›</a:t>
            </a:fld>
            <a:endParaRPr lang="zh-CN" altLang="en-US"/>
          </a:p>
        </p:txBody>
      </p:sp>
    </p:spTree>
    <p:extLst>
      <p:ext uri="{BB962C8B-B14F-4D97-AF65-F5344CB8AC3E}">
        <p14:creationId xmlns:p14="http://schemas.microsoft.com/office/powerpoint/2010/main" val="32118642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73FBB6-CB90-492C-AA87-DA57C090CB1B}" type="datetimeFigureOut">
              <a:rPr lang="zh-CN" altLang="en-US" smtClean="0"/>
              <a:t>2025-06-04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E9A390-5084-4A90-8F0B-742CA5BE78B1}" type="slidenum">
              <a:rPr lang="zh-CN" altLang="en-US" smtClean="0"/>
              <a:t>‹#›</a:t>
            </a:fld>
            <a:endParaRPr lang="zh-CN" altLang="en-US"/>
          </a:p>
        </p:txBody>
      </p:sp>
    </p:spTree>
    <p:extLst>
      <p:ext uri="{BB962C8B-B14F-4D97-AF65-F5344CB8AC3E}">
        <p14:creationId xmlns:p14="http://schemas.microsoft.com/office/powerpoint/2010/main" val="26641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E9A390-5084-4A90-8F0B-742CA5BE78B1}" type="slidenum">
              <a:rPr lang="zh-CN" altLang="en-US" smtClean="0"/>
              <a:t>1</a:t>
            </a:fld>
            <a:endParaRPr lang="zh-CN" altLang="en-US"/>
          </a:p>
        </p:txBody>
      </p:sp>
    </p:spTree>
    <p:extLst>
      <p:ext uri="{BB962C8B-B14F-4D97-AF65-F5344CB8AC3E}">
        <p14:creationId xmlns:p14="http://schemas.microsoft.com/office/powerpoint/2010/main" val="3733424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E9A390-5084-4A90-8F0B-742CA5BE78B1}" type="slidenum">
              <a:rPr lang="zh-CN" altLang="en-US" smtClean="0"/>
              <a:t>2</a:t>
            </a:fld>
            <a:endParaRPr lang="zh-CN" altLang="en-US"/>
          </a:p>
        </p:txBody>
      </p:sp>
    </p:spTree>
    <p:extLst>
      <p:ext uri="{BB962C8B-B14F-4D97-AF65-F5344CB8AC3E}">
        <p14:creationId xmlns:p14="http://schemas.microsoft.com/office/powerpoint/2010/main" val="2949281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E9A390-5084-4A90-8F0B-742CA5BE78B1}" type="slidenum">
              <a:rPr lang="zh-CN" altLang="en-US" smtClean="0"/>
              <a:t>3</a:t>
            </a:fld>
            <a:endParaRPr lang="zh-CN" altLang="en-US"/>
          </a:p>
        </p:txBody>
      </p:sp>
    </p:spTree>
    <p:extLst>
      <p:ext uri="{BB962C8B-B14F-4D97-AF65-F5344CB8AC3E}">
        <p14:creationId xmlns:p14="http://schemas.microsoft.com/office/powerpoint/2010/main" val="3758527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E9A390-5084-4A90-8F0B-742CA5BE78B1}" type="slidenum">
              <a:rPr lang="zh-CN" altLang="en-US" smtClean="0"/>
              <a:t>4</a:t>
            </a:fld>
            <a:endParaRPr lang="zh-CN" altLang="en-US"/>
          </a:p>
        </p:txBody>
      </p:sp>
    </p:spTree>
    <p:extLst>
      <p:ext uri="{BB962C8B-B14F-4D97-AF65-F5344CB8AC3E}">
        <p14:creationId xmlns:p14="http://schemas.microsoft.com/office/powerpoint/2010/main" val="4100511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E9A390-5084-4A90-8F0B-742CA5BE78B1}" type="slidenum">
              <a:rPr lang="zh-CN" altLang="en-US" smtClean="0"/>
              <a:t>5</a:t>
            </a:fld>
            <a:endParaRPr lang="zh-CN" altLang="en-US"/>
          </a:p>
        </p:txBody>
      </p:sp>
    </p:spTree>
    <p:extLst>
      <p:ext uri="{BB962C8B-B14F-4D97-AF65-F5344CB8AC3E}">
        <p14:creationId xmlns:p14="http://schemas.microsoft.com/office/powerpoint/2010/main" val="9645508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E9A390-5084-4A90-8F0B-742CA5BE78B1}" type="slidenum">
              <a:rPr lang="zh-CN" altLang="en-US" smtClean="0"/>
              <a:t>6</a:t>
            </a:fld>
            <a:endParaRPr lang="zh-CN" altLang="en-US"/>
          </a:p>
        </p:txBody>
      </p:sp>
    </p:spTree>
    <p:extLst>
      <p:ext uri="{BB962C8B-B14F-4D97-AF65-F5344CB8AC3E}">
        <p14:creationId xmlns:p14="http://schemas.microsoft.com/office/powerpoint/2010/main" val="784089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E9A390-5084-4A90-8F0B-742CA5BE78B1}" type="slidenum">
              <a:rPr lang="zh-CN" altLang="en-US" smtClean="0"/>
              <a:t>7</a:t>
            </a:fld>
            <a:endParaRPr lang="zh-CN" altLang="en-US"/>
          </a:p>
        </p:txBody>
      </p:sp>
    </p:spTree>
    <p:extLst>
      <p:ext uri="{BB962C8B-B14F-4D97-AF65-F5344CB8AC3E}">
        <p14:creationId xmlns:p14="http://schemas.microsoft.com/office/powerpoint/2010/main" val="1505454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E9A390-5084-4A90-8F0B-742CA5BE78B1}" type="slidenum">
              <a:rPr lang="zh-CN" altLang="en-US" smtClean="0"/>
              <a:t>8</a:t>
            </a:fld>
            <a:endParaRPr lang="zh-CN" altLang="en-US"/>
          </a:p>
        </p:txBody>
      </p:sp>
    </p:spTree>
    <p:extLst>
      <p:ext uri="{BB962C8B-B14F-4D97-AF65-F5344CB8AC3E}">
        <p14:creationId xmlns:p14="http://schemas.microsoft.com/office/powerpoint/2010/main" val="4165097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E9A390-5084-4A90-8F0B-742CA5BE78B1}" type="slidenum">
              <a:rPr lang="zh-CN" altLang="en-US" smtClean="0"/>
              <a:t>9</a:t>
            </a:fld>
            <a:endParaRPr lang="zh-CN" altLang="en-US"/>
          </a:p>
        </p:txBody>
      </p:sp>
    </p:spTree>
    <p:extLst>
      <p:ext uri="{BB962C8B-B14F-4D97-AF65-F5344CB8AC3E}">
        <p14:creationId xmlns:p14="http://schemas.microsoft.com/office/powerpoint/2010/main" val="4248541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E9A390-5084-4A90-8F0B-742CA5BE78B1}" type="slidenum">
              <a:rPr lang="zh-CN" altLang="en-US" smtClean="0"/>
              <a:t>10</a:t>
            </a:fld>
            <a:endParaRPr lang="zh-CN" altLang="en-US"/>
          </a:p>
        </p:txBody>
      </p:sp>
    </p:spTree>
    <p:extLst>
      <p:ext uri="{BB962C8B-B14F-4D97-AF65-F5344CB8AC3E}">
        <p14:creationId xmlns:p14="http://schemas.microsoft.com/office/powerpoint/2010/main" val="18707584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725C4-3081-8A27-098B-FF4DABBDBB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85AEF7-ECBB-C183-9832-7AC20C70F1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58D242-F5BC-98FE-CF84-82C6AF52EF8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0FF6A88-FC33-2525-5D4B-648263BF074D}"/>
              </a:ext>
            </a:extLst>
          </p:cNvPr>
          <p:cNvSpPr>
            <a:spLocks noGrp="1"/>
          </p:cNvSpPr>
          <p:nvPr>
            <p:ph type="sldNum" sz="quarter" idx="10"/>
          </p:nvPr>
        </p:nvSpPr>
        <p:spPr/>
        <p:txBody>
          <a:bodyPr/>
          <a:lstStyle/>
          <a:p>
            <a:fld id="{88E9A390-5084-4A90-8F0B-742CA5BE78B1}" type="slidenum">
              <a:rPr lang="zh-CN" altLang="en-US" smtClean="0"/>
              <a:t>11</a:t>
            </a:fld>
            <a:endParaRPr lang="zh-CN" altLang="en-US"/>
          </a:p>
        </p:txBody>
      </p:sp>
    </p:spTree>
    <p:extLst>
      <p:ext uri="{BB962C8B-B14F-4D97-AF65-F5344CB8AC3E}">
        <p14:creationId xmlns:p14="http://schemas.microsoft.com/office/powerpoint/2010/main" val="2387959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E9A390-5084-4A90-8F0B-742CA5BE78B1}" type="slidenum">
              <a:rPr lang="zh-CN" altLang="en-US" smtClean="0"/>
              <a:t>12</a:t>
            </a:fld>
            <a:endParaRPr lang="zh-CN" altLang="en-US"/>
          </a:p>
        </p:txBody>
      </p:sp>
    </p:spTree>
    <p:extLst>
      <p:ext uri="{BB962C8B-B14F-4D97-AF65-F5344CB8AC3E}">
        <p14:creationId xmlns:p14="http://schemas.microsoft.com/office/powerpoint/2010/main" val="5255921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92B679-AE23-4750-8FB0-6513430B895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40120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8B01A-5F83-D5DC-5CE9-5CB3A6C3772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79EB75-7554-2C4C-CF5B-9F8B3A6C4D6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E9E6FED-EB4C-02C3-A129-EE2986AAF49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73E30CD-FC1E-7258-8E66-FEE7145E557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92B679-AE23-4750-8FB0-6513430B895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035756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E9A390-5084-4A90-8F0B-742CA5BE78B1}" type="slidenum">
              <a:rPr lang="zh-CN" altLang="en-US" smtClean="0"/>
              <a:t>15</a:t>
            </a:fld>
            <a:endParaRPr lang="zh-CN" altLang="en-US"/>
          </a:p>
        </p:txBody>
      </p:sp>
    </p:spTree>
    <p:extLst>
      <p:ext uri="{BB962C8B-B14F-4D97-AF65-F5344CB8AC3E}">
        <p14:creationId xmlns:p14="http://schemas.microsoft.com/office/powerpoint/2010/main" val="21946412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C20FA-1BF9-D96D-DE94-C69E3B2090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41A11F-6FA7-6001-70E6-8597F378281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09EFC9D-3A03-FDB1-080C-119CFBFB885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324124F-0547-549D-434F-8A009B87374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92B679-AE23-4750-8FB0-6513430B895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63713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B044B-8F4C-F699-DEAA-3F1DA04D32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228CCA-18E7-FDAE-9E42-AAC4AE92DF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65983AA-1E24-A0B7-583D-26BBB45BC33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37D8F32-C4E6-F246-40D4-EC4D04E86BD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92B679-AE23-4750-8FB0-6513430B895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41634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69145-66AB-F744-AABC-DBF65A7915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89194C-6317-9F7D-8CC5-3C8C9E7907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1B11ECC-CD2E-E8D5-57B2-DE9D810C638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035BC0E-AE95-79AD-7EC8-BE7E03C056E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92B679-AE23-4750-8FB0-6513430B895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147485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00EC2-9898-3491-9D89-90450D9E8D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D0A4BF-084D-0E8E-36EE-769115643CC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B5ACE0E-AD96-A94E-7A43-EA8154FCBAA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8080132-0F34-C3C4-56AE-29AAAF7FCCE6}"/>
              </a:ext>
            </a:extLst>
          </p:cNvPr>
          <p:cNvSpPr>
            <a:spLocks noGrp="1"/>
          </p:cNvSpPr>
          <p:nvPr>
            <p:ph type="sldNum" sz="quarter" idx="10"/>
          </p:nvPr>
        </p:nvSpPr>
        <p:spPr/>
        <p:txBody>
          <a:bodyPr/>
          <a:lstStyle/>
          <a:p>
            <a:fld id="{88E9A390-5084-4A90-8F0B-742CA5BE78B1}" type="slidenum">
              <a:rPr lang="zh-CN" altLang="en-US" smtClean="0"/>
              <a:t>19</a:t>
            </a:fld>
            <a:endParaRPr lang="zh-CN" altLang="en-US"/>
          </a:p>
        </p:txBody>
      </p:sp>
    </p:spTree>
    <p:extLst>
      <p:ext uri="{BB962C8B-B14F-4D97-AF65-F5344CB8AC3E}">
        <p14:creationId xmlns:p14="http://schemas.microsoft.com/office/powerpoint/2010/main" val="5081303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187A0-14F2-7F7C-0D48-376CE65C09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68910A-7D53-CCDB-B55E-2DBC37E6F4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B0E1AB-A431-A1A9-27BD-5DACA603FF6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DA62901-FBEC-6DC4-9DE5-A4ED657A5CC1}"/>
              </a:ext>
            </a:extLst>
          </p:cNvPr>
          <p:cNvSpPr>
            <a:spLocks noGrp="1"/>
          </p:cNvSpPr>
          <p:nvPr>
            <p:ph type="sldNum" sz="quarter" idx="10"/>
          </p:nvPr>
        </p:nvSpPr>
        <p:spPr/>
        <p:txBody>
          <a:bodyPr/>
          <a:lstStyle/>
          <a:p>
            <a:fld id="{88E9A390-5084-4A90-8F0B-742CA5BE78B1}" type="slidenum">
              <a:rPr lang="zh-CN" altLang="en-US" smtClean="0"/>
              <a:t>20</a:t>
            </a:fld>
            <a:endParaRPr lang="zh-CN" altLang="en-US"/>
          </a:p>
        </p:txBody>
      </p:sp>
    </p:spTree>
    <p:extLst>
      <p:ext uri="{BB962C8B-B14F-4D97-AF65-F5344CB8AC3E}">
        <p14:creationId xmlns:p14="http://schemas.microsoft.com/office/powerpoint/2010/main" val="26842542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E9A390-5084-4A90-8F0B-742CA5BE78B1}" type="slidenum">
              <a:rPr lang="zh-CN" altLang="en-US" smtClean="0"/>
              <a:t>21</a:t>
            </a:fld>
            <a:endParaRPr lang="zh-CN" altLang="en-US"/>
          </a:p>
        </p:txBody>
      </p:sp>
    </p:spTree>
    <p:extLst>
      <p:ext uri="{BB962C8B-B14F-4D97-AF65-F5344CB8AC3E}">
        <p14:creationId xmlns:p14="http://schemas.microsoft.com/office/powerpoint/2010/main" val="21194073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E9A390-5084-4A90-8F0B-742CA5BE78B1}" type="slidenum">
              <a:rPr lang="zh-CN" altLang="en-US" smtClean="0"/>
              <a:t>22</a:t>
            </a:fld>
            <a:endParaRPr lang="zh-CN" altLang="en-US"/>
          </a:p>
        </p:txBody>
      </p:sp>
    </p:spTree>
    <p:extLst>
      <p:ext uri="{BB962C8B-B14F-4D97-AF65-F5344CB8AC3E}">
        <p14:creationId xmlns:p14="http://schemas.microsoft.com/office/powerpoint/2010/main" val="21737734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74D8D-F532-6075-E99C-CC7D4BC816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2930AC-5725-0232-41CF-424FF31AD4D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AF00E1-53B3-EFE0-1140-4B894D9B9D9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BE16D71-D217-DD41-D37B-518A76CEFBA7}"/>
              </a:ext>
            </a:extLst>
          </p:cNvPr>
          <p:cNvSpPr>
            <a:spLocks noGrp="1"/>
          </p:cNvSpPr>
          <p:nvPr>
            <p:ph type="sldNum" sz="quarter" idx="10"/>
          </p:nvPr>
        </p:nvSpPr>
        <p:spPr/>
        <p:txBody>
          <a:bodyPr/>
          <a:lstStyle/>
          <a:p>
            <a:fld id="{88E9A390-5084-4A90-8F0B-742CA5BE78B1}" type="slidenum">
              <a:rPr lang="zh-CN" altLang="en-US" smtClean="0"/>
              <a:t>23</a:t>
            </a:fld>
            <a:endParaRPr lang="zh-CN" altLang="en-US"/>
          </a:p>
        </p:txBody>
      </p:sp>
    </p:spTree>
    <p:extLst>
      <p:ext uri="{BB962C8B-B14F-4D97-AF65-F5344CB8AC3E}">
        <p14:creationId xmlns:p14="http://schemas.microsoft.com/office/powerpoint/2010/main" val="42659448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9CFAC-209C-2102-3ABB-1DCC09E194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913C5A-0498-6DA5-7275-A3F9BED8E8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7CC60E3-A830-44E0-F37E-67730748243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97D5731-2927-99B8-609D-69A289F7C5F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92B679-AE23-4750-8FB0-6513430B895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583007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93597-E0DA-0D78-F607-0963AD1FE6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B19E48-9437-8A77-18E3-998945E92BF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77899A2-7DC8-0798-C77E-689CEFE7ABF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A86E5ED-D6CF-CCA1-B2D7-6456FF457D06}"/>
              </a:ext>
            </a:extLst>
          </p:cNvPr>
          <p:cNvSpPr>
            <a:spLocks noGrp="1"/>
          </p:cNvSpPr>
          <p:nvPr>
            <p:ph type="sldNum" sz="quarter" idx="10"/>
          </p:nvPr>
        </p:nvSpPr>
        <p:spPr/>
        <p:txBody>
          <a:bodyPr/>
          <a:lstStyle/>
          <a:p>
            <a:fld id="{88E9A390-5084-4A90-8F0B-742CA5BE78B1}" type="slidenum">
              <a:rPr lang="zh-CN" altLang="en-US" smtClean="0"/>
              <a:t>25</a:t>
            </a:fld>
            <a:endParaRPr lang="zh-CN" altLang="en-US"/>
          </a:p>
        </p:txBody>
      </p:sp>
    </p:spTree>
    <p:extLst>
      <p:ext uri="{BB962C8B-B14F-4D97-AF65-F5344CB8AC3E}">
        <p14:creationId xmlns:p14="http://schemas.microsoft.com/office/powerpoint/2010/main" val="18658649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6D61B-19E2-59A8-C951-8C38572B96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EAAE75-2997-BB8B-4C88-EDADF11E22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4740587-2A83-F114-7EE7-977FA01EAF5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96602E6-76C9-B298-6221-696CAD83F20C}"/>
              </a:ext>
            </a:extLst>
          </p:cNvPr>
          <p:cNvSpPr>
            <a:spLocks noGrp="1"/>
          </p:cNvSpPr>
          <p:nvPr>
            <p:ph type="sldNum" sz="quarter" idx="10"/>
          </p:nvPr>
        </p:nvSpPr>
        <p:spPr/>
        <p:txBody>
          <a:bodyPr/>
          <a:lstStyle/>
          <a:p>
            <a:fld id="{88E9A390-5084-4A90-8F0B-742CA5BE78B1}" type="slidenum">
              <a:rPr lang="zh-CN" altLang="en-US" smtClean="0"/>
              <a:t>26</a:t>
            </a:fld>
            <a:endParaRPr lang="zh-CN" altLang="en-US"/>
          </a:p>
        </p:txBody>
      </p:sp>
    </p:spTree>
    <p:extLst>
      <p:ext uri="{BB962C8B-B14F-4D97-AF65-F5344CB8AC3E}">
        <p14:creationId xmlns:p14="http://schemas.microsoft.com/office/powerpoint/2010/main" val="13951203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8735A-DEB9-EE4F-F53C-705B5ABCC0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68CE52-144A-1DD7-A6F8-4B704112DC1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B5795D-EFEC-75A9-B08C-C4FCF0B5BC8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440FD06-BC10-77B5-B82C-2B3965563566}"/>
              </a:ext>
            </a:extLst>
          </p:cNvPr>
          <p:cNvSpPr>
            <a:spLocks noGrp="1"/>
          </p:cNvSpPr>
          <p:nvPr>
            <p:ph type="sldNum" sz="quarter" idx="10"/>
          </p:nvPr>
        </p:nvSpPr>
        <p:spPr/>
        <p:txBody>
          <a:bodyPr/>
          <a:lstStyle/>
          <a:p>
            <a:fld id="{88E9A390-5084-4A90-8F0B-742CA5BE78B1}" type="slidenum">
              <a:rPr lang="zh-CN" altLang="en-US" smtClean="0"/>
              <a:t>27</a:t>
            </a:fld>
            <a:endParaRPr lang="zh-CN" altLang="en-US"/>
          </a:p>
        </p:txBody>
      </p:sp>
    </p:spTree>
    <p:extLst>
      <p:ext uri="{BB962C8B-B14F-4D97-AF65-F5344CB8AC3E}">
        <p14:creationId xmlns:p14="http://schemas.microsoft.com/office/powerpoint/2010/main" val="4218054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DCECE-6E58-303B-4B11-CFFF66BBE1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7D06A3-6AFC-9B40-44A8-3C96620401B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C58C68-7ECE-8014-A8C5-6C21916BD9A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1C523B7-CC1C-1F50-4043-239C32EEEA32}"/>
              </a:ext>
            </a:extLst>
          </p:cNvPr>
          <p:cNvSpPr>
            <a:spLocks noGrp="1"/>
          </p:cNvSpPr>
          <p:nvPr>
            <p:ph type="sldNum" sz="quarter" idx="10"/>
          </p:nvPr>
        </p:nvSpPr>
        <p:spPr/>
        <p:txBody>
          <a:bodyPr/>
          <a:lstStyle/>
          <a:p>
            <a:fld id="{88E9A390-5084-4A90-8F0B-742CA5BE78B1}" type="slidenum">
              <a:rPr lang="zh-CN" altLang="en-US" smtClean="0"/>
              <a:t>28</a:t>
            </a:fld>
            <a:endParaRPr lang="zh-CN" altLang="en-US"/>
          </a:p>
        </p:txBody>
      </p:sp>
    </p:spTree>
    <p:extLst>
      <p:ext uri="{BB962C8B-B14F-4D97-AF65-F5344CB8AC3E}">
        <p14:creationId xmlns:p14="http://schemas.microsoft.com/office/powerpoint/2010/main" val="9721606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E9A390-5084-4A90-8F0B-742CA5BE78B1}" type="slidenum">
              <a:rPr lang="zh-CN" altLang="en-US" smtClean="0"/>
              <a:t>29</a:t>
            </a:fld>
            <a:endParaRPr lang="zh-CN" altLang="en-US"/>
          </a:p>
        </p:txBody>
      </p:sp>
    </p:spTree>
    <p:extLst>
      <p:ext uri="{BB962C8B-B14F-4D97-AF65-F5344CB8AC3E}">
        <p14:creationId xmlns:p14="http://schemas.microsoft.com/office/powerpoint/2010/main" val="30033648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A1A53-79C2-95E3-B064-874C8A2F81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3CF627-5361-F3EA-29F3-5B4372AA342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209E03-98D4-D257-ED12-0FF22039C2F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B29BC15-6397-E687-CA9F-EE4091DFC2F7}"/>
              </a:ext>
            </a:extLst>
          </p:cNvPr>
          <p:cNvSpPr>
            <a:spLocks noGrp="1"/>
          </p:cNvSpPr>
          <p:nvPr>
            <p:ph type="sldNum" sz="quarter" idx="10"/>
          </p:nvPr>
        </p:nvSpPr>
        <p:spPr/>
        <p:txBody>
          <a:bodyPr/>
          <a:lstStyle/>
          <a:p>
            <a:fld id="{88E9A390-5084-4A90-8F0B-742CA5BE78B1}" type="slidenum">
              <a:rPr lang="zh-CN" altLang="en-US" smtClean="0"/>
              <a:t>30</a:t>
            </a:fld>
            <a:endParaRPr lang="zh-CN" altLang="en-US"/>
          </a:p>
        </p:txBody>
      </p:sp>
    </p:spTree>
    <p:extLst>
      <p:ext uri="{BB962C8B-B14F-4D97-AF65-F5344CB8AC3E}">
        <p14:creationId xmlns:p14="http://schemas.microsoft.com/office/powerpoint/2010/main" val="29058705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43D3A-E3AB-6FF4-6D03-44575FEC556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B8B1FF-9EBE-6DB6-C426-67E5226BD8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25ECC0-7960-F709-562C-6B8FBDA950C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444C5F7-2D65-1891-1D3D-5AD1FDEEC182}"/>
              </a:ext>
            </a:extLst>
          </p:cNvPr>
          <p:cNvSpPr>
            <a:spLocks noGrp="1"/>
          </p:cNvSpPr>
          <p:nvPr>
            <p:ph type="sldNum" sz="quarter" idx="10"/>
          </p:nvPr>
        </p:nvSpPr>
        <p:spPr/>
        <p:txBody>
          <a:bodyPr/>
          <a:lstStyle/>
          <a:p>
            <a:fld id="{88E9A390-5084-4A90-8F0B-742CA5BE78B1}" type="slidenum">
              <a:rPr lang="zh-CN" altLang="en-US" smtClean="0"/>
              <a:t>31</a:t>
            </a:fld>
            <a:endParaRPr lang="zh-CN" altLang="en-US"/>
          </a:p>
        </p:txBody>
      </p:sp>
    </p:spTree>
    <p:extLst>
      <p:ext uri="{BB962C8B-B14F-4D97-AF65-F5344CB8AC3E}">
        <p14:creationId xmlns:p14="http://schemas.microsoft.com/office/powerpoint/2010/main" val="35917198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2D873-6BCF-04FE-251D-ECAF197D1F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8A2900-6FA5-A695-64DA-A37DB02381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A68F2F-5FD2-F9A2-321F-1C301F6A21F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167C5D4-7EE2-D365-6422-DC15E6ED7619}"/>
              </a:ext>
            </a:extLst>
          </p:cNvPr>
          <p:cNvSpPr>
            <a:spLocks noGrp="1"/>
          </p:cNvSpPr>
          <p:nvPr>
            <p:ph type="sldNum" sz="quarter" idx="10"/>
          </p:nvPr>
        </p:nvSpPr>
        <p:spPr/>
        <p:txBody>
          <a:bodyPr/>
          <a:lstStyle/>
          <a:p>
            <a:fld id="{88E9A390-5084-4A90-8F0B-742CA5BE78B1}" type="slidenum">
              <a:rPr lang="zh-CN" altLang="en-US" smtClean="0"/>
              <a:t>32</a:t>
            </a:fld>
            <a:endParaRPr lang="zh-CN" altLang="en-US"/>
          </a:p>
        </p:txBody>
      </p:sp>
    </p:spTree>
    <p:extLst>
      <p:ext uri="{BB962C8B-B14F-4D97-AF65-F5344CB8AC3E}">
        <p14:creationId xmlns:p14="http://schemas.microsoft.com/office/powerpoint/2010/main" val="167540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CF9B5-25BD-6CF3-1CEF-B7D938DDB1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7AF6EC-9B90-C7D8-BFC1-F481427A48E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DD573A-837B-2E3D-8856-0217E01800E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2B3115E-CB38-96E6-05C0-3921C59021A4}"/>
              </a:ext>
            </a:extLst>
          </p:cNvPr>
          <p:cNvSpPr>
            <a:spLocks noGrp="1"/>
          </p:cNvSpPr>
          <p:nvPr>
            <p:ph type="sldNum" sz="quarter" idx="10"/>
          </p:nvPr>
        </p:nvSpPr>
        <p:spPr/>
        <p:txBody>
          <a:bodyPr/>
          <a:lstStyle/>
          <a:p>
            <a:fld id="{88E9A390-5084-4A90-8F0B-742CA5BE78B1}" type="slidenum">
              <a:rPr lang="zh-CN" altLang="en-US" smtClean="0"/>
              <a:t>33</a:t>
            </a:fld>
            <a:endParaRPr lang="zh-CN" altLang="en-US"/>
          </a:p>
        </p:txBody>
      </p:sp>
    </p:spTree>
    <p:extLst>
      <p:ext uri="{BB962C8B-B14F-4D97-AF65-F5344CB8AC3E}">
        <p14:creationId xmlns:p14="http://schemas.microsoft.com/office/powerpoint/2010/main" val="9456854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6FBB3-D99C-FDF5-D25A-E097948AA7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EDF683-0CEF-6444-E3A9-F5AB3E6BAE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17F50A-1B6F-A12B-9C19-F4AEC1D3B14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0679274-8D8B-4232-CFB8-0AE233E6B749}"/>
              </a:ext>
            </a:extLst>
          </p:cNvPr>
          <p:cNvSpPr>
            <a:spLocks noGrp="1"/>
          </p:cNvSpPr>
          <p:nvPr>
            <p:ph type="sldNum" sz="quarter" idx="10"/>
          </p:nvPr>
        </p:nvSpPr>
        <p:spPr/>
        <p:txBody>
          <a:bodyPr/>
          <a:lstStyle/>
          <a:p>
            <a:fld id="{88E9A390-5084-4A90-8F0B-742CA5BE78B1}" type="slidenum">
              <a:rPr lang="zh-CN" altLang="en-US" smtClean="0"/>
              <a:t>34</a:t>
            </a:fld>
            <a:endParaRPr lang="zh-CN" altLang="en-US"/>
          </a:p>
        </p:txBody>
      </p:sp>
    </p:spTree>
    <p:extLst>
      <p:ext uri="{BB962C8B-B14F-4D97-AF65-F5344CB8AC3E}">
        <p14:creationId xmlns:p14="http://schemas.microsoft.com/office/powerpoint/2010/main" val="14657382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B34D8-10D7-0F87-F1CE-F18195F1BC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19CC97-144A-B4CB-B80D-7F323A0F71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F61DA4-1A5A-3214-FB5D-F47C51FED50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B9EBE30-F339-F5E6-0719-8DD0A45AF867}"/>
              </a:ext>
            </a:extLst>
          </p:cNvPr>
          <p:cNvSpPr>
            <a:spLocks noGrp="1"/>
          </p:cNvSpPr>
          <p:nvPr>
            <p:ph type="sldNum" sz="quarter" idx="10"/>
          </p:nvPr>
        </p:nvSpPr>
        <p:spPr/>
        <p:txBody>
          <a:bodyPr/>
          <a:lstStyle/>
          <a:p>
            <a:fld id="{88E9A390-5084-4A90-8F0B-742CA5BE78B1}" type="slidenum">
              <a:rPr lang="zh-CN" altLang="en-US" smtClean="0"/>
              <a:t>35</a:t>
            </a:fld>
            <a:endParaRPr lang="zh-CN" altLang="en-US"/>
          </a:p>
        </p:txBody>
      </p:sp>
    </p:spTree>
    <p:extLst>
      <p:ext uri="{BB962C8B-B14F-4D97-AF65-F5344CB8AC3E}">
        <p14:creationId xmlns:p14="http://schemas.microsoft.com/office/powerpoint/2010/main" val="31882198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15810-2FD4-770B-4CE0-75E12B79FD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9AE4AD-22CE-0E4E-EB2F-DA8FA7CF18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13D09E-AA82-DA83-3895-4B0DC45AE3A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D2E6A0B-660E-4B91-8E6F-9A25F450F575}"/>
              </a:ext>
            </a:extLst>
          </p:cNvPr>
          <p:cNvSpPr>
            <a:spLocks noGrp="1"/>
          </p:cNvSpPr>
          <p:nvPr>
            <p:ph type="sldNum" sz="quarter" idx="10"/>
          </p:nvPr>
        </p:nvSpPr>
        <p:spPr/>
        <p:txBody>
          <a:bodyPr/>
          <a:lstStyle/>
          <a:p>
            <a:fld id="{88E9A390-5084-4A90-8F0B-742CA5BE78B1}" type="slidenum">
              <a:rPr lang="zh-CN" altLang="en-US" smtClean="0"/>
              <a:t>36</a:t>
            </a:fld>
            <a:endParaRPr lang="zh-CN" altLang="en-US"/>
          </a:p>
        </p:txBody>
      </p:sp>
    </p:spTree>
    <p:extLst>
      <p:ext uri="{BB962C8B-B14F-4D97-AF65-F5344CB8AC3E}">
        <p14:creationId xmlns:p14="http://schemas.microsoft.com/office/powerpoint/2010/main" val="29205909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6033D-0E12-0D22-2F93-CAB0CB7F12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24D03C5-158A-39D5-5BDE-AA2F1EE5CE3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B4AD85-9616-44BA-25F5-5F858A73C83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CE12DA7-21A0-4C46-2607-A1FD22399042}"/>
              </a:ext>
            </a:extLst>
          </p:cNvPr>
          <p:cNvSpPr>
            <a:spLocks noGrp="1"/>
          </p:cNvSpPr>
          <p:nvPr>
            <p:ph type="sldNum" sz="quarter" idx="10"/>
          </p:nvPr>
        </p:nvSpPr>
        <p:spPr/>
        <p:txBody>
          <a:bodyPr/>
          <a:lstStyle/>
          <a:p>
            <a:fld id="{88E9A390-5084-4A90-8F0B-742CA5BE78B1}" type="slidenum">
              <a:rPr lang="zh-CN" altLang="en-US" smtClean="0"/>
              <a:t>37</a:t>
            </a:fld>
            <a:endParaRPr lang="zh-CN" altLang="en-US"/>
          </a:p>
        </p:txBody>
      </p:sp>
    </p:spTree>
    <p:extLst>
      <p:ext uri="{BB962C8B-B14F-4D97-AF65-F5344CB8AC3E}">
        <p14:creationId xmlns:p14="http://schemas.microsoft.com/office/powerpoint/2010/main" val="36532627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E9A390-5084-4A90-8F0B-742CA5BE78B1}" type="slidenum">
              <a:rPr lang="zh-CN" altLang="en-US" smtClean="0"/>
              <a:t>38</a:t>
            </a:fld>
            <a:endParaRPr lang="zh-CN" altLang="en-US"/>
          </a:p>
        </p:txBody>
      </p:sp>
    </p:spTree>
    <p:extLst>
      <p:ext uri="{BB962C8B-B14F-4D97-AF65-F5344CB8AC3E}">
        <p14:creationId xmlns:p14="http://schemas.microsoft.com/office/powerpoint/2010/main" val="3089627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C4987"/>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428399D-FF2E-4CA8-9F3B-1BA226532886}"/>
              </a:ext>
            </a:extLst>
          </p:cNvPr>
          <p:cNvSpPr/>
          <p:nvPr userDrawn="1"/>
        </p:nvSpPr>
        <p:spPr>
          <a:xfrm>
            <a:off x="337595" y="312516"/>
            <a:ext cx="11516810" cy="6128795"/>
          </a:xfrm>
          <a:prstGeom prst="rect">
            <a:avLst/>
          </a:prstGeom>
          <a:solidFill>
            <a:schemeClr val="bg1">
              <a:lumMod val="95000"/>
            </a:schemeClr>
          </a:solidFill>
          <a:ln>
            <a:noFill/>
          </a:ln>
          <a:effectLst>
            <a:outerShdw blurRad="63500" sx="102000" sy="102000" algn="ctr" rotWithShape="0">
              <a:srgbClr val="1C4987"/>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641EE71F-9EA4-4D74-BE0C-739D1663209F}"/>
              </a:ext>
            </a:extLst>
          </p:cNvPr>
          <p:cNvSpPr/>
          <p:nvPr userDrawn="1"/>
        </p:nvSpPr>
        <p:spPr>
          <a:xfrm rot="2771160">
            <a:off x="-113075" y="-375493"/>
            <a:ext cx="727227" cy="1267067"/>
          </a:xfrm>
          <a:prstGeom prst="rect">
            <a:avLst/>
          </a:prstGeom>
          <a:solidFill>
            <a:srgbClr val="1C4987"/>
          </a:solidFill>
          <a:ln>
            <a:solidFill>
              <a:srgbClr val="1C49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56AB0A46-AF86-4077-AAB3-2906FBF29AE1}"/>
              </a:ext>
            </a:extLst>
          </p:cNvPr>
          <p:cNvSpPr/>
          <p:nvPr userDrawn="1"/>
        </p:nvSpPr>
        <p:spPr>
          <a:xfrm rot="2965454">
            <a:off x="11449418" y="5786985"/>
            <a:ext cx="780194" cy="1473922"/>
          </a:xfrm>
          <a:prstGeom prst="rect">
            <a:avLst/>
          </a:prstGeom>
          <a:solidFill>
            <a:srgbClr val="1C4987"/>
          </a:solidFill>
          <a:ln>
            <a:solidFill>
              <a:srgbClr val="1C49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99008556"/>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99D869-5C43-43F9-BAD6-33356F1E0EB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4E674E1-8572-465B-B62F-2D036A1507B6}"/>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F72621D-E6F5-4D04-A275-7683ADADBBD2}"/>
              </a:ext>
            </a:extLst>
          </p:cNvPr>
          <p:cNvSpPr>
            <a:spLocks noGrp="1"/>
          </p:cNvSpPr>
          <p:nvPr>
            <p:ph type="dt" sz="half" idx="10"/>
          </p:nvPr>
        </p:nvSpPr>
        <p:spPr/>
        <p:txBody>
          <a:bodyPr/>
          <a:lstStyle/>
          <a:p>
            <a:fld id="{D80C5F5E-E526-41E5-973B-2FB6A3FDEC8D}" type="datetimeFigureOut">
              <a:rPr lang="zh-CN" altLang="en-US" smtClean="0"/>
              <a:t>2025-06-04</a:t>
            </a:fld>
            <a:endParaRPr lang="zh-CN" altLang="en-US"/>
          </a:p>
        </p:txBody>
      </p:sp>
      <p:sp>
        <p:nvSpPr>
          <p:cNvPr id="5" name="页脚占位符 4">
            <a:extLst>
              <a:ext uri="{FF2B5EF4-FFF2-40B4-BE49-F238E27FC236}">
                <a16:creationId xmlns:a16="http://schemas.microsoft.com/office/drawing/2014/main" id="{BD3CB0F9-D40E-41E8-A2AB-D7E4453B9D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7584B42-46CD-4FE7-AF19-DB643585AD70}"/>
              </a:ext>
            </a:extLst>
          </p:cNvPr>
          <p:cNvSpPr>
            <a:spLocks noGrp="1"/>
          </p:cNvSpPr>
          <p:nvPr>
            <p:ph type="sldNum" sz="quarter" idx="12"/>
          </p:nvPr>
        </p:nvSpPr>
        <p:spPr/>
        <p:txBody>
          <a:bodyPr/>
          <a:lstStyle/>
          <a:p>
            <a:fld id="{691B90BD-E06F-4E15-B8DD-0912AA8EDC7F}" type="slidenum">
              <a:rPr lang="zh-CN" altLang="en-US" smtClean="0"/>
              <a:t>‹#›</a:t>
            </a:fld>
            <a:endParaRPr lang="zh-CN" altLang="en-US"/>
          </a:p>
        </p:txBody>
      </p:sp>
    </p:spTree>
    <p:extLst>
      <p:ext uri="{BB962C8B-B14F-4D97-AF65-F5344CB8AC3E}">
        <p14:creationId xmlns:p14="http://schemas.microsoft.com/office/powerpoint/2010/main" val="3009851631"/>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A680D4-1FD1-4F5E-9AD9-1ADFB804618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726B2C6-DE7D-410C-A1AD-CD678A8548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B51C30A-E401-4FD0-971C-F8DAFD6C94ED}"/>
              </a:ext>
            </a:extLst>
          </p:cNvPr>
          <p:cNvSpPr>
            <a:spLocks noGrp="1"/>
          </p:cNvSpPr>
          <p:nvPr>
            <p:ph type="dt" sz="half" idx="10"/>
          </p:nvPr>
        </p:nvSpPr>
        <p:spPr/>
        <p:txBody>
          <a:bodyPr/>
          <a:lstStyle/>
          <a:p>
            <a:fld id="{D80C5F5E-E526-41E5-973B-2FB6A3FDEC8D}" type="datetimeFigureOut">
              <a:rPr lang="zh-CN" altLang="en-US" smtClean="0"/>
              <a:t>2025-06-04</a:t>
            </a:fld>
            <a:endParaRPr lang="zh-CN" altLang="en-US"/>
          </a:p>
        </p:txBody>
      </p:sp>
      <p:sp>
        <p:nvSpPr>
          <p:cNvPr id="5" name="页脚占位符 4">
            <a:extLst>
              <a:ext uri="{FF2B5EF4-FFF2-40B4-BE49-F238E27FC236}">
                <a16:creationId xmlns:a16="http://schemas.microsoft.com/office/drawing/2014/main" id="{9CFB632F-7399-49A9-A84E-53F1F7A023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0156E5B-2638-45DF-8CD2-FE528933F67F}"/>
              </a:ext>
            </a:extLst>
          </p:cNvPr>
          <p:cNvSpPr>
            <a:spLocks noGrp="1"/>
          </p:cNvSpPr>
          <p:nvPr>
            <p:ph type="sldNum" sz="quarter" idx="12"/>
          </p:nvPr>
        </p:nvSpPr>
        <p:spPr/>
        <p:txBody>
          <a:bodyPr/>
          <a:lstStyle/>
          <a:p>
            <a:fld id="{691B90BD-E06F-4E15-B8DD-0912AA8EDC7F}" type="slidenum">
              <a:rPr lang="zh-CN" altLang="en-US" smtClean="0"/>
              <a:t>‹#›</a:t>
            </a:fld>
            <a:endParaRPr lang="zh-CN" altLang="en-US"/>
          </a:p>
        </p:txBody>
      </p:sp>
    </p:spTree>
    <p:extLst>
      <p:ext uri="{BB962C8B-B14F-4D97-AF65-F5344CB8AC3E}">
        <p14:creationId xmlns:p14="http://schemas.microsoft.com/office/powerpoint/2010/main" val="1499753335"/>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C2958F-9AA2-479A-AB1A-98B2F435B68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6E08AD4-ED89-4E84-98C3-CB21EB014721}"/>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A3E9F43-6A22-4F37-B8FA-FA17027F91F9}"/>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E274522-43D1-4BAC-9D4E-5F6AFFE19A1F}"/>
              </a:ext>
            </a:extLst>
          </p:cNvPr>
          <p:cNvSpPr>
            <a:spLocks noGrp="1"/>
          </p:cNvSpPr>
          <p:nvPr>
            <p:ph type="dt" sz="half" idx="10"/>
          </p:nvPr>
        </p:nvSpPr>
        <p:spPr/>
        <p:txBody>
          <a:bodyPr/>
          <a:lstStyle/>
          <a:p>
            <a:fld id="{D80C5F5E-E526-41E5-973B-2FB6A3FDEC8D}" type="datetimeFigureOut">
              <a:rPr lang="zh-CN" altLang="en-US" smtClean="0"/>
              <a:t>2025-06-04</a:t>
            </a:fld>
            <a:endParaRPr lang="zh-CN" altLang="en-US"/>
          </a:p>
        </p:txBody>
      </p:sp>
      <p:sp>
        <p:nvSpPr>
          <p:cNvPr id="6" name="页脚占位符 5">
            <a:extLst>
              <a:ext uri="{FF2B5EF4-FFF2-40B4-BE49-F238E27FC236}">
                <a16:creationId xmlns:a16="http://schemas.microsoft.com/office/drawing/2014/main" id="{CCC9E2FA-2069-4C30-9029-14E7272D8C3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667CDE1-0734-4267-977D-05CA7E71A633}"/>
              </a:ext>
            </a:extLst>
          </p:cNvPr>
          <p:cNvSpPr>
            <a:spLocks noGrp="1"/>
          </p:cNvSpPr>
          <p:nvPr>
            <p:ph type="sldNum" sz="quarter" idx="12"/>
          </p:nvPr>
        </p:nvSpPr>
        <p:spPr/>
        <p:txBody>
          <a:bodyPr/>
          <a:lstStyle/>
          <a:p>
            <a:fld id="{691B90BD-E06F-4E15-B8DD-0912AA8EDC7F}" type="slidenum">
              <a:rPr lang="zh-CN" altLang="en-US" smtClean="0"/>
              <a:t>‹#›</a:t>
            </a:fld>
            <a:endParaRPr lang="zh-CN" altLang="en-US"/>
          </a:p>
        </p:txBody>
      </p:sp>
    </p:spTree>
    <p:extLst>
      <p:ext uri="{BB962C8B-B14F-4D97-AF65-F5344CB8AC3E}">
        <p14:creationId xmlns:p14="http://schemas.microsoft.com/office/powerpoint/2010/main" val="480630539"/>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60CD43-8DCD-4D04-85EE-DE0E6F7EA89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96DF439-4610-43C3-BE74-947BAC6B94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24C793EC-9757-48B8-9618-921852624643}"/>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A6612E07-BAA3-4B34-AFBA-79CADBF1E9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EF28AA3A-D62C-4B1F-83D4-122E4E1E74E6}"/>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95CDC576-4FE1-462C-99C1-32D264542582}"/>
              </a:ext>
            </a:extLst>
          </p:cNvPr>
          <p:cNvSpPr>
            <a:spLocks noGrp="1"/>
          </p:cNvSpPr>
          <p:nvPr>
            <p:ph type="dt" sz="half" idx="10"/>
          </p:nvPr>
        </p:nvSpPr>
        <p:spPr/>
        <p:txBody>
          <a:bodyPr/>
          <a:lstStyle/>
          <a:p>
            <a:fld id="{D80C5F5E-E526-41E5-973B-2FB6A3FDEC8D}" type="datetimeFigureOut">
              <a:rPr lang="zh-CN" altLang="en-US" smtClean="0"/>
              <a:t>2025-06-04</a:t>
            </a:fld>
            <a:endParaRPr lang="zh-CN" altLang="en-US"/>
          </a:p>
        </p:txBody>
      </p:sp>
      <p:sp>
        <p:nvSpPr>
          <p:cNvPr id="8" name="页脚占位符 7">
            <a:extLst>
              <a:ext uri="{FF2B5EF4-FFF2-40B4-BE49-F238E27FC236}">
                <a16:creationId xmlns:a16="http://schemas.microsoft.com/office/drawing/2014/main" id="{638B9458-0932-4B0E-8EB0-BED8FF4EFFC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9BFE1D1-F3C4-4E63-91DD-171171784E89}"/>
              </a:ext>
            </a:extLst>
          </p:cNvPr>
          <p:cNvSpPr>
            <a:spLocks noGrp="1"/>
          </p:cNvSpPr>
          <p:nvPr>
            <p:ph type="sldNum" sz="quarter" idx="12"/>
          </p:nvPr>
        </p:nvSpPr>
        <p:spPr/>
        <p:txBody>
          <a:bodyPr/>
          <a:lstStyle/>
          <a:p>
            <a:fld id="{691B90BD-E06F-4E15-B8DD-0912AA8EDC7F}" type="slidenum">
              <a:rPr lang="zh-CN" altLang="en-US" smtClean="0"/>
              <a:t>‹#›</a:t>
            </a:fld>
            <a:endParaRPr lang="zh-CN" altLang="en-US"/>
          </a:p>
        </p:txBody>
      </p:sp>
    </p:spTree>
    <p:extLst>
      <p:ext uri="{BB962C8B-B14F-4D97-AF65-F5344CB8AC3E}">
        <p14:creationId xmlns:p14="http://schemas.microsoft.com/office/powerpoint/2010/main" val="1045784116"/>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272477-D271-49A9-8919-DEF6F0C5E03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36DA42F-4D92-4F09-9DF7-DC8066A60966}"/>
              </a:ext>
            </a:extLst>
          </p:cNvPr>
          <p:cNvSpPr>
            <a:spLocks noGrp="1"/>
          </p:cNvSpPr>
          <p:nvPr>
            <p:ph type="dt" sz="half" idx="10"/>
          </p:nvPr>
        </p:nvSpPr>
        <p:spPr/>
        <p:txBody>
          <a:bodyPr/>
          <a:lstStyle/>
          <a:p>
            <a:fld id="{D80C5F5E-E526-41E5-973B-2FB6A3FDEC8D}" type="datetimeFigureOut">
              <a:rPr lang="zh-CN" altLang="en-US" smtClean="0"/>
              <a:t>2025-06-04</a:t>
            </a:fld>
            <a:endParaRPr lang="zh-CN" altLang="en-US"/>
          </a:p>
        </p:txBody>
      </p:sp>
      <p:sp>
        <p:nvSpPr>
          <p:cNvPr id="4" name="页脚占位符 3">
            <a:extLst>
              <a:ext uri="{FF2B5EF4-FFF2-40B4-BE49-F238E27FC236}">
                <a16:creationId xmlns:a16="http://schemas.microsoft.com/office/drawing/2014/main" id="{6A3F2B27-B73B-44E6-BACA-0B6571B8552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75A15FB-9BDF-4DBD-AC3E-FE06DECCED2B}"/>
              </a:ext>
            </a:extLst>
          </p:cNvPr>
          <p:cNvSpPr>
            <a:spLocks noGrp="1"/>
          </p:cNvSpPr>
          <p:nvPr>
            <p:ph type="sldNum" sz="quarter" idx="12"/>
          </p:nvPr>
        </p:nvSpPr>
        <p:spPr/>
        <p:txBody>
          <a:bodyPr/>
          <a:lstStyle/>
          <a:p>
            <a:fld id="{691B90BD-E06F-4E15-B8DD-0912AA8EDC7F}" type="slidenum">
              <a:rPr lang="zh-CN" altLang="en-US" smtClean="0"/>
              <a:t>‹#›</a:t>
            </a:fld>
            <a:endParaRPr lang="zh-CN" altLang="en-US"/>
          </a:p>
        </p:txBody>
      </p:sp>
    </p:spTree>
    <p:extLst>
      <p:ext uri="{BB962C8B-B14F-4D97-AF65-F5344CB8AC3E}">
        <p14:creationId xmlns:p14="http://schemas.microsoft.com/office/powerpoint/2010/main" val="1015431800"/>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60D7464-D097-46D1-BC00-8E4540D61DA5}"/>
              </a:ext>
            </a:extLst>
          </p:cNvPr>
          <p:cNvSpPr>
            <a:spLocks noGrp="1"/>
          </p:cNvSpPr>
          <p:nvPr>
            <p:ph type="dt" sz="half" idx="10"/>
          </p:nvPr>
        </p:nvSpPr>
        <p:spPr/>
        <p:txBody>
          <a:bodyPr/>
          <a:lstStyle/>
          <a:p>
            <a:fld id="{D80C5F5E-E526-41E5-973B-2FB6A3FDEC8D}" type="datetimeFigureOut">
              <a:rPr lang="zh-CN" altLang="en-US" smtClean="0"/>
              <a:t>2025-06-04</a:t>
            </a:fld>
            <a:endParaRPr lang="zh-CN" altLang="en-US"/>
          </a:p>
        </p:txBody>
      </p:sp>
      <p:sp>
        <p:nvSpPr>
          <p:cNvPr id="3" name="页脚占位符 2">
            <a:extLst>
              <a:ext uri="{FF2B5EF4-FFF2-40B4-BE49-F238E27FC236}">
                <a16:creationId xmlns:a16="http://schemas.microsoft.com/office/drawing/2014/main" id="{CB1D5D2F-93A2-4565-A8D5-553CFF8C74D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61CFA6A-4A92-45AA-9BA4-0892B8C8141B}"/>
              </a:ext>
            </a:extLst>
          </p:cNvPr>
          <p:cNvSpPr>
            <a:spLocks noGrp="1"/>
          </p:cNvSpPr>
          <p:nvPr>
            <p:ph type="sldNum" sz="quarter" idx="12"/>
          </p:nvPr>
        </p:nvSpPr>
        <p:spPr/>
        <p:txBody>
          <a:bodyPr/>
          <a:lstStyle/>
          <a:p>
            <a:fld id="{691B90BD-E06F-4E15-B8DD-0912AA8EDC7F}" type="slidenum">
              <a:rPr lang="zh-CN" altLang="en-US" smtClean="0"/>
              <a:t>‹#›</a:t>
            </a:fld>
            <a:endParaRPr lang="zh-CN" altLang="en-US"/>
          </a:p>
        </p:txBody>
      </p:sp>
    </p:spTree>
    <p:extLst>
      <p:ext uri="{BB962C8B-B14F-4D97-AF65-F5344CB8AC3E}">
        <p14:creationId xmlns:p14="http://schemas.microsoft.com/office/powerpoint/2010/main" val="941482207"/>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C2F2CE-5DFB-47C2-A4F5-7C5AE0264BB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748DD2A-C22C-43E3-82C7-32AAAE7551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45433BF6-89FF-4248-8966-0281C833E7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3BAFE62-7ED7-4196-8495-71122ED63C33}"/>
              </a:ext>
            </a:extLst>
          </p:cNvPr>
          <p:cNvSpPr>
            <a:spLocks noGrp="1"/>
          </p:cNvSpPr>
          <p:nvPr>
            <p:ph type="dt" sz="half" idx="10"/>
          </p:nvPr>
        </p:nvSpPr>
        <p:spPr/>
        <p:txBody>
          <a:bodyPr/>
          <a:lstStyle/>
          <a:p>
            <a:fld id="{D80C5F5E-E526-41E5-973B-2FB6A3FDEC8D}" type="datetimeFigureOut">
              <a:rPr lang="zh-CN" altLang="en-US" smtClean="0"/>
              <a:t>2025-06-04</a:t>
            </a:fld>
            <a:endParaRPr lang="zh-CN" altLang="en-US"/>
          </a:p>
        </p:txBody>
      </p:sp>
      <p:sp>
        <p:nvSpPr>
          <p:cNvPr id="6" name="页脚占位符 5">
            <a:extLst>
              <a:ext uri="{FF2B5EF4-FFF2-40B4-BE49-F238E27FC236}">
                <a16:creationId xmlns:a16="http://schemas.microsoft.com/office/drawing/2014/main" id="{9BABB2B3-8E97-4A32-8BEC-E04C4515F01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9777027-4C93-49C8-9D10-CB40BD2ADE23}"/>
              </a:ext>
            </a:extLst>
          </p:cNvPr>
          <p:cNvSpPr>
            <a:spLocks noGrp="1"/>
          </p:cNvSpPr>
          <p:nvPr>
            <p:ph type="sldNum" sz="quarter" idx="12"/>
          </p:nvPr>
        </p:nvSpPr>
        <p:spPr/>
        <p:txBody>
          <a:bodyPr/>
          <a:lstStyle/>
          <a:p>
            <a:fld id="{691B90BD-E06F-4E15-B8DD-0912AA8EDC7F}" type="slidenum">
              <a:rPr lang="zh-CN" altLang="en-US" smtClean="0"/>
              <a:t>‹#›</a:t>
            </a:fld>
            <a:endParaRPr lang="zh-CN" altLang="en-US"/>
          </a:p>
        </p:txBody>
      </p:sp>
    </p:spTree>
    <p:extLst>
      <p:ext uri="{BB962C8B-B14F-4D97-AF65-F5344CB8AC3E}">
        <p14:creationId xmlns:p14="http://schemas.microsoft.com/office/powerpoint/2010/main" val="2403273014"/>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61D97E-C39C-4CA5-B765-26069C4DDDD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51C7236-EFA4-4994-917B-ABF640114E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A6512B4-6D7E-44A7-890E-3F3DE9FD0B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1EA47172-C62C-4711-B978-BCBDB8CD4EA9}"/>
              </a:ext>
            </a:extLst>
          </p:cNvPr>
          <p:cNvSpPr>
            <a:spLocks noGrp="1"/>
          </p:cNvSpPr>
          <p:nvPr>
            <p:ph type="dt" sz="half" idx="10"/>
          </p:nvPr>
        </p:nvSpPr>
        <p:spPr/>
        <p:txBody>
          <a:bodyPr/>
          <a:lstStyle/>
          <a:p>
            <a:fld id="{D80C5F5E-E526-41E5-973B-2FB6A3FDEC8D}" type="datetimeFigureOut">
              <a:rPr lang="zh-CN" altLang="en-US" smtClean="0"/>
              <a:t>2025-06-04</a:t>
            </a:fld>
            <a:endParaRPr lang="zh-CN" altLang="en-US"/>
          </a:p>
        </p:txBody>
      </p:sp>
      <p:sp>
        <p:nvSpPr>
          <p:cNvPr id="6" name="页脚占位符 5">
            <a:extLst>
              <a:ext uri="{FF2B5EF4-FFF2-40B4-BE49-F238E27FC236}">
                <a16:creationId xmlns:a16="http://schemas.microsoft.com/office/drawing/2014/main" id="{FE4330AB-1606-46D9-AD31-F7150571F40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14555B5-925A-4E43-B1F8-232316FA272D}"/>
              </a:ext>
            </a:extLst>
          </p:cNvPr>
          <p:cNvSpPr>
            <a:spLocks noGrp="1"/>
          </p:cNvSpPr>
          <p:nvPr>
            <p:ph type="sldNum" sz="quarter" idx="12"/>
          </p:nvPr>
        </p:nvSpPr>
        <p:spPr/>
        <p:txBody>
          <a:bodyPr/>
          <a:lstStyle/>
          <a:p>
            <a:fld id="{691B90BD-E06F-4E15-B8DD-0912AA8EDC7F}" type="slidenum">
              <a:rPr lang="zh-CN" altLang="en-US" smtClean="0"/>
              <a:t>‹#›</a:t>
            </a:fld>
            <a:endParaRPr lang="zh-CN" altLang="en-US"/>
          </a:p>
        </p:txBody>
      </p:sp>
    </p:spTree>
    <p:extLst>
      <p:ext uri="{BB962C8B-B14F-4D97-AF65-F5344CB8AC3E}">
        <p14:creationId xmlns:p14="http://schemas.microsoft.com/office/powerpoint/2010/main" val="822472571"/>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CA732D-5325-4D32-9E89-F7D210FEB5E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2E71C29-E903-4909-A025-543A2AABB92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7269F76-D3E9-476F-9C67-15432D8E372B}"/>
              </a:ext>
            </a:extLst>
          </p:cNvPr>
          <p:cNvSpPr>
            <a:spLocks noGrp="1"/>
          </p:cNvSpPr>
          <p:nvPr>
            <p:ph type="dt" sz="half" idx="10"/>
          </p:nvPr>
        </p:nvSpPr>
        <p:spPr/>
        <p:txBody>
          <a:bodyPr/>
          <a:lstStyle/>
          <a:p>
            <a:fld id="{D80C5F5E-E526-41E5-973B-2FB6A3FDEC8D}" type="datetimeFigureOut">
              <a:rPr lang="zh-CN" altLang="en-US" smtClean="0"/>
              <a:t>2025-06-04</a:t>
            </a:fld>
            <a:endParaRPr lang="zh-CN" altLang="en-US"/>
          </a:p>
        </p:txBody>
      </p:sp>
      <p:sp>
        <p:nvSpPr>
          <p:cNvPr id="5" name="页脚占位符 4">
            <a:extLst>
              <a:ext uri="{FF2B5EF4-FFF2-40B4-BE49-F238E27FC236}">
                <a16:creationId xmlns:a16="http://schemas.microsoft.com/office/drawing/2014/main" id="{0837DA6B-A782-4377-8B60-9B580D4A016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E3A6F76-812D-4E2F-A4BF-C1AA684F106A}"/>
              </a:ext>
            </a:extLst>
          </p:cNvPr>
          <p:cNvSpPr>
            <a:spLocks noGrp="1"/>
          </p:cNvSpPr>
          <p:nvPr>
            <p:ph type="sldNum" sz="quarter" idx="12"/>
          </p:nvPr>
        </p:nvSpPr>
        <p:spPr/>
        <p:txBody>
          <a:bodyPr/>
          <a:lstStyle/>
          <a:p>
            <a:fld id="{691B90BD-E06F-4E15-B8DD-0912AA8EDC7F}" type="slidenum">
              <a:rPr lang="zh-CN" altLang="en-US" smtClean="0"/>
              <a:t>‹#›</a:t>
            </a:fld>
            <a:endParaRPr lang="zh-CN" altLang="en-US"/>
          </a:p>
        </p:txBody>
      </p:sp>
    </p:spTree>
    <p:extLst>
      <p:ext uri="{BB962C8B-B14F-4D97-AF65-F5344CB8AC3E}">
        <p14:creationId xmlns:p14="http://schemas.microsoft.com/office/powerpoint/2010/main" val="1765828894"/>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FD20567-903B-49A4-8403-B66529FD029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CBD3548-5B3C-4A1E-9EE7-7AD56A52B8B8}"/>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7BA3D9B-281E-4945-94D8-D0B36A7428A8}"/>
              </a:ext>
            </a:extLst>
          </p:cNvPr>
          <p:cNvSpPr>
            <a:spLocks noGrp="1"/>
          </p:cNvSpPr>
          <p:nvPr>
            <p:ph type="dt" sz="half" idx="10"/>
          </p:nvPr>
        </p:nvSpPr>
        <p:spPr/>
        <p:txBody>
          <a:bodyPr/>
          <a:lstStyle/>
          <a:p>
            <a:fld id="{D80C5F5E-E526-41E5-973B-2FB6A3FDEC8D}" type="datetimeFigureOut">
              <a:rPr lang="zh-CN" altLang="en-US" smtClean="0"/>
              <a:t>2025-06-04</a:t>
            </a:fld>
            <a:endParaRPr lang="zh-CN" altLang="en-US"/>
          </a:p>
        </p:txBody>
      </p:sp>
      <p:sp>
        <p:nvSpPr>
          <p:cNvPr id="5" name="页脚占位符 4">
            <a:extLst>
              <a:ext uri="{FF2B5EF4-FFF2-40B4-BE49-F238E27FC236}">
                <a16:creationId xmlns:a16="http://schemas.microsoft.com/office/drawing/2014/main" id="{E134A1B0-BD2D-4543-AA72-0F7E78A2DA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6ACFD2B-16A6-45FD-A8E7-416479B6C287}"/>
              </a:ext>
            </a:extLst>
          </p:cNvPr>
          <p:cNvSpPr>
            <a:spLocks noGrp="1"/>
          </p:cNvSpPr>
          <p:nvPr>
            <p:ph type="sldNum" sz="quarter" idx="12"/>
          </p:nvPr>
        </p:nvSpPr>
        <p:spPr/>
        <p:txBody>
          <a:bodyPr/>
          <a:lstStyle/>
          <a:p>
            <a:fld id="{691B90BD-E06F-4E15-B8DD-0912AA8EDC7F}" type="slidenum">
              <a:rPr lang="zh-CN" altLang="en-US" smtClean="0"/>
              <a:t>‹#›</a:t>
            </a:fld>
            <a:endParaRPr lang="zh-CN" altLang="en-US"/>
          </a:p>
        </p:txBody>
      </p:sp>
    </p:spTree>
    <p:extLst>
      <p:ext uri="{BB962C8B-B14F-4D97-AF65-F5344CB8AC3E}">
        <p14:creationId xmlns:p14="http://schemas.microsoft.com/office/powerpoint/2010/main" val="1439151200"/>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F6FB11E-999C-40F0-8E75-E81F9CD781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CBDB982-65BA-47D8-B8AC-D1C4CB2282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C9685C4-5F9F-4683-9698-B53A221DD3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0C5F5E-E526-41E5-973B-2FB6A3FDEC8D}" type="datetimeFigureOut">
              <a:rPr lang="zh-CN" altLang="en-US" smtClean="0"/>
              <a:t>2025-06-04</a:t>
            </a:fld>
            <a:endParaRPr lang="zh-CN" altLang="en-US"/>
          </a:p>
        </p:txBody>
      </p:sp>
      <p:sp>
        <p:nvSpPr>
          <p:cNvPr id="5" name="页脚占位符 4">
            <a:extLst>
              <a:ext uri="{FF2B5EF4-FFF2-40B4-BE49-F238E27FC236}">
                <a16:creationId xmlns:a16="http://schemas.microsoft.com/office/drawing/2014/main" id="{5004D583-367F-463C-B7E3-58EC00A49B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2F5F787-8D65-49D9-A81B-8E08000346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1B90BD-E06F-4E15-B8DD-0912AA8EDC7F}" type="slidenum">
              <a:rPr lang="zh-CN" altLang="en-US" smtClean="0"/>
              <a:t>‹#›</a:t>
            </a:fld>
            <a:endParaRPr lang="zh-CN" altLang="en-US"/>
          </a:p>
        </p:txBody>
      </p:sp>
    </p:spTree>
    <p:extLst>
      <p:ext uri="{BB962C8B-B14F-4D97-AF65-F5344CB8AC3E}">
        <p14:creationId xmlns:p14="http://schemas.microsoft.com/office/powerpoint/2010/main" val="533617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2.jpeg"/><Relationship Id="rId13" Type="http://schemas.openxmlformats.org/officeDocument/2006/relationships/oleObject" Target="../embeddings/oleObject4.bin"/><Relationship Id="rId3" Type="http://schemas.openxmlformats.org/officeDocument/2006/relationships/image" Target="../media/image10.png"/><Relationship Id="rId7" Type="http://schemas.openxmlformats.org/officeDocument/2006/relationships/image" Target="../media/image11.png"/><Relationship Id="rId12" Type="http://schemas.openxmlformats.org/officeDocument/2006/relationships/image" Target="../media/image14.wmf"/><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oleObject" Target="../embeddings/oleObject3.bin"/><Relationship Id="rId5" Type="http://schemas.openxmlformats.org/officeDocument/2006/relationships/image" Target="../media/image10.wmf"/><Relationship Id="rId15" Type="http://schemas.openxmlformats.org/officeDocument/2006/relationships/image" Target="../media/image16.png"/><Relationship Id="rId10" Type="http://schemas.openxmlformats.org/officeDocument/2006/relationships/image" Target="../media/image13.emf"/><Relationship Id="rId4" Type="http://schemas.openxmlformats.org/officeDocument/2006/relationships/oleObject" Target="../embeddings/oleObject1.bin"/><Relationship Id="rId9" Type="http://schemas.openxmlformats.org/officeDocument/2006/relationships/oleObject" Target="../embeddings/oleObject2.bin"/><Relationship Id="rId14" Type="http://schemas.openxmlformats.org/officeDocument/2006/relationships/image" Target="../media/image15.wmf"/></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1.wmf"/><Relationship Id="rId5" Type="http://schemas.openxmlformats.org/officeDocument/2006/relationships/oleObject" Target="../embeddings/oleObject6.bin"/><Relationship Id="rId4" Type="http://schemas.openxmlformats.org/officeDocument/2006/relationships/image" Target="../media/image20.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2.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ECA2010B-558D-44BB-9A3A-8CC960541A3B}"/>
              </a:ext>
            </a:extLst>
          </p:cNvPr>
          <p:cNvSpPr txBox="1"/>
          <p:nvPr/>
        </p:nvSpPr>
        <p:spPr>
          <a:xfrm>
            <a:off x="1490634" y="2724959"/>
            <a:ext cx="9210732" cy="1323439"/>
          </a:xfrm>
          <a:prstGeom prst="rect">
            <a:avLst/>
          </a:prstGeom>
          <a:noFill/>
        </p:spPr>
        <p:txBody>
          <a:bodyPr wrap="square" rtlCol="0">
            <a:spAutoFit/>
          </a:bodyPr>
          <a:lstStyle/>
          <a:p>
            <a:pPr algn="ctr"/>
            <a:r>
              <a:rPr lang="zh-CN" altLang="en-US" sz="4000" b="1" dirty="0">
                <a:latin typeface="字魂58号-创中黑" panose="00000500000000000000" pitchFamily="2" charset="-122"/>
                <a:ea typeface="字魂58号-创中黑" panose="00000500000000000000" pitchFamily="2" charset="-122"/>
                <a:sym typeface="字魂58号-创中黑" panose="00000500000000000000" pitchFamily="2" charset="-122"/>
              </a:rPr>
              <a:t>基于数字孪生的工业生产过程产品质量性能预报</a:t>
            </a:r>
          </a:p>
        </p:txBody>
      </p:sp>
      <p:sp>
        <p:nvSpPr>
          <p:cNvPr id="11" name="文本框 10" descr="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
            <a:extLst>
              <a:ext uri="{FF2B5EF4-FFF2-40B4-BE49-F238E27FC236}">
                <a16:creationId xmlns:a16="http://schemas.microsoft.com/office/drawing/2014/main" id="{05FB6917-0910-4A29-BA10-122474E9C95D}"/>
              </a:ext>
            </a:extLst>
          </p:cNvPr>
          <p:cNvSpPr txBox="1"/>
          <p:nvPr/>
        </p:nvSpPr>
        <p:spPr>
          <a:xfrm>
            <a:off x="3675863" y="4290839"/>
            <a:ext cx="5007022" cy="461665"/>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b="0" dirty="0">
                <a:solidFill>
                  <a:schemeClr val="tx1"/>
                </a:solidFill>
                <a:latin typeface="字魂58号-创中黑" panose="00000500000000000000" pitchFamily="2" charset="-122"/>
                <a:ea typeface="字魂58号-创中黑" panose="00000500000000000000" pitchFamily="2" charset="-122"/>
                <a:sym typeface="字魂58号-创中黑" panose="00000500000000000000" pitchFamily="2" charset="-122"/>
              </a:rPr>
              <a:t>信息科学与工程学院自动化</a:t>
            </a:r>
            <a:r>
              <a:rPr lang="en-US" altLang="zh-CN" sz="2400" b="0" dirty="0">
                <a:solidFill>
                  <a:schemeClr val="tx1"/>
                </a:solidFill>
                <a:latin typeface="字魂58号-创中黑" panose="00000500000000000000" pitchFamily="2" charset="-122"/>
                <a:ea typeface="字魂58号-创中黑" panose="00000500000000000000" pitchFamily="2" charset="-122"/>
                <a:sym typeface="字魂58号-创中黑" panose="00000500000000000000" pitchFamily="2" charset="-122"/>
              </a:rPr>
              <a:t>2021</a:t>
            </a:r>
            <a:r>
              <a:rPr lang="zh-CN" altLang="en-US" sz="2400" b="0" dirty="0">
                <a:solidFill>
                  <a:schemeClr val="tx1"/>
                </a:solidFill>
                <a:latin typeface="字魂58号-创中黑" panose="00000500000000000000" pitchFamily="2" charset="-122"/>
                <a:ea typeface="字魂58号-创中黑" panose="00000500000000000000" pitchFamily="2" charset="-122"/>
                <a:sym typeface="字魂58号-创中黑" panose="00000500000000000000" pitchFamily="2" charset="-122"/>
              </a:rPr>
              <a:t>级</a:t>
            </a:r>
            <a:endParaRPr lang="en-US" altLang="zh-CN" sz="2400" b="0" dirty="0">
              <a:solidFill>
                <a:schemeClr val="tx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nvGrpSpPr>
          <p:cNvPr id="12" name="组合 11" descr="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
            <a:extLst>
              <a:ext uri="{FF2B5EF4-FFF2-40B4-BE49-F238E27FC236}">
                <a16:creationId xmlns:a16="http://schemas.microsoft.com/office/drawing/2014/main" id="{9EB9570A-8495-49DF-86BC-BEBD1DC05F8B}"/>
              </a:ext>
            </a:extLst>
          </p:cNvPr>
          <p:cNvGrpSpPr/>
          <p:nvPr/>
        </p:nvGrpSpPr>
        <p:grpSpPr>
          <a:xfrm>
            <a:off x="8682885" y="4454996"/>
            <a:ext cx="332342" cy="133350"/>
            <a:chOff x="8385415" y="3672960"/>
            <a:chExt cx="332342" cy="133350"/>
          </a:xfrm>
          <a:solidFill>
            <a:srgbClr val="0170BD"/>
          </a:solidFill>
        </p:grpSpPr>
        <p:sp>
          <p:nvSpPr>
            <p:cNvPr id="13" name="椭圆 12">
              <a:extLst>
                <a:ext uri="{FF2B5EF4-FFF2-40B4-BE49-F238E27FC236}">
                  <a16:creationId xmlns:a16="http://schemas.microsoft.com/office/drawing/2014/main" id="{A68B684A-A1B9-48D1-ADEE-CDCA1993F41C}"/>
                </a:ext>
              </a:extLst>
            </p:cNvPr>
            <p:cNvSpPr/>
            <p:nvPr/>
          </p:nvSpPr>
          <p:spPr>
            <a:xfrm>
              <a:off x="8385415" y="3672960"/>
              <a:ext cx="133350" cy="133350"/>
            </a:xfrm>
            <a:prstGeom prst="ellipse">
              <a:avLst/>
            </a:prstGeom>
            <a:grpFill/>
            <a:ln>
              <a:solidFill>
                <a:srgbClr val="0170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cxnSp>
          <p:nvCxnSpPr>
            <p:cNvPr id="14" name="直接连接符 13">
              <a:extLst>
                <a:ext uri="{FF2B5EF4-FFF2-40B4-BE49-F238E27FC236}">
                  <a16:creationId xmlns:a16="http://schemas.microsoft.com/office/drawing/2014/main" id="{8E6723CA-D928-436C-92F2-2A2E163BBD82}"/>
                </a:ext>
              </a:extLst>
            </p:cNvPr>
            <p:cNvCxnSpPr/>
            <p:nvPr/>
          </p:nvCxnSpPr>
          <p:spPr>
            <a:xfrm>
              <a:off x="8516384" y="3739635"/>
              <a:ext cx="201373" cy="0"/>
            </a:xfrm>
            <a:prstGeom prst="line">
              <a:avLst/>
            </a:prstGeom>
            <a:grpFill/>
            <a:ln w="3175">
              <a:solidFill>
                <a:srgbClr val="0170BD"/>
              </a:solidFill>
            </a:ln>
          </p:spPr>
          <p:style>
            <a:lnRef idx="1">
              <a:schemeClr val="accent1"/>
            </a:lnRef>
            <a:fillRef idx="0">
              <a:schemeClr val="accent1"/>
            </a:fillRef>
            <a:effectRef idx="0">
              <a:schemeClr val="accent1"/>
            </a:effectRef>
            <a:fontRef idx="minor">
              <a:schemeClr val="tx1"/>
            </a:fontRef>
          </p:style>
        </p:cxnSp>
      </p:grpSp>
      <p:grpSp>
        <p:nvGrpSpPr>
          <p:cNvPr id="15" name="组合 14" descr="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
            <a:extLst>
              <a:ext uri="{FF2B5EF4-FFF2-40B4-BE49-F238E27FC236}">
                <a16:creationId xmlns:a16="http://schemas.microsoft.com/office/drawing/2014/main" id="{C18E9C00-769A-40FE-ACA8-926F799C9BFD}"/>
              </a:ext>
            </a:extLst>
          </p:cNvPr>
          <p:cNvGrpSpPr/>
          <p:nvPr/>
        </p:nvGrpSpPr>
        <p:grpSpPr>
          <a:xfrm flipH="1">
            <a:off x="3210171" y="4454996"/>
            <a:ext cx="332342" cy="133350"/>
            <a:chOff x="8385415" y="3672960"/>
            <a:chExt cx="332342" cy="133350"/>
          </a:xfrm>
          <a:solidFill>
            <a:srgbClr val="0170BD"/>
          </a:solidFill>
        </p:grpSpPr>
        <p:sp>
          <p:nvSpPr>
            <p:cNvPr id="16" name="椭圆 15">
              <a:extLst>
                <a:ext uri="{FF2B5EF4-FFF2-40B4-BE49-F238E27FC236}">
                  <a16:creationId xmlns:a16="http://schemas.microsoft.com/office/drawing/2014/main" id="{AA244F69-63A0-4067-AE52-9DC3B15CB70A}"/>
                </a:ext>
              </a:extLst>
            </p:cNvPr>
            <p:cNvSpPr/>
            <p:nvPr/>
          </p:nvSpPr>
          <p:spPr>
            <a:xfrm>
              <a:off x="8385415" y="3672960"/>
              <a:ext cx="133350" cy="133350"/>
            </a:xfrm>
            <a:prstGeom prst="ellipse">
              <a:avLst/>
            </a:prstGeom>
            <a:grpFill/>
            <a:ln>
              <a:solidFill>
                <a:srgbClr val="0170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cxnSp>
          <p:nvCxnSpPr>
            <p:cNvPr id="17" name="直接连接符 16">
              <a:extLst>
                <a:ext uri="{FF2B5EF4-FFF2-40B4-BE49-F238E27FC236}">
                  <a16:creationId xmlns:a16="http://schemas.microsoft.com/office/drawing/2014/main" id="{ED78898D-2B47-4381-9149-D7465B7E0F77}"/>
                </a:ext>
              </a:extLst>
            </p:cNvPr>
            <p:cNvCxnSpPr/>
            <p:nvPr/>
          </p:nvCxnSpPr>
          <p:spPr>
            <a:xfrm>
              <a:off x="8516384" y="3739635"/>
              <a:ext cx="201373" cy="0"/>
            </a:xfrm>
            <a:prstGeom prst="line">
              <a:avLst/>
            </a:prstGeom>
            <a:grpFill/>
            <a:ln w="3175">
              <a:solidFill>
                <a:srgbClr val="0170BD"/>
              </a:solidFill>
            </a:ln>
          </p:spPr>
          <p:style>
            <a:lnRef idx="1">
              <a:schemeClr val="accent1"/>
            </a:lnRef>
            <a:fillRef idx="0">
              <a:schemeClr val="accent1"/>
            </a:fillRef>
            <a:effectRef idx="0">
              <a:schemeClr val="accent1"/>
            </a:effectRef>
            <a:fontRef idx="minor">
              <a:schemeClr val="tx1"/>
            </a:fontRef>
          </p:style>
        </p:cxnSp>
      </p:grpSp>
      <p:sp>
        <p:nvSpPr>
          <p:cNvPr id="18" name="文本框 17" descr="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
            <a:extLst>
              <a:ext uri="{FF2B5EF4-FFF2-40B4-BE49-F238E27FC236}">
                <a16:creationId xmlns:a16="http://schemas.microsoft.com/office/drawing/2014/main" id="{9C7E8F83-61B9-47D3-8824-3C90772CB00A}"/>
              </a:ext>
            </a:extLst>
          </p:cNvPr>
          <p:cNvSpPr txBox="1"/>
          <p:nvPr/>
        </p:nvSpPr>
        <p:spPr>
          <a:xfrm>
            <a:off x="2536584" y="4964633"/>
            <a:ext cx="1800493" cy="369332"/>
          </a:xfrm>
          <a:prstGeom prst="rect">
            <a:avLst/>
          </a:prstGeom>
          <a:noFill/>
        </p:spPr>
        <p:txBody>
          <a:bodyPr wrap="none" rtlCol="0">
            <a:spAutoFit/>
          </a:bodyPr>
          <a:lstStyle/>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答辩学生：付蔚</a:t>
            </a:r>
          </a:p>
        </p:txBody>
      </p:sp>
      <p:sp>
        <p:nvSpPr>
          <p:cNvPr id="19" name="文本框 18" descr="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
            <a:extLst>
              <a:ext uri="{FF2B5EF4-FFF2-40B4-BE49-F238E27FC236}">
                <a16:creationId xmlns:a16="http://schemas.microsoft.com/office/drawing/2014/main" id="{6AC9368C-A7D7-49D5-8B2E-7DDD87F3BE69}"/>
              </a:ext>
            </a:extLst>
          </p:cNvPr>
          <p:cNvSpPr txBox="1"/>
          <p:nvPr/>
        </p:nvSpPr>
        <p:spPr>
          <a:xfrm>
            <a:off x="7843703" y="4994944"/>
            <a:ext cx="1811713" cy="369332"/>
          </a:xfrm>
          <a:prstGeom prst="rect">
            <a:avLst/>
          </a:prstGeom>
          <a:noFill/>
        </p:spPr>
        <p:txBody>
          <a:bodyPr wrap="square" rtlCol="0">
            <a:spAutoFit/>
          </a:bodyPr>
          <a:lstStyle/>
          <a:p>
            <a:pPr algn="ct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指导老师：刘畅</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54354" y="874500"/>
            <a:ext cx="4283292" cy="1435696"/>
          </a:xfrm>
          <a:prstGeom prst="rect">
            <a:avLst/>
          </a:prstGeom>
        </p:spPr>
      </p:pic>
    </p:spTree>
    <p:extLst>
      <p:ext uri="{BB962C8B-B14F-4D97-AF65-F5344CB8AC3E}">
        <p14:creationId xmlns:p14="http://schemas.microsoft.com/office/powerpoint/2010/main" val="2019302337"/>
      </p:ext>
    </p:extLst>
  </p:cSld>
  <p:clrMapOvr>
    <a:masterClrMapping/>
  </p:clrMapOvr>
  <mc:AlternateContent xmlns:mc="http://schemas.openxmlformats.org/markup-compatibility/2006">
    <mc:Choice xmlns:p14="http://schemas.microsoft.com/office/powerpoint/2010/main" Requires="p14">
      <p:transition spd="slow" p14:dur="1500" advClick="0" advTm="3684">
        <p:random/>
      </p:transition>
    </mc:Choice>
    <mc:Fallback>
      <p:transition spd="slow" advClick="0" advTm="3684">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717875" y="1872454"/>
            <a:ext cx="991749" cy="991749"/>
            <a:chOff x="2414587" y="2452686"/>
            <a:chExt cx="743812" cy="743812"/>
          </a:xfrm>
        </p:grpSpPr>
        <p:grpSp>
          <p:nvGrpSpPr>
            <p:cNvPr id="22" name="组合 21"/>
            <p:cNvGrpSpPr/>
            <p:nvPr/>
          </p:nvGrpSpPr>
          <p:grpSpPr>
            <a:xfrm>
              <a:off x="2414587" y="2452686"/>
              <a:ext cx="743812" cy="743812"/>
              <a:chOff x="3163162" y="1286736"/>
              <a:chExt cx="1781176" cy="1781176"/>
            </a:xfrm>
          </p:grpSpPr>
          <p:grpSp>
            <p:nvGrpSpPr>
              <p:cNvPr id="23" name="组合 22"/>
              <p:cNvGrpSpPr/>
              <p:nvPr/>
            </p:nvGrpSpPr>
            <p:grpSpPr>
              <a:xfrm>
                <a:off x="3163162" y="1286736"/>
                <a:ext cx="1781176" cy="1781176"/>
                <a:chOff x="5410200" y="1286736"/>
                <a:chExt cx="1781176" cy="1781176"/>
              </a:xfrm>
            </p:grpSpPr>
            <p:grpSp>
              <p:nvGrpSpPr>
                <p:cNvPr id="29" name="组合 28"/>
                <p:cNvGrpSpPr/>
                <p:nvPr/>
              </p:nvGrpSpPr>
              <p:grpSpPr>
                <a:xfrm flipH="1">
                  <a:off x="5410200" y="1286736"/>
                  <a:ext cx="1781176" cy="1781176"/>
                  <a:chOff x="3333750" y="1457325"/>
                  <a:chExt cx="1440000" cy="1440000"/>
                </a:xfrm>
              </p:grpSpPr>
              <p:sp>
                <p:nvSpPr>
                  <p:cNvPr id="31" name="矩形 30"/>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2" name="矩形 31"/>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3" name="矩形 32"/>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4" name="矩形 33"/>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30" name="矩形 29"/>
                <p:cNvSpPr/>
                <p:nvPr/>
              </p:nvSpPr>
              <p:spPr>
                <a:xfrm>
                  <a:off x="5448898" y="1338286"/>
                  <a:ext cx="1691999" cy="1691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nvGrpSpPr>
              <p:cNvPr id="24" name="组合 23"/>
              <p:cNvGrpSpPr/>
              <p:nvPr/>
            </p:nvGrpSpPr>
            <p:grpSpPr>
              <a:xfrm>
                <a:off x="3333750" y="1457325"/>
                <a:ext cx="1440000" cy="1440000"/>
                <a:chOff x="3333750" y="1457325"/>
                <a:chExt cx="1440000" cy="1440000"/>
              </a:xfrm>
            </p:grpSpPr>
            <p:sp>
              <p:nvSpPr>
                <p:cNvPr id="25" name="矩形 24"/>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6" name="矩形 25"/>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7" name="矩形 26"/>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8" name="矩形 27"/>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sp>
          <p:nvSpPr>
            <p:cNvPr id="2" name="文本框 1"/>
            <p:cNvSpPr txBox="1"/>
            <p:nvPr/>
          </p:nvSpPr>
          <p:spPr>
            <a:xfrm>
              <a:off x="2630682" y="2504302"/>
              <a:ext cx="311624" cy="623248"/>
            </a:xfrm>
            <a:prstGeom prst="rect">
              <a:avLst/>
            </a:prstGeom>
            <a:noFill/>
          </p:spPr>
          <p:txBody>
            <a:bodyPr wrap="none" rtlCol="0">
              <a:spAutoFit/>
            </a:bodyPr>
            <a:lstStyle/>
            <a:p>
              <a:pPr algn="ctr"/>
              <a:r>
                <a:rPr lang="en-US" altLang="zh-CN" sz="4800" dirty="0">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rPr>
                <a:t>1</a:t>
              </a:r>
              <a:endParaRPr lang="zh-CN" altLang="en-US" sz="4800" dirty="0">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35" name="矩形 34"/>
          <p:cNvSpPr/>
          <p:nvPr/>
        </p:nvSpPr>
        <p:spPr>
          <a:xfrm>
            <a:off x="2709624" y="2029273"/>
            <a:ext cx="2945355" cy="461665"/>
          </a:xfrm>
          <a:prstGeom prst="rect">
            <a:avLst/>
          </a:prstGeom>
        </p:spPr>
        <p:txBody>
          <a:bodyPr wrap="square">
            <a:spAutoFit/>
          </a:bodyPr>
          <a:lstStyle/>
          <a:p>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绪论及研究背景</a:t>
            </a:r>
          </a:p>
        </p:txBody>
      </p:sp>
      <p:sp>
        <p:nvSpPr>
          <p:cNvPr id="36" name="矩形 35"/>
          <p:cNvSpPr/>
          <p:nvPr/>
        </p:nvSpPr>
        <p:spPr>
          <a:xfrm>
            <a:off x="2754952" y="2396770"/>
            <a:ext cx="2716595" cy="306174"/>
          </a:xfrm>
          <a:prstGeom prst="rect">
            <a:avLst/>
          </a:prstGeom>
          <a:noFill/>
        </p:spPr>
        <p:txBody>
          <a:bodyPr wrap="square" rtlCol="0">
            <a:spAutoFit/>
            <a:scene3d>
              <a:camera prst="orthographicFront"/>
              <a:lightRig rig="threePt" dir="t"/>
            </a:scene3d>
            <a:sp3d contourW="12700"/>
          </a:bodyPr>
          <a:lstStyle/>
          <a:p>
            <a:pPr defTabSz="457200">
              <a:lnSpc>
                <a:spcPct val="150000"/>
              </a:lnSpc>
            </a:pPr>
            <a:r>
              <a:rPr lang="en-US" altLang="zh-CN" sz="105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Introduction and Research Background</a:t>
            </a:r>
          </a:p>
        </p:txBody>
      </p:sp>
      <p:grpSp>
        <p:nvGrpSpPr>
          <p:cNvPr id="20" name="组合 19">
            <a:extLst>
              <a:ext uri="{FF2B5EF4-FFF2-40B4-BE49-F238E27FC236}">
                <a16:creationId xmlns:a16="http://schemas.microsoft.com/office/drawing/2014/main" id="{EC3509AB-9E15-4E39-B8CF-9990DB3129E0}"/>
              </a:ext>
            </a:extLst>
          </p:cNvPr>
          <p:cNvGrpSpPr/>
          <p:nvPr/>
        </p:nvGrpSpPr>
        <p:grpSpPr>
          <a:xfrm>
            <a:off x="3979657" y="542656"/>
            <a:ext cx="4232686" cy="1312166"/>
            <a:chOff x="3543014" y="542045"/>
            <a:chExt cx="4232686" cy="1312166"/>
          </a:xfrm>
        </p:grpSpPr>
        <p:sp>
          <p:nvSpPr>
            <p:cNvPr id="21" name="文本框 20" descr="e7d195523061f1c0f4bb5be3e2152d0be5f1635aa3ee5a33E6DD9EB6C71F4F179BAB7AE0B57C3F8359103873511F92A5B708547D4B17A08C0273121C22B542FF37C108EC636541EC6D8B0743D4BC2EF7A0B42B998AA7195F70CBE294C597E9660A8028B3FF2D7D44A135630CC32BD3F37BB5FFE2050F7E712597E602A45BDCBD1078F78F607B886CDD2042C699DE6DA3">
              <a:extLst>
                <a:ext uri="{FF2B5EF4-FFF2-40B4-BE49-F238E27FC236}">
                  <a16:creationId xmlns:a16="http://schemas.microsoft.com/office/drawing/2014/main" id="{9EAFE8F1-6881-4364-A2F2-351B0B5F4232}"/>
                </a:ext>
              </a:extLst>
            </p:cNvPr>
            <p:cNvSpPr txBox="1"/>
            <p:nvPr/>
          </p:nvSpPr>
          <p:spPr>
            <a:xfrm>
              <a:off x="5950582" y="686944"/>
              <a:ext cx="1825118" cy="923330"/>
            </a:xfrm>
            <a:prstGeom prst="rect">
              <a:avLst/>
            </a:prstGeom>
            <a:noFill/>
          </p:spPr>
          <p:txBody>
            <a:bodyPr wrap="square" rtlCol="0">
              <a:spAutoFit/>
            </a:bodyPr>
            <a:lstStyle/>
            <a:p>
              <a:pPr algn="ctr"/>
              <a:r>
                <a:rPr lang="zh-CN" altLang="en-US" sz="5400" spc="300" dirty="0">
                  <a:latin typeface="字魂58号-创中黑" panose="00000500000000000000" pitchFamily="2" charset="-122"/>
                  <a:ea typeface="字魂58号-创中黑" panose="00000500000000000000" pitchFamily="2" charset="-122"/>
                  <a:sym typeface="字魂58号-创中黑" panose="00000500000000000000" pitchFamily="2" charset="-122"/>
                </a:rPr>
                <a:t>目录</a:t>
              </a:r>
            </a:p>
          </p:txBody>
        </p:sp>
        <p:grpSp>
          <p:nvGrpSpPr>
            <p:cNvPr id="37" name="组合 36" descr="e7d195523061f1c0f4bb5be3e2152d0be5f1635aa3ee5a33E6DD9EB6C71F4F179BAB7AE0B57C3F8359103873511F92A5B708547D4B17A08C0273121C22B542FF37C108EC636541EC6D8B0743D4BC2EF7A0B42B998AA7195F70CBE294C597E9660A8028B3FF2D7D44A135630CC32BD3F37BB5FFE2050F7E712597E602A45BDCBD1078F78F607B886CDD2042C699DE6DA3">
              <a:extLst>
                <a:ext uri="{FF2B5EF4-FFF2-40B4-BE49-F238E27FC236}">
                  <a16:creationId xmlns:a16="http://schemas.microsoft.com/office/drawing/2014/main" id="{34CFE096-BFF6-42DD-8F4A-CD687F114839}"/>
                </a:ext>
              </a:extLst>
            </p:cNvPr>
            <p:cNvGrpSpPr/>
            <p:nvPr/>
          </p:nvGrpSpPr>
          <p:grpSpPr>
            <a:xfrm>
              <a:off x="3543014" y="542045"/>
              <a:ext cx="2354215" cy="1312166"/>
              <a:chOff x="0" y="3010281"/>
              <a:chExt cx="6441740" cy="3704871"/>
            </a:xfrm>
          </p:grpSpPr>
          <p:sp>
            <p:nvSpPr>
              <p:cNvPr id="39" name="Freeform 5">
                <a:extLst>
                  <a:ext uri="{FF2B5EF4-FFF2-40B4-BE49-F238E27FC236}">
                    <a16:creationId xmlns:a16="http://schemas.microsoft.com/office/drawing/2014/main" id="{5D7EDB84-F0CE-44DC-925B-D7B7ACC20C5C}"/>
                  </a:ext>
                </a:extLst>
              </p:cNvPr>
              <p:cNvSpPr>
                <a:spLocks/>
              </p:cNvSpPr>
              <p:nvPr/>
            </p:nvSpPr>
            <p:spPr bwMode="auto">
              <a:xfrm>
                <a:off x="1136453" y="4233751"/>
                <a:ext cx="4196555" cy="2481401"/>
              </a:xfrm>
              <a:custGeom>
                <a:avLst/>
                <a:gdLst>
                  <a:gd name="T0" fmla="*/ 757 w 757"/>
                  <a:gd name="T1" fmla="*/ 322 h 432"/>
                  <a:gd name="T2" fmla="*/ 380 w 757"/>
                  <a:gd name="T3" fmla="*/ 432 h 432"/>
                  <a:gd name="T4" fmla="*/ 0 w 757"/>
                  <a:gd name="T5" fmla="*/ 322 h 432"/>
                  <a:gd name="T6" fmla="*/ 77 w 757"/>
                  <a:gd name="T7" fmla="*/ 0 h 432"/>
                  <a:gd name="T8" fmla="*/ 678 w 757"/>
                  <a:gd name="T9" fmla="*/ 0 h 432"/>
                  <a:gd name="T10" fmla="*/ 757 w 757"/>
                  <a:gd name="T11" fmla="*/ 322 h 432"/>
                </a:gdLst>
                <a:ahLst/>
                <a:cxnLst>
                  <a:cxn ang="0">
                    <a:pos x="T0" y="T1"/>
                  </a:cxn>
                  <a:cxn ang="0">
                    <a:pos x="T2" y="T3"/>
                  </a:cxn>
                  <a:cxn ang="0">
                    <a:pos x="T4" y="T5"/>
                  </a:cxn>
                  <a:cxn ang="0">
                    <a:pos x="T6" y="T7"/>
                  </a:cxn>
                  <a:cxn ang="0">
                    <a:pos x="T8" y="T9"/>
                  </a:cxn>
                  <a:cxn ang="0">
                    <a:pos x="T10" y="T11"/>
                  </a:cxn>
                </a:cxnLst>
                <a:rect l="0" t="0" r="r" b="b"/>
                <a:pathLst>
                  <a:path w="757" h="432">
                    <a:moveTo>
                      <a:pt x="757" y="322"/>
                    </a:moveTo>
                    <a:lnTo>
                      <a:pt x="380" y="432"/>
                    </a:lnTo>
                    <a:lnTo>
                      <a:pt x="0" y="322"/>
                    </a:lnTo>
                    <a:lnTo>
                      <a:pt x="77" y="0"/>
                    </a:lnTo>
                    <a:lnTo>
                      <a:pt x="678" y="0"/>
                    </a:lnTo>
                    <a:lnTo>
                      <a:pt x="757" y="322"/>
                    </a:lnTo>
                    <a:close/>
                  </a:path>
                </a:pathLst>
              </a:custGeom>
              <a:solidFill>
                <a:srgbClr val="0170BD"/>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0" name="Freeform 7">
                <a:extLst>
                  <a:ext uri="{FF2B5EF4-FFF2-40B4-BE49-F238E27FC236}">
                    <a16:creationId xmlns:a16="http://schemas.microsoft.com/office/drawing/2014/main" id="{C0E8D18A-5284-4784-AF1F-FF5F41E4B5E1}"/>
                  </a:ext>
                </a:extLst>
              </p:cNvPr>
              <p:cNvSpPr>
                <a:spLocks/>
              </p:cNvSpPr>
              <p:nvPr/>
            </p:nvSpPr>
            <p:spPr bwMode="auto">
              <a:xfrm>
                <a:off x="0" y="3010281"/>
                <a:ext cx="6441736" cy="2067834"/>
              </a:xfrm>
              <a:custGeom>
                <a:avLst/>
                <a:gdLst>
                  <a:gd name="T0" fmla="*/ 1162 w 1162"/>
                  <a:gd name="T1" fmla="*/ 128 h 360"/>
                  <a:gd name="T2" fmla="*/ 581 w 1162"/>
                  <a:gd name="T3" fmla="*/ 0 h 360"/>
                  <a:gd name="T4" fmla="*/ 0 w 1162"/>
                  <a:gd name="T5" fmla="*/ 128 h 360"/>
                  <a:gd name="T6" fmla="*/ 0 w 1162"/>
                  <a:gd name="T7" fmla="*/ 185 h 360"/>
                  <a:gd name="T8" fmla="*/ 581 w 1162"/>
                  <a:gd name="T9" fmla="*/ 360 h 360"/>
                  <a:gd name="T10" fmla="*/ 1162 w 1162"/>
                  <a:gd name="T11" fmla="*/ 185 h 360"/>
                  <a:gd name="T12" fmla="*/ 1162 w 1162"/>
                  <a:gd name="T13" fmla="*/ 128 h 360"/>
                </a:gdLst>
                <a:ahLst/>
                <a:cxnLst>
                  <a:cxn ang="0">
                    <a:pos x="T0" y="T1"/>
                  </a:cxn>
                  <a:cxn ang="0">
                    <a:pos x="T2" y="T3"/>
                  </a:cxn>
                  <a:cxn ang="0">
                    <a:pos x="T4" y="T5"/>
                  </a:cxn>
                  <a:cxn ang="0">
                    <a:pos x="T6" y="T7"/>
                  </a:cxn>
                  <a:cxn ang="0">
                    <a:pos x="T8" y="T9"/>
                  </a:cxn>
                  <a:cxn ang="0">
                    <a:pos x="T10" y="T11"/>
                  </a:cxn>
                  <a:cxn ang="0">
                    <a:pos x="T12" y="T13"/>
                  </a:cxn>
                </a:cxnLst>
                <a:rect l="0" t="0" r="r" b="b"/>
                <a:pathLst>
                  <a:path w="1162" h="360">
                    <a:moveTo>
                      <a:pt x="1162" y="128"/>
                    </a:moveTo>
                    <a:lnTo>
                      <a:pt x="581" y="0"/>
                    </a:lnTo>
                    <a:lnTo>
                      <a:pt x="0" y="128"/>
                    </a:lnTo>
                    <a:lnTo>
                      <a:pt x="0" y="185"/>
                    </a:lnTo>
                    <a:lnTo>
                      <a:pt x="581" y="360"/>
                    </a:lnTo>
                    <a:lnTo>
                      <a:pt x="1162" y="185"/>
                    </a:lnTo>
                    <a:lnTo>
                      <a:pt x="1162" y="128"/>
                    </a:lnTo>
                    <a:close/>
                  </a:path>
                </a:pathLst>
              </a:custGeom>
              <a:solidFill>
                <a:srgbClr val="F4F4F4"/>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1" name="Freeform 8">
                <a:extLst>
                  <a:ext uri="{FF2B5EF4-FFF2-40B4-BE49-F238E27FC236}">
                    <a16:creationId xmlns:a16="http://schemas.microsoft.com/office/drawing/2014/main" id="{FA534C36-DD0E-4B43-B4A1-4FA5F6E7351B}"/>
                  </a:ext>
                </a:extLst>
              </p:cNvPr>
              <p:cNvSpPr>
                <a:spLocks/>
              </p:cNvSpPr>
              <p:nvPr/>
            </p:nvSpPr>
            <p:spPr bwMode="auto">
              <a:xfrm>
                <a:off x="16633" y="3010281"/>
                <a:ext cx="6425107" cy="1757659"/>
              </a:xfrm>
              <a:custGeom>
                <a:avLst/>
                <a:gdLst>
                  <a:gd name="T0" fmla="*/ 578 w 1159"/>
                  <a:gd name="T1" fmla="*/ 306 h 306"/>
                  <a:gd name="T2" fmla="*/ 0 w 1159"/>
                  <a:gd name="T3" fmla="*/ 128 h 306"/>
                  <a:gd name="T4" fmla="*/ 578 w 1159"/>
                  <a:gd name="T5" fmla="*/ 0 h 306"/>
                  <a:gd name="T6" fmla="*/ 1159 w 1159"/>
                  <a:gd name="T7" fmla="*/ 128 h 306"/>
                  <a:gd name="T8" fmla="*/ 578 w 1159"/>
                  <a:gd name="T9" fmla="*/ 306 h 306"/>
                </a:gdLst>
                <a:ahLst/>
                <a:cxnLst>
                  <a:cxn ang="0">
                    <a:pos x="T0" y="T1"/>
                  </a:cxn>
                  <a:cxn ang="0">
                    <a:pos x="T2" y="T3"/>
                  </a:cxn>
                  <a:cxn ang="0">
                    <a:pos x="T4" y="T5"/>
                  </a:cxn>
                  <a:cxn ang="0">
                    <a:pos x="T6" y="T7"/>
                  </a:cxn>
                  <a:cxn ang="0">
                    <a:pos x="T8" y="T9"/>
                  </a:cxn>
                </a:cxnLst>
                <a:rect l="0" t="0" r="r" b="b"/>
                <a:pathLst>
                  <a:path w="1159" h="306">
                    <a:moveTo>
                      <a:pt x="578" y="306"/>
                    </a:moveTo>
                    <a:lnTo>
                      <a:pt x="0" y="128"/>
                    </a:lnTo>
                    <a:lnTo>
                      <a:pt x="578" y="0"/>
                    </a:lnTo>
                    <a:lnTo>
                      <a:pt x="1159" y="128"/>
                    </a:lnTo>
                    <a:lnTo>
                      <a:pt x="578" y="306"/>
                    </a:lnTo>
                    <a:close/>
                  </a:path>
                </a:pathLst>
              </a:custGeom>
              <a:solidFill>
                <a:srgbClr val="0170BD"/>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2" name="Freeform 9">
                <a:extLst>
                  <a:ext uri="{FF2B5EF4-FFF2-40B4-BE49-F238E27FC236}">
                    <a16:creationId xmlns:a16="http://schemas.microsoft.com/office/drawing/2014/main" id="{79AD16A8-5E7B-44D4-89AD-AB7516F11A87}"/>
                  </a:ext>
                </a:extLst>
              </p:cNvPr>
              <p:cNvSpPr>
                <a:spLocks/>
              </p:cNvSpPr>
              <p:nvPr/>
            </p:nvSpPr>
            <p:spPr bwMode="auto">
              <a:xfrm>
                <a:off x="3098910" y="3802950"/>
                <a:ext cx="2821726" cy="172320"/>
              </a:xfrm>
              <a:custGeom>
                <a:avLst/>
                <a:gdLst>
                  <a:gd name="T0" fmla="*/ 335 w 336"/>
                  <a:gd name="T1" fmla="*/ 13 h 20"/>
                  <a:gd name="T2" fmla="*/ 326 w 336"/>
                  <a:gd name="T3" fmla="*/ 19 h 20"/>
                  <a:gd name="T4" fmla="*/ 7 w 336"/>
                  <a:gd name="T5" fmla="*/ 16 h 20"/>
                  <a:gd name="T6" fmla="*/ 0 w 336"/>
                  <a:gd name="T7" fmla="*/ 7 h 20"/>
                  <a:gd name="T8" fmla="*/ 0 w 336"/>
                  <a:gd name="T9" fmla="*/ 7 h 20"/>
                  <a:gd name="T10" fmla="*/ 9 w 336"/>
                  <a:gd name="T11" fmla="*/ 1 h 20"/>
                  <a:gd name="T12" fmla="*/ 329 w 336"/>
                  <a:gd name="T13" fmla="*/ 4 h 20"/>
                  <a:gd name="T14" fmla="*/ 335 w 336"/>
                  <a:gd name="T15" fmla="*/ 13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6" h="20">
                    <a:moveTo>
                      <a:pt x="335" y="13"/>
                    </a:moveTo>
                    <a:cubicBezTo>
                      <a:pt x="335" y="17"/>
                      <a:pt x="331" y="20"/>
                      <a:pt x="326" y="19"/>
                    </a:cubicBezTo>
                    <a:cubicBezTo>
                      <a:pt x="7" y="16"/>
                      <a:pt x="7" y="16"/>
                      <a:pt x="7" y="16"/>
                    </a:cubicBezTo>
                    <a:cubicBezTo>
                      <a:pt x="3" y="15"/>
                      <a:pt x="0" y="11"/>
                      <a:pt x="0" y="7"/>
                    </a:cubicBezTo>
                    <a:cubicBezTo>
                      <a:pt x="0" y="7"/>
                      <a:pt x="0" y="7"/>
                      <a:pt x="0" y="7"/>
                    </a:cubicBezTo>
                    <a:cubicBezTo>
                      <a:pt x="1" y="3"/>
                      <a:pt x="5" y="0"/>
                      <a:pt x="9" y="1"/>
                    </a:cubicBezTo>
                    <a:cubicBezTo>
                      <a:pt x="329" y="4"/>
                      <a:pt x="329" y="4"/>
                      <a:pt x="329" y="4"/>
                    </a:cubicBezTo>
                    <a:cubicBezTo>
                      <a:pt x="333" y="5"/>
                      <a:pt x="336" y="9"/>
                      <a:pt x="335" y="1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3" name="Freeform 10">
                <a:extLst>
                  <a:ext uri="{FF2B5EF4-FFF2-40B4-BE49-F238E27FC236}">
                    <a16:creationId xmlns:a16="http://schemas.microsoft.com/office/drawing/2014/main" id="{E59E268E-9A90-418C-B594-4ABAB78B28EF}"/>
                  </a:ext>
                </a:extLst>
              </p:cNvPr>
              <p:cNvSpPr>
                <a:spLocks/>
              </p:cNvSpPr>
              <p:nvPr/>
            </p:nvSpPr>
            <p:spPr bwMode="auto">
              <a:xfrm>
                <a:off x="5817161" y="3833066"/>
                <a:ext cx="133048" cy="970735"/>
              </a:xfrm>
              <a:custGeom>
                <a:avLst/>
                <a:gdLst>
                  <a:gd name="T0" fmla="*/ 16 w 16"/>
                  <a:gd name="T1" fmla="*/ 104 h 112"/>
                  <a:gd name="T2" fmla="*/ 8 w 16"/>
                  <a:gd name="T3" fmla="*/ 112 h 112"/>
                  <a:gd name="T4" fmla="*/ 8 w 16"/>
                  <a:gd name="T5" fmla="*/ 112 h 112"/>
                  <a:gd name="T6" fmla="*/ 0 w 16"/>
                  <a:gd name="T7" fmla="*/ 104 h 112"/>
                  <a:gd name="T8" fmla="*/ 0 w 16"/>
                  <a:gd name="T9" fmla="*/ 8 h 112"/>
                  <a:gd name="T10" fmla="*/ 8 w 16"/>
                  <a:gd name="T11" fmla="*/ 0 h 112"/>
                  <a:gd name="T12" fmla="*/ 8 w 16"/>
                  <a:gd name="T13" fmla="*/ 0 h 112"/>
                  <a:gd name="T14" fmla="*/ 16 w 16"/>
                  <a:gd name="T15" fmla="*/ 8 h 112"/>
                  <a:gd name="T16" fmla="*/ 16 w 16"/>
                  <a:gd name="T17" fmla="*/ 10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12">
                    <a:moveTo>
                      <a:pt x="16" y="104"/>
                    </a:moveTo>
                    <a:cubicBezTo>
                      <a:pt x="16" y="109"/>
                      <a:pt x="13" y="112"/>
                      <a:pt x="8" y="112"/>
                    </a:cubicBezTo>
                    <a:cubicBezTo>
                      <a:pt x="8" y="112"/>
                      <a:pt x="8" y="112"/>
                      <a:pt x="8" y="112"/>
                    </a:cubicBezTo>
                    <a:cubicBezTo>
                      <a:pt x="3" y="112"/>
                      <a:pt x="0" y="109"/>
                      <a:pt x="0" y="104"/>
                    </a:cubicBezTo>
                    <a:cubicBezTo>
                      <a:pt x="0" y="8"/>
                      <a:pt x="0" y="8"/>
                      <a:pt x="0" y="8"/>
                    </a:cubicBezTo>
                    <a:cubicBezTo>
                      <a:pt x="0" y="3"/>
                      <a:pt x="3" y="0"/>
                      <a:pt x="8" y="0"/>
                    </a:cubicBezTo>
                    <a:cubicBezTo>
                      <a:pt x="8" y="0"/>
                      <a:pt x="8" y="0"/>
                      <a:pt x="8" y="0"/>
                    </a:cubicBezTo>
                    <a:cubicBezTo>
                      <a:pt x="13" y="0"/>
                      <a:pt x="16" y="3"/>
                      <a:pt x="16" y="8"/>
                    </a:cubicBezTo>
                    <a:lnTo>
                      <a:pt x="16" y="104"/>
                    </a:lnTo>
                    <a:close/>
                  </a:path>
                </a:pathLst>
              </a:custGeom>
              <a:solidFill>
                <a:srgbClr val="0170BD"/>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4" name="Oval 11">
                <a:extLst>
                  <a:ext uri="{FF2B5EF4-FFF2-40B4-BE49-F238E27FC236}">
                    <a16:creationId xmlns:a16="http://schemas.microsoft.com/office/drawing/2014/main" id="{B4D72616-6F54-447F-8324-4143218526A2}"/>
                  </a:ext>
                </a:extLst>
              </p:cNvPr>
              <p:cNvSpPr>
                <a:spLocks noChangeArrowheads="1"/>
              </p:cNvSpPr>
              <p:nvPr/>
            </p:nvSpPr>
            <p:spPr bwMode="auto">
              <a:xfrm>
                <a:off x="5660082" y="4664548"/>
                <a:ext cx="443493" cy="459518"/>
              </a:xfrm>
              <a:prstGeom prst="ellipse">
                <a:avLst/>
              </a:prstGeom>
              <a:solidFill>
                <a:srgbClr val="0170BD"/>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5" name="Freeform 12">
                <a:extLst>
                  <a:ext uri="{FF2B5EF4-FFF2-40B4-BE49-F238E27FC236}">
                    <a16:creationId xmlns:a16="http://schemas.microsoft.com/office/drawing/2014/main" id="{21564092-B782-41D2-8C60-6631DE0F3C34}"/>
                  </a:ext>
                </a:extLst>
              </p:cNvPr>
              <p:cNvSpPr>
                <a:spLocks/>
              </p:cNvSpPr>
              <p:nvPr/>
            </p:nvSpPr>
            <p:spPr bwMode="auto">
              <a:xfrm>
                <a:off x="5593558" y="5279157"/>
                <a:ext cx="576541" cy="1079869"/>
              </a:xfrm>
              <a:custGeom>
                <a:avLst/>
                <a:gdLst>
                  <a:gd name="T0" fmla="*/ 69 w 69"/>
                  <a:gd name="T1" fmla="*/ 114 h 124"/>
                  <a:gd name="T2" fmla="*/ 59 w 69"/>
                  <a:gd name="T3" fmla="*/ 124 h 124"/>
                  <a:gd name="T4" fmla="*/ 10 w 69"/>
                  <a:gd name="T5" fmla="*/ 124 h 124"/>
                  <a:gd name="T6" fmla="*/ 0 w 69"/>
                  <a:gd name="T7" fmla="*/ 114 h 124"/>
                  <a:gd name="T8" fmla="*/ 10 w 69"/>
                  <a:gd name="T9" fmla="*/ 10 h 124"/>
                  <a:gd name="T10" fmla="*/ 20 w 69"/>
                  <a:gd name="T11" fmla="*/ 0 h 124"/>
                  <a:gd name="T12" fmla="*/ 49 w 69"/>
                  <a:gd name="T13" fmla="*/ 0 h 124"/>
                  <a:gd name="T14" fmla="*/ 59 w 69"/>
                  <a:gd name="T15" fmla="*/ 10 h 124"/>
                  <a:gd name="T16" fmla="*/ 69 w 69"/>
                  <a:gd name="T17" fmla="*/ 11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 h="124">
                    <a:moveTo>
                      <a:pt x="69" y="114"/>
                    </a:moveTo>
                    <a:cubicBezTo>
                      <a:pt x="69" y="119"/>
                      <a:pt x="64" y="124"/>
                      <a:pt x="59" y="124"/>
                    </a:cubicBezTo>
                    <a:cubicBezTo>
                      <a:pt x="10" y="124"/>
                      <a:pt x="10" y="124"/>
                      <a:pt x="10" y="124"/>
                    </a:cubicBezTo>
                    <a:cubicBezTo>
                      <a:pt x="4" y="124"/>
                      <a:pt x="0" y="119"/>
                      <a:pt x="0" y="114"/>
                    </a:cubicBezTo>
                    <a:cubicBezTo>
                      <a:pt x="10" y="10"/>
                      <a:pt x="10" y="10"/>
                      <a:pt x="10" y="10"/>
                    </a:cubicBezTo>
                    <a:cubicBezTo>
                      <a:pt x="10" y="5"/>
                      <a:pt x="14" y="0"/>
                      <a:pt x="20" y="0"/>
                    </a:cubicBezTo>
                    <a:cubicBezTo>
                      <a:pt x="49" y="0"/>
                      <a:pt x="49" y="0"/>
                      <a:pt x="49" y="0"/>
                    </a:cubicBezTo>
                    <a:cubicBezTo>
                      <a:pt x="55" y="0"/>
                      <a:pt x="59" y="5"/>
                      <a:pt x="59" y="10"/>
                    </a:cubicBezTo>
                    <a:lnTo>
                      <a:pt x="69" y="114"/>
                    </a:lnTo>
                    <a:close/>
                  </a:path>
                </a:pathLst>
              </a:custGeom>
              <a:solidFill>
                <a:srgbClr val="0170BD"/>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6" name="Freeform 13">
                <a:extLst>
                  <a:ext uri="{FF2B5EF4-FFF2-40B4-BE49-F238E27FC236}">
                    <a16:creationId xmlns:a16="http://schemas.microsoft.com/office/drawing/2014/main" id="{4A17AB8C-7DCF-45C8-968E-A26282F17958}"/>
                  </a:ext>
                </a:extLst>
              </p:cNvPr>
              <p:cNvSpPr>
                <a:spLocks/>
              </p:cNvSpPr>
              <p:nvPr/>
            </p:nvSpPr>
            <p:spPr bwMode="auto">
              <a:xfrm>
                <a:off x="5665623" y="5003445"/>
                <a:ext cx="404689" cy="310175"/>
              </a:xfrm>
              <a:custGeom>
                <a:avLst/>
                <a:gdLst>
                  <a:gd name="T0" fmla="*/ 48 w 48"/>
                  <a:gd name="T1" fmla="*/ 26 h 36"/>
                  <a:gd name="T2" fmla="*/ 38 w 48"/>
                  <a:gd name="T3" fmla="*/ 36 h 36"/>
                  <a:gd name="T4" fmla="*/ 10 w 48"/>
                  <a:gd name="T5" fmla="*/ 36 h 36"/>
                  <a:gd name="T6" fmla="*/ 0 w 48"/>
                  <a:gd name="T7" fmla="*/ 26 h 36"/>
                  <a:gd name="T8" fmla="*/ 0 w 48"/>
                  <a:gd name="T9" fmla="*/ 10 h 36"/>
                  <a:gd name="T10" fmla="*/ 10 w 48"/>
                  <a:gd name="T11" fmla="*/ 0 h 36"/>
                  <a:gd name="T12" fmla="*/ 38 w 48"/>
                  <a:gd name="T13" fmla="*/ 0 h 36"/>
                  <a:gd name="T14" fmla="*/ 48 w 48"/>
                  <a:gd name="T15" fmla="*/ 10 h 36"/>
                  <a:gd name="T16" fmla="*/ 48 w 48"/>
                  <a:gd name="T17" fmla="*/ 2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36">
                    <a:moveTo>
                      <a:pt x="48" y="26"/>
                    </a:moveTo>
                    <a:cubicBezTo>
                      <a:pt x="48" y="32"/>
                      <a:pt x="44" y="36"/>
                      <a:pt x="38" y="36"/>
                    </a:cubicBezTo>
                    <a:cubicBezTo>
                      <a:pt x="10" y="36"/>
                      <a:pt x="10" y="36"/>
                      <a:pt x="10" y="36"/>
                    </a:cubicBezTo>
                    <a:cubicBezTo>
                      <a:pt x="4" y="36"/>
                      <a:pt x="0" y="32"/>
                      <a:pt x="0" y="26"/>
                    </a:cubicBezTo>
                    <a:cubicBezTo>
                      <a:pt x="0" y="10"/>
                      <a:pt x="0" y="10"/>
                      <a:pt x="0" y="10"/>
                    </a:cubicBezTo>
                    <a:cubicBezTo>
                      <a:pt x="0" y="4"/>
                      <a:pt x="4" y="0"/>
                      <a:pt x="10" y="0"/>
                    </a:cubicBezTo>
                    <a:cubicBezTo>
                      <a:pt x="38" y="0"/>
                      <a:pt x="38" y="0"/>
                      <a:pt x="38" y="0"/>
                    </a:cubicBezTo>
                    <a:cubicBezTo>
                      <a:pt x="44" y="0"/>
                      <a:pt x="48" y="4"/>
                      <a:pt x="48" y="10"/>
                    </a:cubicBezTo>
                    <a:lnTo>
                      <a:pt x="48" y="26"/>
                    </a:lnTo>
                    <a:close/>
                  </a:path>
                </a:pathLst>
              </a:custGeom>
              <a:solidFill>
                <a:srgbClr val="0170BD"/>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7" name="Oval 14">
                <a:extLst>
                  <a:ext uri="{FF2B5EF4-FFF2-40B4-BE49-F238E27FC236}">
                    <a16:creationId xmlns:a16="http://schemas.microsoft.com/office/drawing/2014/main" id="{1F203988-EF15-44E9-8CCF-0738651F77D5}"/>
                  </a:ext>
                </a:extLst>
              </p:cNvPr>
              <p:cNvSpPr>
                <a:spLocks noChangeArrowheads="1"/>
              </p:cNvSpPr>
              <p:nvPr/>
            </p:nvSpPr>
            <p:spPr bwMode="auto">
              <a:xfrm>
                <a:off x="2816181" y="3711047"/>
                <a:ext cx="820462" cy="304433"/>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38" name="文本框 37" descr="e7d195523061f1c0f4bb5be3e2152d0be5f1635aa3ee5a33E6DD9EB6C71F4F179BAB7AE0B57C3F8359103873511F92A5B708547D4B17A08C0273121C22B542FF37C108EC636541EC6D8B0743D4BC2EF7A0B42B998AA7195F70CBE294C597E9660A8028B3FF2D7D44A135630CC32BD3F37BB5FFE2050F7E712597E602A45BDCBD1078F78F607B886CDD2042C699DE6DA3">
              <a:extLst>
                <a:ext uri="{FF2B5EF4-FFF2-40B4-BE49-F238E27FC236}">
                  <a16:creationId xmlns:a16="http://schemas.microsoft.com/office/drawing/2014/main" id="{9A32D788-31BC-400B-8E4D-716118DC2649}"/>
                </a:ext>
              </a:extLst>
            </p:cNvPr>
            <p:cNvSpPr txBox="1"/>
            <p:nvPr/>
          </p:nvSpPr>
          <p:spPr>
            <a:xfrm>
              <a:off x="6270710" y="1431250"/>
              <a:ext cx="1068097" cy="340221"/>
            </a:xfrm>
            <a:prstGeom prst="rect">
              <a:avLst/>
            </a:prstGeom>
            <a:noFill/>
          </p:spPr>
          <p:txBody>
            <a:bodyPr wrap="square" rtlCol="0">
              <a:spAutoFit/>
              <a:scene3d>
                <a:camera prst="orthographicFront"/>
                <a:lightRig rig="threePt" dir="t"/>
              </a:scene3d>
              <a:sp3d contourW="12700"/>
            </a:bodyPr>
            <a:lstStyle>
              <a:defPPr>
                <a:defRPr lang="zh-CN"/>
              </a:defPPr>
              <a:lvl1pPr defTabSz="457200">
                <a:lnSpc>
                  <a:spcPct val="150000"/>
                </a:lnSpc>
                <a:defRPr sz="1050">
                  <a:solidFill>
                    <a:schemeClr val="tx1">
                      <a:lumMod val="50000"/>
                      <a:lumOff val="50000"/>
                    </a:schemeClr>
                  </a:solidFill>
                  <a:latin typeface="Century Gothic" panose="020B0502020202020204" pitchFamily="34" charset="0"/>
                </a:defRPr>
              </a:lvl1pPr>
            </a:lstStyle>
            <a:p>
              <a:pPr algn="ctr"/>
              <a:r>
                <a:rPr lang="en-US" altLang="zh-CN" sz="1200" dirty="0">
                  <a:latin typeface="字魂58号-创中黑" panose="00000500000000000000" pitchFamily="2" charset="-122"/>
                  <a:ea typeface="字魂58号-创中黑" panose="00000500000000000000" pitchFamily="2" charset="-122"/>
                  <a:sym typeface="字魂58号-创中黑" panose="00000500000000000000" pitchFamily="2" charset="-122"/>
                </a:rPr>
                <a:t>CONTENTS</a:t>
              </a:r>
              <a:endParaRPr lang="zh-CN" altLang="en-US" sz="12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nvGrpSpPr>
          <p:cNvPr id="48" name="组合 47">
            <a:extLst>
              <a:ext uri="{FF2B5EF4-FFF2-40B4-BE49-F238E27FC236}">
                <a16:creationId xmlns:a16="http://schemas.microsoft.com/office/drawing/2014/main" id="{D6D0336E-648C-4917-B686-0C2A8FDB3A85}"/>
              </a:ext>
            </a:extLst>
          </p:cNvPr>
          <p:cNvGrpSpPr/>
          <p:nvPr/>
        </p:nvGrpSpPr>
        <p:grpSpPr>
          <a:xfrm>
            <a:off x="6707353" y="1884173"/>
            <a:ext cx="991749" cy="991749"/>
            <a:chOff x="2414587" y="2452686"/>
            <a:chExt cx="743812" cy="743812"/>
          </a:xfrm>
        </p:grpSpPr>
        <p:grpSp>
          <p:nvGrpSpPr>
            <p:cNvPr id="49" name="组合 48">
              <a:extLst>
                <a:ext uri="{FF2B5EF4-FFF2-40B4-BE49-F238E27FC236}">
                  <a16:creationId xmlns:a16="http://schemas.microsoft.com/office/drawing/2014/main" id="{53BFDB3A-15E2-40D9-AD8C-9A4F69A1E23B}"/>
                </a:ext>
              </a:extLst>
            </p:cNvPr>
            <p:cNvGrpSpPr/>
            <p:nvPr/>
          </p:nvGrpSpPr>
          <p:grpSpPr>
            <a:xfrm>
              <a:off x="2414587" y="2452686"/>
              <a:ext cx="743812" cy="743812"/>
              <a:chOff x="3163162" y="1286736"/>
              <a:chExt cx="1781176" cy="1781176"/>
            </a:xfrm>
          </p:grpSpPr>
          <p:grpSp>
            <p:nvGrpSpPr>
              <p:cNvPr id="51" name="组合 50">
                <a:extLst>
                  <a:ext uri="{FF2B5EF4-FFF2-40B4-BE49-F238E27FC236}">
                    <a16:creationId xmlns:a16="http://schemas.microsoft.com/office/drawing/2014/main" id="{ECFCEACB-E4FA-4E43-BDD4-51E2D63E1F27}"/>
                  </a:ext>
                </a:extLst>
              </p:cNvPr>
              <p:cNvGrpSpPr/>
              <p:nvPr/>
            </p:nvGrpSpPr>
            <p:grpSpPr>
              <a:xfrm>
                <a:off x="3163162" y="1286736"/>
                <a:ext cx="1781176" cy="1781176"/>
                <a:chOff x="5410200" y="1286736"/>
                <a:chExt cx="1781176" cy="1781176"/>
              </a:xfrm>
            </p:grpSpPr>
            <p:grpSp>
              <p:nvGrpSpPr>
                <p:cNvPr id="57" name="组合 56">
                  <a:extLst>
                    <a:ext uri="{FF2B5EF4-FFF2-40B4-BE49-F238E27FC236}">
                      <a16:creationId xmlns:a16="http://schemas.microsoft.com/office/drawing/2014/main" id="{949EE94C-C600-42FD-A14D-ACBE6CA1417F}"/>
                    </a:ext>
                  </a:extLst>
                </p:cNvPr>
                <p:cNvGrpSpPr/>
                <p:nvPr/>
              </p:nvGrpSpPr>
              <p:grpSpPr>
                <a:xfrm flipH="1">
                  <a:off x="5410200" y="1286736"/>
                  <a:ext cx="1781176" cy="1781176"/>
                  <a:chOff x="3333750" y="1457325"/>
                  <a:chExt cx="1440000" cy="1440000"/>
                </a:xfrm>
              </p:grpSpPr>
              <p:sp>
                <p:nvSpPr>
                  <p:cNvPr id="59" name="矩形 58">
                    <a:extLst>
                      <a:ext uri="{FF2B5EF4-FFF2-40B4-BE49-F238E27FC236}">
                        <a16:creationId xmlns:a16="http://schemas.microsoft.com/office/drawing/2014/main" id="{127A9D49-DBB2-437B-9762-9FCDBDF5962E}"/>
                      </a:ext>
                    </a:extLst>
                  </p:cNvPr>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0" name="矩形 59">
                    <a:extLst>
                      <a:ext uri="{FF2B5EF4-FFF2-40B4-BE49-F238E27FC236}">
                        <a16:creationId xmlns:a16="http://schemas.microsoft.com/office/drawing/2014/main" id="{4DB60545-9A92-42B3-A07F-C02C6D3E44E6}"/>
                      </a:ext>
                    </a:extLst>
                  </p:cNvPr>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1" name="矩形 60">
                    <a:extLst>
                      <a:ext uri="{FF2B5EF4-FFF2-40B4-BE49-F238E27FC236}">
                        <a16:creationId xmlns:a16="http://schemas.microsoft.com/office/drawing/2014/main" id="{2C50BEC4-A9EA-493A-B430-29CE7B107A68}"/>
                      </a:ext>
                    </a:extLst>
                  </p:cNvPr>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2" name="矩形 61">
                    <a:extLst>
                      <a:ext uri="{FF2B5EF4-FFF2-40B4-BE49-F238E27FC236}">
                        <a16:creationId xmlns:a16="http://schemas.microsoft.com/office/drawing/2014/main" id="{6347665A-227B-4EDA-9026-87E7F1A0EFA1}"/>
                      </a:ext>
                    </a:extLst>
                  </p:cNvPr>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58" name="矩形 57">
                  <a:extLst>
                    <a:ext uri="{FF2B5EF4-FFF2-40B4-BE49-F238E27FC236}">
                      <a16:creationId xmlns:a16="http://schemas.microsoft.com/office/drawing/2014/main" id="{471AC9B8-2992-4E38-A280-F2B21B0EE3D8}"/>
                    </a:ext>
                  </a:extLst>
                </p:cNvPr>
                <p:cNvSpPr/>
                <p:nvPr/>
              </p:nvSpPr>
              <p:spPr>
                <a:xfrm>
                  <a:off x="5448898" y="1338286"/>
                  <a:ext cx="1691999" cy="1691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nvGrpSpPr>
              <p:cNvPr id="52" name="组合 51">
                <a:extLst>
                  <a:ext uri="{FF2B5EF4-FFF2-40B4-BE49-F238E27FC236}">
                    <a16:creationId xmlns:a16="http://schemas.microsoft.com/office/drawing/2014/main" id="{9EA8BBF7-A05A-430F-BF33-B2B3A87F30AE}"/>
                  </a:ext>
                </a:extLst>
              </p:cNvPr>
              <p:cNvGrpSpPr/>
              <p:nvPr/>
            </p:nvGrpSpPr>
            <p:grpSpPr>
              <a:xfrm>
                <a:off x="3333750" y="1457325"/>
                <a:ext cx="1440000" cy="1440000"/>
                <a:chOff x="3333750" y="1457325"/>
                <a:chExt cx="1440000" cy="1440000"/>
              </a:xfrm>
            </p:grpSpPr>
            <p:sp>
              <p:nvSpPr>
                <p:cNvPr id="53" name="矩形 52">
                  <a:extLst>
                    <a:ext uri="{FF2B5EF4-FFF2-40B4-BE49-F238E27FC236}">
                      <a16:creationId xmlns:a16="http://schemas.microsoft.com/office/drawing/2014/main" id="{FF78F183-E4ED-4D44-8870-920377CA324B}"/>
                    </a:ext>
                  </a:extLst>
                </p:cNvPr>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54" name="矩形 53">
                  <a:extLst>
                    <a:ext uri="{FF2B5EF4-FFF2-40B4-BE49-F238E27FC236}">
                      <a16:creationId xmlns:a16="http://schemas.microsoft.com/office/drawing/2014/main" id="{DB108B11-2D48-4280-82D8-D2D3B46DC8A4}"/>
                    </a:ext>
                  </a:extLst>
                </p:cNvPr>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55" name="矩形 54">
                  <a:extLst>
                    <a:ext uri="{FF2B5EF4-FFF2-40B4-BE49-F238E27FC236}">
                      <a16:creationId xmlns:a16="http://schemas.microsoft.com/office/drawing/2014/main" id="{203E2107-E73A-4F80-8F50-E16053684CFE}"/>
                    </a:ext>
                  </a:extLst>
                </p:cNvPr>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56" name="矩形 55">
                  <a:extLst>
                    <a:ext uri="{FF2B5EF4-FFF2-40B4-BE49-F238E27FC236}">
                      <a16:creationId xmlns:a16="http://schemas.microsoft.com/office/drawing/2014/main" id="{A9C98D8A-845B-436F-B966-432CF842A18F}"/>
                    </a:ext>
                  </a:extLst>
                </p:cNvPr>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sp>
          <p:nvSpPr>
            <p:cNvPr id="50" name="文本框 49">
              <a:extLst>
                <a:ext uri="{FF2B5EF4-FFF2-40B4-BE49-F238E27FC236}">
                  <a16:creationId xmlns:a16="http://schemas.microsoft.com/office/drawing/2014/main" id="{D975A659-4647-4CC3-98D7-8E6CD8D6D5FA}"/>
                </a:ext>
              </a:extLst>
            </p:cNvPr>
            <p:cNvSpPr txBox="1"/>
            <p:nvPr/>
          </p:nvSpPr>
          <p:spPr>
            <a:xfrm>
              <a:off x="2591609" y="2504302"/>
              <a:ext cx="389771" cy="623248"/>
            </a:xfrm>
            <a:prstGeom prst="rect">
              <a:avLst/>
            </a:prstGeom>
            <a:noFill/>
          </p:spPr>
          <p:txBody>
            <a:bodyPr wrap="none" rtlCol="0">
              <a:spAutoFit/>
            </a:bodyPr>
            <a:lstStyle/>
            <a:p>
              <a:pPr algn="ctr"/>
              <a:r>
                <a:rPr lang="en-US" altLang="zh-CN" sz="4800" dirty="0">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rPr>
                <a:t>2</a:t>
              </a:r>
              <a:endParaRPr lang="zh-CN" altLang="en-US" sz="4800" dirty="0">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63" name="矩形 62">
            <a:extLst>
              <a:ext uri="{FF2B5EF4-FFF2-40B4-BE49-F238E27FC236}">
                <a16:creationId xmlns:a16="http://schemas.microsoft.com/office/drawing/2014/main" id="{D19F8504-80A5-4A7C-ACA5-A3EC3AEB8E38}"/>
              </a:ext>
            </a:extLst>
          </p:cNvPr>
          <p:cNvSpPr/>
          <p:nvPr/>
        </p:nvSpPr>
        <p:spPr>
          <a:xfrm>
            <a:off x="7744431" y="2029167"/>
            <a:ext cx="2998157" cy="461665"/>
          </a:xfrm>
          <a:prstGeom prst="rect">
            <a:avLst/>
          </a:prstGeom>
        </p:spPr>
        <p:txBody>
          <a:bodyPr wrap="square">
            <a:spAutoFit/>
          </a:bodyPr>
          <a:lstStyle/>
          <a:p>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工艺机理与物理建模</a:t>
            </a:r>
          </a:p>
        </p:txBody>
      </p:sp>
      <p:sp>
        <p:nvSpPr>
          <p:cNvPr id="64" name="矩形 63">
            <a:extLst>
              <a:ext uri="{FF2B5EF4-FFF2-40B4-BE49-F238E27FC236}">
                <a16:creationId xmlns:a16="http://schemas.microsoft.com/office/drawing/2014/main" id="{0AD95F87-B6D2-4F64-9C0C-59A7C4D56F94}"/>
              </a:ext>
            </a:extLst>
          </p:cNvPr>
          <p:cNvSpPr/>
          <p:nvPr/>
        </p:nvSpPr>
        <p:spPr>
          <a:xfrm>
            <a:off x="7789759" y="2449414"/>
            <a:ext cx="2998157" cy="306174"/>
          </a:xfrm>
          <a:prstGeom prst="rect">
            <a:avLst/>
          </a:prstGeom>
          <a:noFill/>
        </p:spPr>
        <p:txBody>
          <a:bodyPr wrap="square" rtlCol="0">
            <a:spAutoFit/>
            <a:scene3d>
              <a:camera prst="orthographicFront"/>
              <a:lightRig rig="threePt" dir="t"/>
            </a:scene3d>
            <a:sp3d contourW="12700"/>
          </a:bodyPr>
          <a:lstStyle/>
          <a:p>
            <a:pPr defTabSz="457200">
              <a:lnSpc>
                <a:spcPct val="150000"/>
              </a:lnSpc>
            </a:pPr>
            <a:r>
              <a:rPr lang="en-US" altLang="zh-CN" sz="105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Process Mechanism and Physical Modeling</a:t>
            </a:r>
          </a:p>
        </p:txBody>
      </p:sp>
      <p:grpSp>
        <p:nvGrpSpPr>
          <p:cNvPr id="65" name="组合 64">
            <a:extLst>
              <a:ext uri="{FF2B5EF4-FFF2-40B4-BE49-F238E27FC236}">
                <a16:creationId xmlns:a16="http://schemas.microsoft.com/office/drawing/2014/main" id="{80F6D272-9E0F-49C7-9F39-E2685003F834}"/>
              </a:ext>
            </a:extLst>
          </p:cNvPr>
          <p:cNvGrpSpPr/>
          <p:nvPr/>
        </p:nvGrpSpPr>
        <p:grpSpPr>
          <a:xfrm>
            <a:off x="1717875" y="3375313"/>
            <a:ext cx="991749" cy="991749"/>
            <a:chOff x="2414587" y="2452686"/>
            <a:chExt cx="743812" cy="743812"/>
          </a:xfrm>
        </p:grpSpPr>
        <p:grpSp>
          <p:nvGrpSpPr>
            <p:cNvPr id="66" name="组合 65">
              <a:extLst>
                <a:ext uri="{FF2B5EF4-FFF2-40B4-BE49-F238E27FC236}">
                  <a16:creationId xmlns:a16="http://schemas.microsoft.com/office/drawing/2014/main" id="{B912D3E3-6286-4D6A-8C79-3BB713B66031}"/>
                </a:ext>
              </a:extLst>
            </p:cNvPr>
            <p:cNvGrpSpPr/>
            <p:nvPr/>
          </p:nvGrpSpPr>
          <p:grpSpPr>
            <a:xfrm>
              <a:off x="2414587" y="2452686"/>
              <a:ext cx="743812" cy="743812"/>
              <a:chOff x="3163162" y="1286736"/>
              <a:chExt cx="1781176" cy="1781176"/>
            </a:xfrm>
          </p:grpSpPr>
          <p:grpSp>
            <p:nvGrpSpPr>
              <p:cNvPr id="68" name="组合 67">
                <a:extLst>
                  <a:ext uri="{FF2B5EF4-FFF2-40B4-BE49-F238E27FC236}">
                    <a16:creationId xmlns:a16="http://schemas.microsoft.com/office/drawing/2014/main" id="{984CE1F4-F677-454C-BEC5-B51AB302A31A}"/>
                  </a:ext>
                </a:extLst>
              </p:cNvPr>
              <p:cNvGrpSpPr/>
              <p:nvPr/>
            </p:nvGrpSpPr>
            <p:grpSpPr>
              <a:xfrm>
                <a:off x="3163162" y="1286736"/>
                <a:ext cx="1781176" cy="1781176"/>
                <a:chOff x="5410200" y="1286736"/>
                <a:chExt cx="1781176" cy="1781176"/>
              </a:xfrm>
            </p:grpSpPr>
            <p:grpSp>
              <p:nvGrpSpPr>
                <p:cNvPr id="74" name="组合 73">
                  <a:extLst>
                    <a:ext uri="{FF2B5EF4-FFF2-40B4-BE49-F238E27FC236}">
                      <a16:creationId xmlns:a16="http://schemas.microsoft.com/office/drawing/2014/main" id="{B8AA192B-CA94-4427-A5A1-E26132249545}"/>
                    </a:ext>
                  </a:extLst>
                </p:cNvPr>
                <p:cNvGrpSpPr/>
                <p:nvPr/>
              </p:nvGrpSpPr>
              <p:grpSpPr>
                <a:xfrm flipH="1">
                  <a:off x="5410200" y="1286736"/>
                  <a:ext cx="1781176" cy="1781176"/>
                  <a:chOff x="3333750" y="1457325"/>
                  <a:chExt cx="1440000" cy="1440000"/>
                </a:xfrm>
              </p:grpSpPr>
              <p:sp>
                <p:nvSpPr>
                  <p:cNvPr id="76" name="矩形 75">
                    <a:extLst>
                      <a:ext uri="{FF2B5EF4-FFF2-40B4-BE49-F238E27FC236}">
                        <a16:creationId xmlns:a16="http://schemas.microsoft.com/office/drawing/2014/main" id="{9B9E63CA-4D60-4EF2-8A0A-6B237272D6EF}"/>
                      </a:ext>
                    </a:extLst>
                  </p:cNvPr>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77" name="矩形 76">
                    <a:extLst>
                      <a:ext uri="{FF2B5EF4-FFF2-40B4-BE49-F238E27FC236}">
                        <a16:creationId xmlns:a16="http://schemas.microsoft.com/office/drawing/2014/main" id="{340D76DE-A5CC-4FE0-A026-EB683BD0336E}"/>
                      </a:ext>
                    </a:extLst>
                  </p:cNvPr>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78" name="矩形 77">
                    <a:extLst>
                      <a:ext uri="{FF2B5EF4-FFF2-40B4-BE49-F238E27FC236}">
                        <a16:creationId xmlns:a16="http://schemas.microsoft.com/office/drawing/2014/main" id="{9C22FE71-4192-4D51-9243-C07E40B3C37F}"/>
                      </a:ext>
                    </a:extLst>
                  </p:cNvPr>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79" name="矩形 78">
                    <a:extLst>
                      <a:ext uri="{FF2B5EF4-FFF2-40B4-BE49-F238E27FC236}">
                        <a16:creationId xmlns:a16="http://schemas.microsoft.com/office/drawing/2014/main" id="{B3295BC7-6B68-4A7A-BA7E-0C72CAB514FA}"/>
                      </a:ext>
                    </a:extLst>
                  </p:cNvPr>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75" name="矩形 74">
                  <a:extLst>
                    <a:ext uri="{FF2B5EF4-FFF2-40B4-BE49-F238E27FC236}">
                      <a16:creationId xmlns:a16="http://schemas.microsoft.com/office/drawing/2014/main" id="{87655530-8DAD-4E96-AD92-6E745EA246FE}"/>
                    </a:ext>
                  </a:extLst>
                </p:cNvPr>
                <p:cNvSpPr/>
                <p:nvPr/>
              </p:nvSpPr>
              <p:spPr>
                <a:xfrm>
                  <a:off x="5448898" y="1338286"/>
                  <a:ext cx="1691999" cy="1691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nvGrpSpPr>
              <p:cNvPr id="69" name="组合 68">
                <a:extLst>
                  <a:ext uri="{FF2B5EF4-FFF2-40B4-BE49-F238E27FC236}">
                    <a16:creationId xmlns:a16="http://schemas.microsoft.com/office/drawing/2014/main" id="{6898539D-2284-4B3E-AFFA-5B4FE1E1CC10}"/>
                  </a:ext>
                </a:extLst>
              </p:cNvPr>
              <p:cNvGrpSpPr/>
              <p:nvPr/>
            </p:nvGrpSpPr>
            <p:grpSpPr>
              <a:xfrm>
                <a:off x="3333750" y="1457325"/>
                <a:ext cx="1440000" cy="1440000"/>
                <a:chOff x="3333750" y="1457325"/>
                <a:chExt cx="1440000" cy="1440000"/>
              </a:xfrm>
            </p:grpSpPr>
            <p:sp>
              <p:nvSpPr>
                <p:cNvPr id="70" name="矩形 69">
                  <a:extLst>
                    <a:ext uri="{FF2B5EF4-FFF2-40B4-BE49-F238E27FC236}">
                      <a16:creationId xmlns:a16="http://schemas.microsoft.com/office/drawing/2014/main" id="{F4E9B877-C430-4BFC-886A-035A8421448E}"/>
                    </a:ext>
                  </a:extLst>
                </p:cNvPr>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71" name="矩形 70">
                  <a:extLst>
                    <a:ext uri="{FF2B5EF4-FFF2-40B4-BE49-F238E27FC236}">
                      <a16:creationId xmlns:a16="http://schemas.microsoft.com/office/drawing/2014/main" id="{C4FBEC47-7FFD-4C94-8006-6373126311DA}"/>
                    </a:ext>
                  </a:extLst>
                </p:cNvPr>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72" name="矩形 71">
                  <a:extLst>
                    <a:ext uri="{FF2B5EF4-FFF2-40B4-BE49-F238E27FC236}">
                      <a16:creationId xmlns:a16="http://schemas.microsoft.com/office/drawing/2014/main" id="{E9B42E58-66CE-49AD-9B6E-056F44E25FE1}"/>
                    </a:ext>
                  </a:extLst>
                </p:cNvPr>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73" name="矩形 72">
                  <a:extLst>
                    <a:ext uri="{FF2B5EF4-FFF2-40B4-BE49-F238E27FC236}">
                      <a16:creationId xmlns:a16="http://schemas.microsoft.com/office/drawing/2014/main" id="{950275A7-7C75-42A2-92CA-CBEE0BBAB8DB}"/>
                    </a:ext>
                  </a:extLst>
                </p:cNvPr>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sp>
          <p:nvSpPr>
            <p:cNvPr id="67" name="文本框 66">
              <a:extLst>
                <a:ext uri="{FF2B5EF4-FFF2-40B4-BE49-F238E27FC236}">
                  <a16:creationId xmlns:a16="http://schemas.microsoft.com/office/drawing/2014/main" id="{90E7CE4E-3216-4D76-9E20-EDFE63FDC89A}"/>
                </a:ext>
              </a:extLst>
            </p:cNvPr>
            <p:cNvSpPr txBox="1"/>
            <p:nvPr/>
          </p:nvSpPr>
          <p:spPr>
            <a:xfrm>
              <a:off x="2593412" y="2504302"/>
              <a:ext cx="386164" cy="623248"/>
            </a:xfrm>
            <a:prstGeom prst="rect">
              <a:avLst/>
            </a:prstGeom>
            <a:noFill/>
          </p:spPr>
          <p:txBody>
            <a:bodyPr wrap="none" rtlCol="0">
              <a:spAutoFit/>
            </a:bodyPr>
            <a:lstStyle/>
            <a:p>
              <a:pPr algn="ctr"/>
              <a:r>
                <a:rPr lang="en-US" altLang="zh-CN" sz="4800" dirty="0">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rPr>
                <a:t>3</a:t>
              </a:r>
              <a:endParaRPr lang="zh-CN" altLang="en-US" sz="4800" dirty="0">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80" name="矩形 79">
            <a:extLst>
              <a:ext uri="{FF2B5EF4-FFF2-40B4-BE49-F238E27FC236}">
                <a16:creationId xmlns:a16="http://schemas.microsoft.com/office/drawing/2014/main" id="{B9E64B66-5DCF-42CF-BE68-44A80B54073B}"/>
              </a:ext>
            </a:extLst>
          </p:cNvPr>
          <p:cNvSpPr/>
          <p:nvPr/>
        </p:nvSpPr>
        <p:spPr>
          <a:xfrm>
            <a:off x="2709624" y="3532132"/>
            <a:ext cx="3004561" cy="461665"/>
          </a:xfrm>
          <a:prstGeom prst="rect">
            <a:avLst/>
          </a:prstGeom>
        </p:spPr>
        <p:txBody>
          <a:bodyPr wrap="square">
            <a:spAutoFit/>
          </a:bodyPr>
          <a:lstStyle/>
          <a:p>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机理模型预测分析</a:t>
            </a:r>
          </a:p>
        </p:txBody>
      </p:sp>
      <p:sp>
        <p:nvSpPr>
          <p:cNvPr id="81" name="矩形 80">
            <a:extLst>
              <a:ext uri="{FF2B5EF4-FFF2-40B4-BE49-F238E27FC236}">
                <a16:creationId xmlns:a16="http://schemas.microsoft.com/office/drawing/2014/main" id="{BB0FBB8B-DFD1-48A7-89A7-F92B7E555182}"/>
              </a:ext>
            </a:extLst>
          </p:cNvPr>
          <p:cNvSpPr/>
          <p:nvPr/>
        </p:nvSpPr>
        <p:spPr>
          <a:xfrm>
            <a:off x="2754952" y="3899629"/>
            <a:ext cx="2716595" cy="306174"/>
          </a:xfrm>
          <a:prstGeom prst="rect">
            <a:avLst/>
          </a:prstGeom>
          <a:noFill/>
        </p:spPr>
        <p:txBody>
          <a:bodyPr wrap="square" rtlCol="0">
            <a:spAutoFit/>
            <a:scene3d>
              <a:camera prst="orthographicFront"/>
              <a:lightRig rig="threePt" dir="t"/>
            </a:scene3d>
            <a:sp3d contourW="12700"/>
          </a:bodyPr>
          <a:lstStyle/>
          <a:p>
            <a:pPr defTabSz="457200">
              <a:lnSpc>
                <a:spcPct val="150000"/>
              </a:lnSpc>
            </a:pPr>
            <a:r>
              <a:rPr lang="en-US" altLang="zh-CN" sz="105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Mechanism Model Prediction Analysis</a:t>
            </a:r>
          </a:p>
        </p:txBody>
      </p:sp>
      <p:grpSp>
        <p:nvGrpSpPr>
          <p:cNvPr id="82" name="组合 81">
            <a:extLst>
              <a:ext uri="{FF2B5EF4-FFF2-40B4-BE49-F238E27FC236}">
                <a16:creationId xmlns:a16="http://schemas.microsoft.com/office/drawing/2014/main" id="{ADDD928B-3426-4CBB-8587-26756E92E84B}"/>
              </a:ext>
            </a:extLst>
          </p:cNvPr>
          <p:cNvGrpSpPr/>
          <p:nvPr/>
        </p:nvGrpSpPr>
        <p:grpSpPr>
          <a:xfrm>
            <a:off x="6707353" y="3357473"/>
            <a:ext cx="991749" cy="991749"/>
            <a:chOff x="2414587" y="2452686"/>
            <a:chExt cx="743812" cy="743812"/>
          </a:xfrm>
        </p:grpSpPr>
        <p:grpSp>
          <p:nvGrpSpPr>
            <p:cNvPr id="83" name="组合 82">
              <a:extLst>
                <a:ext uri="{FF2B5EF4-FFF2-40B4-BE49-F238E27FC236}">
                  <a16:creationId xmlns:a16="http://schemas.microsoft.com/office/drawing/2014/main" id="{652E1833-19CB-4189-876A-E43FD0416A65}"/>
                </a:ext>
              </a:extLst>
            </p:cNvPr>
            <p:cNvGrpSpPr/>
            <p:nvPr/>
          </p:nvGrpSpPr>
          <p:grpSpPr>
            <a:xfrm>
              <a:off x="2414587" y="2452686"/>
              <a:ext cx="743812" cy="743812"/>
              <a:chOff x="3163162" y="1286736"/>
              <a:chExt cx="1781176" cy="1781176"/>
            </a:xfrm>
          </p:grpSpPr>
          <p:grpSp>
            <p:nvGrpSpPr>
              <p:cNvPr id="85" name="组合 84">
                <a:extLst>
                  <a:ext uri="{FF2B5EF4-FFF2-40B4-BE49-F238E27FC236}">
                    <a16:creationId xmlns:a16="http://schemas.microsoft.com/office/drawing/2014/main" id="{BABC868C-9620-4E7A-B4E9-53E6D7B45603}"/>
                  </a:ext>
                </a:extLst>
              </p:cNvPr>
              <p:cNvGrpSpPr/>
              <p:nvPr/>
            </p:nvGrpSpPr>
            <p:grpSpPr>
              <a:xfrm>
                <a:off x="3163162" y="1286736"/>
                <a:ext cx="1781176" cy="1781176"/>
                <a:chOff x="5410200" y="1286736"/>
                <a:chExt cx="1781176" cy="1781176"/>
              </a:xfrm>
            </p:grpSpPr>
            <p:grpSp>
              <p:nvGrpSpPr>
                <p:cNvPr id="91" name="组合 90">
                  <a:extLst>
                    <a:ext uri="{FF2B5EF4-FFF2-40B4-BE49-F238E27FC236}">
                      <a16:creationId xmlns:a16="http://schemas.microsoft.com/office/drawing/2014/main" id="{E0DF54F8-63B8-4F1B-A927-1CAB4D0A44E5}"/>
                    </a:ext>
                  </a:extLst>
                </p:cNvPr>
                <p:cNvGrpSpPr/>
                <p:nvPr/>
              </p:nvGrpSpPr>
              <p:grpSpPr>
                <a:xfrm flipH="1">
                  <a:off x="5410200" y="1286736"/>
                  <a:ext cx="1781176" cy="1781176"/>
                  <a:chOff x="3333750" y="1457325"/>
                  <a:chExt cx="1440000" cy="1440000"/>
                </a:xfrm>
              </p:grpSpPr>
              <p:sp>
                <p:nvSpPr>
                  <p:cNvPr id="93" name="矩形 92">
                    <a:extLst>
                      <a:ext uri="{FF2B5EF4-FFF2-40B4-BE49-F238E27FC236}">
                        <a16:creationId xmlns:a16="http://schemas.microsoft.com/office/drawing/2014/main" id="{12BD3959-C231-4F81-8683-AAADD21DFD61}"/>
                      </a:ext>
                    </a:extLst>
                  </p:cNvPr>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94" name="矩形 93">
                    <a:extLst>
                      <a:ext uri="{FF2B5EF4-FFF2-40B4-BE49-F238E27FC236}">
                        <a16:creationId xmlns:a16="http://schemas.microsoft.com/office/drawing/2014/main" id="{DC09AC2F-4A56-4AAF-8735-50A231757240}"/>
                      </a:ext>
                    </a:extLst>
                  </p:cNvPr>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95" name="矩形 94">
                    <a:extLst>
                      <a:ext uri="{FF2B5EF4-FFF2-40B4-BE49-F238E27FC236}">
                        <a16:creationId xmlns:a16="http://schemas.microsoft.com/office/drawing/2014/main" id="{6E5ADB8B-51C4-41AA-BD07-91EAB6958357}"/>
                      </a:ext>
                    </a:extLst>
                  </p:cNvPr>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96" name="矩形 95">
                    <a:extLst>
                      <a:ext uri="{FF2B5EF4-FFF2-40B4-BE49-F238E27FC236}">
                        <a16:creationId xmlns:a16="http://schemas.microsoft.com/office/drawing/2014/main" id="{BFE99E59-8FFC-471A-8C9D-B906D0ABBD39}"/>
                      </a:ext>
                    </a:extLst>
                  </p:cNvPr>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92" name="矩形 91">
                  <a:extLst>
                    <a:ext uri="{FF2B5EF4-FFF2-40B4-BE49-F238E27FC236}">
                      <a16:creationId xmlns:a16="http://schemas.microsoft.com/office/drawing/2014/main" id="{8B94435D-3BC5-4C89-AAE5-4CA27F44E469}"/>
                    </a:ext>
                  </a:extLst>
                </p:cNvPr>
                <p:cNvSpPr/>
                <p:nvPr/>
              </p:nvSpPr>
              <p:spPr>
                <a:xfrm>
                  <a:off x="5448898" y="1338286"/>
                  <a:ext cx="1691999" cy="1691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nvGrpSpPr>
              <p:cNvPr id="86" name="组合 85">
                <a:extLst>
                  <a:ext uri="{FF2B5EF4-FFF2-40B4-BE49-F238E27FC236}">
                    <a16:creationId xmlns:a16="http://schemas.microsoft.com/office/drawing/2014/main" id="{C2C0841D-7487-4165-BA88-E05CAD05D6AA}"/>
                  </a:ext>
                </a:extLst>
              </p:cNvPr>
              <p:cNvGrpSpPr/>
              <p:nvPr/>
            </p:nvGrpSpPr>
            <p:grpSpPr>
              <a:xfrm>
                <a:off x="3333750" y="1457325"/>
                <a:ext cx="1440000" cy="1440000"/>
                <a:chOff x="3333750" y="1457325"/>
                <a:chExt cx="1440000" cy="1440000"/>
              </a:xfrm>
            </p:grpSpPr>
            <p:sp>
              <p:nvSpPr>
                <p:cNvPr id="87" name="矩形 86">
                  <a:extLst>
                    <a:ext uri="{FF2B5EF4-FFF2-40B4-BE49-F238E27FC236}">
                      <a16:creationId xmlns:a16="http://schemas.microsoft.com/office/drawing/2014/main" id="{92396926-F1AD-4590-AF0E-93FEF42A3197}"/>
                    </a:ext>
                  </a:extLst>
                </p:cNvPr>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88" name="矩形 87">
                  <a:extLst>
                    <a:ext uri="{FF2B5EF4-FFF2-40B4-BE49-F238E27FC236}">
                      <a16:creationId xmlns:a16="http://schemas.microsoft.com/office/drawing/2014/main" id="{993AD650-E1B2-4DF9-A0AC-92B5EA6D2C84}"/>
                    </a:ext>
                  </a:extLst>
                </p:cNvPr>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89" name="矩形 88">
                  <a:extLst>
                    <a:ext uri="{FF2B5EF4-FFF2-40B4-BE49-F238E27FC236}">
                      <a16:creationId xmlns:a16="http://schemas.microsoft.com/office/drawing/2014/main" id="{2DDE7F2D-F499-42D4-9D56-E77411A83D52}"/>
                    </a:ext>
                  </a:extLst>
                </p:cNvPr>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90" name="矩形 89">
                  <a:extLst>
                    <a:ext uri="{FF2B5EF4-FFF2-40B4-BE49-F238E27FC236}">
                      <a16:creationId xmlns:a16="http://schemas.microsoft.com/office/drawing/2014/main" id="{1B603D5F-F25B-47B1-AABC-149428374FA6}"/>
                    </a:ext>
                  </a:extLst>
                </p:cNvPr>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sp>
          <p:nvSpPr>
            <p:cNvPr id="84" name="文本框 83">
              <a:extLst>
                <a:ext uri="{FF2B5EF4-FFF2-40B4-BE49-F238E27FC236}">
                  <a16:creationId xmlns:a16="http://schemas.microsoft.com/office/drawing/2014/main" id="{BFD378E3-D09B-4986-A3EB-13D2E18FE535}"/>
                </a:ext>
              </a:extLst>
            </p:cNvPr>
            <p:cNvSpPr txBox="1"/>
            <p:nvPr/>
          </p:nvSpPr>
          <p:spPr>
            <a:xfrm>
              <a:off x="2591007" y="2504302"/>
              <a:ext cx="390973" cy="623248"/>
            </a:xfrm>
            <a:prstGeom prst="rect">
              <a:avLst/>
            </a:prstGeom>
            <a:noFill/>
          </p:spPr>
          <p:txBody>
            <a:bodyPr wrap="none" rtlCol="0">
              <a:spAutoFit/>
            </a:bodyPr>
            <a:lstStyle/>
            <a:p>
              <a:pPr algn="ctr"/>
              <a:r>
                <a:rPr lang="en-US" altLang="zh-CN" sz="4800" dirty="0">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rPr>
                <a:t>4</a:t>
              </a:r>
              <a:endParaRPr lang="zh-CN" altLang="en-US" sz="4800" dirty="0">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97" name="矩形 96">
            <a:extLst>
              <a:ext uri="{FF2B5EF4-FFF2-40B4-BE49-F238E27FC236}">
                <a16:creationId xmlns:a16="http://schemas.microsoft.com/office/drawing/2014/main" id="{0D82284D-D827-4762-8094-1E84615A368D}"/>
              </a:ext>
            </a:extLst>
          </p:cNvPr>
          <p:cNvSpPr/>
          <p:nvPr/>
        </p:nvSpPr>
        <p:spPr>
          <a:xfrm>
            <a:off x="7744431" y="3502467"/>
            <a:ext cx="3574227" cy="461665"/>
          </a:xfrm>
          <a:prstGeom prst="rect">
            <a:avLst/>
          </a:prstGeom>
        </p:spPr>
        <p:txBody>
          <a:bodyPr wrap="square">
            <a:spAutoFit/>
          </a:bodyPr>
          <a:lstStyle/>
          <a:p>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数据融合与进化学习建模</a:t>
            </a:r>
          </a:p>
        </p:txBody>
      </p:sp>
      <p:sp>
        <p:nvSpPr>
          <p:cNvPr id="98" name="矩形 97">
            <a:extLst>
              <a:ext uri="{FF2B5EF4-FFF2-40B4-BE49-F238E27FC236}">
                <a16:creationId xmlns:a16="http://schemas.microsoft.com/office/drawing/2014/main" id="{14824D6C-7279-40F0-8C74-92BBAEE6B830}"/>
              </a:ext>
            </a:extLst>
          </p:cNvPr>
          <p:cNvSpPr/>
          <p:nvPr/>
        </p:nvSpPr>
        <p:spPr>
          <a:xfrm>
            <a:off x="7789759" y="3961552"/>
            <a:ext cx="3528899" cy="306174"/>
          </a:xfrm>
          <a:prstGeom prst="rect">
            <a:avLst/>
          </a:prstGeom>
          <a:noFill/>
        </p:spPr>
        <p:txBody>
          <a:bodyPr wrap="square" rtlCol="0">
            <a:spAutoFit/>
            <a:scene3d>
              <a:camera prst="orthographicFront"/>
              <a:lightRig rig="threePt" dir="t"/>
            </a:scene3d>
            <a:sp3d contourW="12700"/>
          </a:bodyPr>
          <a:lstStyle/>
          <a:p>
            <a:pPr defTabSz="457200">
              <a:lnSpc>
                <a:spcPct val="150000"/>
              </a:lnSpc>
            </a:pPr>
            <a:r>
              <a:rPr lang="en-US" altLang="zh-CN" sz="105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Data Fusion and Evolutionary Learning Modeling</a:t>
            </a:r>
          </a:p>
        </p:txBody>
      </p:sp>
      <p:grpSp>
        <p:nvGrpSpPr>
          <p:cNvPr id="4" name="组合 3">
            <a:extLst>
              <a:ext uri="{FF2B5EF4-FFF2-40B4-BE49-F238E27FC236}">
                <a16:creationId xmlns:a16="http://schemas.microsoft.com/office/drawing/2014/main" id="{DE9F1293-6D93-11EC-DBA9-0F6A4B039D9C}"/>
              </a:ext>
            </a:extLst>
          </p:cNvPr>
          <p:cNvGrpSpPr/>
          <p:nvPr/>
        </p:nvGrpSpPr>
        <p:grpSpPr>
          <a:xfrm>
            <a:off x="1717875" y="4903290"/>
            <a:ext cx="991749" cy="991749"/>
            <a:chOff x="2414587" y="2452686"/>
            <a:chExt cx="743812" cy="743812"/>
          </a:xfrm>
        </p:grpSpPr>
        <p:grpSp>
          <p:nvGrpSpPr>
            <p:cNvPr id="5" name="组合 4">
              <a:extLst>
                <a:ext uri="{FF2B5EF4-FFF2-40B4-BE49-F238E27FC236}">
                  <a16:creationId xmlns:a16="http://schemas.microsoft.com/office/drawing/2014/main" id="{009004AD-1302-9DC8-C1BC-AC3D8BE89A2A}"/>
                </a:ext>
              </a:extLst>
            </p:cNvPr>
            <p:cNvGrpSpPr/>
            <p:nvPr/>
          </p:nvGrpSpPr>
          <p:grpSpPr>
            <a:xfrm>
              <a:off x="2414587" y="2452686"/>
              <a:ext cx="743812" cy="743812"/>
              <a:chOff x="3163162" y="1286736"/>
              <a:chExt cx="1781176" cy="1781176"/>
            </a:xfrm>
          </p:grpSpPr>
          <p:grpSp>
            <p:nvGrpSpPr>
              <p:cNvPr id="7" name="组合 6">
                <a:extLst>
                  <a:ext uri="{FF2B5EF4-FFF2-40B4-BE49-F238E27FC236}">
                    <a16:creationId xmlns:a16="http://schemas.microsoft.com/office/drawing/2014/main" id="{35498FED-071C-3620-DA2E-450E83C37DCC}"/>
                  </a:ext>
                </a:extLst>
              </p:cNvPr>
              <p:cNvGrpSpPr/>
              <p:nvPr/>
            </p:nvGrpSpPr>
            <p:grpSpPr>
              <a:xfrm>
                <a:off x="3163162" y="1286736"/>
                <a:ext cx="1781176" cy="1781176"/>
                <a:chOff x="5410200" y="1286736"/>
                <a:chExt cx="1781176" cy="1781176"/>
              </a:xfrm>
            </p:grpSpPr>
            <p:grpSp>
              <p:nvGrpSpPr>
                <p:cNvPr id="13" name="组合 12">
                  <a:extLst>
                    <a:ext uri="{FF2B5EF4-FFF2-40B4-BE49-F238E27FC236}">
                      <a16:creationId xmlns:a16="http://schemas.microsoft.com/office/drawing/2014/main" id="{E8552B1C-982A-80E0-22A3-2E19FA6A8B59}"/>
                    </a:ext>
                  </a:extLst>
                </p:cNvPr>
                <p:cNvGrpSpPr/>
                <p:nvPr/>
              </p:nvGrpSpPr>
              <p:grpSpPr>
                <a:xfrm flipH="1">
                  <a:off x="5410200" y="1286736"/>
                  <a:ext cx="1781176" cy="1781176"/>
                  <a:chOff x="3333750" y="1457325"/>
                  <a:chExt cx="1440000" cy="1440000"/>
                </a:xfrm>
              </p:grpSpPr>
              <p:sp>
                <p:nvSpPr>
                  <p:cNvPr id="15" name="矩形 14">
                    <a:extLst>
                      <a:ext uri="{FF2B5EF4-FFF2-40B4-BE49-F238E27FC236}">
                        <a16:creationId xmlns:a16="http://schemas.microsoft.com/office/drawing/2014/main" id="{F7E4122E-50CB-EE50-0B54-290A40CC06A2}"/>
                      </a:ext>
                    </a:extLst>
                  </p:cNvPr>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6" name="矩形 15">
                    <a:extLst>
                      <a:ext uri="{FF2B5EF4-FFF2-40B4-BE49-F238E27FC236}">
                        <a16:creationId xmlns:a16="http://schemas.microsoft.com/office/drawing/2014/main" id="{219A226E-AA94-2AA4-E2B3-BE8FC934C788}"/>
                      </a:ext>
                    </a:extLst>
                  </p:cNvPr>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7" name="矩形 16">
                    <a:extLst>
                      <a:ext uri="{FF2B5EF4-FFF2-40B4-BE49-F238E27FC236}">
                        <a16:creationId xmlns:a16="http://schemas.microsoft.com/office/drawing/2014/main" id="{51396009-7D9D-F743-AC77-8FCEA409A8A7}"/>
                      </a:ext>
                    </a:extLst>
                  </p:cNvPr>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8" name="矩形 17">
                    <a:extLst>
                      <a:ext uri="{FF2B5EF4-FFF2-40B4-BE49-F238E27FC236}">
                        <a16:creationId xmlns:a16="http://schemas.microsoft.com/office/drawing/2014/main" id="{514C4272-E55E-C089-EE7F-C0FD2A2C6AA1}"/>
                      </a:ext>
                    </a:extLst>
                  </p:cNvPr>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14" name="矩形 13">
                  <a:extLst>
                    <a:ext uri="{FF2B5EF4-FFF2-40B4-BE49-F238E27FC236}">
                      <a16:creationId xmlns:a16="http://schemas.microsoft.com/office/drawing/2014/main" id="{C43D0E93-438B-8F79-AD92-3237B042B2B1}"/>
                    </a:ext>
                  </a:extLst>
                </p:cNvPr>
                <p:cNvSpPr/>
                <p:nvPr/>
              </p:nvSpPr>
              <p:spPr>
                <a:xfrm>
                  <a:off x="5448898" y="1338286"/>
                  <a:ext cx="1691999" cy="1691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nvGrpSpPr>
              <p:cNvPr id="8" name="组合 7">
                <a:extLst>
                  <a:ext uri="{FF2B5EF4-FFF2-40B4-BE49-F238E27FC236}">
                    <a16:creationId xmlns:a16="http://schemas.microsoft.com/office/drawing/2014/main" id="{3C9B953D-8F45-6709-4FB0-705DA22F33DB}"/>
                  </a:ext>
                </a:extLst>
              </p:cNvPr>
              <p:cNvGrpSpPr/>
              <p:nvPr/>
            </p:nvGrpSpPr>
            <p:grpSpPr>
              <a:xfrm>
                <a:off x="3333750" y="1457325"/>
                <a:ext cx="1440000" cy="1440000"/>
                <a:chOff x="3333750" y="1457325"/>
                <a:chExt cx="1440000" cy="1440000"/>
              </a:xfrm>
            </p:grpSpPr>
            <p:sp>
              <p:nvSpPr>
                <p:cNvPr id="9" name="矩形 8">
                  <a:extLst>
                    <a:ext uri="{FF2B5EF4-FFF2-40B4-BE49-F238E27FC236}">
                      <a16:creationId xmlns:a16="http://schemas.microsoft.com/office/drawing/2014/main" id="{3FD7F244-670D-7C67-595E-7FFEB08B4861}"/>
                    </a:ext>
                  </a:extLst>
                </p:cNvPr>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0" name="矩形 9">
                  <a:extLst>
                    <a:ext uri="{FF2B5EF4-FFF2-40B4-BE49-F238E27FC236}">
                      <a16:creationId xmlns:a16="http://schemas.microsoft.com/office/drawing/2014/main" id="{FB107F97-891C-BA27-6F37-A9CDAC96C0F3}"/>
                    </a:ext>
                  </a:extLst>
                </p:cNvPr>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1" name="矩形 10">
                  <a:extLst>
                    <a:ext uri="{FF2B5EF4-FFF2-40B4-BE49-F238E27FC236}">
                      <a16:creationId xmlns:a16="http://schemas.microsoft.com/office/drawing/2014/main" id="{7A941C7A-EA27-8D8E-0C85-74883665479E}"/>
                    </a:ext>
                  </a:extLst>
                </p:cNvPr>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2" name="矩形 11">
                  <a:extLst>
                    <a:ext uri="{FF2B5EF4-FFF2-40B4-BE49-F238E27FC236}">
                      <a16:creationId xmlns:a16="http://schemas.microsoft.com/office/drawing/2014/main" id="{052A7900-BD6B-FFF1-9B71-BB65BE70EC3B}"/>
                    </a:ext>
                  </a:extLst>
                </p:cNvPr>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sp>
          <p:nvSpPr>
            <p:cNvPr id="6" name="文本框 5">
              <a:extLst>
                <a:ext uri="{FF2B5EF4-FFF2-40B4-BE49-F238E27FC236}">
                  <a16:creationId xmlns:a16="http://schemas.microsoft.com/office/drawing/2014/main" id="{6F8C61F5-5EB4-4E48-52DF-BB7A944BB03D}"/>
                </a:ext>
              </a:extLst>
            </p:cNvPr>
            <p:cNvSpPr txBox="1"/>
            <p:nvPr/>
          </p:nvSpPr>
          <p:spPr>
            <a:xfrm>
              <a:off x="2581992" y="2504302"/>
              <a:ext cx="409007" cy="623248"/>
            </a:xfrm>
            <a:prstGeom prst="rect">
              <a:avLst/>
            </a:prstGeom>
            <a:noFill/>
          </p:spPr>
          <p:txBody>
            <a:bodyPr wrap="none" rtlCol="0">
              <a:spAutoFit/>
            </a:bodyPr>
            <a:lstStyle/>
            <a:p>
              <a:pPr algn="ctr"/>
              <a:r>
                <a:rPr lang="en-US" altLang="zh-CN" sz="4800" dirty="0">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rPr>
                <a:t>5</a:t>
              </a:r>
              <a:endParaRPr lang="zh-CN" altLang="en-US" sz="4800" dirty="0">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19" name="矩形 18">
            <a:extLst>
              <a:ext uri="{FF2B5EF4-FFF2-40B4-BE49-F238E27FC236}">
                <a16:creationId xmlns:a16="http://schemas.microsoft.com/office/drawing/2014/main" id="{465991EA-5443-844C-7F60-41DBAD237D5B}"/>
              </a:ext>
            </a:extLst>
          </p:cNvPr>
          <p:cNvSpPr/>
          <p:nvPr/>
        </p:nvSpPr>
        <p:spPr>
          <a:xfrm>
            <a:off x="2709624" y="5060109"/>
            <a:ext cx="2945355" cy="461665"/>
          </a:xfrm>
          <a:prstGeom prst="rect">
            <a:avLst/>
          </a:prstGeom>
        </p:spPr>
        <p:txBody>
          <a:bodyPr wrap="square">
            <a:spAutoFit/>
          </a:bodyPr>
          <a:lstStyle/>
          <a:p>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数字孪生系统实现</a:t>
            </a:r>
          </a:p>
        </p:txBody>
      </p:sp>
      <p:sp>
        <p:nvSpPr>
          <p:cNvPr id="99" name="矩形 98">
            <a:extLst>
              <a:ext uri="{FF2B5EF4-FFF2-40B4-BE49-F238E27FC236}">
                <a16:creationId xmlns:a16="http://schemas.microsoft.com/office/drawing/2014/main" id="{56F63724-2945-330D-F91B-392688DAB641}"/>
              </a:ext>
            </a:extLst>
          </p:cNvPr>
          <p:cNvSpPr/>
          <p:nvPr/>
        </p:nvSpPr>
        <p:spPr>
          <a:xfrm>
            <a:off x="2754952" y="5427606"/>
            <a:ext cx="2716595" cy="306174"/>
          </a:xfrm>
          <a:prstGeom prst="rect">
            <a:avLst/>
          </a:prstGeom>
          <a:noFill/>
        </p:spPr>
        <p:txBody>
          <a:bodyPr wrap="square" rtlCol="0">
            <a:spAutoFit/>
            <a:scene3d>
              <a:camera prst="orthographicFront"/>
              <a:lightRig rig="threePt" dir="t"/>
            </a:scene3d>
            <a:sp3d contourW="12700"/>
          </a:bodyPr>
          <a:lstStyle/>
          <a:p>
            <a:pPr defTabSz="457200">
              <a:lnSpc>
                <a:spcPct val="150000"/>
              </a:lnSpc>
            </a:pPr>
            <a:r>
              <a:rPr lang="en-US" altLang="zh-CN" sz="105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Digital Twin System Implementation</a:t>
            </a:r>
          </a:p>
        </p:txBody>
      </p:sp>
      <p:grpSp>
        <p:nvGrpSpPr>
          <p:cNvPr id="100" name="组合 99">
            <a:extLst>
              <a:ext uri="{FF2B5EF4-FFF2-40B4-BE49-F238E27FC236}">
                <a16:creationId xmlns:a16="http://schemas.microsoft.com/office/drawing/2014/main" id="{7B81F378-B33E-A12F-BD8C-39DE633AB924}"/>
              </a:ext>
            </a:extLst>
          </p:cNvPr>
          <p:cNvGrpSpPr/>
          <p:nvPr/>
        </p:nvGrpSpPr>
        <p:grpSpPr>
          <a:xfrm>
            <a:off x="6730016" y="4808308"/>
            <a:ext cx="991749" cy="991749"/>
            <a:chOff x="2414587" y="2452686"/>
            <a:chExt cx="743812" cy="743812"/>
          </a:xfrm>
        </p:grpSpPr>
        <p:grpSp>
          <p:nvGrpSpPr>
            <p:cNvPr id="101" name="组合 100">
              <a:extLst>
                <a:ext uri="{FF2B5EF4-FFF2-40B4-BE49-F238E27FC236}">
                  <a16:creationId xmlns:a16="http://schemas.microsoft.com/office/drawing/2014/main" id="{AFEF9AC0-6C33-DFD6-3758-9A310DDAA929}"/>
                </a:ext>
              </a:extLst>
            </p:cNvPr>
            <p:cNvGrpSpPr/>
            <p:nvPr/>
          </p:nvGrpSpPr>
          <p:grpSpPr>
            <a:xfrm>
              <a:off x="2414587" y="2452686"/>
              <a:ext cx="743812" cy="743812"/>
              <a:chOff x="3163162" y="1286736"/>
              <a:chExt cx="1781176" cy="1781176"/>
            </a:xfrm>
          </p:grpSpPr>
          <p:grpSp>
            <p:nvGrpSpPr>
              <p:cNvPr id="103" name="组合 102">
                <a:extLst>
                  <a:ext uri="{FF2B5EF4-FFF2-40B4-BE49-F238E27FC236}">
                    <a16:creationId xmlns:a16="http://schemas.microsoft.com/office/drawing/2014/main" id="{F3F5733F-CA71-4200-5782-9EAF2EF08299}"/>
                  </a:ext>
                </a:extLst>
              </p:cNvPr>
              <p:cNvGrpSpPr/>
              <p:nvPr/>
            </p:nvGrpSpPr>
            <p:grpSpPr>
              <a:xfrm>
                <a:off x="3163162" y="1286736"/>
                <a:ext cx="1781176" cy="1781176"/>
                <a:chOff x="5410200" y="1286736"/>
                <a:chExt cx="1781176" cy="1781176"/>
              </a:xfrm>
            </p:grpSpPr>
            <p:grpSp>
              <p:nvGrpSpPr>
                <p:cNvPr id="109" name="组合 108">
                  <a:extLst>
                    <a:ext uri="{FF2B5EF4-FFF2-40B4-BE49-F238E27FC236}">
                      <a16:creationId xmlns:a16="http://schemas.microsoft.com/office/drawing/2014/main" id="{2190EC23-4A5A-C44B-9315-8AD5F52F799D}"/>
                    </a:ext>
                  </a:extLst>
                </p:cNvPr>
                <p:cNvGrpSpPr/>
                <p:nvPr/>
              </p:nvGrpSpPr>
              <p:grpSpPr>
                <a:xfrm flipH="1">
                  <a:off x="5410200" y="1286736"/>
                  <a:ext cx="1781176" cy="1781176"/>
                  <a:chOff x="3333750" y="1457325"/>
                  <a:chExt cx="1440000" cy="1440000"/>
                </a:xfrm>
              </p:grpSpPr>
              <p:sp>
                <p:nvSpPr>
                  <p:cNvPr id="111" name="矩形 110">
                    <a:extLst>
                      <a:ext uri="{FF2B5EF4-FFF2-40B4-BE49-F238E27FC236}">
                        <a16:creationId xmlns:a16="http://schemas.microsoft.com/office/drawing/2014/main" id="{79C5D7F7-4D33-5960-52D5-F787F4A8E0EE}"/>
                      </a:ext>
                    </a:extLst>
                  </p:cNvPr>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12" name="矩形 111">
                    <a:extLst>
                      <a:ext uri="{FF2B5EF4-FFF2-40B4-BE49-F238E27FC236}">
                        <a16:creationId xmlns:a16="http://schemas.microsoft.com/office/drawing/2014/main" id="{D09A7A6A-C14E-4575-9942-E81623906C53}"/>
                      </a:ext>
                    </a:extLst>
                  </p:cNvPr>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13" name="矩形 112">
                    <a:extLst>
                      <a:ext uri="{FF2B5EF4-FFF2-40B4-BE49-F238E27FC236}">
                        <a16:creationId xmlns:a16="http://schemas.microsoft.com/office/drawing/2014/main" id="{EFAEEB20-EC8C-262B-C7AF-5360309458E8}"/>
                      </a:ext>
                    </a:extLst>
                  </p:cNvPr>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14" name="矩形 113">
                    <a:extLst>
                      <a:ext uri="{FF2B5EF4-FFF2-40B4-BE49-F238E27FC236}">
                        <a16:creationId xmlns:a16="http://schemas.microsoft.com/office/drawing/2014/main" id="{E306EC16-A3C1-C13B-8E93-A4D31D3738B3}"/>
                      </a:ext>
                    </a:extLst>
                  </p:cNvPr>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110" name="矩形 109">
                  <a:extLst>
                    <a:ext uri="{FF2B5EF4-FFF2-40B4-BE49-F238E27FC236}">
                      <a16:creationId xmlns:a16="http://schemas.microsoft.com/office/drawing/2014/main" id="{F8F60C1D-0CF9-12E2-7B10-840A8F7F1798}"/>
                    </a:ext>
                  </a:extLst>
                </p:cNvPr>
                <p:cNvSpPr/>
                <p:nvPr/>
              </p:nvSpPr>
              <p:spPr>
                <a:xfrm>
                  <a:off x="5448898" y="1338286"/>
                  <a:ext cx="1691999" cy="1691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nvGrpSpPr>
              <p:cNvPr id="104" name="组合 103">
                <a:extLst>
                  <a:ext uri="{FF2B5EF4-FFF2-40B4-BE49-F238E27FC236}">
                    <a16:creationId xmlns:a16="http://schemas.microsoft.com/office/drawing/2014/main" id="{05F7C03B-AAAF-AF24-AD6A-9FA6C1DBFB88}"/>
                  </a:ext>
                </a:extLst>
              </p:cNvPr>
              <p:cNvGrpSpPr/>
              <p:nvPr/>
            </p:nvGrpSpPr>
            <p:grpSpPr>
              <a:xfrm>
                <a:off x="3333750" y="1457325"/>
                <a:ext cx="1440000" cy="1440000"/>
                <a:chOff x="3333750" y="1457325"/>
                <a:chExt cx="1440000" cy="1440000"/>
              </a:xfrm>
            </p:grpSpPr>
            <p:sp>
              <p:nvSpPr>
                <p:cNvPr id="105" name="矩形 104">
                  <a:extLst>
                    <a:ext uri="{FF2B5EF4-FFF2-40B4-BE49-F238E27FC236}">
                      <a16:creationId xmlns:a16="http://schemas.microsoft.com/office/drawing/2014/main" id="{BF728790-4864-5715-765C-1C4DCB405819}"/>
                    </a:ext>
                  </a:extLst>
                </p:cNvPr>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06" name="矩形 105">
                  <a:extLst>
                    <a:ext uri="{FF2B5EF4-FFF2-40B4-BE49-F238E27FC236}">
                      <a16:creationId xmlns:a16="http://schemas.microsoft.com/office/drawing/2014/main" id="{38DBD81B-25E1-0C22-98CC-69CEA9FA05F4}"/>
                    </a:ext>
                  </a:extLst>
                </p:cNvPr>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07" name="矩形 106">
                  <a:extLst>
                    <a:ext uri="{FF2B5EF4-FFF2-40B4-BE49-F238E27FC236}">
                      <a16:creationId xmlns:a16="http://schemas.microsoft.com/office/drawing/2014/main" id="{A70C3634-153F-39A3-8610-03B4C313572E}"/>
                    </a:ext>
                  </a:extLst>
                </p:cNvPr>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08" name="矩形 107">
                  <a:extLst>
                    <a:ext uri="{FF2B5EF4-FFF2-40B4-BE49-F238E27FC236}">
                      <a16:creationId xmlns:a16="http://schemas.microsoft.com/office/drawing/2014/main" id="{F8DD2966-965A-CFCA-79E4-78FA6F57AA64}"/>
                    </a:ext>
                  </a:extLst>
                </p:cNvPr>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sp>
          <p:nvSpPr>
            <p:cNvPr id="102" name="文本框 101">
              <a:extLst>
                <a:ext uri="{FF2B5EF4-FFF2-40B4-BE49-F238E27FC236}">
                  <a16:creationId xmlns:a16="http://schemas.microsoft.com/office/drawing/2014/main" id="{B8AC7C66-F964-B35E-9310-043E17D86828}"/>
                </a:ext>
              </a:extLst>
            </p:cNvPr>
            <p:cNvSpPr txBox="1"/>
            <p:nvPr/>
          </p:nvSpPr>
          <p:spPr>
            <a:xfrm>
              <a:off x="2581992" y="2504302"/>
              <a:ext cx="409007" cy="623248"/>
            </a:xfrm>
            <a:prstGeom prst="rect">
              <a:avLst/>
            </a:prstGeom>
            <a:noFill/>
          </p:spPr>
          <p:txBody>
            <a:bodyPr wrap="none" rtlCol="0">
              <a:spAutoFit/>
            </a:bodyPr>
            <a:lstStyle/>
            <a:p>
              <a:pPr algn="ctr"/>
              <a:r>
                <a:rPr lang="en-US" altLang="zh-CN" sz="4800" dirty="0">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rPr>
                <a:t>6</a:t>
              </a:r>
              <a:endParaRPr lang="zh-CN" altLang="en-US" sz="4800" dirty="0">
                <a:solidFill>
                  <a:schemeClr val="bg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115" name="矩形 114">
            <a:extLst>
              <a:ext uri="{FF2B5EF4-FFF2-40B4-BE49-F238E27FC236}">
                <a16:creationId xmlns:a16="http://schemas.microsoft.com/office/drawing/2014/main" id="{04C94B7E-4728-A450-5BE9-DCE10E4280D0}"/>
              </a:ext>
            </a:extLst>
          </p:cNvPr>
          <p:cNvSpPr/>
          <p:nvPr/>
        </p:nvSpPr>
        <p:spPr>
          <a:xfrm>
            <a:off x="7789758" y="5048143"/>
            <a:ext cx="2998157" cy="461665"/>
          </a:xfrm>
          <a:prstGeom prst="rect">
            <a:avLst/>
          </a:prstGeom>
        </p:spPr>
        <p:txBody>
          <a:bodyPr wrap="square">
            <a:spAutoFit/>
          </a:bodyPr>
          <a:lstStyle/>
          <a:p>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总结与展望</a:t>
            </a:r>
          </a:p>
        </p:txBody>
      </p:sp>
      <p:sp>
        <p:nvSpPr>
          <p:cNvPr id="116" name="矩形 115">
            <a:extLst>
              <a:ext uri="{FF2B5EF4-FFF2-40B4-BE49-F238E27FC236}">
                <a16:creationId xmlns:a16="http://schemas.microsoft.com/office/drawing/2014/main" id="{A079C681-8F10-C4A4-E5C1-1E6884E9DC18}"/>
              </a:ext>
            </a:extLst>
          </p:cNvPr>
          <p:cNvSpPr/>
          <p:nvPr/>
        </p:nvSpPr>
        <p:spPr>
          <a:xfrm>
            <a:off x="7789759" y="5427500"/>
            <a:ext cx="2716595" cy="306174"/>
          </a:xfrm>
          <a:prstGeom prst="rect">
            <a:avLst/>
          </a:prstGeom>
          <a:noFill/>
        </p:spPr>
        <p:txBody>
          <a:bodyPr wrap="square" rtlCol="0">
            <a:spAutoFit/>
            <a:scene3d>
              <a:camera prst="orthographicFront"/>
              <a:lightRig rig="threePt" dir="t"/>
            </a:scene3d>
            <a:sp3d contourW="12700"/>
          </a:bodyPr>
          <a:lstStyle/>
          <a:p>
            <a:pPr defTabSz="457200">
              <a:lnSpc>
                <a:spcPct val="150000"/>
              </a:lnSpc>
            </a:pPr>
            <a:r>
              <a:rPr lang="en-US" altLang="zh-CN" sz="105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Summary and Outlook</a:t>
            </a:r>
          </a:p>
        </p:txBody>
      </p:sp>
    </p:spTree>
    <p:extLst>
      <p:ext uri="{BB962C8B-B14F-4D97-AF65-F5344CB8AC3E}">
        <p14:creationId xmlns:p14="http://schemas.microsoft.com/office/powerpoint/2010/main" val="2593448038"/>
      </p:ext>
    </p:extLst>
  </p:cSld>
  <p:clrMapOvr>
    <a:masterClrMapping/>
  </p:clrMapOvr>
  <mc:AlternateContent xmlns:mc="http://schemas.openxmlformats.org/markup-compatibility/2006">
    <mc:Choice xmlns:p14="http://schemas.microsoft.com/office/powerpoint/2010/main" Requires="p14">
      <p:transition spd="slow" p14:dur="1500" advClick="0" advTm="1563">
        <p:random/>
      </p:transition>
    </mc:Choice>
    <mc:Fallback>
      <p:transition spd="slow" advClick="0" advTm="1563">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908550" y="1372748"/>
            <a:ext cx="2374901" cy="2374902"/>
            <a:chOff x="3681412" y="1029561"/>
            <a:chExt cx="1781176" cy="1781176"/>
          </a:xfrm>
        </p:grpSpPr>
        <p:grpSp>
          <p:nvGrpSpPr>
            <p:cNvPr id="21" name="组合 20"/>
            <p:cNvGrpSpPr/>
            <p:nvPr/>
          </p:nvGrpSpPr>
          <p:grpSpPr>
            <a:xfrm>
              <a:off x="3681412" y="1029561"/>
              <a:ext cx="1781176" cy="1781176"/>
              <a:chOff x="3163162" y="1286736"/>
              <a:chExt cx="1781176" cy="1781176"/>
            </a:xfrm>
          </p:grpSpPr>
          <p:grpSp>
            <p:nvGrpSpPr>
              <p:cNvPr id="20" name="组合 19"/>
              <p:cNvGrpSpPr/>
              <p:nvPr/>
            </p:nvGrpSpPr>
            <p:grpSpPr>
              <a:xfrm>
                <a:off x="3163162" y="1286736"/>
                <a:ext cx="1781176" cy="1781176"/>
                <a:chOff x="5410200" y="1286736"/>
                <a:chExt cx="1781176" cy="1781176"/>
              </a:xfrm>
            </p:grpSpPr>
            <p:grpSp>
              <p:nvGrpSpPr>
                <p:cNvPr id="14" name="组合 13"/>
                <p:cNvGrpSpPr/>
                <p:nvPr/>
              </p:nvGrpSpPr>
              <p:grpSpPr>
                <a:xfrm flipH="1">
                  <a:off x="5410200" y="1286736"/>
                  <a:ext cx="1781176" cy="1781176"/>
                  <a:chOff x="3333750" y="1457325"/>
                  <a:chExt cx="1440000" cy="1440000"/>
                </a:xfrm>
              </p:grpSpPr>
              <p:sp>
                <p:nvSpPr>
                  <p:cNvPr id="15" name="矩形 14"/>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6" name="矩形 15"/>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7" name="矩形 16"/>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8" name="矩形 17"/>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19" name="矩形 18"/>
                <p:cNvSpPr/>
                <p:nvPr/>
              </p:nvSpPr>
              <p:spPr>
                <a:xfrm>
                  <a:off x="5458688" y="1331325"/>
                  <a:ext cx="1692000" cy="169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nvGrpSpPr>
              <p:cNvPr id="13" name="组合 12"/>
              <p:cNvGrpSpPr/>
              <p:nvPr/>
            </p:nvGrpSpPr>
            <p:grpSpPr>
              <a:xfrm>
                <a:off x="3333750" y="1457325"/>
                <a:ext cx="1440000" cy="1440000"/>
                <a:chOff x="3333750" y="1457325"/>
                <a:chExt cx="1440000" cy="1440000"/>
              </a:xfrm>
            </p:grpSpPr>
            <p:sp>
              <p:nvSpPr>
                <p:cNvPr id="5" name="矩形 4"/>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 name="矩形 5"/>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9" name="矩形 8"/>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0" name="矩形 9"/>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sp>
          <p:nvSpPr>
            <p:cNvPr id="12" name="文本框 11"/>
            <p:cNvSpPr txBox="1"/>
            <p:nvPr/>
          </p:nvSpPr>
          <p:spPr>
            <a:xfrm>
              <a:off x="4126706" y="1135320"/>
              <a:ext cx="598963" cy="1546577"/>
            </a:xfrm>
            <a:prstGeom prst="rect">
              <a:avLst/>
            </a:prstGeom>
            <a:noFill/>
          </p:spPr>
          <p:txBody>
            <a:bodyPr wrap="none" rtlCol="0">
              <a:spAutoFit/>
            </a:bodyPr>
            <a:lstStyle/>
            <a:p>
              <a:r>
                <a:rPr lang="en-US" altLang="zh-CN" sz="128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rPr>
                <a:t>1</a:t>
              </a:r>
              <a:endParaRPr lang="zh-CN" altLang="en-US" sz="128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22" name="矩形 21"/>
          <p:cNvSpPr/>
          <p:nvPr/>
        </p:nvSpPr>
        <p:spPr>
          <a:xfrm>
            <a:off x="2421166" y="4180248"/>
            <a:ext cx="7334629" cy="646331"/>
          </a:xfrm>
          <a:prstGeom prst="rect">
            <a:avLst/>
          </a:prstGeom>
        </p:spPr>
        <p:txBody>
          <a:bodyPr wrap="square">
            <a:spAutoFit/>
          </a:bodyPr>
          <a:lstStyle/>
          <a:p>
            <a:pPr algn="ctr"/>
            <a:r>
              <a:rPr lang="zh-CN" altLang="en-US" sz="3600" dirty="0">
                <a:latin typeface="字魂58号-创中黑" panose="00000500000000000000" pitchFamily="2" charset="-122"/>
                <a:ea typeface="字魂58号-创中黑" panose="00000500000000000000" pitchFamily="2" charset="-122"/>
                <a:sym typeface="字魂58号-创中黑" panose="00000500000000000000" pitchFamily="2" charset="-122"/>
              </a:rPr>
              <a:t>绪论及研究背景</a:t>
            </a:r>
          </a:p>
        </p:txBody>
      </p:sp>
      <p:cxnSp>
        <p:nvCxnSpPr>
          <p:cNvPr id="25" name="直接连接符 24"/>
          <p:cNvCxnSpPr>
            <a:cxnSpLocks/>
          </p:cNvCxnSpPr>
          <p:nvPr/>
        </p:nvCxnSpPr>
        <p:spPr>
          <a:xfrm>
            <a:off x="328921" y="4961696"/>
            <a:ext cx="11523643" cy="0"/>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37057" y="446446"/>
            <a:ext cx="1591597" cy="533480"/>
          </a:xfrm>
          <a:prstGeom prst="rect">
            <a:avLst/>
          </a:prstGeom>
        </p:spPr>
      </p:pic>
      <p:sp>
        <p:nvSpPr>
          <p:cNvPr id="7" name="文本框 6">
            <a:extLst>
              <a:ext uri="{FF2B5EF4-FFF2-40B4-BE49-F238E27FC236}">
                <a16:creationId xmlns:a16="http://schemas.microsoft.com/office/drawing/2014/main" id="{FE8CC612-61B5-22C7-E623-13105FA93E4E}"/>
              </a:ext>
            </a:extLst>
          </p:cNvPr>
          <p:cNvSpPr txBox="1"/>
          <p:nvPr/>
        </p:nvSpPr>
        <p:spPr>
          <a:xfrm>
            <a:off x="4409320" y="4957244"/>
            <a:ext cx="3373360" cy="336695"/>
          </a:xfrm>
          <a:prstGeom prst="rect">
            <a:avLst/>
          </a:prstGeom>
          <a:noFill/>
        </p:spPr>
        <p:txBody>
          <a:bodyPr wrap="square">
            <a:spAutoFit/>
          </a:bodyPr>
          <a:lstStyle/>
          <a:p>
            <a:pPr algn="ctr" defTabSz="457200">
              <a:lnSpc>
                <a:spcPct val="150000"/>
              </a:lnSpc>
            </a:pPr>
            <a:r>
              <a:rPr lang="en-US" altLang="zh-CN" sz="12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Introduction and Research Background</a:t>
            </a:r>
          </a:p>
        </p:txBody>
      </p:sp>
    </p:spTree>
    <p:extLst>
      <p:ext uri="{BB962C8B-B14F-4D97-AF65-F5344CB8AC3E}">
        <p14:creationId xmlns:p14="http://schemas.microsoft.com/office/powerpoint/2010/main" val="4205299071"/>
      </p:ext>
    </p:extLst>
  </p:cSld>
  <p:clrMapOvr>
    <a:masterClrMapping/>
  </p:clrMapOvr>
  <mc:AlternateContent xmlns:mc="http://schemas.openxmlformats.org/markup-compatibility/2006">
    <mc:Choice xmlns:p14="http://schemas.microsoft.com/office/powerpoint/2010/main" Requires="p14">
      <p:transition spd="slow" p14:dur="1500" advClick="0" advTm="730">
        <p:random/>
      </p:transition>
    </mc:Choice>
    <mc:Fallback>
      <p:transition spd="slow" advClick="0" advTm="73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200"/>
                                  </p:stCondLst>
                                  <p:childTnLst>
                                    <p:set>
                                      <p:cBhvr>
                                        <p:cTn id="6" dur="1" fill="hold">
                                          <p:stCondLst>
                                            <p:cond delay="0"/>
                                          </p:stCondLst>
                                        </p:cTn>
                                        <p:tgtEl>
                                          <p:spTgt spid="25"/>
                                        </p:tgtEl>
                                        <p:attrNameLst>
                                          <p:attrName>style.visibility</p:attrName>
                                        </p:attrNameLst>
                                      </p:cBhvr>
                                      <p:to>
                                        <p:strVal val="visible"/>
                                      </p:to>
                                    </p:set>
                                    <p:animEffect transition="in" filter="barn(outVertical)">
                                      <p:cBhvr>
                                        <p:cTn id="7" dur="2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a:extLst>
              <a:ext uri="{FF2B5EF4-FFF2-40B4-BE49-F238E27FC236}">
                <a16:creationId xmlns:a16="http://schemas.microsoft.com/office/drawing/2014/main" id="{1192D8F7-ED48-4693-86B3-9A75284D999D}"/>
              </a:ext>
            </a:extLst>
          </p:cNvPr>
          <p:cNvGrpSpPr/>
          <p:nvPr/>
        </p:nvGrpSpPr>
        <p:grpSpPr>
          <a:xfrm>
            <a:off x="3934731" y="494387"/>
            <a:ext cx="4387922" cy="830997"/>
            <a:chOff x="3934731" y="494387"/>
            <a:chExt cx="4387922" cy="830997"/>
          </a:xfrm>
        </p:grpSpPr>
        <p:sp>
          <p:nvSpPr>
            <p:cNvPr id="39" name="文本框 38">
              <a:extLst>
                <a:ext uri="{FF2B5EF4-FFF2-40B4-BE49-F238E27FC236}">
                  <a16:creationId xmlns:a16="http://schemas.microsoft.com/office/drawing/2014/main" id="{4E74AE82-39C0-4E8B-980F-C61576747B9E}"/>
                </a:ext>
              </a:extLst>
            </p:cNvPr>
            <p:cNvSpPr txBox="1"/>
            <p:nvPr/>
          </p:nvSpPr>
          <p:spPr>
            <a:xfrm>
              <a:off x="3934731" y="494387"/>
              <a:ext cx="4122516" cy="830997"/>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rPr>
                <a:t>一、</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绪论及研究背景</a:t>
              </a: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0"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7DBFDDCE-A0DD-420C-AC8B-E835B1688677}"/>
                </a:ext>
              </a:extLst>
            </p:cNvPr>
            <p:cNvSpPr txBox="1">
              <a:spLocks noChangeArrowheads="1"/>
            </p:cNvSpPr>
            <p:nvPr/>
          </p:nvSpPr>
          <p:spPr bwMode="auto">
            <a:xfrm>
              <a:off x="4039108" y="85329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Introduction and research background</a:t>
              </a:r>
            </a:p>
          </p:txBody>
        </p:sp>
        <p:cxnSp>
          <p:nvCxnSpPr>
            <p:cNvPr id="41" name="直接连接符 40"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4EBC5038-0F93-483F-8FD4-B7E14430B5D8}"/>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6" name="Rectangle 2" descr="e7d195523061f1c0f0ec610a92cff745ee13794c7b8d98f8E73673273C9E8BE17CC3D63B9B1D6426C348A354AD505654C28F453CD7C8F90EADD06C08281DAED7140E5AAAED5880ECE414DFB6A93B82BEC1385E9565BC14C748CB3EB434CC0B451F87B3C338E944B78E19862D061FDC13B6571F1FE8C78909071FC2F7F05CF37685F9D5F268FB4FD0">
            <a:extLst>
              <a:ext uri="{FF2B5EF4-FFF2-40B4-BE49-F238E27FC236}">
                <a16:creationId xmlns:a16="http://schemas.microsoft.com/office/drawing/2014/main" id="{170FBE40-480C-4F63-B01A-C0C092EDFF6A}"/>
              </a:ext>
            </a:extLst>
          </p:cNvPr>
          <p:cNvSpPr/>
          <p:nvPr/>
        </p:nvSpPr>
        <p:spPr>
          <a:xfrm>
            <a:off x="3303980" y="1929144"/>
            <a:ext cx="4746889" cy="288863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7F7F7F"/>
              </a:highlight>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7" name="Rectangle 70" descr="e7d195523061f1c0f0ec610a92cff745ee13794c7b8d98f8E73673273C9E8BE17CC3D63B9B1D6426C348A354AD505654C28F453CD7C8F90EADD06C08281DAED7140E5AAAED5880ECE414DFB6A93B82BEC1385E9565BC14C748CB3EB434CC0B451F87B3C338E944B78E19862D061FDC13B6571F1FE8C78909071FC2F7F05CF37685F9D5F268FB4FD0">
            <a:extLst>
              <a:ext uri="{FF2B5EF4-FFF2-40B4-BE49-F238E27FC236}">
                <a16:creationId xmlns:a16="http://schemas.microsoft.com/office/drawing/2014/main" id="{59F650B0-2132-4A67-8669-9A6CB887EC9D}"/>
              </a:ext>
            </a:extLst>
          </p:cNvPr>
          <p:cNvSpPr/>
          <p:nvPr/>
        </p:nvSpPr>
        <p:spPr>
          <a:xfrm>
            <a:off x="3934731" y="2144998"/>
            <a:ext cx="3687137" cy="2269532"/>
          </a:xfrm>
          <a:prstGeom prst="rect">
            <a:avLst/>
          </a:prstGeom>
          <a:noFill/>
        </p:spPr>
        <p:txBody>
          <a:bodyPr wrap="square" rtlCol="0">
            <a:spAutoFit/>
            <a:scene3d>
              <a:camera prst="orthographicFront"/>
              <a:lightRig rig="threePt" dir="t"/>
            </a:scene3d>
            <a:sp3d contourW="12700"/>
          </a:bodyPr>
          <a:lstStyle/>
          <a:p>
            <a:pPr indent="457200" defTabSz="457200">
              <a:lnSpc>
                <a:spcPct val="150000"/>
              </a:lnSpc>
            </a:pPr>
            <a:r>
              <a:rPr lang="zh-CN" altLang="en-US" sz="1600" dirty="0">
                <a:solidFill>
                  <a:schemeClr val="bg1"/>
                </a:solidFill>
                <a:ea typeface="字魂58号-创中黑" panose="00000500000000000000"/>
              </a:rPr>
              <a:t>在当前钢铁行业产能饱和的背景下，企业竞争方向从规模转向质量。</a:t>
            </a:r>
            <a:endParaRPr lang="en-US" altLang="zh-CN" sz="1600" dirty="0">
              <a:solidFill>
                <a:schemeClr val="bg1"/>
              </a:solidFill>
              <a:ea typeface="字魂58号-创中黑" panose="00000500000000000000"/>
            </a:endParaRPr>
          </a:p>
          <a:p>
            <a:pPr indent="457200" defTabSz="457200">
              <a:lnSpc>
                <a:spcPct val="150000"/>
              </a:lnSpc>
            </a:pPr>
            <a:r>
              <a:rPr lang="zh-CN" altLang="en-US" sz="1600" dirty="0">
                <a:solidFill>
                  <a:schemeClr val="bg1"/>
                </a:solidFill>
                <a:ea typeface="字魂58号-创中黑" panose="00000500000000000000"/>
              </a:rPr>
              <a:t>在冷轧带钢这一核心产品中，其广泛应用于汽车、建筑等对材料性能要求极高的领域，这对产品的</a:t>
            </a:r>
            <a:r>
              <a:rPr lang="zh-CN" altLang="en-US" sz="1600" b="1" dirty="0">
                <a:solidFill>
                  <a:schemeClr val="bg1"/>
                </a:solidFill>
                <a:ea typeface="字魂58号-创中黑" panose="00000500000000000000"/>
              </a:rPr>
              <a:t>力学性能稳定性和预测能力</a:t>
            </a:r>
            <a:r>
              <a:rPr lang="zh-CN" altLang="en-US" sz="1600" dirty="0">
                <a:solidFill>
                  <a:schemeClr val="bg1"/>
                </a:solidFill>
                <a:ea typeface="字魂58号-创中黑" panose="00000500000000000000"/>
              </a:rPr>
              <a:t>提出了更高要求。</a:t>
            </a:r>
            <a:endParaRPr lang="zh-CN" altLang="en-US" sz="1600" dirty="0">
              <a:solidFill>
                <a:schemeClr val="bg1"/>
              </a:solidFill>
              <a:latin typeface="字魂58号-创中黑" panose="00000500000000000000" pitchFamily="2" charset="-122"/>
              <a:ea typeface="字魂58号-创中黑" panose="00000500000000000000"/>
              <a:sym typeface="字魂58号-创中黑" panose="00000500000000000000" pitchFamily="2" charset="-122"/>
            </a:endParaRPr>
          </a:p>
        </p:txBody>
      </p:sp>
      <p:pic>
        <p:nvPicPr>
          <p:cNvPr id="4" name="图片 3">
            <a:extLst>
              <a:ext uri="{FF2B5EF4-FFF2-40B4-BE49-F238E27FC236}">
                <a16:creationId xmlns:a16="http://schemas.microsoft.com/office/drawing/2014/main" id="{B6F7ADB9-7234-A826-C068-2A5C71A20660}"/>
              </a:ext>
            </a:extLst>
          </p:cNvPr>
          <p:cNvPicPr>
            <a:picLocks noChangeAspect="1"/>
          </p:cNvPicPr>
          <p:nvPr/>
        </p:nvPicPr>
        <p:blipFill>
          <a:blip r:embed="rId3"/>
          <a:stretch>
            <a:fillRect/>
          </a:stretch>
        </p:blipFill>
        <p:spPr>
          <a:xfrm>
            <a:off x="1150099" y="1237950"/>
            <a:ext cx="2700462" cy="2025346"/>
          </a:xfrm>
          <a:prstGeom prst="rect">
            <a:avLst/>
          </a:prstGeom>
        </p:spPr>
      </p:pic>
      <p:sp>
        <p:nvSpPr>
          <p:cNvPr id="5" name="文本框 4">
            <a:extLst>
              <a:ext uri="{FF2B5EF4-FFF2-40B4-BE49-F238E27FC236}">
                <a16:creationId xmlns:a16="http://schemas.microsoft.com/office/drawing/2014/main" id="{9DFEA4D8-A38F-E2FF-87FC-10F534148C60}"/>
              </a:ext>
            </a:extLst>
          </p:cNvPr>
          <p:cNvSpPr txBox="1"/>
          <p:nvPr/>
        </p:nvSpPr>
        <p:spPr>
          <a:xfrm>
            <a:off x="1420058" y="5714246"/>
            <a:ext cx="1800493" cy="307777"/>
          </a:xfrm>
          <a:prstGeom prst="rect">
            <a:avLst/>
          </a:prstGeom>
          <a:noFill/>
        </p:spPr>
        <p:txBody>
          <a:bodyPr wrap="none" rtlCol="0">
            <a:spAutoFit/>
          </a:bodyPr>
          <a:lstStyle/>
          <a:p>
            <a:r>
              <a:rPr lang="zh-CN" altLang="en-US" sz="1400" dirty="0"/>
              <a:t>车身覆盖件及结构件</a:t>
            </a:r>
          </a:p>
        </p:txBody>
      </p:sp>
      <p:sp>
        <p:nvSpPr>
          <p:cNvPr id="8" name="文本框 7">
            <a:extLst>
              <a:ext uri="{FF2B5EF4-FFF2-40B4-BE49-F238E27FC236}">
                <a16:creationId xmlns:a16="http://schemas.microsoft.com/office/drawing/2014/main" id="{87F6D617-F8C3-4764-249A-F6EB47D1F8C3}"/>
              </a:ext>
            </a:extLst>
          </p:cNvPr>
          <p:cNvSpPr txBox="1"/>
          <p:nvPr/>
        </p:nvSpPr>
        <p:spPr>
          <a:xfrm>
            <a:off x="806809" y="1344368"/>
            <a:ext cx="416689" cy="1169551"/>
          </a:xfrm>
          <a:prstGeom prst="rect">
            <a:avLst/>
          </a:prstGeom>
          <a:noFill/>
        </p:spPr>
        <p:txBody>
          <a:bodyPr wrap="square" rtlCol="0">
            <a:spAutoFit/>
          </a:bodyPr>
          <a:lstStyle/>
          <a:p>
            <a:r>
              <a:rPr lang="zh-CN" altLang="en-US" sz="1400" dirty="0"/>
              <a:t>建筑结构件</a:t>
            </a:r>
          </a:p>
        </p:txBody>
      </p:sp>
      <p:pic>
        <p:nvPicPr>
          <p:cNvPr id="1030" name="Picture 6" descr="车辆总装 - 白车身下线意味什么_汽车上车体和下车体如何区分-CSDN博客">
            <a:extLst>
              <a:ext uri="{FF2B5EF4-FFF2-40B4-BE49-F238E27FC236}">
                <a16:creationId xmlns:a16="http://schemas.microsoft.com/office/drawing/2014/main" id="{947599A6-99A6-5BA0-153E-C4D5B8EAA0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5761" y="3550320"/>
            <a:ext cx="2854800" cy="206973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产品介绍 / 洗衣机外壳_惠好装备">
            <a:extLst>
              <a:ext uri="{FF2B5EF4-FFF2-40B4-BE49-F238E27FC236}">
                <a16:creationId xmlns:a16="http://schemas.microsoft.com/office/drawing/2014/main" id="{A181A559-4220-F4E4-E4C6-9874FCD5E6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4837" y="1145837"/>
            <a:ext cx="3686709" cy="1743026"/>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8BC53C7E-3EC0-B44B-203E-4B912E274AE2}"/>
              </a:ext>
            </a:extLst>
          </p:cNvPr>
          <p:cNvSpPr txBox="1"/>
          <p:nvPr/>
        </p:nvSpPr>
        <p:spPr>
          <a:xfrm>
            <a:off x="11299095" y="1145837"/>
            <a:ext cx="307503" cy="1815882"/>
          </a:xfrm>
          <a:prstGeom prst="rect">
            <a:avLst/>
          </a:prstGeom>
          <a:noFill/>
        </p:spPr>
        <p:txBody>
          <a:bodyPr wrap="square" rtlCol="0">
            <a:spAutoFit/>
          </a:bodyPr>
          <a:lstStyle/>
          <a:p>
            <a:r>
              <a:rPr lang="zh-CN" altLang="en-US" sz="1400" dirty="0"/>
              <a:t>洗衣机外壳工艺线</a:t>
            </a:r>
          </a:p>
        </p:txBody>
      </p:sp>
      <p:pic>
        <p:nvPicPr>
          <p:cNvPr id="1036" name="Picture 12" descr="CNC加工部品製造用の最高品質の合金金属 | ピンテジン株式会社">
            <a:extLst>
              <a:ext uri="{FF2B5EF4-FFF2-40B4-BE49-F238E27FC236}">
                <a16:creationId xmlns:a16="http://schemas.microsoft.com/office/drawing/2014/main" id="{206CE09D-32BA-9BA9-0E0B-4188BA63A3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94837" y="3600455"/>
            <a:ext cx="3170687" cy="2113791"/>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18D1FC2A-ADDB-7E8F-FDDF-3933AF8BD3BA}"/>
              </a:ext>
            </a:extLst>
          </p:cNvPr>
          <p:cNvSpPr txBox="1"/>
          <p:nvPr/>
        </p:nvSpPr>
        <p:spPr>
          <a:xfrm>
            <a:off x="8322653" y="5714246"/>
            <a:ext cx="1800493" cy="307777"/>
          </a:xfrm>
          <a:prstGeom prst="rect">
            <a:avLst/>
          </a:prstGeom>
          <a:noFill/>
        </p:spPr>
        <p:txBody>
          <a:bodyPr wrap="none" rtlCol="0">
            <a:spAutoFit/>
          </a:bodyPr>
          <a:lstStyle/>
          <a:p>
            <a:r>
              <a:rPr lang="zh-CN" altLang="en-US" sz="1400" dirty="0"/>
              <a:t>精密设备内部冷轧件</a:t>
            </a:r>
          </a:p>
        </p:txBody>
      </p:sp>
    </p:spTree>
    <p:extLst>
      <p:ext uri="{BB962C8B-B14F-4D97-AF65-F5344CB8AC3E}">
        <p14:creationId xmlns:p14="http://schemas.microsoft.com/office/powerpoint/2010/main" val="945926327"/>
      </p:ext>
    </p:extLst>
  </p:cSld>
  <p:clrMapOvr>
    <a:masterClrMapping/>
  </p:clrMapOvr>
  <mc:AlternateContent xmlns:mc="http://schemas.openxmlformats.org/markup-compatibility/2006">
    <mc:Choice xmlns:p14="http://schemas.microsoft.com/office/powerpoint/2010/main" Requires="p14">
      <p:transition spd="slow" p14:dur="1500" advClick="0" advTm="67">
        <p:random/>
      </p:transition>
    </mc:Choice>
    <mc:Fallback>
      <p:transition spd="slow" advClick="0" advTm="67">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a:extLst>
              <a:ext uri="{FF2B5EF4-FFF2-40B4-BE49-F238E27FC236}">
                <a16:creationId xmlns:a16="http://schemas.microsoft.com/office/drawing/2014/main" id="{33F6CF87-84E2-426D-B2CD-A36A92F11482}"/>
              </a:ext>
            </a:extLst>
          </p:cNvPr>
          <p:cNvGrpSpPr/>
          <p:nvPr/>
        </p:nvGrpSpPr>
        <p:grpSpPr>
          <a:xfrm>
            <a:off x="1495564" y="2850555"/>
            <a:ext cx="8469473" cy="1826821"/>
            <a:chOff x="1277634" y="2004681"/>
            <a:chExt cx="6352105" cy="1370116"/>
          </a:xfrm>
        </p:grpSpPr>
        <p:sp>
          <p:nvSpPr>
            <p:cNvPr id="35" name="Freeform: Shape 2">
              <a:extLst>
                <a:ext uri="{FF2B5EF4-FFF2-40B4-BE49-F238E27FC236}">
                  <a16:creationId xmlns:a16="http://schemas.microsoft.com/office/drawing/2014/main" id="{1CB21DC6-37EE-45A4-857D-0FF4166B2D37}"/>
                </a:ext>
              </a:extLst>
            </p:cNvPr>
            <p:cNvSpPr>
              <a:spLocks/>
            </p:cNvSpPr>
            <p:nvPr/>
          </p:nvSpPr>
          <p:spPr bwMode="auto">
            <a:xfrm>
              <a:off x="1277634" y="2004681"/>
              <a:ext cx="1426013" cy="1367249"/>
            </a:xfrm>
            <a:custGeom>
              <a:avLst/>
              <a:gdLst>
                <a:gd name="T0" fmla="*/ 812 w 995"/>
                <a:gd name="T1" fmla="*/ 708 h 954"/>
                <a:gd name="T2" fmla="*/ 760 w 995"/>
                <a:gd name="T3" fmla="*/ 701 h 954"/>
                <a:gd name="T4" fmla="*/ 717 w 995"/>
                <a:gd name="T5" fmla="*/ 685 h 954"/>
                <a:gd name="T6" fmla="*/ 685 w 995"/>
                <a:gd name="T7" fmla="*/ 662 h 954"/>
                <a:gd name="T8" fmla="*/ 641 w 995"/>
                <a:gd name="T9" fmla="*/ 607 h 954"/>
                <a:gd name="T10" fmla="*/ 622 w 995"/>
                <a:gd name="T11" fmla="*/ 550 h 954"/>
                <a:gd name="T12" fmla="*/ 617 w 995"/>
                <a:gd name="T13" fmla="*/ 503 h 954"/>
                <a:gd name="T14" fmla="*/ 610 w 995"/>
                <a:gd name="T15" fmla="*/ 409 h 954"/>
                <a:gd name="T16" fmla="*/ 583 w 995"/>
                <a:gd name="T17" fmla="*/ 292 h 954"/>
                <a:gd name="T18" fmla="*/ 539 w 995"/>
                <a:gd name="T19" fmla="*/ 198 h 954"/>
                <a:gd name="T20" fmla="*/ 482 w 995"/>
                <a:gd name="T21" fmla="*/ 128 h 954"/>
                <a:gd name="T22" fmla="*/ 419 w 995"/>
                <a:gd name="T23" fmla="*/ 76 h 954"/>
                <a:gd name="T24" fmla="*/ 352 w 995"/>
                <a:gd name="T25" fmla="*/ 41 h 954"/>
                <a:gd name="T26" fmla="*/ 286 w 995"/>
                <a:gd name="T27" fmla="*/ 18 h 954"/>
                <a:gd name="T28" fmla="*/ 180 w 995"/>
                <a:gd name="T29" fmla="*/ 0 h 954"/>
                <a:gd name="T30" fmla="*/ 136 w 995"/>
                <a:gd name="T31" fmla="*/ 0 h 954"/>
                <a:gd name="T32" fmla="*/ 96 w 995"/>
                <a:gd name="T33" fmla="*/ 6 h 954"/>
                <a:gd name="T34" fmla="*/ 60 w 995"/>
                <a:gd name="T35" fmla="*/ 23 h 954"/>
                <a:gd name="T36" fmla="*/ 31 w 995"/>
                <a:gd name="T37" fmla="*/ 49 h 954"/>
                <a:gd name="T38" fmla="*/ 11 w 995"/>
                <a:gd name="T39" fmla="*/ 83 h 954"/>
                <a:gd name="T40" fmla="*/ 2 w 995"/>
                <a:gd name="T41" fmla="*/ 122 h 954"/>
                <a:gd name="T42" fmla="*/ 2 w 995"/>
                <a:gd name="T43" fmla="*/ 149 h 954"/>
                <a:gd name="T44" fmla="*/ 11 w 995"/>
                <a:gd name="T45" fmla="*/ 188 h 954"/>
                <a:gd name="T46" fmla="*/ 31 w 995"/>
                <a:gd name="T47" fmla="*/ 221 h 954"/>
                <a:gd name="T48" fmla="*/ 60 w 995"/>
                <a:gd name="T49" fmla="*/ 248 h 954"/>
                <a:gd name="T50" fmla="*/ 96 w 995"/>
                <a:gd name="T51" fmla="*/ 265 h 954"/>
                <a:gd name="T52" fmla="*/ 136 w 995"/>
                <a:gd name="T53" fmla="*/ 271 h 954"/>
                <a:gd name="T54" fmla="*/ 172 w 995"/>
                <a:gd name="T55" fmla="*/ 271 h 954"/>
                <a:gd name="T56" fmla="*/ 221 w 995"/>
                <a:gd name="T57" fmla="*/ 281 h 954"/>
                <a:gd name="T58" fmla="*/ 260 w 995"/>
                <a:gd name="T59" fmla="*/ 299 h 954"/>
                <a:gd name="T60" fmla="*/ 299 w 995"/>
                <a:gd name="T61" fmla="*/ 333 h 954"/>
                <a:gd name="T62" fmla="*/ 336 w 995"/>
                <a:gd name="T63" fmla="*/ 393 h 954"/>
                <a:gd name="T64" fmla="*/ 352 w 995"/>
                <a:gd name="T65" fmla="*/ 448 h 954"/>
                <a:gd name="T66" fmla="*/ 359 w 995"/>
                <a:gd name="T67" fmla="*/ 484 h 954"/>
                <a:gd name="T68" fmla="*/ 372 w 995"/>
                <a:gd name="T69" fmla="*/ 628 h 954"/>
                <a:gd name="T70" fmla="*/ 390 w 995"/>
                <a:gd name="T71" fmla="*/ 695 h 954"/>
                <a:gd name="T72" fmla="*/ 433 w 995"/>
                <a:gd name="T73" fmla="*/ 777 h 954"/>
                <a:gd name="T74" fmla="*/ 489 w 995"/>
                <a:gd name="T75" fmla="*/ 841 h 954"/>
                <a:gd name="T76" fmla="*/ 555 w 995"/>
                <a:gd name="T77" fmla="*/ 888 h 954"/>
                <a:gd name="T78" fmla="*/ 625 w 995"/>
                <a:gd name="T79" fmla="*/ 919 h 954"/>
                <a:gd name="T80" fmla="*/ 696 w 995"/>
                <a:gd name="T81" fmla="*/ 940 h 954"/>
                <a:gd name="T82" fmla="*/ 807 w 995"/>
                <a:gd name="T83" fmla="*/ 953 h 954"/>
                <a:gd name="T84" fmla="*/ 898 w 995"/>
                <a:gd name="T85" fmla="*/ 953 h 954"/>
                <a:gd name="T86" fmla="*/ 958 w 995"/>
                <a:gd name="T87" fmla="*/ 946 h 954"/>
                <a:gd name="T88" fmla="*/ 912 w 995"/>
                <a:gd name="T89" fmla="*/ 698 h 954"/>
                <a:gd name="T90" fmla="*/ 855 w 995"/>
                <a:gd name="T91" fmla="*/ 708 h 954"/>
                <a:gd name="T92" fmla="*/ 831 w 995"/>
                <a:gd name="T93" fmla="*/ 709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95" h="954">
                  <a:moveTo>
                    <a:pt x="831" y="709"/>
                  </a:moveTo>
                  <a:lnTo>
                    <a:pt x="831" y="709"/>
                  </a:lnTo>
                  <a:lnTo>
                    <a:pt x="812" y="708"/>
                  </a:lnTo>
                  <a:lnTo>
                    <a:pt x="792" y="706"/>
                  </a:lnTo>
                  <a:lnTo>
                    <a:pt x="774" y="704"/>
                  </a:lnTo>
                  <a:lnTo>
                    <a:pt x="760" y="701"/>
                  </a:lnTo>
                  <a:lnTo>
                    <a:pt x="743" y="696"/>
                  </a:lnTo>
                  <a:lnTo>
                    <a:pt x="730" y="690"/>
                  </a:lnTo>
                  <a:lnTo>
                    <a:pt x="717" y="685"/>
                  </a:lnTo>
                  <a:lnTo>
                    <a:pt x="704" y="677"/>
                  </a:lnTo>
                  <a:lnTo>
                    <a:pt x="695" y="670"/>
                  </a:lnTo>
                  <a:lnTo>
                    <a:pt x="685" y="662"/>
                  </a:lnTo>
                  <a:lnTo>
                    <a:pt x="667" y="644"/>
                  </a:lnTo>
                  <a:lnTo>
                    <a:pt x="652" y="627"/>
                  </a:lnTo>
                  <a:lnTo>
                    <a:pt x="641" y="607"/>
                  </a:lnTo>
                  <a:lnTo>
                    <a:pt x="633" y="588"/>
                  </a:lnTo>
                  <a:lnTo>
                    <a:pt x="627" y="568"/>
                  </a:lnTo>
                  <a:lnTo>
                    <a:pt x="622" y="550"/>
                  </a:lnTo>
                  <a:lnTo>
                    <a:pt x="618" y="536"/>
                  </a:lnTo>
                  <a:lnTo>
                    <a:pt x="617" y="511"/>
                  </a:lnTo>
                  <a:lnTo>
                    <a:pt x="617" y="503"/>
                  </a:lnTo>
                  <a:lnTo>
                    <a:pt x="617" y="503"/>
                  </a:lnTo>
                  <a:lnTo>
                    <a:pt x="614" y="454"/>
                  </a:lnTo>
                  <a:lnTo>
                    <a:pt x="610" y="409"/>
                  </a:lnTo>
                  <a:lnTo>
                    <a:pt x="604" y="367"/>
                  </a:lnTo>
                  <a:lnTo>
                    <a:pt x="594" y="328"/>
                  </a:lnTo>
                  <a:lnTo>
                    <a:pt x="583" y="292"/>
                  </a:lnTo>
                  <a:lnTo>
                    <a:pt x="570" y="258"/>
                  </a:lnTo>
                  <a:lnTo>
                    <a:pt x="555" y="227"/>
                  </a:lnTo>
                  <a:lnTo>
                    <a:pt x="539" y="198"/>
                  </a:lnTo>
                  <a:lnTo>
                    <a:pt x="521" y="174"/>
                  </a:lnTo>
                  <a:lnTo>
                    <a:pt x="503" y="149"/>
                  </a:lnTo>
                  <a:lnTo>
                    <a:pt x="482" y="128"/>
                  </a:lnTo>
                  <a:lnTo>
                    <a:pt x="463" y="109"/>
                  </a:lnTo>
                  <a:lnTo>
                    <a:pt x="440" y="91"/>
                  </a:lnTo>
                  <a:lnTo>
                    <a:pt x="419" y="76"/>
                  </a:lnTo>
                  <a:lnTo>
                    <a:pt x="396" y="63"/>
                  </a:lnTo>
                  <a:lnTo>
                    <a:pt x="373" y="50"/>
                  </a:lnTo>
                  <a:lnTo>
                    <a:pt x="352" y="41"/>
                  </a:lnTo>
                  <a:lnTo>
                    <a:pt x="329" y="32"/>
                  </a:lnTo>
                  <a:lnTo>
                    <a:pt x="308" y="24"/>
                  </a:lnTo>
                  <a:lnTo>
                    <a:pt x="286" y="18"/>
                  </a:lnTo>
                  <a:lnTo>
                    <a:pt x="247" y="8"/>
                  </a:lnTo>
                  <a:lnTo>
                    <a:pt x="209" y="3"/>
                  </a:lnTo>
                  <a:lnTo>
                    <a:pt x="180" y="0"/>
                  </a:lnTo>
                  <a:lnTo>
                    <a:pt x="156" y="0"/>
                  </a:lnTo>
                  <a:lnTo>
                    <a:pt x="136" y="0"/>
                  </a:lnTo>
                  <a:lnTo>
                    <a:pt x="136" y="0"/>
                  </a:lnTo>
                  <a:lnTo>
                    <a:pt x="122" y="0"/>
                  </a:lnTo>
                  <a:lnTo>
                    <a:pt x="109" y="3"/>
                  </a:lnTo>
                  <a:lnTo>
                    <a:pt x="96" y="6"/>
                  </a:lnTo>
                  <a:lnTo>
                    <a:pt x="83" y="10"/>
                  </a:lnTo>
                  <a:lnTo>
                    <a:pt x="71" y="16"/>
                  </a:lnTo>
                  <a:lnTo>
                    <a:pt x="60" y="23"/>
                  </a:lnTo>
                  <a:lnTo>
                    <a:pt x="49" y="31"/>
                  </a:lnTo>
                  <a:lnTo>
                    <a:pt x="41" y="39"/>
                  </a:lnTo>
                  <a:lnTo>
                    <a:pt x="31" y="49"/>
                  </a:lnTo>
                  <a:lnTo>
                    <a:pt x="23" y="60"/>
                  </a:lnTo>
                  <a:lnTo>
                    <a:pt x="16" y="71"/>
                  </a:lnTo>
                  <a:lnTo>
                    <a:pt x="11" y="83"/>
                  </a:lnTo>
                  <a:lnTo>
                    <a:pt x="6" y="96"/>
                  </a:lnTo>
                  <a:lnTo>
                    <a:pt x="3" y="109"/>
                  </a:lnTo>
                  <a:lnTo>
                    <a:pt x="2" y="122"/>
                  </a:lnTo>
                  <a:lnTo>
                    <a:pt x="0" y="135"/>
                  </a:lnTo>
                  <a:lnTo>
                    <a:pt x="0" y="135"/>
                  </a:lnTo>
                  <a:lnTo>
                    <a:pt x="2" y="149"/>
                  </a:lnTo>
                  <a:lnTo>
                    <a:pt x="3" y="162"/>
                  </a:lnTo>
                  <a:lnTo>
                    <a:pt x="6" y="175"/>
                  </a:lnTo>
                  <a:lnTo>
                    <a:pt x="11" y="188"/>
                  </a:lnTo>
                  <a:lnTo>
                    <a:pt x="16" y="200"/>
                  </a:lnTo>
                  <a:lnTo>
                    <a:pt x="23" y="211"/>
                  </a:lnTo>
                  <a:lnTo>
                    <a:pt x="31" y="221"/>
                  </a:lnTo>
                  <a:lnTo>
                    <a:pt x="41" y="230"/>
                  </a:lnTo>
                  <a:lnTo>
                    <a:pt x="49" y="240"/>
                  </a:lnTo>
                  <a:lnTo>
                    <a:pt x="60" y="248"/>
                  </a:lnTo>
                  <a:lnTo>
                    <a:pt x="71" y="255"/>
                  </a:lnTo>
                  <a:lnTo>
                    <a:pt x="83" y="260"/>
                  </a:lnTo>
                  <a:lnTo>
                    <a:pt x="96" y="265"/>
                  </a:lnTo>
                  <a:lnTo>
                    <a:pt x="109" y="268"/>
                  </a:lnTo>
                  <a:lnTo>
                    <a:pt x="122" y="269"/>
                  </a:lnTo>
                  <a:lnTo>
                    <a:pt x="136" y="271"/>
                  </a:lnTo>
                  <a:lnTo>
                    <a:pt x="136" y="271"/>
                  </a:lnTo>
                  <a:lnTo>
                    <a:pt x="154" y="271"/>
                  </a:lnTo>
                  <a:lnTo>
                    <a:pt x="172" y="271"/>
                  </a:lnTo>
                  <a:lnTo>
                    <a:pt x="190" y="273"/>
                  </a:lnTo>
                  <a:lnTo>
                    <a:pt x="206" y="276"/>
                  </a:lnTo>
                  <a:lnTo>
                    <a:pt x="221" y="281"/>
                  </a:lnTo>
                  <a:lnTo>
                    <a:pt x="234" y="286"/>
                  </a:lnTo>
                  <a:lnTo>
                    <a:pt x="247" y="292"/>
                  </a:lnTo>
                  <a:lnTo>
                    <a:pt x="260" y="299"/>
                  </a:lnTo>
                  <a:lnTo>
                    <a:pt x="269" y="307"/>
                  </a:lnTo>
                  <a:lnTo>
                    <a:pt x="281" y="315"/>
                  </a:lnTo>
                  <a:lnTo>
                    <a:pt x="299" y="333"/>
                  </a:lnTo>
                  <a:lnTo>
                    <a:pt x="313" y="352"/>
                  </a:lnTo>
                  <a:lnTo>
                    <a:pt x="326" y="373"/>
                  </a:lnTo>
                  <a:lnTo>
                    <a:pt x="336" y="393"/>
                  </a:lnTo>
                  <a:lnTo>
                    <a:pt x="342" y="412"/>
                  </a:lnTo>
                  <a:lnTo>
                    <a:pt x="349" y="432"/>
                  </a:lnTo>
                  <a:lnTo>
                    <a:pt x="352" y="448"/>
                  </a:lnTo>
                  <a:lnTo>
                    <a:pt x="357" y="474"/>
                  </a:lnTo>
                  <a:lnTo>
                    <a:pt x="359" y="484"/>
                  </a:lnTo>
                  <a:lnTo>
                    <a:pt x="359" y="484"/>
                  </a:lnTo>
                  <a:lnTo>
                    <a:pt x="362" y="542"/>
                  </a:lnTo>
                  <a:lnTo>
                    <a:pt x="367" y="588"/>
                  </a:lnTo>
                  <a:lnTo>
                    <a:pt x="372" y="628"/>
                  </a:lnTo>
                  <a:lnTo>
                    <a:pt x="372" y="628"/>
                  </a:lnTo>
                  <a:lnTo>
                    <a:pt x="380" y="662"/>
                  </a:lnTo>
                  <a:lnTo>
                    <a:pt x="390" y="695"/>
                  </a:lnTo>
                  <a:lnTo>
                    <a:pt x="403" y="726"/>
                  </a:lnTo>
                  <a:lnTo>
                    <a:pt x="417" y="753"/>
                  </a:lnTo>
                  <a:lnTo>
                    <a:pt x="433" y="777"/>
                  </a:lnTo>
                  <a:lnTo>
                    <a:pt x="450" y="800"/>
                  </a:lnTo>
                  <a:lnTo>
                    <a:pt x="469" y="821"/>
                  </a:lnTo>
                  <a:lnTo>
                    <a:pt x="489" y="841"/>
                  </a:lnTo>
                  <a:lnTo>
                    <a:pt x="510" y="859"/>
                  </a:lnTo>
                  <a:lnTo>
                    <a:pt x="532" y="873"/>
                  </a:lnTo>
                  <a:lnTo>
                    <a:pt x="555" y="888"/>
                  </a:lnTo>
                  <a:lnTo>
                    <a:pt x="578" y="899"/>
                  </a:lnTo>
                  <a:lnTo>
                    <a:pt x="602" y="911"/>
                  </a:lnTo>
                  <a:lnTo>
                    <a:pt x="625" y="919"/>
                  </a:lnTo>
                  <a:lnTo>
                    <a:pt x="649" y="927"/>
                  </a:lnTo>
                  <a:lnTo>
                    <a:pt x="674" y="933"/>
                  </a:lnTo>
                  <a:lnTo>
                    <a:pt x="696" y="940"/>
                  </a:lnTo>
                  <a:lnTo>
                    <a:pt x="721" y="943"/>
                  </a:lnTo>
                  <a:lnTo>
                    <a:pt x="764" y="950"/>
                  </a:lnTo>
                  <a:lnTo>
                    <a:pt x="807" y="953"/>
                  </a:lnTo>
                  <a:lnTo>
                    <a:pt x="842" y="954"/>
                  </a:lnTo>
                  <a:lnTo>
                    <a:pt x="873" y="953"/>
                  </a:lnTo>
                  <a:lnTo>
                    <a:pt x="898" y="953"/>
                  </a:lnTo>
                  <a:lnTo>
                    <a:pt x="917" y="950"/>
                  </a:lnTo>
                  <a:lnTo>
                    <a:pt x="917" y="950"/>
                  </a:lnTo>
                  <a:lnTo>
                    <a:pt x="958" y="946"/>
                  </a:lnTo>
                  <a:lnTo>
                    <a:pt x="995" y="941"/>
                  </a:lnTo>
                  <a:lnTo>
                    <a:pt x="912" y="698"/>
                  </a:lnTo>
                  <a:lnTo>
                    <a:pt x="912" y="698"/>
                  </a:lnTo>
                  <a:lnTo>
                    <a:pt x="896" y="703"/>
                  </a:lnTo>
                  <a:lnTo>
                    <a:pt x="881" y="704"/>
                  </a:lnTo>
                  <a:lnTo>
                    <a:pt x="855" y="708"/>
                  </a:lnTo>
                  <a:lnTo>
                    <a:pt x="838" y="709"/>
                  </a:lnTo>
                  <a:lnTo>
                    <a:pt x="831" y="709"/>
                  </a:lnTo>
                  <a:lnTo>
                    <a:pt x="831" y="709"/>
                  </a:lnTo>
                  <a:close/>
                </a:path>
              </a:pathLst>
            </a:custGeom>
            <a:solidFill>
              <a:srgbClr val="0070C0"/>
            </a:solidFill>
            <a:ln w="38100">
              <a:solidFill>
                <a:srgbClr val="FFFFFF"/>
              </a:solidFill>
            </a:ln>
          </p:spPr>
          <p:txBody>
            <a:bodyPr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6" name="Freeform: Shape 3">
              <a:extLst>
                <a:ext uri="{FF2B5EF4-FFF2-40B4-BE49-F238E27FC236}">
                  <a16:creationId xmlns:a16="http://schemas.microsoft.com/office/drawing/2014/main" id="{07998F15-7B56-4171-89AB-5B9EDB4A6DFF}"/>
                </a:ext>
              </a:extLst>
            </p:cNvPr>
            <p:cNvSpPr>
              <a:spLocks/>
            </p:cNvSpPr>
            <p:nvPr/>
          </p:nvSpPr>
          <p:spPr bwMode="auto">
            <a:xfrm>
              <a:off x="2584693" y="2026180"/>
              <a:ext cx="1123612" cy="1327121"/>
            </a:xfrm>
            <a:custGeom>
              <a:avLst/>
              <a:gdLst>
                <a:gd name="T0" fmla="*/ 606 w 784"/>
                <a:gd name="T1" fmla="*/ 0 h 926"/>
                <a:gd name="T2" fmla="*/ 516 w 784"/>
                <a:gd name="T3" fmla="*/ 4 h 926"/>
                <a:gd name="T4" fmla="*/ 438 w 784"/>
                <a:gd name="T5" fmla="*/ 17 h 926"/>
                <a:gd name="T6" fmla="*/ 373 w 784"/>
                <a:gd name="T7" fmla="*/ 42 h 926"/>
                <a:gd name="T8" fmla="*/ 318 w 784"/>
                <a:gd name="T9" fmla="*/ 71 h 926"/>
                <a:gd name="T10" fmla="*/ 271 w 784"/>
                <a:gd name="T11" fmla="*/ 107 h 926"/>
                <a:gd name="T12" fmla="*/ 236 w 784"/>
                <a:gd name="T13" fmla="*/ 146 h 926"/>
                <a:gd name="T14" fmla="*/ 206 w 784"/>
                <a:gd name="T15" fmla="*/ 188 h 926"/>
                <a:gd name="T16" fmla="*/ 184 w 784"/>
                <a:gd name="T17" fmla="*/ 232 h 926"/>
                <a:gd name="T18" fmla="*/ 167 w 784"/>
                <a:gd name="T19" fmla="*/ 276 h 926"/>
                <a:gd name="T20" fmla="*/ 156 w 784"/>
                <a:gd name="T21" fmla="*/ 318 h 926"/>
                <a:gd name="T22" fmla="*/ 146 w 784"/>
                <a:gd name="T23" fmla="*/ 392 h 926"/>
                <a:gd name="T24" fmla="*/ 145 w 784"/>
                <a:gd name="T25" fmla="*/ 446 h 926"/>
                <a:gd name="T26" fmla="*/ 146 w 784"/>
                <a:gd name="T27" fmla="*/ 467 h 926"/>
                <a:gd name="T28" fmla="*/ 143 w 784"/>
                <a:gd name="T29" fmla="*/ 516 h 926"/>
                <a:gd name="T30" fmla="*/ 133 w 784"/>
                <a:gd name="T31" fmla="*/ 558 h 926"/>
                <a:gd name="T32" fmla="*/ 119 w 784"/>
                <a:gd name="T33" fmla="*/ 594 h 926"/>
                <a:gd name="T34" fmla="*/ 99 w 784"/>
                <a:gd name="T35" fmla="*/ 621 h 926"/>
                <a:gd name="T36" fmla="*/ 76 w 784"/>
                <a:gd name="T37" fmla="*/ 644 h 926"/>
                <a:gd name="T38" fmla="*/ 52 w 784"/>
                <a:gd name="T39" fmla="*/ 660 h 926"/>
                <a:gd name="T40" fmla="*/ 26 w 784"/>
                <a:gd name="T41" fmla="*/ 673 h 926"/>
                <a:gd name="T42" fmla="*/ 83 w 784"/>
                <a:gd name="T43" fmla="*/ 926 h 926"/>
                <a:gd name="T44" fmla="*/ 112 w 784"/>
                <a:gd name="T45" fmla="*/ 918 h 926"/>
                <a:gd name="T46" fmla="*/ 164 w 784"/>
                <a:gd name="T47" fmla="*/ 900 h 926"/>
                <a:gd name="T48" fmla="*/ 210 w 784"/>
                <a:gd name="T49" fmla="*/ 878 h 926"/>
                <a:gd name="T50" fmla="*/ 249 w 784"/>
                <a:gd name="T51" fmla="*/ 848 h 926"/>
                <a:gd name="T52" fmla="*/ 281 w 784"/>
                <a:gd name="T53" fmla="*/ 818 h 926"/>
                <a:gd name="T54" fmla="*/ 309 w 784"/>
                <a:gd name="T55" fmla="*/ 784 h 926"/>
                <a:gd name="T56" fmla="*/ 330 w 784"/>
                <a:gd name="T57" fmla="*/ 749 h 926"/>
                <a:gd name="T58" fmla="*/ 354 w 784"/>
                <a:gd name="T59" fmla="*/ 696 h 926"/>
                <a:gd name="T60" fmla="*/ 375 w 784"/>
                <a:gd name="T61" fmla="*/ 626 h 926"/>
                <a:gd name="T62" fmla="*/ 383 w 784"/>
                <a:gd name="T63" fmla="*/ 568 h 926"/>
                <a:gd name="T64" fmla="*/ 385 w 784"/>
                <a:gd name="T65" fmla="*/ 529 h 926"/>
                <a:gd name="T66" fmla="*/ 385 w 784"/>
                <a:gd name="T67" fmla="*/ 513 h 926"/>
                <a:gd name="T68" fmla="*/ 385 w 784"/>
                <a:gd name="T69" fmla="*/ 465 h 926"/>
                <a:gd name="T70" fmla="*/ 390 w 784"/>
                <a:gd name="T71" fmla="*/ 425 h 926"/>
                <a:gd name="T72" fmla="*/ 399 w 784"/>
                <a:gd name="T73" fmla="*/ 389 h 926"/>
                <a:gd name="T74" fmla="*/ 412 w 784"/>
                <a:gd name="T75" fmla="*/ 358 h 926"/>
                <a:gd name="T76" fmla="*/ 430 w 784"/>
                <a:gd name="T77" fmla="*/ 332 h 926"/>
                <a:gd name="T78" fmla="*/ 450 w 784"/>
                <a:gd name="T79" fmla="*/ 311 h 926"/>
                <a:gd name="T80" fmla="*/ 492 w 784"/>
                <a:gd name="T81" fmla="*/ 279 h 926"/>
                <a:gd name="T82" fmla="*/ 536 w 784"/>
                <a:gd name="T83" fmla="*/ 259 h 926"/>
                <a:gd name="T84" fmla="*/ 575 w 784"/>
                <a:gd name="T85" fmla="*/ 250 h 926"/>
                <a:gd name="T86" fmla="*/ 614 w 784"/>
                <a:gd name="T87" fmla="*/ 245 h 926"/>
                <a:gd name="T88" fmla="*/ 630 w 784"/>
                <a:gd name="T89" fmla="*/ 243 h 926"/>
                <a:gd name="T90" fmla="*/ 659 w 784"/>
                <a:gd name="T91" fmla="*/ 245 h 926"/>
                <a:gd name="T92" fmla="*/ 685 w 784"/>
                <a:gd name="T93" fmla="*/ 250 h 926"/>
                <a:gd name="T94" fmla="*/ 719 w 784"/>
                <a:gd name="T95" fmla="*/ 264 h 926"/>
                <a:gd name="T96" fmla="*/ 784 w 784"/>
                <a:gd name="T97" fmla="*/ 24 h 926"/>
                <a:gd name="T98" fmla="*/ 716 w 784"/>
                <a:gd name="T99" fmla="*/ 8 h 926"/>
                <a:gd name="T100" fmla="*/ 659 w 784"/>
                <a:gd name="T101" fmla="*/ 1 h 926"/>
                <a:gd name="T102" fmla="*/ 606 w 784"/>
                <a:gd name="T103" fmla="*/ 0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84" h="926">
                  <a:moveTo>
                    <a:pt x="606" y="0"/>
                  </a:moveTo>
                  <a:lnTo>
                    <a:pt x="606" y="0"/>
                  </a:lnTo>
                  <a:lnTo>
                    <a:pt x="560" y="0"/>
                  </a:lnTo>
                  <a:lnTo>
                    <a:pt x="516" y="4"/>
                  </a:lnTo>
                  <a:lnTo>
                    <a:pt x="476" y="9"/>
                  </a:lnTo>
                  <a:lnTo>
                    <a:pt x="438" y="17"/>
                  </a:lnTo>
                  <a:lnTo>
                    <a:pt x="404" y="29"/>
                  </a:lnTo>
                  <a:lnTo>
                    <a:pt x="373" y="42"/>
                  </a:lnTo>
                  <a:lnTo>
                    <a:pt x="344" y="55"/>
                  </a:lnTo>
                  <a:lnTo>
                    <a:pt x="318" y="71"/>
                  </a:lnTo>
                  <a:lnTo>
                    <a:pt x="294" y="87"/>
                  </a:lnTo>
                  <a:lnTo>
                    <a:pt x="271" y="107"/>
                  </a:lnTo>
                  <a:lnTo>
                    <a:pt x="252" y="125"/>
                  </a:lnTo>
                  <a:lnTo>
                    <a:pt x="236" y="146"/>
                  </a:lnTo>
                  <a:lnTo>
                    <a:pt x="219" y="167"/>
                  </a:lnTo>
                  <a:lnTo>
                    <a:pt x="206" y="188"/>
                  </a:lnTo>
                  <a:lnTo>
                    <a:pt x="193" y="209"/>
                  </a:lnTo>
                  <a:lnTo>
                    <a:pt x="184" y="232"/>
                  </a:lnTo>
                  <a:lnTo>
                    <a:pt x="175" y="253"/>
                  </a:lnTo>
                  <a:lnTo>
                    <a:pt x="167" y="276"/>
                  </a:lnTo>
                  <a:lnTo>
                    <a:pt x="161" y="297"/>
                  </a:lnTo>
                  <a:lnTo>
                    <a:pt x="156" y="318"/>
                  </a:lnTo>
                  <a:lnTo>
                    <a:pt x="149" y="357"/>
                  </a:lnTo>
                  <a:lnTo>
                    <a:pt x="146" y="392"/>
                  </a:lnTo>
                  <a:lnTo>
                    <a:pt x="145" y="423"/>
                  </a:lnTo>
                  <a:lnTo>
                    <a:pt x="145" y="446"/>
                  </a:lnTo>
                  <a:lnTo>
                    <a:pt x="146" y="467"/>
                  </a:lnTo>
                  <a:lnTo>
                    <a:pt x="146" y="467"/>
                  </a:lnTo>
                  <a:lnTo>
                    <a:pt x="146" y="493"/>
                  </a:lnTo>
                  <a:lnTo>
                    <a:pt x="143" y="516"/>
                  </a:lnTo>
                  <a:lnTo>
                    <a:pt x="140" y="538"/>
                  </a:lnTo>
                  <a:lnTo>
                    <a:pt x="133" y="558"/>
                  </a:lnTo>
                  <a:lnTo>
                    <a:pt x="127" y="576"/>
                  </a:lnTo>
                  <a:lnTo>
                    <a:pt x="119" y="594"/>
                  </a:lnTo>
                  <a:lnTo>
                    <a:pt x="109" y="608"/>
                  </a:lnTo>
                  <a:lnTo>
                    <a:pt x="99" y="621"/>
                  </a:lnTo>
                  <a:lnTo>
                    <a:pt x="88" y="633"/>
                  </a:lnTo>
                  <a:lnTo>
                    <a:pt x="76" y="644"/>
                  </a:lnTo>
                  <a:lnTo>
                    <a:pt x="63" y="654"/>
                  </a:lnTo>
                  <a:lnTo>
                    <a:pt x="52" y="660"/>
                  </a:lnTo>
                  <a:lnTo>
                    <a:pt x="39" y="668"/>
                  </a:lnTo>
                  <a:lnTo>
                    <a:pt x="26" y="673"/>
                  </a:lnTo>
                  <a:lnTo>
                    <a:pt x="0" y="683"/>
                  </a:lnTo>
                  <a:lnTo>
                    <a:pt x="83" y="926"/>
                  </a:lnTo>
                  <a:lnTo>
                    <a:pt x="83" y="926"/>
                  </a:lnTo>
                  <a:lnTo>
                    <a:pt x="112" y="918"/>
                  </a:lnTo>
                  <a:lnTo>
                    <a:pt x="138" y="910"/>
                  </a:lnTo>
                  <a:lnTo>
                    <a:pt x="164" y="900"/>
                  </a:lnTo>
                  <a:lnTo>
                    <a:pt x="188" y="889"/>
                  </a:lnTo>
                  <a:lnTo>
                    <a:pt x="210" y="878"/>
                  </a:lnTo>
                  <a:lnTo>
                    <a:pt x="231" y="863"/>
                  </a:lnTo>
                  <a:lnTo>
                    <a:pt x="249" y="848"/>
                  </a:lnTo>
                  <a:lnTo>
                    <a:pt x="266" y="834"/>
                  </a:lnTo>
                  <a:lnTo>
                    <a:pt x="281" y="818"/>
                  </a:lnTo>
                  <a:lnTo>
                    <a:pt x="296" y="801"/>
                  </a:lnTo>
                  <a:lnTo>
                    <a:pt x="309" y="784"/>
                  </a:lnTo>
                  <a:lnTo>
                    <a:pt x="320" y="767"/>
                  </a:lnTo>
                  <a:lnTo>
                    <a:pt x="330" y="749"/>
                  </a:lnTo>
                  <a:lnTo>
                    <a:pt x="339" y="732"/>
                  </a:lnTo>
                  <a:lnTo>
                    <a:pt x="354" y="696"/>
                  </a:lnTo>
                  <a:lnTo>
                    <a:pt x="365" y="660"/>
                  </a:lnTo>
                  <a:lnTo>
                    <a:pt x="375" y="626"/>
                  </a:lnTo>
                  <a:lnTo>
                    <a:pt x="380" y="595"/>
                  </a:lnTo>
                  <a:lnTo>
                    <a:pt x="383" y="568"/>
                  </a:lnTo>
                  <a:lnTo>
                    <a:pt x="385" y="545"/>
                  </a:lnTo>
                  <a:lnTo>
                    <a:pt x="385" y="529"/>
                  </a:lnTo>
                  <a:lnTo>
                    <a:pt x="385" y="513"/>
                  </a:lnTo>
                  <a:lnTo>
                    <a:pt x="385" y="513"/>
                  </a:lnTo>
                  <a:lnTo>
                    <a:pt x="385" y="488"/>
                  </a:lnTo>
                  <a:lnTo>
                    <a:pt x="385" y="465"/>
                  </a:lnTo>
                  <a:lnTo>
                    <a:pt x="386" y="444"/>
                  </a:lnTo>
                  <a:lnTo>
                    <a:pt x="390" y="425"/>
                  </a:lnTo>
                  <a:lnTo>
                    <a:pt x="395" y="407"/>
                  </a:lnTo>
                  <a:lnTo>
                    <a:pt x="399" y="389"/>
                  </a:lnTo>
                  <a:lnTo>
                    <a:pt x="406" y="373"/>
                  </a:lnTo>
                  <a:lnTo>
                    <a:pt x="412" y="358"/>
                  </a:lnTo>
                  <a:lnTo>
                    <a:pt x="421" y="345"/>
                  </a:lnTo>
                  <a:lnTo>
                    <a:pt x="430" y="332"/>
                  </a:lnTo>
                  <a:lnTo>
                    <a:pt x="440" y="321"/>
                  </a:lnTo>
                  <a:lnTo>
                    <a:pt x="450" y="311"/>
                  </a:lnTo>
                  <a:lnTo>
                    <a:pt x="471" y="293"/>
                  </a:lnTo>
                  <a:lnTo>
                    <a:pt x="492" y="279"/>
                  </a:lnTo>
                  <a:lnTo>
                    <a:pt x="515" y="267"/>
                  </a:lnTo>
                  <a:lnTo>
                    <a:pt x="536" y="259"/>
                  </a:lnTo>
                  <a:lnTo>
                    <a:pt x="557" y="253"/>
                  </a:lnTo>
                  <a:lnTo>
                    <a:pt x="575" y="250"/>
                  </a:lnTo>
                  <a:lnTo>
                    <a:pt x="602" y="245"/>
                  </a:lnTo>
                  <a:lnTo>
                    <a:pt x="614" y="245"/>
                  </a:lnTo>
                  <a:lnTo>
                    <a:pt x="614" y="245"/>
                  </a:lnTo>
                  <a:lnTo>
                    <a:pt x="630" y="243"/>
                  </a:lnTo>
                  <a:lnTo>
                    <a:pt x="645" y="243"/>
                  </a:lnTo>
                  <a:lnTo>
                    <a:pt x="659" y="245"/>
                  </a:lnTo>
                  <a:lnTo>
                    <a:pt x="672" y="246"/>
                  </a:lnTo>
                  <a:lnTo>
                    <a:pt x="685" y="250"/>
                  </a:lnTo>
                  <a:lnTo>
                    <a:pt x="696" y="254"/>
                  </a:lnTo>
                  <a:lnTo>
                    <a:pt x="719" y="264"/>
                  </a:lnTo>
                  <a:lnTo>
                    <a:pt x="784" y="24"/>
                  </a:lnTo>
                  <a:lnTo>
                    <a:pt x="784" y="24"/>
                  </a:lnTo>
                  <a:lnTo>
                    <a:pt x="748" y="16"/>
                  </a:lnTo>
                  <a:lnTo>
                    <a:pt x="716" y="8"/>
                  </a:lnTo>
                  <a:lnTo>
                    <a:pt x="685" y="3"/>
                  </a:lnTo>
                  <a:lnTo>
                    <a:pt x="659" y="1"/>
                  </a:lnTo>
                  <a:lnTo>
                    <a:pt x="620" y="0"/>
                  </a:lnTo>
                  <a:lnTo>
                    <a:pt x="606" y="0"/>
                  </a:lnTo>
                  <a:lnTo>
                    <a:pt x="606" y="0"/>
                  </a:lnTo>
                  <a:close/>
                </a:path>
              </a:pathLst>
            </a:custGeom>
            <a:solidFill>
              <a:srgbClr val="FFFFFF">
                <a:lumMod val="50000"/>
              </a:srgbClr>
            </a:solidFill>
            <a:ln w="38100">
              <a:solidFill>
                <a:srgbClr val="FFFFFF"/>
              </a:solidFill>
            </a:ln>
          </p:spPr>
          <p:txBody>
            <a:bodyPr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dirty="0">
                <a:ln>
                  <a:noFill/>
                </a:ln>
                <a:solidFill>
                  <a:srgbClr val="000000"/>
                </a:solidFill>
                <a:effectLst/>
                <a:uLnTx/>
                <a:uFillTx/>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7" name="Freeform: Shape 4">
              <a:extLst>
                <a:ext uri="{FF2B5EF4-FFF2-40B4-BE49-F238E27FC236}">
                  <a16:creationId xmlns:a16="http://schemas.microsoft.com/office/drawing/2014/main" id="{7A264AA9-C14E-42AF-8690-8AB71FBC6953}"/>
                </a:ext>
              </a:extLst>
            </p:cNvPr>
            <p:cNvSpPr>
              <a:spLocks/>
            </p:cNvSpPr>
            <p:nvPr/>
          </p:nvSpPr>
          <p:spPr bwMode="auto">
            <a:xfrm>
              <a:off x="3606678" y="2060575"/>
              <a:ext cx="1473308" cy="1314222"/>
            </a:xfrm>
            <a:custGeom>
              <a:avLst/>
              <a:gdLst>
                <a:gd name="T0" fmla="*/ 591 w 1028"/>
                <a:gd name="T1" fmla="*/ 670 h 917"/>
                <a:gd name="T2" fmla="*/ 550 w 1028"/>
                <a:gd name="T3" fmla="*/ 669 h 917"/>
                <a:gd name="T4" fmla="*/ 515 w 1028"/>
                <a:gd name="T5" fmla="*/ 664 h 917"/>
                <a:gd name="T6" fmla="*/ 484 w 1028"/>
                <a:gd name="T7" fmla="*/ 656 h 917"/>
                <a:gd name="T8" fmla="*/ 458 w 1028"/>
                <a:gd name="T9" fmla="*/ 644 h 917"/>
                <a:gd name="T10" fmla="*/ 435 w 1028"/>
                <a:gd name="T11" fmla="*/ 630 h 917"/>
                <a:gd name="T12" fmla="*/ 401 w 1028"/>
                <a:gd name="T13" fmla="*/ 596 h 917"/>
                <a:gd name="T14" fmla="*/ 378 w 1028"/>
                <a:gd name="T15" fmla="*/ 560 h 917"/>
                <a:gd name="T16" fmla="*/ 367 w 1028"/>
                <a:gd name="T17" fmla="*/ 523 h 917"/>
                <a:gd name="T18" fmla="*/ 361 w 1028"/>
                <a:gd name="T19" fmla="*/ 477 h 917"/>
                <a:gd name="T20" fmla="*/ 361 w 1028"/>
                <a:gd name="T21" fmla="*/ 461 h 917"/>
                <a:gd name="T22" fmla="*/ 356 w 1028"/>
                <a:gd name="T23" fmla="*/ 393 h 917"/>
                <a:gd name="T24" fmla="*/ 351 w 1028"/>
                <a:gd name="T25" fmla="*/ 346 h 917"/>
                <a:gd name="T26" fmla="*/ 336 w 1028"/>
                <a:gd name="T27" fmla="*/ 271 h 917"/>
                <a:gd name="T28" fmla="*/ 312 w 1028"/>
                <a:gd name="T29" fmla="*/ 206 h 917"/>
                <a:gd name="T30" fmla="*/ 281 w 1028"/>
                <a:gd name="T31" fmla="*/ 151 h 917"/>
                <a:gd name="T32" fmla="*/ 244 w 1028"/>
                <a:gd name="T33" fmla="*/ 105 h 917"/>
                <a:gd name="T34" fmla="*/ 201 w 1028"/>
                <a:gd name="T35" fmla="*/ 70 h 917"/>
                <a:gd name="T36" fmla="*/ 156 w 1028"/>
                <a:gd name="T37" fmla="*/ 41 h 917"/>
                <a:gd name="T38" fmla="*/ 111 w 1028"/>
                <a:gd name="T39" fmla="*/ 18 h 917"/>
                <a:gd name="T40" fmla="*/ 65 w 1028"/>
                <a:gd name="T41" fmla="*/ 0 h 917"/>
                <a:gd name="T42" fmla="*/ 0 w 1028"/>
                <a:gd name="T43" fmla="*/ 240 h 917"/>
                <a:gd name="T44" fmla="*/ 23 w 1028"/>
                <a:gd name="T45" fmla="*/ 255 h 917"/>
                <a:gd name="T46" fmla="*/ 41 w 1028"/>
                <a:gd name="T47" fmla="*/ 271 h 917"/>
                <a:gd name="T48" fmla="*/ 72 w 1028"/>
                <a:gd name="T49" fmla="*/ 313 h 917"/>
                <a:gd name="T50" fmla="*/ 93 w 1028"/>
                <a:gd name="T51" fmla="*/ 360 h 917"/>
                <a:gd name="T52" fmla="*/ 106 w 1028"/>
                <a:gd name="T53" fmla="*/ 407 h 917"/>
                <a:gd name="T54" fmla="*/ 114 w 1028"/>
                <a:gd name="T55" fmla="*/ 451 h 917"/>
                <a:gd name="T56" fmla="*/ 117 w 1028"/>
                <a:gd name="T57" fmla="*/ 514 h 917"/>
                <a:gd name="T58" fmla="*/ 117 w 1028"/>
                <a:gd name="T59" fmla="*/ 524 h 917"/>
                <a:gd name="T60" fmla="*/ 127 w 1028"/>
                <a:gd name="T61" fmla="*/ 599 h 917"/>
                <a:gd name="T62" fmla="*/ 145 w 1028"/>
                <a:gd name="T63" fmla="*/ 662 h 917"/>
                <a:gd name="T64" fmla="*/ 171 w 1028"/>
                <a:gd name="T65" fmla="*/ 719 h 917"/>
                <a:gd name="T66" fmla="*/ 201 w 1028"/>
                <a:gd name="T67" fmla="*/ 764 h 917"/>
                <a:gd name="T68" fmla="*/ 239 w 1028"/>
                <a:gd name="T69" fmla="*/ 803 h 917"/>
                <a:gd name="T70" fmla="*/ 278 w 1028"/>
                <a:gd name="T71" fmla="*/ 836 h 917"/>
                <a:gd name="T72" fmla="*/ 320 w 1028"/>
                <a:gd name="T73" fmla="*/ 860 h 917"/>
                <a:gd name="T74" fmla="*/ 364 w 1028"/>
                <a:gd name="T75" fmla="*/ 880 h 917"/>
                <a:gd name="T76" fmla="*/ 406 w 1028"/>
                <a:gd name="T77" fmla="*/ 894 h 917"/>
                <a:gd name="T78" fmla="*/ 487 w 1028"/>
                <a:gd name="T79" fmla="*/ 911 h 917"/>
                <a:gd name="T80" fmla="*/ 550 w 1028"/>
                <a:gd name="T81" fmla="*/ 917 h 917"/>
                <a:gd name="T82" fmla="*/ 591 w 1028"/>
                <a:gd name="T83" fmla="*/ 917 h 917"/>
                <a:gd name="T84" fmla="*/ 606 w 1028"/>
                <a:gd name="T85" fmla="*/ 917 h 917"/>
                <a:gd name="T86" fmla="*/ 669 w 1028"/>
                <a:gd name="T87" fmla="*/ 914 h 917"/>
                <a:gd name="T88" fmla="*/ 732 w 1028"/>
                <a:gd name="T89" fmla="*/ 906 h 917"/>
                <a:gd name="T90" fmla="*/ 802 w 1028"/>
                <a:gd name="T91" fmla="*/ 886 h 917"/>
                <a:gd name="T92" fmla="*/ 857 w 1028"/>
                <a:gd name="T93" fmla="*/ 863 h 917"/>
                <a:gd name="T94" fmla="*/ 895 w 1028"/>
                <a:gd name="T95" fmla="*/ 842 h 917"/>
                <a:gd name="T96" fmla="*/ 929 w 1028"/>
                <a:gd name="T97" fmla="*/ 818 h 917"/>
                <a:gd name="T98" fmla="*/ 961 w 1028"/>
                <a:gd name="T99" fmla="*/ 787 h 917"/>
                <a:gd name="T100" fmla="*/ 990 w 1028"/>
                <a:gd name="T101" fmla="*/ 753 h 917"/>
                <a:gd name="T102" fmla="*/ 1016 w 1028"/>
                <a:gd name="T103" fmla="*/ 711 h 917"/>
                <a:gd name="T104" fmla="*/ 810 w 1028"/>
                <a:gd name="T105" fmla="*/ 544 h 917"/>
                <a:gd name="T106" fmla="*/ 800 w 1028"/>
                <a:gd name="T107" fmla="*/ 566 h 917"/>
                <a:gd name="T108" fmla="*/ 787 w 1028"/>
                <a:gd name="T109" fmla="*/ 589 h 917"/>
                <a:gd name="T110" fmla="*/ 770 w 1028"/>
                <a:gd name="T111" fmla="*/ 612 h 917"/>
                <a:gd name="T112" fmla="*/ 745 w 1028"/>
                <a:gd name="T113" fmla="*/ 631 h 917"/>
                <a:gd name="T114" fmla="*/ 718 w 1028"/>
                <a:gd name="T115" fmla="*/ 648 h 917"/>
                <a:gd name="T116" fmla="*/ 682 w 1028"/>
                <a:gd name="T117" fmla="*/ 661 h 917"/>
                <a:gd name="T118" fmla="*/ 641 w 1028"/>
                <a:gd name="T119" fmla="*/ 669 h 917"/>
                <a:gd name="T120" fmla="*/ 591 w 1028"/>
                <a:gd name="T121" fmla="*/ 67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28" h="917">
                  <a:moveTo>
                    <a:pt x="591" y="670"/>
                  </a:moveTo>
                  <a:lnTo>
                    <a:pt x="591" y="670"/>
                  </a:lnTo>
                  <a:lnTo>
                    <a:pt x="570" y="670"/>
                  </a:lnTo>
                  <a:lnTo>
                    <a:pt x="550" y="669"/>
                  </a:lnTo>
                  <a:lnTo>
                    <a:pt x="533" y="667"/>
                  </a:lnTo>
                  <a:lnTo>
                    <a:pt x="515" y="664"/>
                  </a:lnTo>
                  <a:lnTo>
                    <a:pt x="498" y="661"/>
                  </a:lnTo>
                  <a:lnTo>
                    <a:pt x="484" y="656"/>
                  </a:lnTo>
                  <a:lnTo>
                    <a:pt x="471" y="649"/>
                  </a:lnTo>
                  <a:lnTo>
                    <a:pt x="458" y="644"/>
                  </a:lnTo>
                  <a:lnTo>
                    <a:pt x="447" y="638"/>
                  </a:lnTo>
                  <a:lnTo>
                    <a:pt x="435" y="630"/>
                  </a:lnTo>
                  <a:lnTo>
                    <a:pt x="416" y="613"/>
                  </a:lnTo>
                  <a:lnTo>
                    <a:pt x="401" y="596"/>
                  </a:lnTo>
                  <a:lnTo>
                    <a:pt x="388" y="578"/>
                  </a:lnTo>
                  <a:lnTo>
                    <a:pt x="378" y="560"/>
                  </a:lnTo>
                  <a:lnTo>
                    <a:pt x="372" y="540"/>
                  </a:lnTo>
                  <a:lnTo>
                    <a:pt x="367" y="523"/>
                  </a:lnTo>
                  <a:lnTo>
                    <a:pt x="362" y="506"/>
                  </a:lnTo>
                  <a:lnTo>
                    <a:pt x="361" y="477"/>
                  </a:lnTo>
                  <a:lnTo>
                    <a:pt x="361" y="461"/>
                  </a:lnTo>
                  <a:lnTo>
                    <a:pt x="361" y="461"/>
                  </a:lnTo>
                  <a:lnTo>
                    <a:pt x="359" y="432"/>
                  </a:lnTo>
                  <a:lnTo>
                    <a:pt x="356" y="393"/>
                  </a:lnTo>
                  <a:lnTo>
                    <a:pt x="351" y="346"/>
                  </a:lnTo>
                  <a:lnTo>
                    <a:pt x="351" y="346"/>
                  </a:lnTo>
                  <a:lnTo>
                    <a:pt x="344" y="307"/>
                  </a:lnTo>
                  <a:lnTo>
                    <a:pt x="336" y="271"/>
                  </a:lnTo>
                  <a:lnTo>
                    <a:pt x="325" y="237"/>
                  </a:lnTo>
                  <a:lnTo>
                    <a:pt x="312" y="206"/>
                  </a:lnTo>
                  <a:lnTo>
                    <a:pt x="297" y="177"/>
                  </a:lnTo>
                  <a:lnTo>
                    <a:pt x="281" y="151"/>
                  </a:lnTo>
                  <a:lnTo>
                    <a:pt x="263" y="127"/>
                  </a:lnTo>
                  <a:lnTo>
                    <a:pt x="244" y="105"/>
                  </a:lnTo>
                  <a:lnTo>
                    <a:pt x="223" y="86"/>
                  </a:lnTo>
                  <a:lnTo>
                    <a:pt x="201" y="70"/>
                  </a:lnTo>
                  <a:lnTo>
                    <a:pt x="179" y="54"/>
                  </a:lnTo>
                  <a:lnTo>
                    <a:pt x="156" y="41"/>
                  </a:lnTo>
                  <a:lnTo>
                    <a:pt x="133" y="28"/>
                  </a:lnTo>
                  <a:lnTo>
                    <a:pt x="111" y="18"/>
                  </a:lnTo>
                  <a:lnTo>
                    <a:pt x="88" y="8"/>
                  </a:lnTo>
                  <a:lnTo>
                    <a:pt x="65" y="0"/>
                  </a:lnTo>
                  <a:lnTo>
                    <a:pt x="0" y="240"/>
                  </a:lnTo>
                  <a:lnTo>
                    <a:pt x="0" y="240"/>
                  </a:lnTo>
                  <a:lnTo>
                    <a:pt x="12" y="247"/>
                  </a:lnTo>
                  <a:lnTo>
                    <a:pt x="23" y="255"/>
                  </a:lnTo>
                  <a:lnTo>
                    <a:pt x="33" y="263"/>
                  </a:lnTo>
                  <a:lnTo>
                    <a:pt x="41" y="271"/>
                  </a:lnTo>
                  <a:lnTo>
                    <a:pt x="57" y="290"/>
                  </a:lnTo>
                  <a:lnTo>
                    <a:pt x="72" y="313"/>
                  </a:lnTo>
                  <a:lnTo>
                    <a:pt x="83" y="336"/>
                  </a:lnTo>
                  <a:lnTo>
                    <a:pt x="93" y="360"/>
                  </a:lnTo>
                  <a:lnTo>
                    <a:pt x="99" y="383"/>
                  </a:lnTo>
                  <a:lnTo>
                    <a:pt x="106" y="407"/>
                  </a:lnTo>
                  <a:lnTo>
                    <a:pt x="111" y="430"/>
                  </a:lnTo>
                  <a:lnTo>
                    <a:pt x="114" y="451"/>
                  </a:lnTo>
                  <a:lnTo>
                    <a:pt x="117" y="489"/>
                  </a:lnTo>
                  <a:lnTo>
                    <a:pt x="117" y="514"/>
                  </a:lnTo>
                  <a:lnTo>
                    <a:pt x="117" y="524"/>
                  </a:lnTo>
                  <a:lnTo>
                    <a:pt x="117" y="524"/>
                  </a:lnTo>
                  <a:lnTo>
                    <a:pt x="120" y="562"/>
                  </a:lnTo>
                  <a:lnTo>
                    <a:pt x="127" y="599"/>
                  </a:lnTo>
                  <a:lnTo>
                    <a:pt x="135" y="631"/>
                  </a:lnTo>
                  <a:lnTo>
                    <a:pt x="145" y="662"/>
                  </a:lnTo>
                  <a:lnTo>
                    <a:pt x="156" y="691"/>
                  </a:lnTo>
                  <a:lnTo>
                    <a:pt x="171" y="719"/>
                  </a:lnTo>
                  <a:lnTo>
                    <a:pt x="185" y="743"/>
                  </a:lnTo>
                  <a:lnTo>
                    <a:pt x="201" y="764"/>
                  </a:lnTo>
                  <a:lnTo>
                    <a:pt x="219" y="786"/>
                  </a:lnTo>
                  <a:lnTo>
                    <a:pt x="239" y="803"/>
                  </a:lnTo>
                  <a:lnTo>
                    <a:pt x="258" y="820"/>
                  </a:lnTo>
                  <a:lnTo>
                    <a:pt x="278" y="836"/>
                  </a:lnTo>
                  <a:lnTo>
                    <a:pt x="299" y="849"/>
                  </a:lnTo>
                  <a:lnTo>
                    <a:pt x="320" y="860"/>
                  </a:lnTo>
                  <a:lnTo>
                    <a:pt x="343" y="872"/>
                  </a:lnTo>
                  <a:lnTo>
                    <a:pt x="364" y="880"/>
                  </a:lnTo>
                  <a:lnTo>
                    <a:pt x="385" y="888"/>
                  </a:lnTo>
                  <a:lnTo>
                    <a:pt x="406" y="894"/>
                  </a:lnTo>
                  <a:lnTo>
                    <a:pt x="448" y="904"/>
                  </a:lnTo>
                  <a:lnTo>
                    <a:pt x="487" y="911"/>
                  </a:lnTo>
                  <a:lnTo>
                    <a:pt x="521" y="915"/>
                  </a:lnTo>
                  <a:lnTo>
                    <a:pt x="550" y="917"/>
                  </a:lnTo>
                  <a:lnTo>
                    <a:pt x="572" y="917"/>
                  </a:lnTo>
                  <a:lnTo>
                    <a:pt x="591" y="917"/>
                  </a:lnTo>
                  <a:lnTo>
                    <a:pt x="591" y="917"/>
                  </a:lnTo>
                  <a:lnTo>
                    <a:pt x="606" y="917"/>
                  </a:lnTo>
                  <a:lnTo>
                    <a:pt x="643" y="917"/>
                  </a:lnTo>
                  <a:lnTo>
                    <a:pt x="669" y="914"/>
                  </a:lnTo>
                  <a:lnTo>
                    <a:pt x="700" y="911"/>
                  </a:lnTo>
                  <a:lnTo>
                    <a:pt x="732" y="906"/>
                  </a:lnTo>
                  <a:lnTo>
                    <a:pt x="766" y="898"/>
                  </a:lnTo>
                  <a:lnTo>
                    <a:pt x="802" y="886"/>
                  </a:lnTo>
                  <a:lnTo>
                    <a:pt x="839" y="872"/>
                  </a:lnTo>
                  <a:lnTo>
                    <a:pt x="857" y="863"/>
                  </a:lnTo>
                  <a:lnTo>
                    <a:pt x="875" y="854"/>
                  </a:lnTo>
                  <a:lnTo>
                    <a:pt x="895" y="842"/>
                  </a:lnTo>
                  <a:lnTo>
                    <a:pt x="911" y="831"/>
                  </a:lnTo>
                  <a:lnTo>
                    <a:pt x="929" y="818"/>
                  </a:lnTo>
                  <a:lnTo>
                    <a:pt x="945" y="803"/>
                  </a:lnTo>
                  <a:lnTo>
                    <a:pt x="961" y="787"/>
                  </a:lnTo>
                  <a:lnTo>
                    <a:pt x="976" y="771"/>
                  </a:lnTo>
                  <a:lnTo>
                    <a:pt x="990" y="753"/>
                  </a:lnTo>
                  <a:lnTo>
                    <a:pt x="1003" y="732"/>
                  </a:lnTo>
                  <a:lnTo>
                    <a:pt x="1016" y="711"/>
                  </a:lnTo>
                  <a:lnTo>
                    <a:pt x="1028" y="688"/>
                  </a:lnTo>
                  <a:lnTo>
                    <a:pt x="810" y="544"/>
                  </a:lnTo>
                  <a:lnTo>
                    <a:pt x="810" y="544"/>
                  </a:lnTo>
                  <a:lnTo>
                    <a:pt x="800" y="566"/>
                  </a:lnTo>
                  <a:lnTo>
                    <a:pt x="794" y="578"/>
                  </a:lnTo>
                  <a:lnTo>
                    <a:pt x="787" y="589"/>
                  </a:lnTo>
                  <a:lnTo>
                    <a:pt x="778" y="600"/>
                  </a:lnTo>
                  <a:lnTo>
                    <a:pt x="770" y="612"/>
                  </a:lnTo>
                  <a:lnTo>
                    <a:pt x="758" y="622"/>
                  </a:lnTo>
                  <a:lnTo>
                    <a:pt x="745" y="631"/>
                  </a:lnTo>
                  <a:lnTo>
                    <a:pt x="732" y="639"/>
                  </a:lnTo>
                  <a:lnTo>
                    <a:pt x="718" y="648"/>
                  </a:lnTo>
                  <a:lnTo>
                    <a:pt x="701" y="654"/>
                  </a:lnTo>
                  <a:lnTo>
                    <a:pt x="682" y="661"/>
                  </a:lnTo>
                  <a:lnTo>
                    <a:pt x="662" y="665"/>
                  </a:lnTo>
                  <a:lnTo>
                    <a:pt x="641" y="669"/>
                  </a:lnTo>
                  <a:lnTo>
                    <a:pt x="617" y="670"/>
                  </a:lnTo>
                  <a:lnTo>
                    <a:pt x="591" y="670"/>
                  </a:lnTo>
                  <a:lnTo>
                    <a:pt x="591" y="670"/>
                  </a:lnTo>
                  <a:close/>
                </a:path>
              </a:pathLst>
            </a:custGeom>
            <a:solidFill>
              <a:srgbClr val="0070C0"/>
            </a:solidFill>
            <a:ln w="38100">
              <a:solidFill>
                <a:srgbClr val="FFFFFF"/>
              </a:solidFill>
            </a:ln>
          </p:spPr>
          <p:txBody>
            <a:bodyPr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8" name="Freeform: Shape 5">
              <a:extLst>
                <a:ext uri="{FF2B5EF4-FFF2-40B4-BE49-F238E27FC236}">
                  <a16:creationId xmlns:a16="http://schemas.microsoft.com/office/drawing/2014/main" id="{734E73BD-FAB6-4D5C-A19E-83AA27FE6BCB}"/>
                </a:ext>
              </a:extLst>
            </p:cNvPr>
            <p:cNvSpPr>
              <a:spLocks/>
            </p:cNvSpPr>
            <p:nvPr/>
          </p:nvSpPr>
          <p:spPr bwMode="auto">
            <a:xfrm>
              <a:off x="4767553" y="2026180"/>
              <a:ext cx="1589396" cy="1329986"/>
            </a:xfrm>
            <a:custGeom>
              <a:avLst/>
              <a:gdLst>
                <a:gd name="T0" fmla="*/ 946 w 1109"/>
                <a:gd name="T1" fmla="*/ 446 h 928"/>
                <a:gd name="T2" fmla="*/ 942 w 1109"/>
                <a:gd name="T3" fmla="*/ 357 h 928"/>
                <a:gd name="T4" fmla="*/ 924 w 1109"/>
                <a:gd name="T5" fmla="*/ 276 h 928"/>
                <a:gd name="T6" fmla="*/ 898 w 1109"/>
                <a:gd name="T7" fmla="*/ 209 h 928"/>
                <a:gd name="T8" fmla="*/ 857 w 1109"/>
                <a:gd name="T9" fmla="*/ 146 h 928"/>
                <a:gd name="T10" fmla="*/ 799 w 1109"/>
                <a:gd name="T11" fmla="*/ 87 h 928"/>
                <a:gd name="T12" fmla="*/ 719 w 1109"/>
                <a:gd name="T13" fmla="*/ 42 h 928"/>
                <a:gd name="T14" fmla="*/ 615 w 1109"/>
                <a:gd name="T15" fmla="*/ 9 h 928"/>
                <a:gd name="T16" fmla="*/ 485 w 1109"/>
                <a:gd name="T17" fmla="*/ 0 h 928"/>
                <a:gd name="T18" fmla="*/ 446 w 1109"/>
                <a:gd name="T19" fmla="*/ 0 h 928"/>
                <a:gd name="T20" fmla="*/ 351 w 1109"/>
                <a:gd name="T21" fmla="*/ 13 h 928"/>
                <a:gd name="T22" fmla="*/ 250 w 1109"/>
                <a:gd name="T23" fmla="*/ 47 h 928"/>
                <a:gd name="T24" fmla="*/ 188 w 1109"/>
                <a:gd name="T25" fmla="*/ 81 h 928"/>
                <a:gd name="T26" fmla="*/ 132 w 1109"/>
                <a:gd name="T27" fmla="*/ 128 h 928"/>
                <a:gd name="T28" fmla="*/ 81 w 1109"/>
                <a:gd name="T29" fmla="*/ 191 h 928"/>
                <a:gd name="T30" fmla="*/ 44 w 1109"/>
                <a:gd name="T31" fmla="*/ 271 h 928"/>
                <a:gd name="T32" fmla="*/ 21 w 1109"/>
                <a:gd name="T33" fmla="*/ 370 h 928"/>
                <a:gd name="T34" fmla="*/ 13 w 1109"/>
                <a:gd name="T35" fmla="*/ 456 h 928"/>
                <a:gd name="T36" fmla="*/ 13 w 1109"/>
                <a:gd name="T37" fmla="*/ 496 h 928"/>
                <a:gd name="T38" fmla="*/ 0 w 1109"/>
                <a:gd name="T39" fmla="*/ 568 h 928"/>
                <a:gd name="T40" fmla="*/ 231 w 1109"/>
                <a:gd name="T41" fmla="*/ 676 h 928"/>
                <a:gd name="T42" fmla="*/ 247 w 1109"/>
                <a:gd name="T43" fmla="*/ 616 h 928"/>
                <a:gd name="T44" fmla="*/ 255 w 1109"/>
                <a:gd name="T45" fmla="*/ 548 h 928"/>
                <a:gd name="T46" fmla="*/ 257 w 1109"/>
                <a:gd name="T47" fmla="*/ 498 h 928"/>
                <a:gd name="T48" fmla="*/ 271 w 1109"/>
                <a:gd name="T49" fmla="*/ 417 h 928"/>
                <a:gd name="T50" fmla="*/ 305 w 1109"/>
                <a:gd name="T51" fmla="*/ 331 h 928"/>
                <a:gd name="T52" fmla="*/ 333 w 1109"/>
                <a:gd name="T53" fmla="*/ 293 h 928"/>
                <a:gd name="T54" fmla="*/ 370 w 1109"/>
                <a:gd name="T55" fmla="*/ 264 h 928"/>
                <a:gd name="T56" fmla="*/ 419 w 1109"/>
                <a:gd name="T57" fmla="*/ 248 h 928"/>
                <a:gd name="T58" fmla="*/ 479 w 1109"/>
                <a:gd name="T59" fmla="*/ 245 h 928"/>
                <a:gd name="T60" fmla="*/ 516 w 1109"/>
                <a:gd name="T61" fmla="*/ 250 h 928"/>
                <a:gd name="T62" fmla="*/ 576 w 1109"/>
                <a:gd name="T63" fmla="*/ 267 h 928"/>
                <a:gd name="T64" fmla="*/ 643 w 1109"/>
                <a:gd name="T65" fmla="*/ 311 h 928"/>
                <a:gd name="T66" fmla="*/ 670 w 1109"/>
                <a:gd name="T67" fmla="*/ 345 h 928"/>
                <a:gd name="T68" fmla="*/ 692 w 1109"/>
                <a:gd name="T69" fmla="*/ 389 h 928"/>
                <a:gd name="T70" fmla="*/ 705 w 1109"/>
                <a:gd name="T71" fmla="*/ 444 h 928"/>
                <a:gd name="T72" fmla="*/ 706 w 1109"/>
                <a:gd name="T73" fmla="*/ 513 h 928"/>
                <a:gd name="T74" fmla="*/ 706 w 1109"/>
                <a:gd name="T75" fmla="*/ 547 h 928"/>
                <a:gd name="T76" fmla="*/ 718 w 1109"/>
                <a:gd name="T77" fmla="*/ 629 h 928"/>
                <a:gd name="T78" fmla="*/ 747 w 1109"/>
                <a:gd name="T79" fmla="*/ 717 h 928"/>
                <a:gd name="T80" fmla="*/ 776 w 1109"/>
                <a:gd name="T81" fmla="*/ 772 h 928"/>
                <a:gd name="T82" fmla="*/ 817 w 1109"/>
                <a:gd name="T83" fmla="*/ 824 h 928"/>
                <a:gd name="T84" fmla="*/ 870 w 1109"/>
                <a:gd name="T85" fmla="*/ 870 h 928"/>
                <a:gd name="T86" fmla="*/ 938 w 1109"/>
                <a:gd name="T87" fmla="*/ 905 h 928"/>
                <a:gd name="T88" fmla="*/ 1024 w 1109"/>
                <a:gd name="T89" fmla="*/ 928 h 928"/>
                <a:gd name="T90" fmla="*/ 1081 w 1109"/>
                <a:gd name="T91" fmla="*/ 680 h 928"/>
                <a:gd name="T92" fmla="*/ 1039 w 1109"/>
                <a:gd name="T93" fmla="*/ 660 h 928"/>
                <a:gd name="T94" fmla="*/ 1000 w 1109"/>
                <a:gd name="T95" fmla="*/ 629 h 928"/>
                <a:gd name="T96" fmla="*/ 969 w 1109"/>
                <a:gd name="T97" fmla="*/ 584 h 928"/>
                <a:gd name="T98" fmla="*/ 950 w 1109"/>
                <a:gd name="T99" fmla="*/ 521 h 928"/>
                <a:gd name="T100" fmla="*/ 946 w 1109"/>
                <a:gd name="T101" fmla="*/ 467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09" h="928">
                  <a:moveTo>
                    <a:pt x="946" y="467"/>
                  </a:moveTo>
                  <a:lnTo>
                    <a:pt x="946" y="467"/>
                  </a:lnTo>
                  <a:lnTo>
                    <a:pt x="946" y="446"/>
                  </a:lnTo>
                  <a:lnTo>
                    <a:pt x="946" y="423"/>
                  </a:lnTo>
                  <a:lnTo>
                    <a:pt x="946" y="392"/>
                  </a:lnTo>
                  <a:lnTo>
                    <a:pt x="942" y="357"/>
                  </a:lnTo>
                  <a:lnTo>
                    <a:pt x="935" y="318"/>
                  </a:lnTo>
                  <a:lnTo>
                    <a:pt x="930" y="297"/>
                  </a:lnTo>
                  <a:lnTo>
                    <a:pt x="924" y="276"/>
                  </a:lnTo>
                  <a:lnTo>
                    <a:pt x="917" y="253"/>
                  </a:lnTo>
                  <a:lnTo>
                    <a:pt x="907" y="232"/>
                  </a:lnTo>
                  <a:lnTo>
                    <a:pt x="898" y="209"/>
                  </a:lnTo>
                  <a:lnTo>
                    <a:pt x="886" y="188"/>
                  </a:lnTo>
                  <a:lnTo>
                    <a:pt x="872" y="167"/>
                  </a:lnTo>
                  <a:lnTo>
                    <a:pt x="857" y="146"/>
                  </a:lnTo>
                  <a:lnTo>
                    <a:pt x="839" y="125"/>
                  </a:lnTo>
                  <a:lnTo>
                    <a:pt x="820" y="107"/>
                  </a:lnTo>
                  <a:lnTo>
                    <a:pt x="799" y="87"/>
                  </a:lnTo>
                  <a:lnTo>
                    <a:pt x="774" y="71"/>
                  </a:lnTo>
                  <a:lnTo>
                    <a:pt x="748" y="55"/>
                  </a:lnTo>
                  <a:lnTo>
                    <a:pt x="719" y="42"/>
                  </a:lnTo>
                  <a:lnTo>
                    <a:pt x="687" y="29"/>
                  </a:lnTo>
                  <a:lnTo>
                    <a:pt x="653" y="17"/>
                  </a:lnTo>
                  <a:lnTo>
                    <a:pt x="615" y="9"/>
                  </a:lnTo>
                  <a:lnTo>
                    <a:pt x="575" y="4"/>
                  </a:lnTo>
                  <a:lnTo>
                    <a:pt x="532" y="0"/>
                  </a:lnTo>
                  <a:lnTo>
                    <a:pt x="485" y="0"/>
                  </a:lnTo>
                  <a:lnTo>
                    <a:pt x="485" y="0"/>
                  </a:lnTo>
                  <a:lnTo>
                    <a:pt x="468" y="0"/>
                  </a:lnTo>
                  <a:lnTo>
                    <a:pt x="446" y="0"/>
                  </a:lnTo>
                  <a:lnTo>
                    <a:pt x="419" y="1"/>
                  </a:lnTo>
                  <a:lnTo>
                    <a:pt x="388" y="6"/>
                  </a:lnTo>
                  <a:lnTo>
                    <a:pt x="351" y="13"/>
                  </a:lnTo>
                  <a:lnTo>
                    <a:pt x="312" y="24"/>
                  </a:lnTo>
                  <a:lnTo>
                    <a:pt x="271" y="39"/>
                  </a:lnTo>
                  <a:lnTo>
                    <a:pt x="250" y="47"/>
                  </a:lnTo>
                  <a:lnTo>
                    <a:pt x="229" y="56"/>
                  </a:lnTo>
                  <a:lnTo>
                    <a:pt x="208" y="68"/>
                  </a:lnTo>
                  <a:lnTo>
                    <a:pt x="188" y="81"/>
                  </a:lnTo>
                  <a:lnTo>
                    <a:pt x="169" y="95"/>
                  </a:lnTo>
                  <a:lnTo>
                    <a:pt x="149" y="110"/>
                  </a:lnTo>
                  <a:lnTo>
                    <a:pt x="132" y="128"/>
                  </a:lnTo>
                  <a:lnTo>
                    <a:pt x="114" y="147"/>
                  </a:lnTo>
                  <a:lnTo>
                    <a:pt x="96" y="168"/>
                  </a:lnTo>
                  <a:lnTo>
                    <a:pt x="81" y="191"/>
                  </a:lnTo>
                  <a:lnTo>
                    <a:pt x="67" y="215"/>
                  </a:lnTo>
                  <a:lnTo>
                    <a:pt x="55" y="241"/>
                  </a:lnTo>
                  <a:lnTo>
                    <a:pt x="44" y="271"/>
                  </a:lnTo>
                  <a:lnTo>
                    <a:pt x="34" y="302"/>
                  </a:lnTo>
                  <a:lnTo>
                    <a:pt x="26" y="334"/>
                  </a:lnTo>
                  <a:lnTo>
                    <a:pt x="21" y="370"/>
                  </a:lnTo>
                  <a:lnTo>
                    <a:pt x="21" y="370"/>
                  </a:lnTo>
                  <a:lnTo>
                    <a:pt x="16" y="417"/>
                  </a:lnTo>
                  <a:lnTo>
                    <a:pt x="13" y="456"/>
                  </a:lnTo>
                  <a:lnTo>
                    <a:pt x="13" y="485"/>
                  </a:lnTo>
                  <a:lnTo>
                    <a:pt x="13" y="485"/>
                  </a:lnTo>
                  <a:lnTo>
                    <a:pt x="13" y="496"/>
                  </a:lnTo>
                  <a:lnTo>
                    <a:pt x="11" y="516"/>
                  </a:lnTo>
                  <a:lnTo>
                    <a:pt x="8" y="540"/>
                  </a:lnTo>
                  <a:lnTo>
                    <a:pt x="0" y="568"/>
                  </a:lnTo>
                  <a:lnTo>
                    <a:pt x="218" y="712"/>
                  </a:lnTo>
                  <a:lnTo>
                    <a:pt x="218" y="712"/>
                  </a:lnTo>
                  <a:lnTo>
                    <a:pt x="231" y="676"/>
                  </a:lnTo>
                  <a:lnTo>
                    <a:pt x="237" y="657"/>
                  </a:lnTo>
                  <a:lnTo>
                    <a:pt x="242" y="637"/>
                  </a:lnTo>
                  <a:lnTo>
                    <a:pt x="247" y="616"/>
                  </a:lnTo>
                  <a:lnTo>
                    <a:pt x="250" y="595"/>
                  </a:lnTo>
                  <a:lnTo>
                    <a:pt x="253" y="571"/>
                  </a:lnTo>
                  <a:lnTo>
                    <a:pt x="255" y="548"/>
                  </a:lnTo>
                  <a:lnTo>
                    <a:pt x="255" y="548"/>
                  </a:lnTo>
                  <a:lnTo>
                    <a:pt x="255" y="534"/>
                  </a:lnTo>
                  <a:lnTo>
                    <a:pt x="257" y="498"/>
                  </a:lnTo>
                  <a:lnTo>
                    <a:pt x="260" y="474"/>
                  </a:lnTo>
                  <a:lnTo>
                    <a:pt x="265" y="446"/>
                  </a:lnTo>
                  <a:lnTo>
                    <a:pt x="271" y="417"/>
                  </a:lnTo>
                  <a:lnTo>
                    <a:pt x="279" y="388"/>
                  </a:lnTo>
                  <a:lnTo>
                    <a:pt x="291" y="358"/>
                  </a:lnTo>
                  <a:lnTo>
                    <a:pt x="305" y="331"/>
                  </a:lnTo>
                  <a:lnTo>
                    <a:pt x="313" y="318"/>
                  </a:lnTo>
                  <a:lnTo>
                    <a:pt x="323" y="305"/>
                  </a:lnTo>
                  <a:lnTo>
                    <a:pt x="333" y="293"/>
                  </a:lnTo>
                  <a:lnTo>
                    <a:pt x="344" y="284"/>
                  </a:lnTo>
                  <a:lnTo>
                    <a:pt x="357" y="274"/>
                  </a:lnTo>
                  <a:lnTo>
                    <a:pt x="370" y="264"/>
                  </a:lnTo>
                  <a:lnTo>
                    <a:pt x="385" y="258"/>
                  </a:lnTo>
                  <a:lnTo>
                    <a:pt x="401" y="251"/>
                  </a:lnTo>
                  <a:lnTo>
                    <a:pt x="419" y="248"/>
                  </a:lnTo>
                  <a:lnTo>
                    <a:pt x="437" y="245"/>
                  </a:lnTo>
                  <a:lnTo>
                    <a:pt x="456" y="243"/>
                  </a:lnTo>
                  <a:lnTo>
                    <a:pt x="479" y="245"/>
                  </a:lnTo>
                  <a:lnTo>
                    <a:pt x="479" y="245"/>
                  </a:lnTo>
                  <a:lnTo>
                    <a:pt x="489" y="245"/>
                  </a:lnTo>
                  <a:lnTo>
                    <a:pt x="516" y="250"/>
                  </a:lnTo>
                  <a:lnTo>
                    <a:pt x="534" y="253"/>
                  </a:lnTo>
                  <a:lnTo>
                    <a:pt x="555" y="259"/>
                  </a:lnTo>
                  <a:lnTo>
                    <a:pt x="576" y="267"/>
                  </a:lnTo>
                  <a:lnTo>
                    <a:pt x="599" y="279"/>
                  </a:lnTo>
                  <a:lnTo>
                    <a:pt x="622" y="293"/>
                  </a:lnTo>
                  <a:lnTo>
                    <a:pt x="643" y="311"/>
                  </a:lnTo>
                  <a:lnTo>
                    <a:pt x="653" y="321"/>
                  </a:lnTo>
                  <a:lnTo>
                    <a:pt x="662" y="332"/>
                  </a:lnTo>
                  <a:lnTo>
                    <a:pt x="670" y="345"/>
                  </a:lnTo>
                  <a:lnTo>
                    <a:pt x="679" y="358"/>
                  </a:lnTo>
                  <a:lnTo>
                    <a:pt x="685" y="373"/>
                  </a:lnTo>
                  <a:lnTo>
                    <a:pt x="692" y="389"/>
                  </a:lnTo>
                  <a:lnTo>
                    <a:pt x="698" y="407"/>
                  </a:lnTo>
                  <a:lnTo>
                    <a:pt x="701" y="425"/>
                  </a:lnTo>
                  <a:lnTo>
                    <a:pt x="705" y="444"/>
                  </a:lnTo>
                  <a:lnTo>
                    <a:pt x="706" y="465"/>
                  </a:lnTo>
                  <a:lnTo>
                    <a:pt x="708" y="488"/>
                  </a:lnTo>
                  <a:lnTo>
                    <a:pt x="706" y="513"/>
                  </a:lnTo>
                  <a:lnTo>
                    <a:pt x="706" y="513"/>
                  </a:lnTo>
                  <a:lnTo>
                    <a:pt x="706" y="529"/>
                  </a:lnTo>
                  <a:lnTo>
                    <a:pt x="706" y="547"/>
                  </a:lnTo>
                  <a:lnTo>
                    <a:pt x="709" y="569"/>
                  </a:lnTo>
                  <a:lnTo>
                    <a:pt x="713" y="599"/>
                  </a:lnTo>
                  <a:lnTo>
                    <a:pt x="718" y="629"/>
                  </a:lnTo>
                  <a:lnTo>
                    <a:pt x="727" y="663"/>
                  </a:lnTo>
                  <a:lnTo>
                    <a:pt x="739" y="699"/>
                  </a:lnTo>
                  <a:lnTo>
                    <a:pt x="747" y="717"/>
                  </a:lnTo>
                  <a:lnTo>
                    <a:pt x="755" y="736"/>
                  </a:lnTo>
                  <a:lnTo>
                    <a:pt x="765" y="754"/>
                  </a:lnTo>
                  <a:lnTo>
                    <a:pt x="776" y="772"/>
                  </a:lnTo>
                  <a:lnTo>
                    <a:pt x="787" y="790"/>
                  </a:lnTo>
                  <a:lnTo>
                    <a:pt x="800" y="808"/>
                  </a:lnTo>
                  <a:lnTo>
                    <a:pt x="817" y="824"/>
                  </a:lnTo>
                  <a:lnTo>
                    <a:pt x="833" y="840"/>
                  </a:lnTo>
                  <a:lnTo>
                    <a:pt x="851" y="855"/>
                  </a:lnTo>
                  <a:lnTo>
                    <a:pt x="870" y="870"/>
                  </a:lnTo>
                  <a:lnTo>
                    <a:pt x="891" y="883"/>
                  </a:lnTo>
                  <a:lnTo>
                    <a:pt x="914" y="894"/>
                  </a:lnTo>
                  <a:lnTo>
                    <a:pt x="938" y="905"/>
                  </a:lnTo>
                  <a:lnTo>
                    <a:pt x="966" y="915"/>
                  </a:lnTo>
                  <a:lnTo>
                    <a:pt x="993" y="922"/>
                  </a:lnTo>
                  <a:lnTo>
                    <a:pt x="1024" y="928"/>
                  </a:lnTo>
                  <a:lnTo>
                    <a:pt x="1109" y="688"/>
                  </a:lnTo>
                  <a:lnTo>
                    <a:pt x="1109" y="688"/>
                  </a:lnTo>
                  <a:lnTo>
                    <a:pt x="1081" y="680"/>
                  </a:lnTo>
                  <a:lnTo>
                    <a:pt x="1068" y="675"/>
                  </a:lnTo>
                  <a:lnTo>
                    <a:pt x="1053" y="668"/>
                  </a:lnTo>
                  <a:lnTo>
                    <a:pt x="1039" y="660"/>
                  </a:lnTo>
                  <a:lnTo>
                    <a:pt x="1026" y="652"/>
                  </a:lnTo>
                  <a:lnTo>
                    <a:pt x="1013" y="642"/>
                  </a:lnTo>
                  <a:lnTo>
                    <a:pt x="1000" y="629"/>
                  </a:lnTo>
                  <a:lnTo>
                    <a:pt x="989" y="616"/>
                  </a:lnTo>
                  <a:lnTo>
                    <a:pt x="977" y="602"/>
                  </a:lnTo>
                  <a:lnTo>
                    <a:pt x="969" y="584"/>
                  </a:lnTo>
                  <a:lnTo>
                    <a:pt x="961" y="564"/>
                  </a:lnTo>
                  <a:lnTo>
                    <a:pt x="954" y="543"/>
                  </a:lnTo>
                  <a:lnTo>
                    <a:pt x="950" y="521"/>
                  </a:lnTo>
                  <a:lnTo>
                    <a:pt x="946" y="495"/>
                  </a:lnTo>
                  <a:lnTo>
                    <a:pt x="946" y="467"/>
                  </a:lnTo>
                  <a:lnTo>
                    <a:pt x="946" y="467"/>
                  </a:lnTo>
                  <a:close/>
                </a:path>
              </a:pathLst>
            </a:custGeom>
            <a:solidFill>
              <a:srgbClr val="7F7F7F"/>
            </a:solidFill>
            <a:ln w="38100">
              <a:solidFill>
                <a:srgbClr val="FFFFFF"/>
              </a:solidFill>
            </a:ln>
          </p:spPr>
          <p:txBody>
            <a:bodyPr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9" name="Freeform: Shape 6">
              <a:extLst>
                <a:ext uri="{FF2B5EF4-FFF2-40B4-BE49-F238E27FC236}">
                  <a16:creationId xmlns:a16="http://schemas.microsoft.com/office/drawing/2014/main" id="{BAEF36A2-81CB-4F26-A8BB-C794F77B157A}"/>
                </a:ext>
              </a:extLst>
            </p:cNvPr>
            <p:cNvSpPr>
              <a:spLocks/>
            </p:cNvSpPr>
            <p:nvPr/>
          </p:nvSpPr>
          <p:spPr bwMode="auto">
            <a:xfrm>
              <a:off x="6226657" y="2004681"/>
              <a:ext cx="1403082" cy="1367249"/>
            </a:xfrm>
            <a:custGeom>
              <a:avLst/>
              <a:gdLst>
                <a:gd name="T0" fmla="*/ 823 w 979"/>
                <a:gd name="T1" fmla="*/ 0 h 954"/>
                <a:gd name="T2" fmla="*/ 734 w 979"/>
                <a:gd name="T3" fmla="*/ 8 h 954"/>
                <a:gd name="T4" fmla="*/ 650 w 979"/>
                <a:gd name="T5" fmla="*/ 32 h 954"/>
                <a:gd name="T6" fmla="*/ 583 w 979"/>
                <a:gd name="T7" fmla="*/ 63 h 954"/>
                <a:gd name="T8" fmla="*/ 518 w 979"/>
                <a:gd name="T9" fmla="*/ 109 h 954"/>
                <a:gd name="T10" fmla="*/ 458 w 979"/>
                <a:gd name="T11" fmla="*/ 174 h 954"/>
                <a:gd name="T12" fmla="*/ 409 w 979"/>
                <a:gd name="T13" fmla="*/ 258 h 954"/>
                <a:gd name="T14" fmla="*/ 377 w 979"/>
                <a:gd name="T15" fmla="*/ 367 h 954"/>
                <a:gd name="T16" fmla="*/ 364 w 979"/>
                <a:gd name="T17" fmla="*/ 503 h 954"/>
                <a:gd name="T18" fmla="*/ 361 w 979"/>
                <a:gd name="T19" fmla="*/ 536 h 954"/>
                <a:gd name="T20" fmla="*/ 348 w 979"/>
                <a:gd name="T21" fmla="*/ 588 h 954"/>
                <a:gd name="T22" fmla="*/ 314 w 979"/>
                <a:gd name="T23" fmla="*/ 644 h 954"/>
                <a:gd name="T24" fmla="*/ 275 w 979"/>
                <a:gd name="T25" fmla="*/ 677 h 954"/>
                <a:gd name="T26" fmla="*/ 236 w 979"/>
                <a:gd name="T27" fmla="*/ 696 h 954"/>
                <a:gd name="T28" fmla="*/ 187 w 979"/>
                <a:gd name="T29" fmla="*/ 706 h 954"/>
                <a:gd name="T30" fmla="*/ 150 w 979"/>
                <a:gd name="T31" fmla="*/ 709 h 954"/>
                <a:gd name="T32" fmla="*/ 85 w 979"/>
                <a:gd name="T33" fmla="*/ 703 h 954"/>
                <a:gd name="T34" fmla="*/ 31 w 979"/>
                <a:gd name="T35" fmla="*/ 948 h 954"/>
                <a:gd name="T36" fmla="*/ 83 w 979"/>
                <a:gd name="T37" fmla="*/ 953 h 954"/>
                <a:gd name="T38" fmla="*/ 174 w 979"/>
                <a:gd name="T39" fmla="*/ 953 h 954"/>
                <a:gd name="T40" fmla="*/ 283 w 979"/>
                <a:gd name="T41" fmla="*/ 940 h 954"/>
                <a:gd name="T42" fmla="*/ 354 w 979"/>
                <a:gd name="T43" fmla="*/ 919 h 954"/>
                <a:gd name="T44" fmla="*/ 426 w 979"/>
                <a:gd name="T45" fmla="*/ 888 h 954"/>
                <a:gd name="T46" fmla="*/ 490 w 979"/>
                <a:gd name="T47" fmla="*/ 841 h 954"/>
                <a:gd name="T48" fmla="*/ 547 w 979"/>
                <a:gd name="T49" fmla="*/ 777 h 954"/>
                <a:gd name="T50" fmla="*/ 589 w 979"/>
                <a:gd name="T51" fmla="*/ 695 h 954"/>
                <a:gd name="T52" fmla="*/ 609 w 979"/>
                <a:gd name="T53" fmla="*/ 628 h 954"/>
                <a:gd name="T54" fmla="*/ 622 w 979"/>
                <a:gd name="T55" fmla="*/ 484 h 954"/>
                <a:gd name="T56" fmla="*/ 627 w 979"/>
                <a:gd name="T57" fmla="*/ 448 h 954"/>
                <a:gd name="T58" fmla="*/ 645 w 979"/>
                <a:gd name="T59" fmla="*/ 393 h 954"/>
                <a:gd name="T60" fmla="*/ 682 w 979"/>
                <a:gd name="T61" fmla="*/ 333 h 954"/>
                <a:gd name="T62" fmla="*/ 721 w 979"/>
                <a:gd name="T63" fmla="*/ 299 h 954"/>
                <a:gd name="T64" fmla="*/ 760 w 979"/>
                <a:gd name="T65" fmla="*/ 281 h 954"/>
                <a:gd name="T66" fmla="*/ 807 w 979"/>
                <a:gd name="T67" fmla="*/ 271 h 954"/>
                <a:gd name="T68" fmla="*/ 844 w 979"/>
                <a:gd name="T69" fmla="*/ 271 h 954"/>
                <a:gd name="T70" fmla="*/ 885 w 979"/>
                <a:gd name="T71" fmla="*/ 265 h 954"/>
                <a:gd name="T72" fmla="*/ 921 w 979"/>
                <a:gd name="T73" fmla="*/ 248 h 954"/>
                <a:gd name="T74" fmla="*/ 948 w 979"/>
                <a:gd name="T75" fmla="*/ 221 h 954"/>
                <a:gd name="T76" fmla="*/ 969 w 979"/>
                <a:gd name="T77" fmla="*/ 188 h 954"/>
                <a:gd name="T78" fmla="*/ 979 w 979"/>
                <a:gd name="T79" fmla="*/ 149 h 954"/>
                <a:gd name="T80" fmla="*/ 979 w 979"/>
                <a:gd name="T81" fmla="*/ 122 h 954"/>
                <a:gd name="T82" fmla="*/ 969 w 979"/>
                <a:gd name="T83" fmla="*/ 83 h 954"/>
                <a:gd name="T84" fmla="*/ 948 w 979"/>
                <a:gd name="T85" fmla="*/ 49 h 954"/>
                <a:gd name="T86" fmla="*/ 921 w 979"/>
                <a:gd name="T87" fmla="*/ 23 h 954"/>
                <a:gd name="T88" fmla="*/ 885 w 979"/>
                <a:gd name="T89" fmla="*/ 6 h 954"/>
                <a:gd name="T90" fmla="*/ 844 w 979"/>
                <a:gd name="T91" fmla="*/ 0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9" h="954">
                  <a:moveTo>
                    <a:pt x="844" y="0"/>
                  </a:moveTo>
                  <a:lnTo>
                    <a:pt x="844" y="0"/>
                  </a:lnTo>
                  <a:lnTo>
                    <a:pt x="823" y="0"/>
                  </a:lnTo>
                  <a:lnTo>
                    <a:pt x="800" y="0"/>
                  </a:lnTo>
                  <a:lnTo>
                    <a:pt x="770" y="3"/>
                  </a:lnTo>
                  <a:lnTo>
                    <a:pt x="734" y="8"/>
                  </a:lnTo>
                  <a:lnTo>
                    <a:pt x="693" y="18"/>
                  </a:lnTo>
                  <a:lnTo>
                    <a:pt x="672" y="24"/>
                  </a:lnTo>
                  <a:lnTo>
                    <a:pt x="650" y="32"/>
                  </a:lnTo>
                  <a:lnTo>
                    <a:pt x="628" y="41"/>
                  </a:lnTo>
                  <a:lnTo>
                    <a:pt x="606" y="50"/>
                  </a:lnTo>
                  <a:lnTo>
                    <a:pt x="583" y="63"/>
                  </a:lnTo>
                  <a:lnTo>
                    <a:pt x="560" y="76"/>
                  </a:lnTo>
                  <a:lnTo>
                    <a:pt x="539" y="91"/>
                  </a:lnTo>
                  <a:lnTo>
                    <a:pt x="518" y="109"/>
                  </a:lnTo>
                  <a:lnTo>
                    <a:pt x="497" y="128"/>
                  </a:lnTo>
                  <a:lnTo>
                    <a:pt x="477" y="149"/>
                  </a:lnTo>
                  <a:lnTo>
                    <a:pt x="458" y="174"/>
                  </a:lnTo>
                  <a:lnTo>
                    <a:pt x="440" y="198"/>
                  </a:lnTo>
                  <a:lnTo>
                    <a:pt x="424" y="227"/>
                  </a:lnTo>
                  <a:lnTo>
                    <a:pt x="409" y="258"/>
                  </a:lnTo>
                  <a:lnTo>
                    <a:pt x="396" y="292"/>
                  </a:lnTo>
                  <a:lnTo>
                    <a:pt x="385" y="328"/>
                  </a:lnTo>
                  <a:lnTo>
                    <a:pt x="377" y="367"/>
                  </a:lnTo>
                  <a:lnTo>
                    <a:pt x="370" y="409"/>
                  </a:lnTo>
                  <a:lnTo>
                    <a:pt x="365" y="454"/>
                  </a:lnTo>
                  <a:lnTo>
                    <a:pt x="364" y="503"/>
                  </a:lnTo>
                  <a:lnTo>
                    <a:pt x="364" y="503"/>
                  </a:lnTo>
                  <a:lnTo>
                    <a:pt x="364" y="511"/>
                  </a:lnTo>
                  <a:lnTo>
                    <a:pt x="361" y="536"/>
                  </a:lnTo>
                  <a:lnTo>
                    <a:pt x="357" y="550"/>
                  </a:lnTo>
                  <a:lnTo>
                    <a:pt x="354" y="568"/>
                  </a:lnTo>
                  <a:lnTo>
                    <a:pt x="348" y="588"/>
                  </a:lnTo>
                  <a:lnTo>
                    <a:pt x="338" y="607"/>
                  </a:lnTo>
                  <a:lnTo>
                    <a:pt x="327" y="627"/>
                  </a:lnTo>
                  <a:lnTo>
                    <a:pt x="314" y="644"/>
                  </a:lnTo>
                  <a:lnTo>
                    <a:pt x="296" y="662"/>
                  </a:lnTo>
                  <a:lnTo>
                    <a:pt x="286" y="670"/>
                  </a:lnTo>
                  <a:lnTo>
                    <a:pt x="275" y="677"/>
                  </a:lnTo>
                  <a:lnTo>
                    <a:pt x="263" y="685"/>
                  </a:lnTo>
                  <a:lnTo>
                    <a:pt x="250" y="690"/>
                  </a:lnTo>
                  <a:lnTo>
                    <a:pt x="236" y="696"/>
                  </a:lnTo>
                  <a:lnTo>
                    <a:pt x="221" y="701"/>
                  </a:lnTo>
                  <a:lnTo>
                    <a:pt x="205" y="704"/>
                  </a:lnTo>
                  <a:lnTo>
                    <a:pt x="187" y="706"/>
                  </a:lnTo>
                  <a:lnTo>
                    <a:pt x="169" y="708"/>
                  </a:lnTo>
                  <a:lnTo>
                    <a:pt x="150" y="709"/>
                  </a:lnTo>
                  <a:lnTo>
                    <a:pt x="150" y="709"/>
                  </a:lnTo>
                  <a:lnTo>
                    <a:pt x="130" y="709"/>
                  </a:lnTo>
                  <a:lnTo>
                    <a:pt x="109" y="706"/>
                  </a:lnTo>
                  <a:lnTo>
                    <a:pt x="85" y="703"/>
                  </a:lnTo>
                  <a:lnTo>
                    <a:pt x="0" y="943"/>
                  </a:lnTo>
                  <a:lnTo>
                    <a:pt x="0" y="943"/>
                  </a:lnTo>
                  <a:lnTo>
                    <a:pt x="31" y="948"/>
                  </a:lnTo>
                  <a:lnTo>
                    <a:pt x="62" y="950"/>
                  </a:lnTo>
                  <a:lnTo>
                    <a:pt x="62" y="950"/>
                  </a:lnTo>
                  <a:lnTo>
                    <a:pt x="83" y="953"/>
                  </a:lnTo>
                  <a:lnTo>
                    <a:pt x="106" y="953"/>
                  </a:lnTo>
                  <a:lnTo>
                    <a:pt x="137" y="954"/>
                  </a:lnTo>
                  <a:lnTo>
                    <a:pt x="174" y="953"/>
                  </a:lnTo>
                  <a:lnTo>
                    <a:pt x="215" y="950"/>
                  </a:lnTo>
                  <a:lnTo>
                    <a:pt x="260" y="943"/>
                  </a:lnTo>
                  <a:lnTo>
                    <a:pt x="283" y="940"/>
                  </a:lnTo>
                  <a:lnTo>
                    <a:pt x="307" y="933"/>
                  </a:lnTo>
                  <a:lnTo>
                    <a:pt x="330" y="927"/>
                  </a:lnTo>
                  <a:lnTo>
                    <a:pt x="354" y="919"/>
                  </a:lnTo>
                  <a:lnTo>
                    <a:pt x="378" y="911"/>
                  </a:lnTo>
                  <a:lnTo>
                    <a:pt x="401" y="899"/>
                  </a:lnTo>
                  <a:lnTo>
                    <a:pt x="426" y="888"/>
                  </a:lnTo>
                  <a:lnTo>
                    <a:pt x="448" y="873"/>
                  </a:lnTo>
                  <a:lnTo>
                    <a:pt x="469" y="859"/>
                  </a:lnTo>
                  <a:lnTo>
                    <a:pt x="490" y="841"/>
                  </a:lnTo>
                  <a:lnTo>
                    <a:pt x="510" y="821"/>
                  </a:lnTo>
                  <a:lnTo>
                    <a:pt x="529" y="800"/>
                  </a:lnTo>
                  <a:lnTo>
                    <a:pt x="547" y="777"/>
                  </a:lnTo>
                  <a:lnTo>
                    <a:pt x="563" y="753"/>
                  </a:lnTo>
                  <a:lnTo>
                    <a:pt x="576" y="726"/>
                  </a:lnTo>
                  <a:lnTo>
                    <a:pt x="589" y="695"/>
                  </a:lnTo>
                  <a:lnTo>
                    <a:pt x="601" y="662"/>
                  </a:lnTo>
                  <a:lnTo>
                    <a:pt x="609" y="628"/>
                  </a:lnTo>
                  <a:lnTo>
                    <a:pt x="609" y="628"/>
                  </a:lnTo>
                  <a:lnTo>
                    <a:pt x="614" y="588"/>
                  </a:lnTo>
                  <a:lnTo>
                    <a:pt x="617" y="542"/>
                  </a:lnTo>
                  <a:lnTo>
                    <a:pt x="622" y="484"/>
                  </a:lnTo>
                  <a:lnTo>
                    <a:pt x="622" y="484"/>
                  </a:lnTo>
                  <a:lnTo>
                    <a:pt x="622" y="474"/>
                  </a:lnTo>
                  <a:lnTo>
                    <a:pt x="627" y="448"/>
                  </a:lnTo>
                  <a:lnTo>
                    <a:pt x="632" y="432"/>
                  </a:lnTo>
                  <a:lnTo>
                    <a:pt x="637" y="412"/>
                  </a:lnTo>
                  <a:lnTo>
                    <a:pt x="645" y="393"/>
                  </a:lnTo>
                  <a:lnTo>
                    <a:pt x="654" y="373"/>
                  </a:lnTo>
                  <a:lnTo>
                    <a:pt x="666" y="352"/>
                  </a:lnTo>
                  <a:lnTo>
                    <a:pt x="682" y="333"/>
                  </a:lnTo>
                  <a:lnTo>
                    <a:pt x="700" y="315"/>
                  </a:lnTo>
                  <a:lnTo>
                    <a:pt x="710" y="307"/>
                  </a:lnTo>
                  <a:lnTo>
                    <a:pt x="721" y="299"/>
                  </a:lnTo>
                  <a:lnTo>
                    <a:pt x="732" y="292"/>
                  </a:lnTo>
                  <a:lnTo>
                    <a:pt x="745" y="286"/>
                  </a:lnTo>
                  <a:lnTo>
                    <a:pt x="760" y="281"/>
                  </a:lnTo>
                  <a:lnTo>
                    <a:pt x="774" y="276"/>
                  </a:lnTo>
                  <a:lnTo>
                    <a:pt x="789" y="273"/>
                  </a:lnTo>
                  <a:lnTo>
                    <a:pt x="807" y="271"/>
                  </a:lnTo>
                  <a:lnTo>
                    <a:pt x="825" y="271"/>
                  </a:lnTo>
                  <a:lnTo>
                    <a:pt x="844" y="271"/>
                  </a:lnTo>
                  <a:lnTo>
                    <a:pt x="844" y="271"/>
                  </a:lnTo>
                  <a:lnTo>
                    <a:pt x="857" y="269"/>
                  </a:lnTo>
                  <a:lnTo>
                    <a:pt x="872" y="268"/>
                  </a:lnTo>
                  <a:lnTo>
                    <a:pt x="885" y="265"/>
                  </a:lnTo>
                  <a:lnTo>
                    <a:pt x="896" y="260"/>
                  </a:lnTo>
                  <a:lnTo>
                    <a:pt x="909" y="255"/>
                  </a:lnTo>
                  <a:lnTo>
                    <a:pt x="921" y="248"/>
                  </a:lnTo>
                  <a:lnTo>
                    <a:pt x="930" y="240"/>
                  </a:lnTo>
                  <a:lnTo>
                    <a:pt x="940" y="230"/>
                  </a:lnTo>
                  <a:lnTo>
                    <a:pt x="948" y="221"/>
                  </a:lnTo>
                  <a:lnTo>
                    <a:pt x="956" y="211"/>
                  </a:lnTo>
                  <a:lnTo>
                    <a:pt x="963" y="200"/>
                  </a:lnTo>
                  <a:lnTo>
                    <a:pt x="969" y="188"/>
                  </a:lnTo>
                  <a:lnTo>
                    <a:pt x="974" y="175"/>
                  </a:lnTo>
                  <a:lnTo>
                    <a:pt x="977" y="162"/>
                  </a:lnTo>
                  <a:lnTo>
                    <a:pt x="979" y="149"/>
                  </a:lnTo>
                  <a:lnTo>
                    <a:pt x="979" y="135"/>
                  </a:lnTo>
                  <a:lnTo>
                    <a:pt x="979" y="135"/>
                  </a:lnTo>
                  <a:lnTo>
                    <a:pt x="979" y="122"/>
                  </a:lnTo>
                  <a:lnTo>
                    <a:pt x="977" y="109"/>
                  </a:lnTo>
                  <a:lnTo>
                    <a:pt x="974" y="96"/>
                  </a:lnTo>
                  <a:lnTo>
                    <a:pt x="969" y="83"/>
                  </a:lnTo>
                  <a:lnTo>
                    <a:pt x="963" y="71"/>
                  </a:lnTo>
                  <a:lnTo>
                    <a:pt x="956" y="60"/>
                  </a:lnTo>
                  <a:lnTo>
                    <a:pt x="948" y="49"/>
                  </a:lnTo>
                  <a:lnTo>
                    <a:pt x="940" y="39"/>
                  </a:lnTo>
                  <a:lnTo>
                    <a:pt x="930" y="31"/>
                  </a:lnTo>
                  <a:lnTo>
                    <a:pt x="921" y="23"/>
                  </a:lnTo>
                  <a:lnTo>
                    <a:pt x="909" y="16"/>
                  </a:lnTo>
                  <a:lnTo>
                    <a:pt x="896" y="10"/>
                  </a:lnTo>
                  <a:lnTo>
                    <a:pt x="885" y="6"/>
                  </a:lnTo>
                  <a:lnTo>
                    <a:pt x="872" y="3"/>
                  </a:lnTo>
                  <a:lnTo>
                    <a:pt x="857" y="0"/>
                  </a:lnTo>
                  <a:lnTo>
                    <a:pt x="844" y="0"/>
                  </a:lnTo>
                  <a:lnTo>
                    <a:pt x="844" y="0"/>
                  </a:lnTo>
                  <a:close/>
                </a:path>
              </a:pathLst>
            </a:custGeom>
            <a:solidFill>
              <a:srgbClr val="0070C0"/>
            </a:solidFill>
            <a:ln w="38100">
              <a:solidFill>
                <a:srgbClr val="FFFFFF"/>
              </a:solidFill>
            </a:ln>
          </p:spPr>
          <p:txBody>
            <a:bodyPr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000000"/>
                </a:solidFill>
                <a:effectLst/>
                <a:uLnTx/>
                <a:uFillTx/>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cxnSp>
        <p:nvCxnSpPr>
          <p:cNvPr id="40" name="Straight Arrow Connector 8">
            <a:extLst>
              <a:ext uri="{FF2B5EF4-FFF2-40B4-BE49-F238E27FC236}">
                <a16:creationId xmlns:a16="http://schemas.microsoft.com/office/drawing/2014/main" id="{26C1ABB2-D0DD-431A-B36C-BFE8272BEB4A}"/>
              </a:ext>
            </a:extLst>
          </p:cNvPr>
          <p:cNvCxnSpPr/>
          <p:nvPr/>
        </p:nvCxnSpPr>
        <p:spPr>
          <a:xfrm flipV="1">
            <a:off x="3829571" y="1972500"/>
            <a:ext cx="0" cy="1197275"/>
          </a:xfrm>
          <a:prstGeom prst="straightConnector1">
            <a:avLst/>
          </a:prstGeom>
          <a:noFill/>
          <a:ln w="9525" cap="flat" cmpd="sng" algn="ctr">
            <a:solidFill>
              <a:srgbClr val="7F7F7F"/>
            </a:solidFill>
            <a:prstDash val="solid"/>
            <a:tailEnd type="oval"/>
          </a:ln>
          <a:effectLst/>
        </p:spPr>
      </p:cxnSp>
      <p:cxnSp>
        <p:nvCxnSpPr>
          <p:cNvPr id="41" name="Straight Arrow Connector 13">
            <a:extLst>
              <a:ext uri="{FF2B5EF4-FFF2-40B4-BE49-F238E27FC236}">
                <a16:creationId xmlns:a16="http://schemas.microsoft.com/office/drawing/2014/main" id="{E7478114-ECB7-4E6C-B588-7EC3ACAADBD6}"/>
              </a:ext>
            </a:extLst>
          </p:cNvPr>
          <p:cNvCxnSpPr/>
          <p:nvPr/>
        </p:nvCxnSpPr>
        <p:spPr>
          <a:xfrm>
            <a:off x="2381582" y="3517795"/>
            <a:ext cx="0" cy="1643581"/>
          </a:xfrm>
          <a:prstGeom prst="straightConnector1">
            <a:avLst/>
          </a:prstGeom>
          <a:noFill/>
          <a:ln w="9525" cap="flat" cmpd="sng" algn="ctr">
            <a:solidFill>
              <a:srgbClr val="0070C0"/>
            </a:solidFill>
            <a:prstDash val="solid"/>
            <a:tailEnd type="oval"/>
          </a:ln>
          <a:effectLst/>
        </p:spPr>
      </p:cxnSp>
      <p:cxnSp>
        <p:nvCxnSpPr>
          <p:cNvPr id="42" name="Straight Arrow Connector 18">
            <a:extLst>
              <a:ext uri="{FF2B5EF4-FFF2-40B4-BE49-F238E27FC236}">
                <a16:creationId xmlns:a16="http://schemas.microsoft.com/office/drawing/2014/main" id="{24CC253E-BC60-402C-975E-A0280228B5B4}"/>
              </a:ext>
            </a:extLst>
          </p:cNvPr>
          <p:cNvCxnSpPr/>
          <p:nvPr/>
        </p:nvCxnSpPr>
        <p:spPr>
          <a:xfrm flipV="1">
            <a:off x="6602480" y="1972498"/>
            <a:ext cx="0" cy="1197275"/>
          </a:xfrm>
          <a:prstGeom prst="straightConnector1">
            <a:avLst/>
          </a:prstGeom>
          <a:noFill/>
          <a:ln w="9525" cap="flat" cmpd="sng" algn="ctr">
            <a:solidFill>
              <a:srgbClr val="7F7F7F"/>
            </a:solidFill>
            <a:prstDash val="solid"/>
            <a:tailEnd type="oval"/>
          </a:ln>
          <a:effectLst/>
        </p:spPr>
      </p:cxnSp>
      <p:cxnSp>
        <p:nvCxnSpPr>
          <p:cNvPr id="43" name="Straight Arrow Connector 23">
            <a:extLst>
              <a:ext uri="{FF2B5EF4-FFF2-40B4-BE49-F238E27FC236}">
                <a16:creationId xmlns:a16="http://schemas.microsoft.com/office/drawing/2014/main" id="{A7B95286-A8C6-4B30-B244-EFE58F9B04A1}"/>
              </a:ext>
            </a:extLst>
          </p:cNvPr>
          <p:cNvCxnSpPr/>
          <p:nvPr/>
        </p:nvCxnSpPr>
        <p:spPr>
          <a:xfrm>
            <a:off x="5345162" y="4200529"/>
            <a:ext cx="0" cy="960849"/>
          </a:xfrm>
          <a:prstGeom prst="straightConnector1">
            <a:avLst/>
          </a:prstGeom>
          <a:noFill/>
          <a:ln w="9525" cap="flat" cmpd="sng" algn="ctr">
            <a:solidFill>
              <a:srgbClr val="0070C0"/>
            </a:solidFill>
            <a:prstDash val="solid"/>
            <a:tailEnd type="oval"/>
          </a:ln>
          <a:effectLst/>
        </p:spPr>
      </p:cxnSp>
      <p:cxnSp>
        <p:nvCxnSpPr>
          <p:cNvPr id="44" name="Straight Arrow Connector 28">
            <a:extLst>
              <a:ext uri="{FF2B5EF4-FFF2-40B4-BE49-F238E27FC236}">
                <a16:creationId xmlns:a16="http://schemas.microsoft.com/office/drawing/2014/main" id="{2B5AE346-4A5E-45ED-BA61-F7528C3A786E}"/>
              </a:ext>
            </a:extLst>
          </p:cNvPr>
          <p:cNvCxnSpPr/>
          <p:nvPr/>
        </p:nvCxnSpPr>
        <p:spPr>
          <a:xfrm>
            <a:off x="8417479" y="4542752"/>
            <a:ext cx="0" cy="618625"/>
          </a:xfrm>
          <a:prstGeom prst="straightConnector1">
            <a:avLst/>
          </a:prstGeom>
          <a:noFill/>
          <a:ln w="9525" cap="flat" cmpd="sng" algn="ctr">
            <a:solidFill>
              <a:srgbClr val="0070C0"/>
            </a:solidFill>
            <a:prstDash val="solid"/>
            <a:tailEnd type="oval"/>
          </a:ln>
          <a:effectLst/>
        </p:spPr>
      </p:cxnSp>
      <p:grpSp>
        <p:nvGrpSpPr>
          <p:cNvPr id="45" name="Group 22">
            <a:extLst>
              <a:ext uri="{FF2B5EF4-FFF2-40B4-BE49-F238E27FC236}">
                <a16:creationId xmlns:a16="http://schemas.microsoft.com/office/drawing/2014/main" id="{101CAEF6-A342-4E0C-918F-982F58F4B8EB}"/>
              </a:ext>
            </a:extLst>
          </p:cNvPr>
          <p:cNvGrpSpPr/>
          <p:nvPr/>
        </p:nvGrpSpPr>
        <p:grpSpPr>
          <a:xfrm>
            <a:off x="6602480" y="1524274"/>
            <a:ext cx="2512136" cy="1555917"/>
            <a:chOff x="1197898" y="2503545"/>
            <a:chExt cx="2198693" cy="1555917"/>
          </a:xfrm>
        </p:grpSpPr>
        <p:sp>
          <p:nvSpPr>
            <p:cNvPr id="46" name="TextBox 24">
              <a:extLst>
                <a:ext uri="{FF2B5EF4-FFF2-40B4-BE49-F238E27FC236}">
                  <a16:creationId xmlns:a16="http://schemas.microsoft.com/office/drawing/2014/main" id="{3DB20A92-4478-49DA-8AC6-8B200BF21D60}"/>
                </a:ext>
              </a:extLst>
            </p:cNvPr>
            <p:cNvSpPr txBox="1"/>
            <p:nvPr/>
          </p:nvSpPr>
          <p:spPr>
            <a:xfrm>
              <a:off x="1197898" y="2503545"/>
              <a:ext cx="2198693" cy="400238"/>
            </a:xfrm>
            <a:prstGeom prst="rect">
              <a:avLst/>
            </a:prstGeom>
          </p:spPr>
          <p:txBody>
            <a:bodyPr wrap="square">
              <a:spAutoFit/>
              <a:scene3d>
                <a:camera prst="orthographicFront"/>
                <a:lightRig rig="threePt" dir="t"/>
              </a:scene3d>
              <a:sp3d contourW="12700"/>
            </a:bodyPr>
            <a:lstStyle>
              <a:defPPr>
                <a:defRPr lang="zh-CN"/>
              </a:defPPr>
              <a:lvl1pPr lvl="0">
                <a:lnSpc>
                  <a:spcPct val="120000"/>
                </a:lnSpc>
                <a:defRPr b="1" kern="0">
                  <a:solidFill>
                    <a:prstClr val="black">
                      <a:lumMod val="65000"/>
                      <a:lumOff val="35000"/>
                    </a:prstClr>
                  </a:solidFill>
                  <a:latin typeface="Arial"/>
                  <a:ea typeface="微软雅黑"/>
                </a:defRPr>
              </a:lvl1pPr>
            </a:lstStyle>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智能优化与参数调优</a:t>
              </a:r>
            </a:p>
          </p:txBody>
        </p:sp>
        <p:sp>
          <p:nvSpPr>
            <p:cNvPr id="47" name="TextBox 25">
              <a:extLst>
                <a:ext uri="{FF2B5EF4-FFF2-40B4-BE49-F238E27FC236}">
                  <a16:creationId xmlns:a16="http://schemas.microsoft.com/office/drawing/2014/main" id="{F6481FD9-D504-455C-AF0A-4C5D297B104D}"/>
                </a:ext>
              </a:extLst>
            </p:cNvPr>
            <p:cNvSpPr txBox="1">
              <a:spLocks/>
            </p:cNvSpPr>
            <p:nvPr/>
          </p:nvSpPr>
          <p:spPr>
            <a:xfrm>
              <a:off x="1197898" y="2891770"/>
              <a:ext cx="2198693" cy="1167692"/>
            </a:xfrm>
            <a:prstGeom prst="rect">
              <a:avLst/>
            </a:prstGeom>
          </p:spPr>
          <p:txBody>
            <a:bodyPr wrap="square">
              <a:spAutoFit/>
            </a:bodyPr>
            <a:lstStyle>
              <a:defPPr>
                <a:defRPr lang="zh-CN"/>
              </a:defPPr>
              <a:lvl1pPr defTabSz="914377">
                <a:lnSpc>
                  <a:spcPct val="150000"/>
                </a:lnSpc>
                <a:defRPr sz="1200">
                  <a:solidFill>
                    <a:prstClr val="black">
                      <a:lumMod val="85000"/>
                      <a:lumOff val="15000"/>
                    </a:prstClr>
                  </a:solidFill>
                  <a:latin typeface="微软雅黑" panose="020B0503020204020204" pitchFamily="34" charset="-122"/>
                  <a:ea typeface="微软雅黑" panose="020B0503020204020204" pitchFamily="34" charset="-122"/>
                </a:defRPr>
              </a:lvl1pPr>
            </a:lstStyle>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遗传算法</a:t>
              </a:r>
              <a:endPar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粒子群算法</a:t>
              </a:r>
              <a:endPar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贝叶斯优化</a:t>
              </a:r>
              <a:b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b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 </a:t>
              </a:r>
            </a:p>
          </p:txBody>
        </p:sp>
      </p:grpSp>
      <p:grpSp>
        <p:nvGrpSpPr>
          <p:cNvPr id="48" name="Group 30">
            <a:extLst>
              <a:ext uri="{FF2B5EF4-FFF2-40B4-BE49-F238E27FC236}">
                <a16:creationId xmlns:a16="http://schemas.microsoft.com/office/drawing/2014/main" id="{CB40382D-BC32-45DB-BA1E-C1EA39CBF344}"/>
              </a:ext>
            </a:extLst>
          </p:cNvPr>
          <p:cNvGrpSpPr/>
          <p:nvPr/>
        </p:nvGrpSpPr>
        <p:grpSpPr>
          <a:xfrm>
            <a:off x="3829571" y="1508185"/>
            <a:ext cx="2645677" cy="1572006"/>
            <a:chOff x="1197898" y="2487456"/>
            <a:chExt cx="2315572" cy="1572006"/>
          </a:xfrm>
        </p:grpSpPr>
        <p:sp>
          <p:nvSpPr>
            <p:cNvPr id="49" name="TextBox 31">
              <a:extLst>
                <a:ext uri="{FF2B5EF4-FFF2-40B4-BE49-F238E27FC236}">
                  <a16:creationId xmlns:a16="http://schemas.microsoft.com/office/drawing/2014/main" id="{E4EAC378-B46D-4097-BDAC-492FCBE1A2D5}"/>
                </a:ext>
              </a:extLst>
            </p:cNvPr>
            <p:cNvSpPr txBox="1"/>
            <p:nvPr/>
          </p:nvSpPr>
          <p:spPr>
            <a:xfrm>
              <a:off x="1197898" y="2487456"/>
              <a:ext cx="2198693" cy="396583"/>
            </a:xfrm>
            <a:prstGeom prst="rect">
              <a:avLst/>
            </a:prstGeom>
          </p:spPr>
          <p:txBody>
            <a:bodyPr wrap="square">
              <a:spAutoFit/>
              <a:scene3d>
                <a:camera prst="orthographicFront"/>
                <a:lightRig rig="threePt" dir="t"/>
              </a:scene3d>
              <a:sp3d contourW="12700"/>
            </a:bodyPr>
            <a:lstStyle>
              <a:defPPr>
                <a:defRPr lang="zh-CN"/>
              </a:defPPr>
              <a:lvl1pPr lvl="0" algn="r">
                <a:lnSpc>
                  <a:spcPct val="120000"/>
                </a:lnSpc>
                <a:defRPr b="1" kern="0">
                  <a:solidFill>
                    <a:prstClr val="black">
                      <a:lumMod val="65000"/>
                      <a:lumOff val="35000"/>
                    </a:prstClr>
                  </a:solidFill>
                  <a:latin typeface="Arial"/>
                  <a:ea typeface="微软雅黑"/>
                </a:defRPr>
              </a:lvl1pPr>
            </a:lstStyle>
            <a:p>
              <a:pPr algn="l"/>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数据预处理与特征工程</a:t>
              </a:r>
            </a:p>
          </p:txBody>
        </p:sp>
        <p:sp>
          <p:nvSpPr>
            <p:cNvPr id="50" name="TextBox 32">
              <a:extLst>
                <a:ext uri="{FF2B5EF4-FFF2-40B4-BE49-F238E27FC236}">
                  <a16:creationId xmlns:a16="http://schemas.microsoft.com/office/drawing/2014/main" id="{01A4CF19-4015-4297-8CB5-7B8E4A6CAE0D}"/>
                </a:ext>
              </a:extLst>
            </p:cNvPr>
            <p:cNvSpPr txBox="1">
              <a:spLocks/>
            </p:cNvSpPr>
            <p:nvPr/>
          </p:nvSpPr>
          <p:spPr>
            <a:xfrm>
              <a:off x="1217383" y="2891770"/>
              <a:ext cx="2296087" cy="1167692"/>
            </a:xfrm>
            <a:prstGeom prst="rect">
              <a:avLst/>
            </a:prstGeom>
          </p:spPr>
          <p:txBody>
            <a:bodyPr wrap="square">
              <a:spAutoFit/>
            </a:bodyPr>
            <a:lstStyle>
              <a:defPPr>
                <a:defRPr lang="zh-CN"/>
              </a:defPPr>
              <a:lvl1pPr algn="r" defTabSz="914377">
                <a:lnSpc>
                  <a:spcPct val="150000"/>
                </a:lnSpc>
                <a:defRPr sz="1200">
                  <a:solidFill>
                    <a:prstClr val="black">
                      <a:lumMod val="85000"/>
                      <a:lumOff val="15000"/>
                    </a:prstClr>
                  </a:solidFill>
                  <a:latin typeface="微软雅黑" panose="020B0503020204020204" pitchFamily="34" charset="-122"/>
                  <a:ea typeface="微软雅黑" panose="020B0503020204020204" pitchFamily="34" charset="-122"/>
                </a:defRPr>
              </a:lvl1pPr>
            </a:lstStyle>
            <a:p>
              <a:pPr algn="l"/>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数据清洗</a:t>
              </a:r>
              <a:endPar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pPr algn="l"/>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特征提取</a:t>
              </a:r>
              <a:endPar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pPr algn="l"/>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机理特征融合</a:t>
              </a:r>
              <a:b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b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 </a:t>
              </a:r>
            </a:p>
          </p:txBody>
        </p:sp>
      </p:grpSp>
      <p:sp>
        <p:nvSpPr>
          <p:cNvPr id="52" name="TextBox 34">
            <a:extLst>
              <a:ext uri="{FF2B5EF4-FFF2-40B4-BE49-F238E27FC236}">
                <a16:creationId xmlns:a16="http://schemas.microsoft.com/office/drawing/2014/main" id="{56E50AE7-CF43-4F39-8164-D8C67207C828}"/>
              </a:ext>
            </a:extLst>
          </p:cNvPr>
          <p:cNvSpPr txBox="1"/>
          <p:nvPr/>
        </p:nvSpPr>
        <p:spPr>
          <a:xfrm>
            <a:off x="8417479" y="4867909"/>
            <a:ext cx="2512136" cy="400238"/>
          </a:xfrm>
          <a:prstGeom prst="rect">
            <a:avLst/>
          </a:prstGeom>
        </p:spPr>
        <p:txBody>
          <a:bodyPr wrap="square">
            <a:spAutoFit/>
            <a:scene3d>
              <a:camera prst="orthographicFront"/>
              <a:lightRig rig="threePt" dir="t"/>
            </a:scene3d>
            <a:sp3d contourW="12700"/>
          </a:bodyPr>
          <a:lstStyle>
            <a:defPPr>
              <a:defRPr lang="zh-CN"/>
            </a:defPPr>
            <a:lvl1pPr lvl="0">
              <a:lnSpc>
                <a:spcPct val="120000"/>
              </a:lnSpc>
              <a:defRPr b="1" kern="0">
                <a:solidFill>
                  <a:prstClr val="black">
                    <a:lumMod val="65000"/>
                    <a:lumOff val="35000"/>
                  </a:prstClr>
                </a:solidFill>
                <a:latin typeface="Arial"/>
                <a:ea typeface="微软雅黑"/>
              </a:defRPr>
            </a:lvl1pPr>
          </a:lstStyle>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模型评估与可视化</a:t>
            </a:r>
          </a:p>
        </p:txBody>
      </p:sp>
      <p:grpSp>
        <p:nvGrpSpPr>
          <p:cNvPr id="54" name="Group 37">
            <a:extLst>
              <a:ext uri="{FF2B5EF4-FFF2-40B4-BE49-F238E27FC236}">
                <a16:creationId xmlns:a16="http://schemas.microsoft.com/office/drawing/2014/main" id="{A60A678B-DB20-486D-B933-0CF5C69D3655}"/>
              </a:ext>
            </a:extLst>
          </p:cNvPr>
          <p:cNvGrpSpPr/>
          <p:nvPr/>
        </p:nvGrpSpPr>
        <p:grpSpPr>
          <a:xfrm>
            <a:off x="5187611" y="4765719"/>
            <a:ext cx="2669687" cy="1001919"/>
            <a:chOff x="1197898" y="2503545"/>
            <a:chExt cx="2336586" cy="1001919"/>
          </a:xfrm>
        </p:grpSpPr>
        <p:sp>
          <p:nvSpPr>
            <p:cNvPr id="55" name="TextBox 46">
              <a:extLst>
                <a:ext uri="{FF2B5EF4-FFF2-40B4-BE49-F238E27FC236}">
                  <a16:creationId xmlns:a16="http://schemas.microsoft.com/office/drawing/2014/main" id="{3A26CE59-237A-4BCD-B950-834A69CA4566}"/>
                </a:ext>
              </a:extLst>
            </p:cNvPr>
            <p:cNvSpPr txBox="1"/>
            <p:nvPr/>
          </p:nvSpPr>
          <p:spPr>
            <a:xfrm>
              <a:off x="1335791" y="2503545"/>
              <a:ext cx="2198693" cy="400238"/>
            </a:xfrm>
            <a:prstGeom prst="rect">
              <a:avLst/>
            </a:prstGeom>
          </p:spPr>
          <p:txBody>
            <a:bodyPr wrap="square">
              <a:spAutoFit/>
              <a:scene3d>
                <a:camera prst="orthographicFront"/>
                <a:lightRig rig="threePt" dir="t"/>
              </a:scene3d>
              <a:sp3d contourW="12700"/>
            </a:bodyPr>
            <a:lstStyle>
              <a:defPPr>
                <a:defRPr lang="zh-CN"/>
              </a:defPPr>
              <a:lvl1pPr lvl="0">
                <a:lnSpc>
                  <a:spcPct val="120000"/>
                </a:lnSpc>
                <a:defRPr b="1" kern="0">
                  <a:solidFill>
                    <a:prstClr val="black">
                      <a:lumMod val="65000"/>
                      <a:lumOff val="35000"/>
                    </a:prstClr>
                  </a:solidFill>
                  <a:latin typeface="Arial"/>
                  <a:ea typeface="微软雅黑"/>
                </a:defRPr>
              </a:lvl1pPr>
            </a:lstStyle>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物理</a:t>
              </a:r>
              <a:r>
                <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rPr>
                <a:t>-</a:t>
              </a: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数据融合模型</a:t>
              </a:r>
            </a:p>
          </p:txBody>
        </p:sp>
        <p:sp>
          <p:nvSpPr>
            <p:cNvPr id="56" name="TextBox 47">
              <a:extLst>
                <a:ext uri="{FF2B5EF4-FFF2-40B4-BE49-F238E27FC236}">
                  <a16:creationId xmlns:a16="http://schemas.microsoft.com/office/drawing/2014/main" id="{541E1715-5960-4562-8FF3-B6B16885BAD2}"/>
                </a:ext>
              </a:extLst>
            </p:cNvPr>
            <p:cNvSpPr txBox="1">
              <a:spLocks/>
            </p:cNvSpPr>
            <p:nvPr/>
          </p:nvSpPr>
          <p:spPr>
            <a:xfrm>
              <a:off x="1197898" y="2891770"/>
              <a:ext cx="2198693" cy="613694"/>
            </a:xfrm>
            <a:prstGeom prst="rect">
              <a:avLst/>
            </a:prstGeom>
          </p:spPr>
          <p:txBody>
            <a:bodyPr wrap="square">
              <a:spAutoFit/>
            </a:bodyPr>
            <a:lstStyle>
              <a:defPPr>
                <a:defRPr lang="zh-CN"/>
              </a:defPPr>
              <a:lvl1pPr defTabSz="914377">
                <a:lnSpc>
                  <a:spcPct val="150000"/>
                </a:lnSpc>
                <a:defRPr sz="1200">
                  <a:solidFill>
                    <a:prstClr val="black">
                      <a:lumMod val="85000"/>
                      <a:lumOff val="15000"/>
                    </a:prstClr>
                  </a:solidFill>
                  <a:latin typeface="微软雅黑" panose="020B0503020204020204" pitchFamily="34" charset="-122"/>
                  <a:ea typeface="微软雅黑" panose="020B0503020204020204" pitchFamily="34" charset="-122"/>
                </a:defRPr>
              </a:lvl1pPr>
            </a:lstStyle>
            <a:p>
              <a:b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b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 </a:t>
              </a:r>
            </a:p>
          </p:txBody>
        </p:sp>
      </p:grpSp>
      <p:grpSp>
        <p:nvGrpSpPr>
          <p:cNvPr id="57" name="Group 48">
            <a:extLst>
              <a:ext uri="{FF2B5EF4-FFF2-40B4-BE49-F238E27FC236}">
                <a16:creationId xmlns:a16="http://schemas.microsoft.com/office/drawing/2014/main" id="{EC86C87D-34B8-4FC5-B26E-1280A2ECDB16}"/>
              </a:ext>
            </a:extLst>
          </p:cNvPr>
          <p:cNvGrpSpPr/>
          <p:nvPr/>
        </p:nvGrpSpPr>
        <p:grpSpPr>
          <a:xfrm>
            <a:off x="2420744" y="4765719"/>
            <a:ext cx="2512136" cy="1001919"/>
            <a:chOff x="1197898" y="2503545"/>
            <a:chExt cx="2198693" cy="1001919"/>
          </a:xfrm>
        </p:grpSpPr>
        <p:sp>
          <p:nvSpPr>
            <p:cNvPr id="58" name="TextBox 49">
              <a:extLst>
                <a:ext uri="{FF2B5EF4-FFF2-40B4-BE49-F238E27FC236}">
                  <a16:creationId xmlns:a16="http://schemas.microsoft.com/office/drawing/2014/main" id="{1A7BAB3C-3595-417F-BBB7-D6BE3C9F0EA0}"/>
                </a:ext>
              </a:extLst>
            </p:cNvPr>
            <p:cNvSpPr txBox="1"/>
            <p:nvPr/>
          </p:nvSpPr>
          <p:spPr>
            <a:xfrm>
              <a:off x="1197898" y="2503545"/>
              <a:ext cx="2198693" cy="396583"/>
            </a:xfrm>
            <a:prstGeom prst="rect">
              <a:avLst/>
            </a:prstGeom>
          </p:spPr>
          <p:txBody>
            <a:bodyPr wrap="square">
              <a:spAutoFit/>
              <a:scene3d>
                <a:camera prst="orthographicFront"/>
                <a:lightRig rig="threePt" dir="t"/>
              </a:scene3d>
              <a:sp3d contourW="12700"/>
            </a:bodyPr>
            <a:lstStyle>
              <a:defPPr>
                <a:defRPr lang="zh-CN"/>
              </a:defPPr>
              <a:lvl1pPr lvl="0">
                <a:lnSpc>
                  <a:spcPct val="120000"/>
                </a:lnSpc>
                <a:defRPr b="1" kern="0">
                  <a:solidFill>
                    <a:prstClr val="black">
                      <a:lumMod val="65000"/>
                      <a:lumOff val="35000"/>
                    </a:prstClr>
                  </a:solidFill>
                  <a:latin typeface="Arial"/>
                  <a:ea typeface="微软雅黑"/>
                </a:defRPr>
              </a:lvl1pPr>
            </a:lstStyle>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数据采集与输入</a:t>
              </a:r>
            </a:p>
          </p:txBody>
        </p:sp>
        <p:sp>
          <p:nvSpPr>
            <p:cNvPr id="59" name="TextBox 52">
              <a:extLst>
                <a:ext uri="{FF2B5EF4-FFF2-40B4-BE49-F238E27FC236}">
                  <a16:creationId xmlns:a16="http://schemas.microsoft.com/office/drawing/2014/main" id="{FD197F9B-D5F5-464B-A9D7-A662CC4E4296}"/>
                </a:ext>
              </a:extLst>
            </p:cNvPr>
            <p:cNvSpPr txBox="1">
              <a:spLocks/>
            </p:cNvSpPr>
            <p:nvPr/>
          </p:nvSpPr>
          <p:spPr>
            <a:xfrm>
              <a:off x="1197898" y="2891770"/>
              <a:ext cx="2198693" cy="613694"/>
            </a:xfrm>
            <a:prstGeom prst="rect">
              <a:avLst/>
            </a:prstGeom>
          </p:spPr>
          <p:txBody>
            <a:bodyPr wrap="square">
              <a:spAutoFit/>
            </a:bodyPr>
            <a:lstStyle>
              <a:defPPr>
                <a:defRPr lang="zh-CN"/>
              </a:defPPr>
              <a:lvl1pPr defTabSz="914377">
                <a:lnSpc>
                  <a:spcPct val="150000"/>
                </a:lnSpc>
                <a:defRPr sz="1200">
                  <a:solidFill>
                    <a:prstClr val="black">
                      <a:lumMod val="85000"/>
                      <a:lumOff val="15000"/>
                    </a:prstClr>
                  </a:solidFill>
                  <a:latin typeface="微软雅黑" panose="020B0503020204020204" pitchFamily="34" charset="-122"/>
                  <a:ea typeface="微软雅黑" panose="020B0503020204020204" pitchFamily="34" charset="-122"/>
                </a:defRPr>
              </a:lvl1pPr>
            </a:lstStyle>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材料属性</a:t>
              </a:r>
              <a:endParaRPr lang="en-US" altLang="zh-CN"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工艺参数</a:t>
              </a:r>
            </a:p>
          </p:txBody>
        </p:sp>
      </p:grpSp>
      <p:grpSp>
        <p:nvGrpSpPr>
          <p:cNvPr id="4" name="组合 3">
            <a:extLst>
              <a:ext uri="{FF2B5EF4-FFF2-40B4-BE49-F238E27FC236}">
                <a16:creationId xmlns:a16="http://schemas.microsoft.com/office/drawing/2014/main" id="{D6EA7A95-B5BF-515C-83A6-84C26871662D}"/>
              </a:ext>
            </a:extLst>
          </p:cNvPr>
          <p:cNvGrpSpPr/>
          <p:nvPr/>
        </p:nvGrpSpPr>
        <p:grpSpPr>
          <a:xfrm>
            <a:off x="3934731" y="494387"/>
            <a:ext cx="4387922" cy="830997"/>
            <a:chOff x="3934731" y="494387"/>
            <a:chExt cx="4387922" cy="830997"/>
          </a:xfrm>
        </p:grpSpPr>
        <p:sp>
          <p:nvSpPr>
            <p:cNvPr id="5" name="文本框 4">
              <a:extLst>
                <a:ext uri="{FF2B5EF4-FFF2-40B4-BE49-F238E27FC236}">
                  <a16:creationId xmlns:a16="http://schemas.microsoft.com/office/drawing/2014/main" id="{848E2208-4A25-FD45-B168-F264A727424D}"/>
                </a:ext>
              </a:extLst>
            </p:cNvPr>
            <p:cNvSpPr txBox="1"/>
            <p:nvPr/>
          </p:nvSpPr>
          <p:spPr>
            <a:xfrm>
              <a:off x="3934731" y="494387"/>
              <a:ext cx="4122516" cy="830997"/>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rPr>
                <a:t>一、</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绪论及研究背景</a:t>
              </a: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10D41A5F-AEF7-F8EA-F671-4AB63CC85C66}"/>
                </a:ext>
              </a:extLst>
            </p:cNvPr>
            <p:cNvSpPr txBox="1">
              <a:spLocks noChangeArrowheads="1"/>
            </p:cNvSpPr>
            <p:nvPr/>
          </p:nvSpPr>
          <p:spPr bwMode="auto">
            <a:xfrm>
              <a:off x="4039108" y="85329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Introduction and research background</a:t>
              </a:r>
            </a:p>
          </p:txBody>
        </p:sp>
        <p:cxnSp>
          <p:nvCxnSpPr>
            <p:cNvPr id="7" name="直接连接符 6"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8BEAA91F-C4F3-73D3-46EF-4BBA7A875A35}"/>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cxnSp>
        <p:nvCxnSpPr>
          <p:cNvPr id="10" name="Straight Arrow Connector 18">
            <a:extLst>
              <a:ext uri="{FF2B5EF4-FFF2-40B4-BE49-F238E27FC236}">
                <a16:creationId xmlns:a16="http://schemas.microsoft.com/office/drawing/2014/main" id="{29714346-603B-2194-9F74-05AA0BB6339B}"/>
              </a:ext>
            </a:extLst>
          </p:cNvPr>
          <p:cNvCxnSpPr/>
          <p:nvPr/>
        </p:nvCxnSpPr>
        <p:spPr>
          <a:xfrm flipV="1">
            <a:off x="9515736" y="1724393"/>
            <a:ext cx="0" cy="1197275"/>
          </a:xfrm>
          <a:prstGeom prst="straightConnector1">
            <a:avLst/>
          </a:prstGeom>
          <a:noFill/>
          <a:ln w="9525" cap="flat" cmpd="sng" algn="ctr">
            <a:solidFill>
              <a:srgbClr val="7F7F7F"/>
            </a:solidFill>
            <a:prstDash val="solid"/>
            <a:tailEnd type="oval"/>
          </a:ln>
          <a:effectLst/>
        </p:spPr>
      </p:cxnSp>
      <p:sp>
        <p:nvSpPr>
          <p:cNvPr id="11" name="文本框 10">
            <a:extLst>
              <a:ext uri="{FF2B5EF4-FFF2-40B4-BE49-F238E27FC236}">
                <a16:creationId xmlns:a16="http://schemas.microsoft.com/office/drawing/2014/main" id="{7CED46B8-3788-C6BD-23C7-1741CEA0B3CB}"/>
              </a:ext>
            </a:extLst>
          </p:cNvPr>
          <p:cNvSpPr txBox="1"/>
          <p:nvPr/>
        </p:nvSpPr>
        <p:spPr>
          <a:xfrm>
            <a:off x="5370397" y="5249721"/>
            <a:ext cx="1521570" cy="276999"/>
          </a:xfrm>
          <a:prstGeom prst="rect">
            <a:avLst/>
          </a:prstGeom>
          <a:noFill/>
        </p:spPr>
        <p:txBody>
          <a:bodyPr wrap="none" rtlCol="0">
            <a:spAutoFit/>
          </a:bodyPr>
          <a:lstStyle/>
          <a:p>
            <a:r>
              <a:rPr lang="en-US" altLang="zh-CN" sz="1200" dirty="0" err="1">
                <a:ea typeface="字魂58号-创中黑" panose="00000500000000000000"/>
              </a:rPr>
              <a:t>XGBoost</a:t>
            </a:r>
            <a:r>
              <a:rPr lang="zh-CN" altLang="en-US" sz="1200" dirty="0">
                <a:ea typeface="字魂58号-创中黑" panose="00000500000000000000"/>
              </a:rPr>
              <a:t>为主的模型</a:t>
            </a:r>
          </a:p>
        </p:txBody>
      </p:sp>
      <p:sp>
        <p:nvSpPr>
          <p:cNvPr id="12" name="TextBox 34">
            <a:extLst>
              <a:ext uri="{FF2B5EF4-FFF2-40B4-BE49-F238E27FC236}">
                <a16:creationId xmlns:a16="http://schemas.microsoft.com/office/drawing/2014/main" id="{FF2F1ED7-DE1A-8679-3E2C-B593B5E5C01D}"/>
              </a:ext>
            </a:extLst>
          </p:cNvPr>
          <p:cNvSpPr txBox="1"/>
          <p:nvPr/>
        </p:nvSpPr>
        <p:spPr>
          <a:xfrm>
            <a:off x="9515736" y="1504530"/>
            <a:ext cx="2512136" cy="400238"/>
          </a:xfrm>
          <a:prstGeom prst="rect">
            <a:avLst/>
          </a:prstGeom>
        </p:spPr>
        <p:txBody>
          <a:bodyPr wrap="square">
            <a:spAutoFit/>
            <a:scene3d>
              <a:camera prst="orthographicFront"/>
              <a:lightRig rig="threePt" dir="t"/>
            </a:scene3d>
            <a:sp3d contourW="12700"/>
          </a:bodyPr>
          <a:lstStyle>
            <a:defPPr>
              <a:defRPr lang="zh-CN"/>
            </a:defPPr>
            <a:lvl1pPr lvl="0">
              <a:lnSpc>
                <a:spcPct val="120000"/>
              </a:lnSpc>
              <a:defRPr b="1" kern="0">
                <a:solidFill>
                  <a:prstClr val="black">
                    <a:lumMod val="65000"/>
                    <a:lumOff val="35000"/>
                  </a:prstClr>
                </a:solidFill>
                <a:latin typeface="Arial"/>
                <a:ea typeface="微软雅黑"/>
              </a:defRPr>
            </a:lvl1pPr>
          </a:lstStyle>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数字孪生系统集成</a:t>
            </a:r>
          </a:p>
        </p:txBody>
      </p:sp>
      <p:sp>
        <p:nvSpPr>
          <p:cNvPr id="13" name="文本框 12">
            <a:extLst>
              <a:ext uri="{FF2B5EF4-FFF2-40B4-BE49-F238E27FC236}">
                <a16:creationId xmlns:a16="http://schemas.microsoft.com/office/drawing/2014/main" id="{4549F3C2-18E3-105B-D8D4-39AB7DAE8C3A}"/>
              </a:ext>
            </a:extLst>
          </p:cNvPr>
          <p:cNvSpPr txBox="1"/>
          <p:nvPr/>
        </p:nvSpPr>
        <p:spPr>
          <a:xfrm>
            <a:off x="9515736" y="1947367"/>
            <a:ext cx="2066591" cy="276999"/>
          </a:xfrm>
          <a:prstGeom prst="rect">
            <a:avLst/>
          </a:prstGeom>
          <a:noFill/>
        </p:spPr>
        <p:txBody>
          <a:bodyPr wrap="none" rtlCol="0">
            <a:spAutoFit/>
          </a:bodyPr>
          <a:lstStyle/>
          <a:p>
            <a:r>
              <a:rPr lang="zh-CN" altLang="en-US" sz="1200" dirty="0">
                <a:ea typeface="字魂58号-创中黑" panose="00000500000000000000"/>
              </a:rPr>
              <a:t>基于</a:t>
            </a:r>
            <a:r>
              <a:rPr lang="en-US" altLang="zh-CN" sz="1200" dirty="0">
                <a:ea typeface="字魂58号-创中黑" panose="00000500000000000000"/>
              </a:rPr>
              <a:t>Unity</a:t>
            </a:r>
            <a:r>
              <a:rPr lang="zh-CN" altLang="en-US" sz="1200" dirty="0">
                <a:ea typeface="字魂58号-创中黑" panose="00000500000000000000"/>
              </a:rPr>
              <a:t>构建实时预测反馈</a:t>
            </a:r>
          </a:p>
        </p:txBody>
      </p:sp>
    </p:spTree>
    <p:extLst>
      <p:ext uri="{BB962C8B-B14F-4D97-AF65-F5344CB8AC3E}">
        <p14:creationId xmlns:p14="http://schemas.microsoft.com/office/powerpoint/2010/main" val="371110709"/>
      </p:ext>
    </p:extLst>
  </p:cSld>
  <p:clrMapOvr>
    <a:masterClrMapping/>
  </p:clrMapOvr>
  <mc:AlternateContent xmlns:mc="http://schemas.openxmlformats.org/markup-compatibility/2006" xmlns:p14="http://schemas.microsoft.com/office/powerpoint/2010/main">
    <mc:Choice Requires="p14">
      <p:transition spd="slow" p14:dur="1500" advClick="0" advTm="24748">
        <p:random/>
      </p:transition>
    </mc:Choice>
    <mc:Fallback xmlns="">
      <p:transition spd="slow" advClick="0" advTm="24748">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矩形 116">
            <a:extLst>
              <a:ext uri="{FF2B5EF4-FFF2-40B4-BE49-F238E27FC236}">
                <a16:creationId xmlns:a16="http://schemas.microsoft.com/office/drawing/2014/main" id="{0C872500-4181-4162-9CED-ADB6A78C00D2}"/>
              </a:ext>
            </a:extLst>
          </p:cNvPr>
          <p:cNvSpPr/>
          <p:nvPr/>
        </p:nvSpPr>
        <p:spPr>
          <a:xfrm>
            <a:off x="814025" y="3772491"/>
            <a:ext cx="3262345" cy="461624"/>
          </a:xfrm>
          <a:prstGeom prst="rect">
            <a:avLst/>
          </a:prstGeom>
        </p:spPr>
        <p:txBody>
          <a:bodyPr wrap="none" lIns="91397" tIns="45700" rIns="91397" bIns="45700">
            <a:spAutoFit/>
          </a:bodyPr>
          <a:lstStyle/>
          <a:p>
            <a:r>
              <a:rPr lang="zh-CN" altLang="en-US" sz="2400" b="1"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rPr>
              <a:t>数字孪生质量预测系统</a:t>
            </a:r>
            <a:endParaRPr lang="en-US" altLang="zh-CN" sz="2400" b="1"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21" name="矩形 120">
            <a:extLst>
              <a:ext uri="{FF2B5EF4-FFF2-40B4-BE49-F238E27FC236}">
                <a16:creationId xmlns:a16="http://schemas.microsoft.com/office/drawing/2014/main" id="{31364AEB-6096-4218-9729-ABC0021CB3A6}"/>
              </a:ext>
            </a:extLst>
          </p:cNvPr>
          <p:cNvSpPr/>
          <p:nvPr/>
        </p:nvSpPr>
        <p:spPr>
          <a:xfrm>
            <a:off x="6438019" y="1718140"/>
            <a:ext cx="215968" cy="215968"/>
          </a:xfrm>
          <a:prstGeom prst="rect">
            <a:avLst/>
          </a:prstGeom>
          <a:solidFill>
            <a:srgbClr val="0170BD"/>
          </a:solidFill>
          <a:ln>
            <a:noFill/>
          </a:ln>
        </p:spPr>
        <p:style>
          <a:lnRef idx="2">
            <a:schemeClr val="accent1">
              <a:shade val="50000"/>
            </a:schemeClr>
          </a:lnRef>
          <a:fillRef idx="1">
            <a:schemeClr val="accent1"/>
          </a:fillRef>
          <a:effectRef idx="0">
            <a:schemeClr val="accent1"/>
          </a:effectRef>
          <a:fontRef idx="minor">
            <a:schemeClr val="lt1"/>
          </a:fontRef>
        </p:style>
        <p:txBody>
          <a:bodyPr lIns="121908" tIns="60953" rIns="121908" bIns="60953" rtlCol="0" anchor="ctr"/>
          <a:lstStyle/>
          <a:p>
            <a:pPr algn="ctr"/>
            <a:endParaRPr lang="zh-CN" altLang="en-US" sz="1333" dirty="0">
              <a:solidFill>
                <a:srgbClr val="2C3637"/>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23" name="矩形 47">
            <a:extLst>
              <a:ext uri="{FF2B5EF4-FFF2-40B4-BE49-F238E27FC236}">
                <a16:creationId xmlns:a16="http://schemas.microsoft.com/office/drawing/2014/main" id="{5CF8D303-912D-43E7-A2E5-2BDC5069B7B8}"/>
              </a:ext>
            </a:extLst>
          </p:cNvPr>
          <p:cNvSpPr>
            <a:spLocks noChangeArrowheads="1"/>
          </p:cNvSpPr>
          <p:nvPr/>
        </p:nvSpPr>
        <p:spPr bwMode="auto">
          <a:xfrm>
            <a:off x="6927903" y="1826124"/>
            <a:ext cx="3515978" cy="151855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377">
              <a:lnSpc>
                <a:spcPct val="150000"/>
              </a:lnSpc>
              <a:buNone/>
            </a:pPr>
            <a:r>
              <a:rPr lang="zh-CN" altLang="en-US" sz="1200" dirty="0"/>
              <a:t>数据采集依赖少量传感器和人工记录；</a:t>
            </a:r>
            <a:endParaRPr lang="en-US" altLang="zh-CN" sz="1200" dirty="0"/>
          </a:p>
          <a:p>
            <a:pPr defTabSz="914377">
              <a:lnSpc>
                <a:spcPct val="150000"/>
              </a:lnSpc>
              <a:buNone/>
            </a:pPr>
            <a:r>
              <a:rPr lang="zh-CN" altLang="en-US" sz="1200" dirty="0"/>
              <a:t>数据维度有限且存在滞后，难以全面反映生产状态；</a:t>
            </a:r>
            <a:endParaRPr lang="en-US" altLang="zh-CN" sz="1200" dirty="0"/>
          </a:p>
          <a:p>
            <a:pPr defTabSz="914377">
              <a:lnSpc>
                <a:spcPct val="150000"/>
              </a:lnSpc>
              <a:buNone/>
            </a:pPr>
            <a:r>
              <a:rPr lang="zh-CN" altLang="en-US" sz="1200" dirty="0"/>
              <a:t>质检过程主要依靠质检员经验进行抽样判断，存在较强的主观性</a:t>
            </a:r>
            <a:endParaRPr lang="zh-CN" altLang="en-US" sz="1200" dirty="0">
              <a:solidFill>
                <a:prstClr val="black">
                  <a:lumMod val="85000"/>
                  <a:lumOff val="1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cxnSp>
        <p:nvCxnSpPr>
          <p:cNvPr id="124" name="直接连接符 123">
            <a:extLst>
              <a:ext uri="{FF2B5EF4-FFF2-40B4-BE49-F238E27FC236}">
                <a16:creationId xmlns:a16="http://schemas.microsoft.com/office/drawing/2014/main" id="{9EE7718F-6CD4-47DD-B608-7563DD89F7F4}"/>
              </a:ext>
            </a:extLst>
          </p:cNvPr>
          <p:cNvCxnSpPr/>
          <p:nvPr/>
        </p:nvCxnSpPr>
        <p:spPr>
          <a:xfrm>
            <a:off x="6546003" y="1934108"/>
            <a:ext cx="0" cy="98782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5" name="矩形 124">
            <a:extLst>
              <a:ext uri="{FF2B5EF4-FFF2-40B4-BE49-F238E27FC236}">
                <a16:creationId xmlns:a16="http://schemas.microsoft.com/office/drawing/2014/main" id="{F331C3FB-BCC9-43D6-8270-2FCF18DD0259}"/>
              </a:ext>
            </a:extLst>
          </p:cNvPr>
          <p:cNvSpPr/>
          <p:nvPr/>
        </p:nvSpPr>
        <p:spPr>
          <a:xfrm>
            <a:off x="6438019" y="2921932"/>
            <a:ext cx="215968" cy="21596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08" tIns="60953" rIns="121908" bIns="60953" rtlCol="0" anchor="ctr"/>
          <a:lstStyle/>
          <a:p>
            <a:pPr algn="ctr"/>
            <a:endParaRPr lang="zh-CN" altLang="en-US" sz="1333" dirty="0">
              <a:solidFill>
                <a:srgbClr val="2C3637"/>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26" name="矩形 125">
            <a:extLst>
              <a:ext uri="{FF2B5EF4-FFF2-40B4-BE49-F238E27FC236}">
                <a16:creationId xmlns:a16="http://schemas.microsoft.com/office/drawing/2014/main" id="{5218CA0B-E293-4CEE-9FB0-3462129AAC7E}"/>
              </a:ext>
            </a:extLst>
          </p:cNvPr>
          <p:cNvSpPr/>
          <p:nvPr/>
        </p:nvSpPr>
        <p:spPr>
          <a:xfrm>
            <a:off x="6927903" y="1449980"/>
            <a:ext cx="1210501" cy="400069"/>
          </a:xfrm>
          <a:prstGeom prst="rect">
            <a:avLst/>
          </a:prstGeom>
        </p:spPr>
        <p:txBody>
          <a:bodyPr wrap="none" lIns="91397" tIns="45700" rIns="91397" bIns="45700">
            <a:spAutoFit/>
          </a:bodyPr>
          <a:lstStyle/>
          <a:p>
            <a:r>
              <a:rPr lang="zh-CN" altLang="en-US" sz="2000" b="1" dirty="0">
                <a:solidFill>
                  <a:srgbClr val="595959"/>
                </a:solidFill>
                <a:latin typeface="字魂58号-创中黑" panose="00000500000000000000" pitchFamily="2" charset="-122"/>
                <a:ea typeface="字魂58号-创中黑" panose="00000500000000000000" pitchFamily="2" charset="-122"/>
                <a:sym typeface="字魂58号-创中黑" panose="00000500000000000000" pitchFamily="2" charset="-122"/>
              </a:rPr>
              <a:t>主要问题</a:t>
            </a:r>
            <a:endParaRPr lang="en-US" altLang="zh-CN" sz="2000" b="1" dirty="0">
              <a:solidFill>
                <a:srgbClr val="595959"/>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cxnSp>
        <p:nvCxnSpPr>
          <p:cNvPr id="128" name="直接连接符 127">
            <a:extLst>
              <a:ext uri="{FF2B5EF4-FFF2-40B4-BE49-F238E27FC236}">
                <a16:creationId xmlns:a16="http://schemas.microsoft.com/office/drawing/2014/main" id="{70742464-D503-443B-88BD-197EFD32DECB}"/>
              </a:ext>
            </a:extLst>
          </p:cNvPr>
          <p:cNvCxnSpPr/>
          <p:nvPr/>
        </p:nvCxnSpPr>
        <p:spPr>
          <a:xfrm>
            <a:off x="6546003" y="3137901"/>
            <a:ext cx="0" cy="98782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9" name="矩形 128">
            <a:extLst>
              <a:ext uri="{FF2B5EF4-FFF2-40B4-BE49-F238E27FC236}">
                <a16:creationId xmlns:a16="http://schemas.microsoft.com/office/drawing/2014/main" id="{5E5677F0-A58B-4A9F-818B-783B9E2B0D74}"/>
              </a:ext>
            </a:extLst>
          </p:cNvPr>
          <p:cNvSpPr/>
          <p:nvPr/>
        </p:nvSpPr>
        <p:spPr>
          <a:xfrm>
            <a:off x="6438019" y="4115005"/>
            <a:ext cx="215968" cy="215968"/>
          </a:xfrm>
          <a:prstGeom prst="rect">
            <a:avLst/>
          </a:prstGeom>
          <a:solidFill>
            <a:srgbClr val="0170BD"/>
          </a:solidFill>
          <a:ln>
            <a:noFill/>
          </a:ln>
        </p:spPr>
        <p:style>
          <a:lnRef idx="2">
            <a:schemeClr val="accent1">
              <a:shade val="50000"/>
            </a:schemeClr>
          </a:lnRef>
          <a:fillRef idx="1">
            <a:schemeClr val="accent1"/>
          </a:fillRef>
          <a:effectRef idx="0">
            <a:schemeClr val="accent1"/>
          </a:effectRef>
          <a:fontRef idx="minor">
            <a:schemeClr val="lt1"/>
          </a:fontRef>
        </p:style>
        <p:txBody>
          <a:bodyPr lIns="121908" tIns="60953" rIns="121908" bIns="60953" rtlCol="0" anchor="ctr"/>
          <a:lstStyle/>
          <a:p>
            <a:pPr algn="ctr"/>
            <a:endParaRPr lang="zh-CN" altLang="en-US" sz="1333" dirty="0">
              <a:solidFill>
                <a:srgbClr val="2C3637"/>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30" name="矩形 129">
            <a:extLst>
              <a:ext uri="{FF2B5EF4-FFF2-40B4-BE49-F238E27FC236}">
                <a16:creationId xmlns:a16="http://schemas.microsoft.com/office/drawing/2014/main" id="{B2C0A935-DE9E-44A7-8B6D-BD9796E00301}"/>
              </a:ext>
            </a:extLst>
          </p:cNvPr>
          <p:cNvSpPr/>
          <p:nvPr/>
        </p:nvSpPr>
        <p:spPr>
          <a:xfrm>
            <a:off x="6914665" y="3772491"/>
            <a:ext cx="1210501" cy="400069"/>
          </a:xfrm>
          <a:prstGeom prst="rect">
            <a:avLst/>
          </a:prstGeom>
        </p:spPr>
        <p:txBody>
          <a:bodyPr wrap="none" lIns="91397" tIns="45700" rIns="91397" bIns="45700">
            <a:spAutoFit/>
          </a:bodyPr>
          <a:lstStyle/>
          <a:p>
            <a:r>
              <a:rPr lang="zh-CN" altLang="en-US" sz="2000" b="1" dirty="0">
                <a:solidFill>
                  <a:srgbClr val="595959"/>
                </a:solidFill>
                <a:latin typeface="字魂58号-创中黑" panose="00000500000000000000" pitchFamily="2" charset="-122"/>
                <a:ea typeface="字魂58号-创中黑" panose="00000500000000000000" pitchFamily="2" charset="-122"/>
                <a:sym typeface="字魂58号-创中黑" panose="00000500000000000000" pitchFamily="2" charset="-122"/>
              </a:rPr>
              <a:t>解决方案</a:t>
            </a:r>
            <a:endParaRPr lang="en-US" altLang="zh-CN" sz="2000" b="1" dirty="0">
              <a:solidFill>
                <a:srgbClr val="595959"/>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31" name="矩形 130">
            <a:extLst>
              <a:ext uri="{FF2B5EF4-FFF2-40B4-BE49-F238E27FC236}">
                <a16:creationId xmlns:a16="http://schemas.microsoft.com/office/drawing/2014/main" id="{4DC43E4E-8782-42F2-A225-5C118D5BEE0D}"/>
              </a:ext>
            </a:extLst>
          </p:cNvPr>
          <p:cNvSpPr>
            <a:spLocks noChangeArrowheads="1"/>
          </p:cNvSpPr>
          <p:nvPr/>
        </p:nvSpPr>
        <p:spPr bwMode="auto">
          <a:xfrm>
            <a:off x="6914665" y="4162553"/>
            <a:ext cx="4178348" cy="159242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377">
              <a:lnSpc>
                <a:spcPct val="150000"/>
              </a:lnSpc>
              <a:buNone/>
            </a:pPr>
            <a:r>
              <a:rPr lang="zh-CN" altLang="en-US" sz="1200" dirty="0"/>
              <a:t>基于高频率实时数据采集；</a:t>
            </a:r>
            <a:endParaRPr lang="en-US" altLang="zh-CN" sz="1200" dirty="0"/>
          </a:p>
          <a:p>
            <a:pPr defTabSz="914377">
              <a:lnSpc>
                <a:spcPct val="150000"/>
              </a:lnSpc>
              <a:buNone/>
            </a:pPr>
            <a:r>
              <a:rPr lang="zh-CN" altLang="en-US" sz="1200" dirty="0"/>
              <a:t>结合融合物理机理与机器学习的建模方法；</a:t>
            </a:r>
            <a:endParaRPr lang="en-US" altLang="zh-CN" sz="1200" dirty="0"/>
          </a:p>
          <a:p>
            <a:pPr defTabSz="914377">
              <a:lnSpc>
                <a:spcPct val="150000"/>
              </a:lnSpc>
              <a:buNone/>
            </a:pPr>
            <a:r>
              <a:rPr lang="zh-CN" altLang="en-US" sz="1200" dirty="0"/>
              <a:t>对力学性能进行实时预测；</a:t>
            </a:r>
            <a:endParaRPr lang="en-US" altLang="zh-CN" sz="1200" dirty="0"/>
          </a:p>
          <a:p>
            <a:pPr defTabSz="914377">
              <a:lnSpc>
                <a:spcPct val="150000"/>
              </a:lnSpc>
              <a:buNone/>
            </a:pPr>
            <a:r>
              <a:rPr lang="zh-CN" altLang="en-US" sz="1200" dirty="0"/>
              <a:t>借助智能优化算法为实际工艺参数调节提供依据；</a:t>
            </a:r>
            <a:endParaRPr lang="en-US" altLang="zh-CN" sz="1200" dirty="0"/>
          </a:p>
          <a:p>
            <a:pPr defTabSz="914377">
              <a:lnSpc>
                <a:spcPct val="150000"/>
              </a:lnSpc>
              <a:buNone/>
            </a:pPr>
            <a:r>
              <a:rPr lang="zh-CN" altLang="en-US" sz="1200" dirty="0"/>
              <a:t>实现虚实系统的同步运行和闭环控制</a:t>
            </a:r>
            <a:endParaRPr lang="zh-CN" altLang="en-US" sz="1200" dirty="0">
              <a:solidFill>
                <a:prstClr val="black">
                  <a:lumMod val="85000"/>
                  <a:lumOff val="1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cxnSp>
        <p:nvCxnSpPr>
          <p:cNvPr id="132" name="直接连接符 131">
            <a:extLst>
              <a:ext uri="{FF2B5EF4-FFF2-40B4-BE49-F238E27FC236}">
                <a16:creationId xmlns:a16="http://schemas.microsoft.com/office/drawing/2014/main" id="{D01D4A3A-7323-46C8-91E5-E344B9616EE2}"/>
              </a:ext>
            </a:extLst>
          </p:cNvPr>
          <p:cNvCxnSpPr/>
          <p:nvPr/>
        </p:nvCxnSpPr>
        <p:spPr>
          <a:xfrm>
            <a:off x="6546003" y="4299034"/>
            <a:ext cx="0" cy="98782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3" name="矩形 132">
            <a:extLst>
              <a:ext uri="{FF2B5EF4-FFF2-40B4-BE49-F238E27FC236}">
                <a16:creationId xmlns:a16="http://schemas.microsoft.com/office/drawing/2014/main" id="{777589CB-7FA4-43B8-95D4-04DF052B0C9C}"/>
              </a:ext>
            </a:extLst>
          </p:cNvPr>
          <p:cNvSpPr/>
          <p:nvPr/>
        </p:nvSpPr>
        <p:spPr>
          <a:xfrm>
            <a:off x="6441555" y="5284288"/>
            <a:ext cx="215968" cy="21596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08" tIns="60953" rIns="121908" bIns="60953" rtlCol="0" anchor="ctr"/>
          <a:lstStyle/>
          <a:p>
            <a:pPr algn="ctr"/>
            <a:endParaRPr lang="zh-CN" altLang="en-US" sz="1333" dirty="0">
              <a:solidFill>
                <a:srgbClr val="2C3637"/>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nvGrpSpPr>
          <p:cNvPr id="2" name="组合 1">
            <a:extLst>
              <a:ext uri="{FF2B5EF4-FFF2-40B4-BE49-F238E27FC236}">
                <a16:creationId xmlns:a16="http://schemas.microsoft.com/office/drawing/2014/main" id="{D59448C1-6A23-36DB-E606-B6A5E749B976}"/>
              </a:ext>
            </a:extLst>
          </p:cNvPr>
          <p:cNvGrpSpPr/>
          <p:nvPr/>
        </p:nvGrpSpPr>
        <p:grpSpPr>
          <a:xfrm>
            <a:off x="3934731" y="494387"/>
            <a:ext cx="4387922" cy="830997"/>
            <a:chOff x="3934731" y="494387"/>
            <a:chExt cx="4387922" cy="830997"/>
          </a:xfrm>
        </p:grpSpPr>
        <p:sp>
          <p:nvSpPr>
            <p:cNvPr id="3" name="文本框 2">
              <a:extLst>
                <a:ext uri="{FF2B5EF4-FFF2-40B4-BE49-F238E27FC236}">
                  <a16:creationId xmlns:a16="http://schemas.microsoft.com/office/drawing/2014/main" id="{A6DD3DB3-DDB1-700A-3EB5-091BD29FD130}"/>
                </a:ext>
              </a:extLst>
            </p:cNvPr>
            <p:cNvSpPr txBox="1"/>
            <p:nvPr/>
          </p:nvSpPr>
          <p:spPr>
            <a:xfrm>
              <a:off x="3934731" y="494387"/>
              <a:ext cx="4122516" cy="830997"/>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rPr>
                <a:t>一、</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绪论及研究背景</a:t>
              </a: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FBB54195-3106-ED68-8414-70EE74AA3D87}"/>
                </a:ext>
              </a:extLst>
            </p:cNvPr>
            <p:cNvSpPr txBox="1">
              <a:spLocks noChangeArrowheads="1"/>
            </p:cNvSpPr>
            <p:nvPr/>
          </p:nvSpPr>
          <p:spPr bwMode="auto">
            <a:xfrm>
              <a:off x="4039108" y="85329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Introduction and research background</a:t>
              </a:r>
            </a:p>
          </p:txBody>
        </p:sp>
        <p:cxnSp>
          <p:nvCxnSpPr>
            <p:cNvPr id="5" name="直接连接符 4"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0F770E70-936D-ACD5-013B-C540F1933AA2}"/>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22" name="矩形 21">
            <a:extLst>
              <a:ext uri="{FF2B5EF4-FFF2-40B4-BE49-F238E27FC236}">
                <a16:creationId xmlns:a16="http://schemas.microsoft.com/office/drawing/2014/main" id="{BDA8856E-B07E-4ED9-1FAB-3A5C85E11135}"/>
              </a:ext>
            </a:extLst>
          </p:cNvPr>
          <p:cNvSpPr/>
          <p:nvPr/>
        </p:nvSpPr>
        <p:spPr>
          <a:xfrm>
            <a:off x="814025" y="1544676"/>
            <a:ext cx="2031238" cy="461624"/>
          </a:xfrm>
          <a:prstGeom prst="rect">
            <a:avLst/>
          </a:prstGeom>
        </p:spPr>
        <p:txBody>
          <a:bodyPr wrap="none" lIns="91397" tIns="45700" rIns="91397" bIns="45700">
            <a:spAutoFit/>
          </a:bodyPr>
          <a:lstStyle/>
          <a:p>
            <a:r>
              <a:rPr lang="zh-CN" altLang="en-US" sz="2400" b="1" dirty="0">
                <a:solidFill>
                  <a:schemeClr val="bg1">
                    <a:lumMod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传统质检流程</a:t>
            </a:r>
            <a:endParaRPr lang="en-US" altLang="zh-CN" sz="2400" b="1" dirty="0">
              <a:solidFill>
                <a:schemeClr val="bg1">
                  <a:lumMod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pic>
        <p:nvPicPr>
          <p:cNvPr id="26" name="图片 25">
            <a:extLst>
              <a:ext uri="{FF2B5EF4-FFF2-40B4-BE49-F238E27FC236}">
                <a16:creationId xmlns:a16="http://schemas.microsoft.com/office/drawing/2014/main" id="{96FCF9A7-A448-9094-003B-4A2CA03F7215}"/>
              </a:ext>
            </a:extLst>
          </p:cNvPr>
          <p:cNvPicPr>
            <a:picLocks noChangeAspect="1"/>
          </p:cNvPicPr>
          <p:nvPr/>
        </p:nvPicPr>
        <p:blipFill>
          <a:blip r:embed="rId3"/>
          <a:stretch>
            <a:fillRect/>
          </a:stretch>
        </p:blipFill>
        <p:spPr>
          <a:xfrm>
            <a:off x="763896" y="2289937"/>
            <a:ext cx="5332103" cy="1084105"/>
          </a:xfrm>
          <a:prstGeom prst="rect">
            <a:avLst/>
          </a:prstGeom>
        </p:spPr>
      </p:pic>
      <p:pic>
        <p:nvPicPr>
          <p:cNvPr id="27" name="图片 26">
            <a:extLst>
              <a:ext uri="{FF2B5EF4-FFF2-40B4-BE49-F238E27FC236}">
                <a16:creationId xmlns:a16="http://schemas.microsoft.com/office/drawing/2014/main" id="{6AAC0BBA-980B-2B92-7C2B-2EC637F09578}"/>
              </a:ext>
            </a:extLst>
          </p:cNvPr>
          <p:cNvPicPr>
            <a:picLocks noChangeAspect="1"/>
          </p:cNvPicPr>
          <p:nvPr/>
        </p:nvPicPr>
        <p:blipFill>
          <a:blip r:embed="rId4"/>
          <a:stretch>
            <a:fillRect/>
          </a:stretch>
        </p:blipFill>
        <p:spPr>
          <a:xfrm>
            <a:off x="763896" y="4441202"/>
            <a:ext cx="5416982" cy="1087322"/>
          </a:xfrm>
          <a:prstGeom prst="rect">
            <a:avLst/>
          </a:prstGeom>
        </p:spPr>
      </p:pic>
      <p:sp>
        <p:nvSpPr>
          <p:cNvPr id="30" name="箭头: 右弧形 29">
            <a:extLst>
              <a:ext uri="{FF2B5EF4-FFF2-40B4-BE49-F238E27FC236}">
                <a16:creationId xmlns:a16="http://schemas.microsoft.com/office/drawing/2014/main" id="{1B148AF1-675E-B052-AC34-58D487327EE7}"/>
              </a:ext>
            </a:extLst>
          </p:cNvPr>
          <p:cNvSpPr/>
          <p:nvPr/>
        </p:nvSpPr>
        <p:spPr>
          <a:xfrm>
            <a:off x="10443881" y="2514198"/>
            <a:ext cx="662067" cy="2088776"/>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915864978"/>
      </p:ext>
    </p:extLst>
  </p:cSld>
  <p:clrMapOvr>
    <a:masterClrMapping/>
  </p:clrMapOvr>
  <mc:AlternateContent xmlns:mc="http://schemas.openxmlformats.org/markup-compatibility/2006" xmlns:p14="http://schemas.microsoft.com/office/powerpoint/2010/main">
    <mc:Choice Requires="p14">
      <p:transition spd="slow" p14:dur="1500" advClick="0" advTm="30824">
        <p:random/>
      </p:transition>
    </mc:Choice>
    <mc:Fallback xmlns="">
      <p:transition spd="slow" advClick="0" advTm="30824">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908550" y="1372748"/>
            <a:ext cx="2374901" cy="2374902"/>
            <a:chOff x="3681412" y="1029561"/>
            <a:chExt cx="1781176" cy="1781176"/>
          </a:xfrm>
        </p:grpSpPr>
        <p:grpSp>
          <p:nvGrpSpPr>
            <p:cNvPr id="21" name="组合 20"/>
            <p:cNvGrpSpPr/>
            <p:nvPr/>
          </p:nvGrpSpPr>
          <p:grpSpPr>
            <a:xfrm>
              <a:off x="3681412" y="1029561"/>
              <a:ext cx="1781176" cy="1781176"/>
              <a:chOff x="3163162" y="1286736"/>
              <a:chExt cx="1781176" cy="1781176"/>
            </a:xfrm>
          </p:grpSpPr>
          <p:grpSp>
            <p:nvGrpSpPr>
              <p:cNvPr id="20" name="组合 19"/>
              <p:cNvGrpSpPr/>
              <p:nvPr/>
            </p:nvGrpSpPr>
            <p:grpSpPr>
              <a:xfrm>
                <a:off x="3163162" y="1286736"/>
                <a:ext cx="1781176" cy="1781176"/>
                <a:chOff x="5410200" y="1286736"/>
                <a:chExt cx="1781176" cy="1781176"/>
              </a:xfrm>
            </p:grpSpPr>
            <p:grpSp>
              <p:nvGrpSpPr>
                <p:cNvPr id="14" name="组合 13"/>
                <p:cNvGrpSpPr/>
                <p:nvPr/>
              </p:nvGrpSpPr>
              <p:grpSpPr>
                <a:xfrm flipH="1">
                  <a:off x="5410200" y="1286736"/>
                  <a:ext cx="1781176" cy="1781176"/>
                  <a:chOff x="3333750" y="1457325"/>
                  <a:chExt cx="1440000" cy="1440000"/>
                </a:xfrm>
              </p:grpSpPr>
              <p:sp>
                <p:nvSpPr>
                  <p:cNvPr id="15" name="矩形 14"/>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6" name="矩形 15"/>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7" name="矩形 16"/>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8" name="矩形 17"/>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19" name="矩形 18"/>
                <p:cNvSpPr/>
                <p:nvPr/>
              </p:nvSpPr>
              <p:spPr>
                <a:xfrm>
                  <a:off x="5458688" y="1331325"/>
                  <a:ext cx="1692000" cy="169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nvGrpSpPr>
              <p:cNvPr id="13" name="组合 12"/>
              <p:cNvGrpSpPr/>
              <p:nvPr/>
            </p:nvGrpSpPr>
            <p:grpSpPr>
              <a:xfrm>
                <a:off x="3333750" y="1457325"/>
                <a:ext cx="1440000" cy="1440000"/>
                <a:chOff x="3333750" y="1457325"/>
                <a:chExt cx="1440000" cy="1440000"/>
              </a:xfrm>
            </p:grpSpPr>
            <p:sp>
              <p:nvSpPr>
                <p:cNvPr id="5" name="矩形 4"/>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 name="矩形 5"/>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9" name="矩形 8"/>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0" name="矩形 9"/>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sp>
          <p:nvSpPr>
            <p:cNvPr id="12" name="文本框 11"/>
            <p:cNvSpPr txBox="1"/>
            <p:nvPr/>
          </p:nvSpPr>
          <p:spPr>
            <a:xfrm>
              <a:off x="4126706" y="1135320"/>
              <a:ext cx="808154" cy="1546577"/>
            </a:xfrm>
            <a:prstGeom prst="rect">
              <a:avLst/>
            </a:prstGeom>
            <a:noFill/>
          </p:spPr>
          <p:txBody>
            <a:bodyPr wrap="none" rtlCol="0">
              <a:spAutoFit/>
            </a:bodyPr>
            <a:lstStyle/>
            <a:p>
              <a:r>
                <a:rPr lang="en-US" altLang="zh-CN" sz="128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rPr>
                <a:t>2</a:t>
              </a:r>
              <a:endParaRPr lang="zh-CN" altLang="en-US" sz="128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22" name="矩形 21"/>
          <p:cNvSpPr/>
          <p:nvPr/>
        </p:nvSpPr>
        <p:spPr>
          <a:xfrm>
            <a:off x="2421166" y="4180248"/>
            <a:ext cx="7334629" cy="646331"/>
          </a:xfrm>
          <a:prstGeom prst="rect">
            <a:avLst/>
          </a:prstGeom>
        </p:spPr>
        <p:txBody>
          <a:bodyPr wrap="square">
            <a:spAutoFit/>
          </a:bodyPr>
          <a:lstStyle/>
          <a:p>
            <a:pPr algn="ctr"/>
            <a:r>
              <a:rPr lang="zh-CN" altLang="en-US" sz="3600" dirty="0">
                <a:latin typeface="字魂58号-创中黑" panose="00000500000000000000" pitchFamily="2" charset="-122"/>
                <a:ea typeface="字魂58号-创中黑" panose="00000500000000000000" pitchFamily="2" charset="-122"/>
                <a:sym typeface="字魂58号-创中黑" panose="00000500000000000000" pitchFamily="2" charset="-122"/>
              </a:rPr>
              <a:t>工艺机理与物理建模</a:t>
            </a:r>
          </a:p>
        </p:txBody>
      </p:sp>
      <p:cxnSp>
        <p:nvCxnSpPr>
          <p:cNvPr id="25" name="直接连接符 24"/>
          <p:cNvCxnSpPr>
            <a:cxnSpLocks/>
          </p:cNvCxnSpPr>
          <p:nvPr/>
        </p:nvCxnSpPr>
        <p:spPr>
          <a:xfrm>
            <a:off x="328921" y="4961696"/>
            <a:ext cx="11523643" cy="0"/>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7D6DEEFF-97D8-4AFB-AFDA-C4EE261FC37D}"/>
              </a:ext>
            </a:extLst>
          </p:cNvPr>
          <p:cNvSpPr/>
          <p:nvPr/>
        </p:nvSpPr>
        <p:spPr>
          <a:xfrm>
            <a:off x="4108627" y="4972022"/>
            <a:ext cx="3974746" cy="74443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377">
              <a:lnSpc>
                <a:spcPct val="150000"/>
              </a:lnSpc>
              <a:spcBef>
                <a:spcPct val="20000"/>
              </a:spcBef>
            </a:pPr>
            <a:r>
              <a:rPr lang="en-US" altLang="zh-CN" sz="12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Process Mechanism and Physical Modeling</a:t>
            </a:r>
          </a:p>
          <a:p>
            <a:pPr algn="ctr" defTabSz="914377">
              <a:lnSpc>
                <a:spcPct val="150000"/>
              </a:lnSpc>
              <a:spcBef>
                <a:spcPct val="20000"/>
              </a:spcBef>
            </a:pPr>
            <a:endParaRPr lang="en-US" altLang="zh-CN" sz="1600" dirty="0">
              <a:solidFill>
                <a:prstClr val="black">
                  <a:lumMod val="85000"/>
                  <a:lumOff val="1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37057" y="446446"/>
            <a:ext cx="1591597" cy="533480"/>
          </a:xfrm>
          <a:prstGeom prst="rect">
            <a:avLst/>
          </a:prstGeom>
        </p:spPr>
      </p:pic>
    </p:spTree>
    <p:extLst>
      <p:ext uri="{BB962C8B-B14F-4D97-AF65-F5344CB8AC3E}">
        <p14:creationId xmlns:p14="http://schemas.microsoft.com/office/powerpoint/2010/main" val="569713439"/>
      </p:ext>
    </p:extLst>
  </p:cSld>
  <p:clrMapOvr>
    <a:masterClrMapping/>
  </p:clrMapOvr>
  <mc:AlternateContent xmlns:mc="http://schemas.openxmlformats.org/markup-compatibility/2006" xmlns:p14="http://schemas.microsoft.com/office/powerpoint/2010/main">
    <mc:Choice Requires="p14">
      <p:transition spd="slow" p14:dur="1500" advClick="0" advTm="6455">
        <p:random/>
      </p:transition>
    </mc:Choice>
    <mc:Fallback xmlns="">
      <p:transition spd="slow" advClick="0" advTm="6455">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200"/>
                                  </p:stCondLst>
                                  <p:childTnLst>
                                    <p:set>
                                      <p:cBhvr>
                                        <p:cTn id="6" dur="1" fill="hold">
                                          <p:stCondLst>
                                            <p:cond delay="0"/>
                                          </p:stCondLst>
                                        </p:cTn>
                                        <p:tgtEl>
                                          <p:spTgt spid="25"/>
                                        </p:tgtEl>
                                        <p:attrNameLst>
                                          <p:attrName>style.visibility</p:attrName>
                                        </p:attrNameLst>
                                      </p:cBhvr>
                                      <p:to>
                                        <p:strVal val="visible"/>
                                      </p:to>
                                    </p:set>
                                    <p:animEffect transition="in" filter="barn(outVertical)">
                                      <p:cBhvr>
                                        <p:cTn id="7" dur="2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Oval 26">
            <a:extLst>
              <a:ext uri="{FF2B5EF4-FFF2-40B4-BE49-F238E27FC236}">
                <a16:creationId xmlns:a16="http://schemas.microsoft.com/office/drawing/2014/main" id="{63A6F392-67F3-4EE6-90EB-25D5EFDD46D3}"/>
              </a:ext>
            </a:extLst>
          </p:cNvPr>
          <p:cNvSpPr>
            <a:spLocks noChangeAspect="1"/>
          </p:cNvSpPr>
          <p:nvPr/>
        </p:nvSpPr>
        <p:spPr>
          <a:xfrm>
            <a:off x="7138538" y="2490802"/>
            <a:ext cx="680202" cy="680202"/>
          </a:xfrm>
          <a:prstGeom prst="ellipse">
            <a:avLst/>
          </a:prstGeom>
          <a:solidFill>
            <a:schemeClr val="bg1">
              <a:lumMod val="50000"/>
            </a:schemeClr>
          </a:solidFill>
          <a:ln w="12700">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6" name="Oval 28">
            <a:extLst>
              <a:ext uri="{FF2B5EF4-FFF2-40B4-BE49-F238E27FC236}">
                <a16:creationId xmlns:a16="http://schemas.microsoft.com/office/drawing/2014/main" id="{F5B80DA7-6906-4E41-8C90-C9165FB9B350}"/>
              </a:ext>
            </a:extLst>
          </p:cNvPr>
          <p:cNvSpPr>
            <a:spLocks noChangeAspect="1"/>
          </p:cNvSpPr>
          <p:nvPr/>
        </p:nvSpPr>
        <p:spPr>
          <a:xfrm>
            <a:off x="7246949" y="4331801"/>
            <a:ext cx="680202" cy="680202"/>
          </a:xfrm>
          <a:prstGeom prst="ellipse">
            <a:avLst/>
          </a:prstGeom>
          <a:solidFill>
            <a:srgbClr val="0170BD"/>
          </a:solidFill>
          <a:ln w="12700">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28" name="Oval 32">
            <a:extLst>
              <a:ext uri="{FF2B5EF4-FFF2-40B4-BE49-F238E27FC236}">
                <a16:creationId xmlns:a16="http://schemas.microsoft.com/office/drawing/2014/main" id="{474517F1-1B84-486C-9D9D-4A7D5C1637A5}"/>
              </a:ext>
            </a:extLst>
          </p:cNvPr>
          <p:cNvSpPr>
            <a:spLocks noChangeAspect="1"/>
          </p:cNvSpPr>
          <p:nvPr/>
        </p:nvSpPr>
        <p:spPr>
          <a:xfrm>
            <a:off x="3901082" y="3503916"/>
            <a:ext cx="680202" cy="680202"/>
          </a:xfrm>
          <a:prstGeom prst="ellipse">
            <a:avLst/>
          </a:prstGeom>
          <a:solidFill>
            <a:schemeClr val="bg1">
              <a:lumMod val="50000"/>
            </a:schemeClr>
          </a:solidFill>
          <a:ln w="12700">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0" name="Oval 31">
            <a:extLst>
              <a:ext uri="{FF2B5EF4-FFF2-40B4-BE49-F238E27FC236}">
                <a16:creationId xmlns:a16="http://schemas.microsoft.com/office/drawing/2014/main" id="{62856B1B-87B3-4420-AC60-E49924384F48}"/>
              </a:ext>
            </a:extLst>
          </p:cNvPr>
          <p:cNvSpPr>
            <a:spLocks noChangeAspect="1"/>
          </p:cNvSpPr>
          <p:nvPr/>
        </p:nvSpPr>
        <p:spPr>
          <a:xfrm>
            <a:off x="4363139" y="2275004"/>
            <a:ext cx="680202" cy="680202"/>
          </a:xfrm>
          <a:prstGeom prst="ellipse">
            <a:avLst/>
          </a:prstGeom>
          <a:solidFill>
            <a:srgbClr val="0170BD"/>
          </a:solidFill>
          <a:ln w="12700">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4" name="Oval 39">
            <a:extLst>
              <a:ext uri="{FF2B5EF4-FFF2-40B4-BE49-F238E27FC236}">
                <a16:creationId xmlns:a16="http://schemas.microsoft.com/office/drawing/2014/main" id="{E9440A64-CF46-4C56-895D-A03B25C1B2CA}"/>
              </a:ext>
            </a:extLst>
          </p:cNvPr>
          <p:cNvSpPr>
            <a:spLocks noChangeAspect="1"/>
          </p:cNvSpPr>
          <p:nvPr/>
        </p:nvSpPr>
        <p:spPr>
          <a:xfrm>
            <a:off x="4486405" y="4529125"/>
            <a:ext cx="680202" cy="680202"/>
          </a:xfrm>
          <a:prstGeom prst="ellipse">
            <a:avLst/>
          </a:prstGeom>
          <a:solidFill>
            <a:srgbClr val="0170BD"/>
          </a:solidFill>
          <a:ln w="12700">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nvGrpSpPr>
          <p:cNvPr id="36" name="组合 35">
            <a:extLst>
              <a:ext uri="{FF2B5EF4-FFF2-40B4-BE49-F238E27FC236}">
                <a16:creationId xmlns:a16="http://schemas.microsoft.com/office/drawing/2014/main" id="{D34BB4B9-1C26-493B-BCAA-E5144DD0B5E4}"/>
              </a:ext>
            </a:extLst>
          </p:cNvPr>
          <p:cNvGrpSpPr/>
          <p:nvPr/>
        </p:nvGrpSpPr>
        <p:grpSpPr>
          <a:xfrm>
            <a:off x="8269556" y="2079112"/>
            <a:ext cx="3021681" cy="1005834"/>
            <a:chOff x="8539843" y="2171125"/>
            <a:chExt cx="2679798" cy="1005834"/>
          </a:xfrm>
        </p:grpSpPr>
        <p:sp>
          <p:nvSpPr>
            <p:cNvPr id="37" name="矩形 36">
              <a:extLst>
                <a:ext uri="{FF2B5EF4-FFF2-40B4-BE49-F238E27FC236}">
                  <a16:creationId xmlns:a16="http://schemas.microsoft.com/office/drawing/2014/main" id="{062D8579-FCC4-4B57-8865-6F62F49CE9AB}"/>
                </a:ext>
              </a:extLst>
            </p:cNvPr>
            <p:cNvSpPr/>
            <p:nvPr/>
          </p:nvSpPr>
          <p:spPr>
            <a:xfrm>
              <a:off x="8539844" y="2514021"/>
              <a:ext cx="2679797" cy="662938"/>
            </a:xfrm>
            <a:prstGeom prst="rect">
              <a:avLst/>
            </a:prstGeom>
          </p:spPr>
          <p:txBody>
            <a:bodyPr wrap="square">
              <a:spAutoFit/>
              <a:scene3d>
                <a:camera prst="orthographicFront"/>
                <a:lightRig rig="threePt" dir="t"/>
              </a:scene3d>
              <a:sp3d contourW="12700"/>
            </a:bodyPr>
            <a:lstStyle/>
            <a:p>
              <a:pPr marL="0" marR="0" lvl="0" indent="0" defTabSz="914400" rtl="0" eaLnBrk="1" fontAlgn="auto" latinLnBrk="0" hangingPunct="1">
                <a:lnSpc>
                  <a:spcPct val="120000"/>
                </a:lnSpc>
                <a:spcBef>
                  <a:spcPts val="0"/>
                </a:spcBef>
                <a:spcAft>
                  <a:spcPts val="0"/>
                </a:spcAft>
                <a:buClrTx/>
                <a:buSzTx/>
                <a:buFontTx/>
                <a:buNone/>
                <a:tabLst/>
                <a:defRPr/>
              </a:pPr>
              <a:r>
                <a:rPr lang="zh-CN" altLang="en-US" sz="1600" dirty="0"/>
                <a:t>高应变速率提升强度但降低延展性</a:t>
              </a:r>
              <a:endParaRPr kumimoji="0" lang="zh-CN" altLang="en-US" sz="1600" b="0" i="0" u="none" strike="noStrike" kern="1200" cap="none" spc="0" normalizeH="0" baseline="0" noProof="0" dirty="0">
                <a:ln>
                  <a:noFill/>
                </a:ln>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8" name="矩形 37">
              <a:extLst>
                <a:ext uri="{FF2B5EF4-FFF2-40B4-BE49-F238E27FC236}">
                  <a16:creationId xmlns:a16="http://schemas.microsoft.com/office/drawing/2014/main" id="{7FE2E0D1-0E49-4280-8E60-7D60DF59BEB1}"/>
                </a:ext>
              </a:extLst>
            </p:cNvPr>
            <p:cNvSpPr/>
            <p:nvPr/>
          </p:nvSpPr>
          <p:spPr>
            <a:xfrm>
              <a:off x="8539843" y="2171125"/>
              <a:ext cx="2164600" cy="400238"/>
            </a:xfrm>
            <a:prstGeom prst="rect">
              <a:avLst/>
            </a:prstGeom>
          </p:spPr>
          <p:txBody>
            <a:bodyPr wrap="square">
              <a:spAutoFit/>
              <a:scene3d>
                <a:camera prst="orthographicFront"/>
                <a:lightRig rig="threePt" dir="t"/>
              </a:scene3d>
              <a:sp3d contourW="12700"/>
            </a:bodyPr>
            <a:lstStyle/>
            <a:p>
              <a:pPr lvl="0">
                <a:lnSpc>
                  <a:spcPct val="120000"/>
                </a:lnSpc>
                <a:defRPr/>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应变速率效应</a:t>
              </a:r>
            </a:p>
          </p:txBody>
        </p:sp>
      </p:grpSp>
      <p:grpSp>
        <p:nvGrpSpPr>
          <p:cNvPr id="42" name="组合 41">
            <a:extLst>
              <a:ext uri="{FF2B5EF4-FFF2-40B4-BE49-F238E27FC236}">
                <a16:creationId xmlns:a16="http://schemas.microsoft.com/office/drawing/2014/main" id="{D14304FA-D38B-49CB-A4E7-0B4A8B539B1A}"/>
              </a:ext>
            </a:extLst>
          </p:cNvPr>
          <p:cNvGrpSpPr/>
          <p:nvPr/>
        </p:nvGrpSpPr>
        <p:grpSpPr>
          <a:xfrm>
            <a:off x="8322653" y="4380742"/>
            <a:ext cx="2775857" cy="1005834"/>
            <a:chOff x="8539843" y="2171125"/>
            <a:chExt cx="2775857" cy="1005834"/>
          </a:xfrm>
        </p:grpSpPr>
        <p:sp>
          <p:nvSpPr>
            <p:cNvPr id="44" name="矩形 43">
              <a:extLst>
                <a:ext uri="{FF2B5EF4-FFF2-40B4-BE49-F238E27FC236}">
                  <a16:creationId xmlns:a16="http://schemas.microsoft.com/office/drawing/2014/main" id="{7AEBEC7F-473F-4F13-A50B-A5FD2D46C390}"/>
                </a:ext>
              </a:extLst>
            </p:cNvPr>
            <p:cNvSpPr/>
            <p:nvPr/>
          </p:nvSpPr>
          <p:spPr>
            <a:xfrm>
              <a:off x="8539844" y="2514021"/>
              <a:ext cx="2775856" cy="662938"/>
            </a:xfrm>
            <a:prstGeom prst="rect">
              <a:avLst/>
            </a:prstGeom>
          </p:spPr>
          <p:txBody>
            <a:bodyPr wrap="square">
              <a:spAutoFit/>
              <a:scene3d>
                <a:camera prst="orthographicFront"/>
                <a:lightRig rig="threePt" dir="t"/>
              </a:scene3d>
              <a:sp3d contourW="12700"/>
            </a:bodyPr>
            <a:lstStyle/>
            <a:p>
              <a:pPr marL="0" marR="0" lvl="0" indent="0" defTabSz="914400" rtl="0" eaLnBrk="1" fontAlgn="auto" latinLnBrk="0" hangingPunct="1">
                <a:lnSpc>
                  <a:spcPct val="120000"/>
                </a:lnSpc>
                <a:spcBef>
                  <a:spcPts val="0"/>
                </a:spcBef>
                <a:spcAft>
                  <a:spcPts val="0"/>
                </a:spcAft>
                <a:buClrTx/>
                <a:buSzTx/>
                <a:buFontTx/>
                <a:buNone/>
                <a:tabLst/>
                <a:defRPr/>
              </a:pPr>
              <a:r>
                <a:rPr lang="zh-CN" altLang="en-US" sz="1600" dirty="0"/>
                <a:t>加工硬化、微观缺陷、氧化膜等</a:t>
              </a:r>
              <a:endParaRPr kumimoji="0" lang="zh-CN" altLang="en-US" sz="1600" b="0" i="0" u="none" strike="noStrike" kern="1200" cap="none" spc="0" normalizeH="0" baseline="0" noProof="0" dirty="0">
                <a:ln>
                  <a:noFill/>
                </a:ln>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5" name="矩形 44">
              <a:extLst>
                <a:ext uri="{FF2B5EF4-FFF2-40B4-BE49-F238E27FC236}">
                  <a16:creationId xmlns:a16="http://schemas.microsoft.com/office/drawing/2014/main" id="{0A9F9679-F6CB-49E7-BA10-F34A8F72901B}"/>
                </a:ext>
              </a:extLst>
            </p:cNvPr>
            <p:cNvSpPr/>
            <p:nvPr/>
          </p:nvSpPr>
          <p:spPr>
            <a:xfrm>
              <a:off x="8539843" y="2171125"/>
              <a:ext cx="2164600" cy="400238"/>
            </a:xfrm>
            <a:prstGeom prst="rect">
              <a:avLst/>
            </a:prstGeom>
          </p:spPr>
          <p:txBody>
            <a:bodyPr wrap="square">
              <a:spAutoFit/>
              <a:scene3d>
                <a:camera prst="orthographicFront"/>
                <a:lightRig rig="threePt" dir="t"/>
              </a:scene3d>
              <a:sp3d contourW="12700"/>
            </a:bodyPr>
            <a:lstStyle/>
            <a:p>
              <a:pPr lvl="0">
                <a:lnSpc>
                  <a:spcPct val="120000"/>
                </a:lnSpc>
                <a:defRPr/>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其他</a:t>
              </a:r>
            </a:p>
          </p:txBody>
        </p:sp>
      </p:grpSp>
      <p:grpSp>
        <p:nvGrpSpPr>
          <p:cNvPr id="49" name="组合 48">
            <a:extLst>
              <a:ext uri="{FF2B5EF4-FFF2-40B4-BE49-F238E27FC236}">
                <a16:creationId xmlns:a16="http://schemas.microsoft.com/office/drawing/2014/main" id="{974B73A8-B21D-49A8-B7B9-C8F078A4C277}"/>
              </a:ext>
            </a:extLst>
          </p:cNvPr>
          <p:cNvGrpSpPr/>
          <p:nvPr/>
        </p:nvGrpSpPr>
        <p:grpSpPr>
          <a:xfrm>
            <a:off x="1302122" y="1996870"/>
            <a:ext cx="2851548" cy="801972"/>
            <a:chOff x="8464152" y="2171125"/>
            <a:chExt cx="2851548" cy="801972"/>
          </a:xfrm>
        </p:grpSpPr>
        <p:sp>
          <p:nvSpPr>
            <p:cNvPr id="50" name="矩形 49">
              <a:extLst>
                <a:ext uri="{FF2B5EF4-FFF2-40B4-BE49-F238E27FC236}">
                  <a16:creationId xmlns:a16="http://schemas.microsoft.com/office/drawing/2014/main" id="{F4E21D5D-E09E-4A19-AAB5-1091DBD28B11}"/>
                </a:ext>
              </a:extLst>
            </p:cNvPr>
            <p:cNvSpPr/>
            <p:nvPr/>
          </p:nvSpPr>
          <p:spPr>
            <a:xfrm>
              <a:off x="8464152" y="2605624"/>
              <a:ext cx="2775856" cy="367473"/>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600" dirty="0"/>
                <a:t>（</a:t>
              </a:r>
              <a:r>
                <a:rPr lang="en-US" altLang="zh-CN" sz="1600" dirty="0"/>
                <a:t>C, Mn, Si</a:t>
              </a:r>
              <a:r>
                <a:rPr lang="zh-CN" altLang="en-US" sz="1600" dirty="0"/>
                <a:t>）决定强度</a:t>
              </a:r>
              <a:r>
                <a:rPr lang="en-US" altLang="zh-CN" sz="1600" dirty="0"/>
                <a:t>/</a:t>
              </a:r>
              <a:r>
                <a:rPr lang="zh-CN" altLang="en-US" sz="1600" dirty="0"/>
                <a:t>塑性</a:t>
              </a:r>
              <a:endParaRPr lang="zh-CN" altLang="en-US" sz="16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51" name="矩形 50">
              <a:extLst>
                <a:ext uri="{FF2B5EF4-FFF2-40B4-BE49-F238E27FC236}">
                  <a16:creationId xmlns:a16="http://schemas.microsoft.com/office/drawing/2014/main" id="{753EEAA8-9E9E-439A-9D1E-4BF165ECA4A5}"/>
                </a:ext>
              </a:extLst>
            </p:cNvPr>
            <p:cNvSpPr/>
            <p:nvPr/>
          </p:nvSpPr>
          <p:spPr>
            <a:xfrm>
              <a:off x="9151100" y="2171125"/>
              <a:ext cx="2164600" cy="400238"/>
            </a:xfrm>
            <a:prstGeom prst="rect">
              <a:avLst/>
            </a:prstGeom>
          </p:spPr>
          <p:txBody>
            <a:bodyPr wrap="square">
              <a:spAutoFit/>
              <a:scene3d>
                <a:camera prst="orthographicFront"/>
                <a:lightRig rig="threePt" dir="t"/>
              </a:scene3d>
              <a:sp3d contourW="12700"/>
            </a:bodyPr>
            <a:lstStyle/>
            <a:p>
              <a:pPr lvl="0" algn="r">
                <a:lnSpc>
                  <a:spcPct val="120000"/>
                </a:lnSpc>
                <a:defRPr/>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化学成分</a:t>
              </a:r>
            </a:p>
          </p:txBody>
        </p:sp>
      </p:grpSp>
      <p:grpSp>
        <p:nvGrpSpPr>
          <p:cNvPr id="52" name="组合 51">
            <a:extLst>
              <a:ext uri="{FF2B5EF4-FFF2-40B4-BE49-F238E27FC236}">
                <a16:creationId xmlns:a16="http://schemas.microsoft.com/office/drawing/2014/main" id="{6D8FEB34-2401-47D7-8809-8CE0FEEE0D75}"/>
              </a:ext>
            </a:extLst>
          </p:cNvPr>
          <p:cNvGrpSpPr/>
          <p:nvPr/>
        </p:nvGrpSpPr>
        <p:grpSpPr>
          <a:xfrm>
            <a:off x="957781" y="4669107"/>
            <a:ext cx="3116850" cy="1005834"/>
            <a:chOff x="8198850" y="2171125"/>
            <a:chExt cx="3116850" cy="1005834"/>
          </a:xfrm>
        </p:grpSpPr>
        <p:sp>
          <p:nvSpPr>
            <p:cNvPr id="53" name="矩形 52">
              <a:extLst>
                <a:ext uri="{FF2B5EF4-FFF2-40B4-BE49-F238E27FC236}">
                  <a16:creationId xmlns:a16="http://schemas.microsoft.com/office/drawing/2014/main" id="{9B979813-79FE-4B91-A5E9-CEAAFAF23134}"/>
                </a:ext>
              </a:extLst>
            </p:cNvPr>
            <p:cNvSpPr/>
            <p:nvPr/>
          </p:nvSpPr>
          <p:spPr>
            <a:xfrm>
              <a:off x="8198850" y="2514021"/>
              <a:ext cx="3116850" cy="662938"/>
            </a:xfrm>
            <a:prstGeom prst="rect">
              <a:avLst/>
            </a:prstGeom>
          </p:spPr>
          <p:txBody>
            <a:bodyPr wrap="square">
              <a:spAutoFit/>
              <a:scene3d>
                <a:camera prst="orthographicFront"/>
                <a:lightRig rig="threePt" dir="t"/>
              </a:scene3d>
              <a:sp3d contourW="12700"/>
            </a:bodyPr>
            <a:lstStyle/>
            <a:p>
              <a:pPr marL="0" marR="0" lvl="0" indent="0" algn="r" defTabSz="914400" rtl="0" eaLnBrk="1" fontAlgn="auto" latinLnBrk="0" hangingPunct="1">
                <a:lnSpc>
                  <a:spcPct val="120000"/>
                </a:lnSpc>
                <a:spcBef>
                  <a:spcPts val="0"/>
                </a:spcBef>
                <a:spcAft>
                  <a:spcPts val="0"/>
                </a:spcAft>
                <a:buClrTx/>
                <a:buSzTx/>
                <a:buFontTx/>
                <a:buNone/>
                <a:tabLst/>
                <a:defRPr/>
              </a:pPr>
              <a:r>
                <a:rPr lang="zh-CN" altLang="en-US" sz="1600" dirty="0"/>
                <a:t>（冷轧变形量、退火温度</a:t>
              </a:r>
              <a:r>
                <a:rPr lang="en-US" altLang="zh-CN" sz="1600" dirty="0"/>
                <a:t>/</a:t>
              </a:r>
              <a:r>
                <a:rPr lang="zh-CN" altLang="en-US" sz="1600" dirty="0"/>
                <a:t>时间）决定组织演化</a:t>
              </a:r>
              <a:r>
                <a:rPr kumimoji="0" lang="zh-CN" altLang="en-US" sz="1600" b="0" i="0" u="none" strike="noStrike" kern="1200" cap="none" spc="0" normalizeH="0" baseline="0" noProof="0" dirty="0">
                  <a:ln>
                    <a:noFill/>
                  </a:ln>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rPr>
                <a:t>。</a:t>
              </a:r>
            </a:p>
          </p:txBody>
        </p:sp>
        <p:sp>
          <p:nvSpPr>
            <p:cNvPr id="54" name="矩形 53">
              <a:extLst>
                <a:ext uri="{FF2B5EF4-FFF2-40B4-BE49-F238E27FC236}">
                  <a16:creationId xmlns:a16="http://schemas.microsoft.com/office/drawing/2014/main" id="{33D3C44B-AE3A-4D66-A27E-67A0537AECC0}"/>
                </a:ext>
              </a:extLst>
            </p:cNvPr>
            <p:cNvSpPr/>
            <p:nvPr/>
          </p:nvSpPr>
          <p:spPr>
            <a:xfrm>
              <a:off x="9151100" y="2171125"/>
              <a:ext cx="2164600" cy="400238"/>
            </a:xfrm>
            <a:prstGeom prst="rect">
              <a:avLst/>
            </a:prstGeom>
          </p:spPr>
          <p:txBody>
            <a:bodyPr wrap="square">
              <a:spAutoFit/>
              <a:scene3d>
                <a:camera prst="orthographicFront"/>
                <a:lightRig rig="threePt" dir="t"/>
              </a:scene3d>
              <a:sp3d contourW="12700"/>
            </a:bodyPr>
            <a:lstStyle/>
            <a:p>
              <a:pPr lvl="0" algn="r">
                <a:lnSpc>
                  <a:spcPct val="120000"/>
                </a:lnSpc>
                <a:defRPr/>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工艺条件</a:t>
              </a:r>
            </a:p>
          </p:txBody>
        </p:sp>
      </p:grpSp>
      <p:grpSp>
        <p:nvGrpSpPr>
          <p:cNvPr id="55" name="组合 54">
            <a:extLst>
              <a:ext uri="{FF2B5EF4-FFF2-40B4-BE49-F238E27FC236}">
                <a16:creationId xmlns:a16="http://schemas.microsoft.com/office/drawing/2014/main" id="{E08D5F4E-0394-47A1-B9E3-16AAEB9B805E}"/>
              </a:ext>
            </a:extLst>
          </p:cNvPr>
          <p:cNvGrpSpPr/>
          <p:nvPr/>
        </p:nvGrpSpPr>
        <p:grpSpPr>
          <a:xfrm>
            <a:off x="533400" y="3380058"/>
            <a:ext cx="3014466" cy="710369"/>
            <a:chOff x="8301234" y="2171125"/>
            <a:chExt cx="3014466" cy="710369"/>
          </a:xfrm>
        </p:grpSpPr>
        <p:sp>
          <p:nvSpPr>
            <p:cNvPr id="56" name="矩形 55">
              <a:extLst>
                <a:ext uri="{FF2B5EF4-FFF2-40B4-BE49-F238E27FC236}">
                  <a16:creationId xmlns:a16="http://schemas.microsoft.com/office/drawing/2014/main" id="{F693B9FE-4E83-42ED-B3CA-B0E8365E5627}"/>
                </a:ext>
              </a:extLst>
            </p:cNvPr>
            <p:cNvSpPr/>
            <p:nvPr/>
          </p:nvSpPr>
          <p:spPr>
            <a:xfrm>
              <a:off x="8301234" y="2514021"/>
              <a:ext cx="3014466" cy="367473"/>
            </a:xfrm>
            <a:prstGeom prst="rect">
              <a:avLst/>
            </a:prstGeom>
          </p:spPr>
          <p:txBody>
            <a:bodyPr wrap="square">
              <a:spAutoFit/>
              <a:scene3d>
                <a:camera prst="orthographicFront"/>
                <a:lightRig rig="threePt" dir="t"/>
              </a:scene3d>
              <a:sp3d contourW="12700"/>
            </a:bodyPr>
            <a:lstStyle/>
            <a:p>
              <a:pPr marL="0" marR="0" lvl="0" indent="0" algn="r" defTabSz="914400" rtl="0" eaLnBrk="1" fontAlgn="auto" latinLnBrk="0" hangingPunct="1">
                <a:lnSpc>
                  <a:spcPct val="120000"/>
                </a:lnSpc>
                <a:spcBef>
                  <a:spcPts val="0"/>
                </a:spcBef>
                <a:spcAft>
                  <a:spcPts val="0"/>
                </a:spcAft>
                <a:buClrTx/>
                <a:buSzTx/>
                <a:buFontTx/>
                <a:buNone/>
                <a:tabLst/>
                <a:defRPr/>
              </a:pPr>
              <a:r>
                <a:rPr lang="zh-CN" altLang="en-US" sz="1600" dirty="0"/>
                <a:t>影响屈服强度（</a:t>
              </a:r>
              <a:r>
                <a:rPr lang="en-US" altLang="zh-CN" sz="1600" dirty="0"/>
                <a:t>Hall-Petch </a:t>
              </a:r>
              <a:r>
                <a:rPr lang="zh-CN" altLang="en-US" sz="1600" dirty="0"/>
                <a:t>关系）</a:t>
              </a:r>
              <a:endParaRPr kumimoji="0" lang="zh-CN" altLang="en-US" sz="1600" b="0" i="0" u="none" strike="noStrike" kern="1200" cap="none" spc="0" normalizeH="0" baseline="0" noProof="0" dirty="0">
                <a:ln>
                  <a:noFill/>
                </a:ln>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57" name="矩形 56">
              <a:extLst>
                <a:ext uri="{FF2B5EF4-FFF2-40B4-BE49-F238E27FC236}">
                  <a16:creationId xmlns:a16="http://schemas.microsoft.com/office/drawing/2014/main" id="{C610D292-5B71-4EAE-8B9F-585C019D7D31}"/>
                </a:ext>
              </a:extLst>
            </p:cNvPr>
            <p:cNvSpPr/>
            <p:nvPr/>
          </p:nvSpPr>
          <p:spPr>
            <a:xfrm>
              <a:off x="9151100" y="2171125"/>
              <a:ext cx="2164600" cy="400238"/>
            </a:xfrm>
            <a:prstGeom prst="rect">
              <a:avLst/>
            </a:prstGeom>
          </p:spPr>
          <p:txBody>
            <a:bodyPr wrap="square">
              <a:spAutoFit/>
              <a:scene3d>
                <a:camera prst="orthographicFront"/>
                <a:lightRig rig="threePt" dir="t"/>
              </a:scene3d>
              <a:sp3d contourW="12700"/>
            </a:bodyPr>
            <a:lstStyle/>
            <a:p>
              <a:pPr lvl="0" algn="r">
                <a:lnSpc>
                  <a:spcPct val="120000"/>
                </a:lnSpc>
                <a:defRPr/>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晶粒尺寸</a:t>
              </a:r>
            </a:p>
          </p:txBody>
        </p:sp>
      </p:grpSp>
      <p:grpSp>
        <p:nvGrpSpPr>
          <p:cNvPr id="2" name="组合 1">
            <a:extLst>
              <a:ext uri="{FF2B5EF4-FFF2-40B4-BE49-F238E27FC236}">
                <a16:creationId xmlns:a16="http://schemas.microsoft.com/office/drawing/2014/main" id="{6B66C896-71DD-77A4-A0D5-3F4646744A5C}"/>
              </a:ext>
            </a:extLst>
          </p:cNvPr>
          <p:cNvGrpSpPr/>
          <p:nvPr/>
        </p:nvGrpSpPr>
        <p:grpSpPr>
          <a:xfrm>
            <a:off x="3934731" y="494387"/>
            <a:ext cx="4387922" cy="1200329"/>
            <a:chOff x="3934731" y="494387"/>
            <a:chExt cx="4387922" cy="1200329"/>
          </a:xfrm>
        </p:grpSpPr>
        <p:sp>
          <p:nvSpPr>
            <p:cNvPr id="3" name="文本框 2">
              <a:extLst>
                <a:ext uri="{FF2B5EF4-FFF2-40B4-BE49-F238E27FC236}">
                  <a16:creationId xmlns:a16="http://schemas.microsoft.com/office/drawing/2014/main" id="{C9BA0457-9451-AF0D-8520-83E62B74D545}"/>
                </a:ext>
              </a:extLst>
            </p:cNvPr>
            <p:cNvSpPr txBox="1"/>
            <p:nvPr/>
          </p:nvSpPr>
          <p:spPr>
            <a:xfrm>
              <a:off x="3934731" y="494387"/>
              <a:ext cx="4122516" cy="1200329"/>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solidFill>
                    <a:srgbClr val="0170BD"/>
                  </a:solidFill>
                  <a:ea typeface="字魂58号-创中黑" panose="00000500000000000000" pitchFamily="2" charset="-122"/>
                  <a:sym typeface="字魂58号-创中黑" panose="00000500000000000000" pitchFamily="2" charset="-122"/>
                </a:rPr>
                <a:t>二、工艺机理与物理建模</a:t>
              </a: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CC2973BD-24A1-DBC6-200F-6DB998385C65}"/>
                </a:ext>
              </a:extLst>
            </p:cNvPr>
            <p:cNvSpPr txBox="1">
              <a:spLocks noChangeArrowheads="1"/>
            </p:cNvSpPr>
            <p:nvPr/>
          </p:nvSpPr>
          <p:spPr bwMode="auto">
            <a:xfrm>
              <a:off x="4039108" y="85329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Process Mechanism and Physical Modeling</a:t>
              </a:r>
            </a:p>
          </p:txBody>
        </p:sp>
        <p:cxnSp>
          <p:nvCxnSpPr>
            <p:cNvPr id="5" name="直接连接符 4"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9D7A2E99-C943-6432-0DD5-253ED2C63A36}"/>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60" name="文本框 59">
            <a:extLst>
              <a:ext uri="{FF2B5EF4-FFF2-40B4-BE49-F238E27FC236}">
                <a16:creationId xmlns:a16="http://schemas.microsoft.com/office/drawing/2014/main" id="{5AD704C5-6EF7-7ADD-2F69-1AA9CE1FED2F}"/>
              </a:ext>
            </a:extLst>
          </p:cNvPr>
          <p:cNvSpPr txBox="1"/>
          <p:nvPr/>
        </p:nvSpPr>
        <p:spPr>
          <a:xfrm>
            <a:off x="957781" y="1363264"/>
            <a:ext cx="4031873" cy="400110"/>
          </a:xfrm>
          <a:prstGeom prst="rect">
            <a:avLst/>
          </a:prstGeom>
          <a:noFill/>
        </p:spPr>
        <p:txBody>
          <a:bodyPr wrap="none" rtlCol="0">
            <a:spAutoFit/>
          </a:bodyPr>
          <a:lstStyle/>
          <a:p>
            <a:r>
              <a:rPr lang="zh-CN" altLang="en-US" sz="2000" b="1" dirty="0">
                <a:solidFill>
                  <a:schemeClr val="bg1">
                    <a:lumMod val="50000"/>
                  </a:schemeClr>
                </a:solidFill>
                <a:ea typeface="字魂58号-创中黑" panose="00000500000000000000" pitchFamily="2" charset="-122"/>
              </a:rPr>
              <a:t>冷轧带钢力学性能的主要影响因素</a:t>
            </a:r>
          </a:p>
        </p:txBody>
      </p:sp>
      <p:pic>
        <p:nvPicPr>
          <p:cNvPr id="67" name="图片 66">
            <a:extLst>
              <a:ext uri="{FF2B5EF4-FFF2-40B4-BE49-F238E27FC236}">
                <a16:creationId xmlns:a16="http://schemas.microsoft.com/office/drawing/2014/main" id="{E71BAC7F-08EE-72EE-E5C6-A69FB3916F49}"/>
              </a:ext>
            </a:extLst>
          </p:cNvPr>
          <p:cNvPicPr>
            <a:picLocks noChangeAspect="1"/>
          </p:cNvPicPr>
          <p:nvPr/>
        </p:nvPicPr>
        <p:blipFill>
          <a:blip r:embed="rId3"/>
          <a:stretch>
            <a:fillRect/>
          </a:stretch>
        </p:blipFill>
        <p:spPr>
          <a:xfrm>
            <a:off x="4241183" y="2158046"/>
            <a:ext cx="3638376" cy="3233770"/>
          </a:xfrm>
          <a:prstGeom prst="ellipse">
            <a:avLst/>
          </a:prstGeom>
        </p:spPr>
      </p:pic>
    </p:spTree>
    <p:extLst>
      <p:ext uri="{BB962C8B-B14F-4D97-AF65-F5344CB8AC3E}">
        <p14:creationId xmlns:p14="http://schemas.microsoft.com/office/powerpoint/2010/main" val="3296101289"/>
      </p:ext>
    </p:extLst>
  </p:cSld>
  <p:clrMapOvr>
    <a:masterClrMapping/>
  </p:clrMapOvr>
  <mc:AlternateContent xmlns:mc="http://schemas.openxmlformats.org/markup-compatibility/2006" xmlns:p14="http://schemas.microsoft.com/office/powerpoint/2010/main">
    <mc:Choice Requires="p14">
      <p:transition spd="slow" p14:dur="1500" advClick="0" advTm="14866">
        <p:random/>
      </p:transition>
    </mc:Choice>
    <mc:Fallback xmlns="">
      <p:transition spd="slow" advClick="0" advTm="14866">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cf734803-9a05-4975-b914-a32fc27e5d2b">
            <a:extLst>
              <a:ext uri="{FF2B5EF4-FFF2-40B4-BE49-F238E27FC236}">
                <a16:creationId xmlns:a16="http://schemas.microsoft.com/office/drawing/2014/main" id="{55051935-24E6-4277-9298-540765F7176F}"/>
              </a:ext>
            </a:extLst>
          </p:cNvPr>
          <p:cNvGrpSpPr>
            <a:grpSpLocks noChangeAspect="1"/>
          </p:cNvGrpSpPr>
          <p:nvPr/>
        </p:nvGrpSpPr>
        <p:grpSpPr>
          <a:xfrm>
            <a:off x="4138604" y="2400000"/>
            <a:ext cx="3823611" cy="2693249"/>
            <a:chOff x="3585447" y="1485684"/>
            <a:chExt cx="5366781" cy="3780218"/>
          </a:xfrm>
        </p:grpSpPr>
        <p:grpSp>
          <p:nvGrpSpPr>
            <p:cNvPr id="15" name="Group 1">
              <a:extLst>
                <a:ext uri="{FF2B5EF4-FFF2-40B4-BE49-F238E27FC236}">
                  <a16:creationId xmlns:a16="http://schemas.microsoft.com/office/drawing/2014/main" id="{547112FE-315D-466A-A728-BA3891EBD772}"/>
                </a:ext>
              </a:extLst>
            </p:cNvPr>
            <p:cNvGrpSpPr/>
            <p:nvPr/>
          </p:nvGrpSpPr>
          <p:grpSpPr>
            <a:xfrm>
              <a:off x="4800050" y="2570251"/>
              <a:ext cx="2352798" cy="2352790"/>
              <a:chOff x="4800050" y="2348734"/>
              <a:chExt cx="2352798" cy="2352790"/>
            </a:xfrm>
          </p:grpSpPr>
          <p:sp>
            <p:nvSpPr>
              <p:cNvPr id="461" name="Freeform 6">
                <a:extLst>
                  <a:ext uri="{FF2B5EF4-FFF2-40B4-BE49-F238E27FC236}">
                    <a16:creationId xmlns:a16="http://schemas.microsoft.com/office/drawing/2014/main" id="{F6270A1A-09D3-41FA-B0FD-179011EF466C}"/>
                  </a:ext>
                </a:extLst>
              </p:cNvPr>
              <p:cNvSpPr/>
              <p:nvPr/>
            </p:nvSpPr>
            <p:spPr>
              <a:xfrm>
                <a:off x="4800050" y="2348734"/>
                <a:ext cx="2352798" cy="2352790"/>
              </a:xfrm>
              <a:custGeom>
                <a:avLst/>
                <a:gdLst>
                  <a:gd name="connsiteX0" fmla="*/ 1124074 w 1583637"/>
                  <a:gd name="connsiteY0" fmla="*/ 252493 h 1583637"/>
                  <a:gd name="connsiteX1" fmla="*/ 1247256 w 1583637"/>
                  <a:gd name="connsiteY1" fmla="*/ 149126 h 1583637"/>
                  <a:gd name="connsiteX2" fmla="*/ 1345663 w 1583637"/>
                  <a:gd name="connsiteY2" fmla="*/ 231701 h 1583637"/>
                  <a:gd name="connsiteX3" fmla="*/ 1265256 w 1583637"/>
                  <a:gd name="connsiteY3" fmla="*/ 370961 h 1583637"/>
                  <a:gd name="connsiteX4" fmla="*/ 1393012 w 1583637"/>
                  <a:gd name="connsiteY4" fmla="*/ 592241 h 1583637"/>
                  <a:gd name="connsiteX5" fmla="*/ 1553818 w 1583637"/>
                  <a:gd name="connsiteY5" fmla="*/ 592237 h 1583637"/>
                  <a:gd name="connsiteX6" fmla="*/ 1576125 w 1583637"/>
                  <a:gd name="connsiteY6" fmla="*/ 718748 h 1583637"/>
                  <a:gd name="connsiteX7" fmla="*/ 1425015 w 1583637"/>
                  <a:gd name="connsiteY7" fmla="*/ 773743 h 1583637"/>
                  <a:gd name="connsiteX8" fmla="*/ 1380646 w 1583637"/>
                  <a:gd name="connsiteY8" fmla="*/ 1025372 h 1583637"/>
                  <a:gd name="connsiteX9" fmla="*/ 1503833 w 1583637"/>
                  <a:gd name="connsiteY9" fmla="*/ 1128733 h 1583637"/>
                  <a:gd name="connsiteX10" fmla="*/ 1439602 w 1583637"/>
                  <a:gd name="connsiteY10" fmla="*/ 1239984 h 1583637"/>
                  <a:gd name="connsiteX11" fmla="*/ 1288495 w 1583637"/>
                  <a:gd name="connsiteY11" fmla="*/ 1184982 h 1583637"/>
                  <a:gd name="connsiteX12" fmla="*/ 1092761 w 1583637"/>
                  <a:gd name="connsiteY12" fmla="*/ 1349222 h 1583637"/>
                  <a:gd name="connsiteX13" fmla="*/ 1120689 w 1583637"/>
                  <a:gd name="connsiteY13" fmla="*/ 1507584 h 1583637"/>
                  <a:gd name="connsiteX14" fmla="*/ 999974 w 1583637"/>
                  <a:gd name="connsiteY14" fmla="*/ 1551521 h 1583637"/>
                  <a:gd name="connsiteX15" fmla="*/ 919574 w 1583637"/>
                  <a:gd name="connsiteY15" fmla="*/ 1412257 h 1583637"/>
                  <a:gd name="connsiteX16" fmla="*/ 664062 w 1583637"/>
                  <a:gd name="connsiteY16" fmla="*/ 1412257 h 1583637"/>
                  <a:gd name="connsiteX17" fmla="*/ 583663 w 1583637"/>
                  <a:gd name="connsiteY17" fmla="*/ 1551521 h 1583637"/>
                  <a:gd name="connsiteX18" fmla="*/ 462948 w 1583637"/>
                  <a:gd name="connsiteY18" fmla="*/ 1507584 h 1583637"/>
                  <a:gd name="connsiteX19" fmla="*/ 490876 w 1583637"/>
                  <a:gd name="connsiteY19" fmla="*/ 1349222 h 1583637"/>
                  <a:gd name="connsiteX20" fmla="*/ 295142 w 1583637"/>
                  <a:gd name="connsiteY20" fmla="*/ 1184981 h 1583637"/>
                  <a:gd name="connsiteX21" fmla="*/ 144035 w 1583637"/>
                  <a:gd name="connsiteY21" fmla="*/ 1239984 h 1583637"/>
                  <a:gd name="connsiteX22" fmla="*/ 79804 w 1583637"/>
                  <a:gd name="connsiteY22" fmla="*/ 1128733 h 1583637"/>
                  <a:gd name="connsiteX23" fmla="*/ 202991 w 1583637"/>
                  <a:gd name="connsiteY23" fmla="*/ 1025372 h 1583637"/>
                  <a:gd name="connsiteX24" fmla="*/ 158622 w 1583637"/>
                  <a:gd name="connsiteY24" fmla="*/ 773743 h 1583637"/>
                  <a:gd name="connsiteX25" fmla="*/ 7512 w 1583637"/>
                  <a:gd name="connsiteY25" fmla="*/ 718748 h 1583637"/>
                  <a:gd name="connsiteX26" fmla="*/ 29819 w 1583637"/>
                  <a:gd name="connsiteY26" fmla="*/ 592237 h 1583637"/>
                  <a:gd name="connsiteX27" fmla="*/ 190625 w 1583637"/>
                  <a:gd name="connsiteY27" fmla="*/ 592241 h 1583637"/>
                  <a:gd name="connsiteX28" fmla="*/ 318381 w 1583637"/>
                  <a:gd name="connsiteY28" fmla="*/ 370961 h 1583637"/>
                  <a:gd name="connsiteX29" fmla="*/ 237974 w 1583637"/>
                  <a:gd name="connsiteY29" fmla="*/ 231701 h 1583637"/>
                  <a:gd name="connsiteX30" fmla="*/ 336381 w 1583637"/>
                  <a:gd name="connsiteY30" fmla="*/ 149126 h 1583637"/>
                  <a:gd name="connsiteX31" fmla="*/ 459563 w 1583637"/>
                  <a:gd name="connsiteY31" fmla="*/ 252493 h 1583637"/>
                  <a:gd name="connsiteX32" fmla="*/ 699666 w 1583637"/>
                  <a:gd name="connsiteY32" fmla="*/ 165103 h 1583637"/>
                  <a:gd name="connsiteX33" fmla="*/ 727586 w 1583637"/>
                  <a:gd name="connsiteY33" fmla="*/ 6739 h 1583637"/>
                  <a:gd name="connsiteX34" fmla="*/ 856051 w 1583637"/>
                  <a:gd name="connsiteY34" fmla="*/ 6739 h 1583637"/>
                  <a:gd name="connsiteX35" fmla="*/ 883970 w 1583637"/>
                  <a:gd name="connsiteY35" fmla="*/ 165102 h 1583637"/>
                  <a:gd name="connsiteX36" fmla="*/ 1124073 w 1583637"/>
                  <a:gd name="connsiteY36" fmla="*/ 252493 h 1583637"/>
                  <a:gd name="connsiteX37" fmla="*/ 1124074 w 1583637"/>
                  <a:gd name="connsiteY37" fmla="*/ 252493 h 1583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83637" h="1583637">
                    <a:moveTo>
                      <a:pt x="1124074" y="252493"/>
                    </a:moveTo>
                    <a:lnTo>
                      <a:pt x="1247256" y="149126"/>
                    </a:lnTo>
                    <a:lnTo>
                      <a:pt x="1345663" y="231701"/>
                    </a:lnTo>
                    <a:lnTo>
                      <a:pt x="1265256" y="370961"/>
                    </a:lnTo>
                    <a:cubicBezTo>
                      <a:pt x="1322430" y="435278"/>
                      <a:pt x="1365899" y="510569"/>
                      <a:pt x="1393012" y="592241"/>
                    </a:cubicBezTo>
                    <a:lnTo>
                      <a:pt x="1553818" y="592237"/>
                    </a:lnTo>
                    <a:lnTo>
                      <a:pt x="1576125" y="718748"/>
                    </a:lnTo>
                    <a:lnTo>
                      <a:pt x="1425015" y="773743"/>
                    </a:lnTo>
                    <a:cubicBezTo>
                      <a:pt x="1427471" y="859762"/>
                      <a:pt x="1412374" y="945380"/>
                      <a:pt x="1380646" y="1025372"/>
                    </a:cubicBezTo>
                    <a:lnTo>
                      <a:pt x="1503833" y="1128733"/>
                    </a:lnTo>
                    <a:lnTo>
                      <a:pt x="1439602" y="1239984"/>
                    </a:lnTo>
                    <a:lnTo>
                      <a:pt x="1288495" y="1184982"/>
                    </a:lnTo>
                    <a:cubicBezTo>
                      <a:pt x="1235084" y="1252456"/>
                      <a:pt x="1168484" y="1308339"/>
                      <a:pt x="1092761" y="1349222"/>
                    </a:cubicBezTo>
                    <a:lnTo>
                      <a:pt x="1120689" y="1507584"/>
                    </a:lnTo>
                    <a:lnTo>
                      <a:pt x="999974" y="1551521"/>
                    </a:lnTo>
                    <a:lnTo>
                      <a:pt x="919574" y="1412257"/>
                    </a:lnTo>
                    <a:cubicBezTo>
                      <a:pt x="835287" y="1429613"/>
                      <a:pt x="748348" y="1429613"/>
                      <a:pt x="664062" y="1412257"/>
                    </a:cubicBezTo>
                    <a:lnTo>
                      <a:pt x="583663" y="1551521"/>
                    </a:lnTo>
                    <a:lnTo>
                      <a:pt x="462948" y="1507584"/>
                    </a:lnTo>
                    <a:lnTo>
                      <a:pt x="490876" y="1349222"/>
                    </a:lnTo>
                    <a:cubicBezTo>
                      <a:pt x="415153" y="1308339"/>
                      <a:pt x="348553" y="1252455"/>
                      <a:pt x="295142" y="1184981"/>
                    </a:cubicBezTo>
                    <a:lnTo>
                      <a:pt x="144035" y="1239984"/>
                    </a:lnTo>
                    <a:lnTo>
                      <a:pt x="79804" y="1128733"/>
                    </a:lnTo>
                    <a:lnTo>
                      <a:pt x="202991" y="1025372"/>
                    </a:lnTo>
                    <a:cubicBezTo>
                      <a:pt x="171263" y="945380"/>
                      <a:pt x="156166" y="859762"/>
                      <a:pt x="158622" y="773743"/>
                    </a:cubicBezTo>
                    <a:lnTo>
                      <a:pt x="7512" y="718748"/>
                    </a:lnTo>
                    <a:lnTo>
                      <a:pt x="29819" y="592237"/>
                    </a:lnTo>
                    <a:lnTo>
                      <a:pt x="190625" y="592241"/>
                    </a:lnTo>
                    <a:cubicBezTo>
                      <a:pt x="217738" y="510569"/>
                      <a:pt x="261208" y="435277"/>
                      <a:pt x="318381" y="370961"/>
                    </a:cubicBezTo>
                    <a:lnTo>
                      <a:pt x="237974" y="231701"/>
                    </a:lnTo>
                    <a:lnTo>
                      <a:pt x="336381" y="149126"/>
                    </a:lnTo>
                    <a:lnTo>
                      <a:pt x="459563" y="252493"/>
                    </a:lnTo>
                    <a:cubicBezTo>
                      <a:pt x="532831" y="207356"/>
                      <a:pt x="614527" y="177621"/>
                      <a:pt x="699666" y="165103"/>
                    </a:cubicBezTo>
                    <a:lnTo>
                      <a:pt x="727586" y="6739"/>
                    </a:lnTo>
                    <a:lnTo>
                      <a:pt x="856051" y="6739"/>
                    </a:lnTo>
                    <a:lnTo>
                      <a:pt x="883970" y="165102"/>
                    </a:lnTo>
                    <a:cubicBezTo>
                      <a:pt x="969110" y="177621"/>
                      <a:pt x="1050806" y="207356"/>
                      <a:pt x="1124073" y="252493"/>
                    </a:cubicBezTo>
                    <a:lnTo>
                      <a:pt x="1124074" y="252493"/>
                    </a:lnTo>
                    <a:close/>
                  </a:path>
                </a:pathLst>
              </a:custGeom>
              <a:solidFill>
                <a:srgbClr val="0170BD"/>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6481" tIns="548640" rIns="356481" bIns="436755" numCol="1" spcCol="1270" anchor="ctr" anchorCtr="0">
                <a:noAutofit/>
              </a:bodyPr>
              <a:lstStyle/>
              <a:p>
                <a:pPr algn="ctr" defTabSz="1333500">
                  <a:lnSpc>
                    <a:spcPct val="120000"/>
                  </a:lnSpc>
                  <a:spcBef>
                    <a:spcPct val="0"/>
                  </a:spcBef>
                  <a:spcAft>
                    <a:spcPct val="0"/>
                  </a:spcAft>
                </a:pPr>
                <a:endParaRPr lang="en-US" sz="3000" dirty="0">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62" name="Oval 7">
                <a:extLst>
                  <a:ext uri="{FF2B5EF4-FFF2-40B4-BE49-F238E27FC236}">
                    <a16:creationId xmlns:a16="http://schemas.microsoft.com/office/drawing/2014/main" id="{F52653B1-74AD-4E6D-A1C5-501477F752CA}"/>
                  </a:ext>
                </a:extLst>
              </p:cNvPr>
              <p:cNvSpPr/>
              <p:nvPr/>
            </p:nvSpPr>
            <p:spPr>
              <a:xfrm>
                <a:off x="5246579" y="2795260"/>
                <a:ext cx="1459740" cy="1459738"/>
              </a:xfrm>
              <a:prstGeom prst="ellipse">
                <a:avLst/>
              </a:prstGeom>
              <a:solidFill>
                <a:schemeClr val="bg1"/>
              </a:solidFill>
              <a:ln w="12700">
                <a:no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en-US" dirty="0">
                  <a:solidFill>
                    <a:schemeClr val="tx1"/>
                  </a:solidFill>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grpSp>
          <p:nvGrpSpPr>
            <p:cNvPr id="16" name="Group 757">
              <a:extLst>
                <a:ext uri="{FF2B5EF4-FFF2-40B4-BE49-F238E27FC236}">
                  <a16:creationId xmlns:a16="http://schemas.microsoft.com/office/drawing/2014/main" id="{482AC5CC-1B46-4B07-9E88-2574A111DB86}"/>
                </a:ext>
              </a:extLst>
            </p:cNvPr>
            <p:cNvGrpSpPr/>
            <p:nvPr/>
          </p:nvGrpSpPr>
          <p:grpSpPr>
            <a:xfrm>
              <a:off x="6882288" y="3405936"/>
              <a:ext cx="1522822" cy="1522817"/>
              <a:chOff x="6882288" y="3184419"/>
              <a:chExt cx="1522822" cy="1522817"/>
            </a:xfrm>
          </p:grpSpPr>
          <p:sp>
            <p:nvSpPr>
              <p:cNvPr id="459" name="Freeform 158">
                <a:extLst>
                  <a:ext uri="{FF2B5EF4-FFF2-40B4-BE49-F238E27FC236}">
                    <a16:creationId xmlns:a16="http://schemas.microsoft.com/office/drawing/2014/main" id="{8124ED02-B4DC-40F6-A483-1222A2C7B579}"/>
                  </a:ext>
                </a:extLst>
              </p:cNvPr>
              <p:cNvSpPr/>
              <p:nvPr/>
            </p:nvSpPr>
            <p:spPr>
              <a:xfrm>
                <a:off x="6882288" y="3184419"/>
                <a:ext cx="1522822" cy="1522817"/>
              </a:xfrm>
              <a:custGeom>
                <a:avLst/>
                <a:gdLst>
                  <a:gd name="connsiteX0" fmla="*/ 1124074 w 1583637"/>
                  <a:gd name="connsiteY0" fmla="*/ 252493 h 1583637"/>
                  <a:gd name="connsiteX1" fmla="*/ 1247256 w 1583637"/>
                  <a:gd name="connsiteY1" fmla="*/ 149126 h 1583637"/>
                  <a:gd name="connsiteX2" fmla="*/ 1345663 w 1583637"/>
                  <a:gd name="connsiteY2" fmla="*/ 231701 h 1583637"/>
                  <a:gd name="connsiteX3" fmla="*/ 1265256 w 1583637"/>
                  <a:gd name="connsiteY3" fmla="*/ 370961 h 1583637"/>
                  <a:gd name="connsiteX4" fmla="*/ 1393012 w 1583637"/>
                  <a:gd name="connsiteY4" fmla="*/ 592241 h 1583637"/>
                  <a:gd name="connsiteX5" fmla="*/ 1553818 w 1583637"/>
                  <a:gd name="connsiteY5" fmla="*/ 592237 h 1583637"/>
                  <a:gd name="connsiteX6" fmla="*/ 1576125 w 1583637"/>
                  <a:gd name="connsiteY6" fmla="*/ 718748 h 1583637"/>
                  <a:gd name="connsiteX7" fmla="*/ 1425015 w 1583637"/>
                  <a:gd name="connsiteY7" fmla="*/ 773743 h 1583637"/>
                  <a:gd name="connsiteX8" fmla="*/ 1380646 w 1583637"/>
                  <a:gd name="connsiteY8" fmla="*/ 1025372 h 1583637"/>
                  <a:gd name="connsiteX9" fmla="*/ 1503833 w 1583637"/>
                  <a:gd name="connsiteY9" fmla="*/ 1128733 h 1583637"/>
                  <a:gd name="connsiteX10" fmla="*/ 1439602 w 1583637"/>
                  <a:gd name="connsiteY10" fmla="*/ 1239984 h 1583637"/>
                  <a:gd name="connsiteX11" fmla="*/ 1288495 w 1583637"/>
                  <a:gd name="connsiteY11" fmla="*/ 1184982 h 1583637"/>
                  <a:gd name="connsiteX12" fmla="*/ 1092761 w 1583637"/>
                  <a:gd name="connsiteY12" fmla="*/ 1349222 h 1583637"/>
                  <a:gd name="connsiteX13" fmla="*/ 1120689 w 1583637"/>
                  <a:gd name="connsiteY13" fmla="*/ 1507584 h 1583637"/>
                  <a:gd name="connsiteX14" fmla="*/ 999974 w 1583637"/>
                  <a:gd name="connsiteY14" fmla="*/ 1551521 h 1583637"/>
                  <a:gd name="connsiteX15" fmla="*/ 919574 w 1583637"/>
                  <a:gd name="connsiteY15" fmla="*/ 1412257 h 1583637"/>
                  <a:gd name="connsiteX16" fmla="*/ 664062 w 1583637"/>
                  <a:gd name="connsiteY16" fmla="*/ 1412257 h 1583637"/>
                  <a:gd name="connsiteX17" fmla="*/ 583663 w 1583637"/>
                  <a:gd name="connsiteY17" fmla="*/ 1551521 h 1583637"/>
                  <a:gd name="connsiteX18" fmla="*/ 462948 w 1583637"/>
                  <a:gd name="connsiteY18" fmla="*/ 1507584 h 1583637"/>
                  <a:gd name="connsiteX19" fmla="*/ 490876 w 1583637"/>
                  <a:gd name="connsiteY19" fmla="*/ 1349222 h 1583637"/>
                  <a:gd name="connsiteX20" fmla="*/ 295142 w 1583637"/>
                  <a:gd name="connsiteY20" fmla="*/ 1184981 h 1583637"/>
                  <a:gd name="connsiteX21" fmla="*/ 144035 w 1583637"/>
                  <a:gd name="connsiteY21" fmla="*/ 1239984 h 1583637"/>
                  <a:gd name="connsiteX22" fmla="*/ 79804 w 1583637"/>
                  <a:gd name="connsiteY22" fmla="*/ 1128733 h 1583637"/>
                  <a:gd name="connsiteX23" fmla="*/ 202991 w 1583637"/>
                  <a:gd name="connsiteY23" fmla="*/ 1025372 h 1583637"/>
                  <a:gd name="connsiteX24" fmla="*/ 158622 w 1583637"/>
                  <a:gd name="connsiteY24" fmla="*/ 773743 h 1583637"/>
                  <a:gd name="connsiteX25" fmla="*/ 7512 w 1583637"/>
                  <a:gd name="connsiteY25" fmla="*/ 718748 h 1583637"/>
                  <a:gd name="connsiteX26" fmla="*/ 29819 w 1583637"/>
                  <a:gd name="connsiteY26" fmla="*/ 592237 h 1583637"/>
                  <a:gd name="connsiteX27" fmla="*/ 190625 w 1583637"/>
                  <a:gd name="connsiteY27" fmla="*/ 592241 h 1583637"/>
                  <a:gd name="connsiteX28" fmla="*/ 318381 w 1583637"/>
                  <a:gd name="connsiteY28" fmla="*/ 370961 h 1583637"/>
                  <a:gd name="connsiteX29" fmla="*/ 237974 w 1583637"/>
                  <a:gd name="connsiteY29" fmla="*/ 231701 h 1583637"/>
                  <a:gd name="connsiteX30" fmla="*/ 336381 w 1583637"/>
                  <a:gd name="connsiteY30" fmla="*/ 149126 h 1583637"/>
                  <a:gd name="connsiteX31" fmla="*/ 459563 w 1583637"/>
                  <a:gd name="connsiteY31" fmla="*/ 252493 h 1583637"/>
                  <a:gd name="connsiteX32" fmla="*/ 699666 w 1583637"/>
                  <a:gd name="connsiteY32" fmla="*/ 165103 h 1583637"/>
                  <a:gd name="connsiteX33" fmla="*/ 727586 w 1583637"/>
                  <a:gd name="connsiteY33" fmla="*/ 6739 h 1583637"/>
                  <a:gd name="connsiteX34" fmla="*/ 856051 w 1583637"/>
                  <a:gd name="connsiteY34" fmla="*/ 6739 h 1583637"/>
                  <a:gd name="connsiteX35" fmla="*/ 883970 w 1583637"/>
                  <a:gd name="connsiteY35" fmla="*/ 165102 h 1583637"/>
                  <a:gd name="connsiteX36" fmla="*/ 1124073 w 1583637"/>
                  <a:gd name="connsiteY36" fmla="*/ 252493 h 1583637"/>
                  <a:gd name="connsiteX37" fmla="*/ 1124074 w 1583637"/>
                  <a:gd name="connsiteY37" fmla="*/ 252493 h 1583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83637" h="1583637">
                    <a:moveTo>
                      <a:pt x="1124074" y="252493"/>
                    </a:moveTo>
                    <a:lnTo>
                      <a:pt x="1247256" y="149126"/>
                    </a:lnTo>
                    <a:lnTo>
                      <a:pt x="1345663" y="231701"/>
                    </a:lnTo>
                    <a:lnTo>
                      <a:pt x="1265256" y="370961"/>
                    </a:lnTo>
                    <a:cubicBezTo>
                      <a:pt x="1322430" y="435278"/>
                      <a:pt x="1365899" y="510569"/>
                      <a:pt x="1393012" y="592241"/>
                    </a:cubicBezTo>
                    <a:lnTo>
                      <a:pt x="1553818" y="592237"/>
                    </a:lnTo>
                    <a:lnTo>
                      <a:pt x="1576125" y="718748"/>
                    </a:lnTo>
                    <a:lnTo>
                      <a:pt x="1425015" y="773743"/>
                    </a:lnTo>
                    <a:cubicBezTo>
                      <a:pt x="1427471" y="859762"/>
                      <a:pt x="1412374" y="945380"/>
                      <a:pt x="1380646" y="1025372"/>
                    </a:cubicBezTo>
                    <a:lnTo>
                      <a:pt x="1503833" y="1128733"/>
                    </a:lnTo>
                    <a:lnTo>
                      <a:pt x="1439602" y="1239984"/>
                    </a:lnTo>
                    <a:lnTo>
                      <a:pt x="1288495" y="1184982"/>
                    </a:lnTo>
                    <a:cubicBezTo>
                      <a:pt x="1235084" y="1252456"/>
                      <a:pt x="1168484" y="1308339"/>
                      <a:pt x="1092761" y="1349222"/>
                    </a:cubicBezTo>
                    <a:lnTo>
                      <a:pt x="1120689" y="1507584"/>
                    </a:lnTo>
                    <a:lnTo>
                      <a:pt x="999974" y="1551521"/>
                    </a:lnTo>
                    <a:lnTo>
                      <a:pt x="919574" y="1412257"/>
                    </a:lnTo>
                    <a:cubicBezTo>
                      <a:pt x="835287" y="1429613"/>
                      <a:pt x="748348" y="1429613"/>
                      <a:pt x="664062" y="1412257"/>
                    </a:cubicBezTo>
                    <a:lnTo>
                      <a:pt x="583663" y="1551521"/>
                    </a:lnTo>
                    <a:lnTo>
                      <a:pt x="462948" y="1507584"/>
                    </a:lnTo>
                    <a:lnTo>
                      <a:pt x="490876" y="1349222"/>
                    </a:lnTo>
                    <a:cubicBezTo>
                      <a:pt x="415153" y="1308339"/>
                      <a:pt x="348553" y="1252455"/>
                      <a:pt x="295142" y="1184981"/>
                    </a:cubicBezTo>
                    <a:lnTo>
                      <a:pt x="144035" y="1239984"/>
                    </a:lnTo>
                    <a:lnTo>
                      <a:pt x="79804" y="1128733"/>
                    </a:lnTo>
                    <a:lnTo>
                      <a:pt x="202991" y="1025372"/>
                    </a:lnTo>
                    <a:cubicBezTo>
                      <a:pt x="171263" y="945380"/>
                      <a:pt x="156166" y="859762"/>
                      <a:pt x="158622" y="773743"/>
                    </a:cubicBezTo>
                    <a:lnTo>
                      <a:pt x="7512" y="718748"/>
                    </a:lnTo>
                    <a:lnTo>
                      <a:pt x="29819" y="592237"/>
                    </a:lnTo>
                    <a:lnTo>
                      <a:pt x="190625" y="592241"/>
                    </a:lnTo>
                    <a:cubicBezTo>
                      <a:pt x="217738" y="510569"/>
                      <a:pt x="261208" y="435277"/>
                      <a:pt x="318381" y="370961"/>
                    </a:cubicBezTo>
                    <a:lnTo>
                      <a:pt x="237974" y="231701"/>
                    </a:lnTo>
                    <a:lnTo>
                      <a:pt x="336381" y="149126"/>
                    </a:lnTo>
                    <a:lnTo>
                      <a:pt x="459563" y="252493"/>
                    </a:lnTo>
                    <a:cubicBezTo>
                      <a:pt x="532831" y="207356"/>
                      <a:pt x="614527" y="177621"/>
                      <a:pt x="699666" y="165103"/>
                    </a:cubicBezTo>
                    <a:lnTo>
                      <a:pt x="727586" y="6739"/>
                    </a:lnTo>
                    <a:lnTo>
                      <a:pt x="856051" y="6739"/>
                    </a:lnTo>
                    <a:lnTo>
                      <a:pt x="883970" y="165102"/>
                    </a:lnTo>
                    <a:cubicBezTo>
                      <a:pt x="969110" y="177621"/>
                      <a:pt x="1050806" y="207356"/>
                      <a:pt x="1124073" y="252493"/>
                    </a:cubicBezTo>
                    <a:lnTo>
                      <a:pt x="1124074" y="252493"/>
                    </a:ln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6481" tIns="548640" rIns="356481" bIns="436755" numCol="1" spcCol="1270" anchor="ctr" anchorCtr="0">
                <a:noAutofit/>
              </a:bodyPr>
              <a:lstStyle/>
              <a:p>
                <a:pPr algn="ctr" defTabSz="1333500">
                  <a:lnSpc>
                    <a:spcPct val="120000"/>
                  </a:lnSpc>
                  <a:spcBef>
                    <a:spcPct val="0"/>
                  </a:spcBef>
                  <a:spcAft>
                    <a:spcPct val="0"/>
                  </a:spcAft>
                </a:pPr>
                <a:endParaRPr lang="en-US" sz="3000" dirty="0">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60" name="Oval 159">
                <a:extLst>
                  <a:ext uri="{FF2B5EF4-FFF2-40B4-BE49-F238E27FC236}">
                    <a16:creationId xmlns:a16="http://schemas.microsoft.com/office/drawing/2014/main" id="{361AED56-4221-4BC9-B610-9A7CBCF97152}"/>
                  </a:ext>
                </a:extLst>
              </p:cNvPr>
              <p:cNvSpPr/>
              <p:nvPr/>
            </p:nvSpPr>
            <p:spPr>
              <a:xfrm>
                <a:off x="7171299" y="3473428"/>
                <a:ext cx="944801" cy="944799"/>
              </a:xfrm>
              <a:prstGeom prst="ellipse">
                <a:avLst/>
              </a:prstGeom>
              <a:solidFill>
                <a:schemeClr val="bg1"/>
              </a:solidFill>
              <a:ln w="12700">
                <a:no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en-US" dirty="0">
                  <a:solidFill>
                    <a:schemeClr val="tx1"/>
                  </a:solidFill>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grpSp>
          <p:nvGrpSpPr>
            <p:cNvPr id="17" name="Group 2">
              <a:extLst>
                <a:ext uri="{FF2B5EF4-FFF2-40B4-BE49-F238E27FC236}">
                  <a16:creationId xmlns:a16="http://schemas.microsoft.com/office/drawing/2014/main" id="{E39870B0-556A-4AEC-B5AB-76739D079076}"/>
                </a:ext>
              </a:extLst>
            </p:cNvPr>
            <p:cNvGrpSpPr/>
            <p:nvPr/>
          </p:nvGrpSpPr>
          <p:grpSpPr>
            <a:xfrm>
              <a:off x="3975192" y="3673245"/>
              <a:ext cx="1107734" cy="1107730"/>
              <a:chOff x="3975192" y="3451728"/>
              <a:chExt cx="1107734" cy="1107730"/>
            </a:xfrm>
          </p:grpSpPr>
          <p:sp>
            <p:nvSpPr>
              <p:cNvPr id="457" name="Freeform 309">
                <a:extLst>
                  <a:ext uri="{FF2B5EF4-FFF2-40B4-BE49-F238E27FC236}">
                    <a16:creationId xmlns:a16="http://schemas.microsoft.com/office/drawing/2014/main" id="{F75CE46E-B5C6-431B-AE4B-1DAE3BD184EA}"/>
                  </a:ext>
                </a:extLst>
              </p:cNvPr>
              <p:cNvSpPr/>
              <p:nvPr/>
            </p:nvSpPr>
            <p:spPr>
              <a:xfrm>
                <a:off x="3975192" y="3451728"/>
                <a:ext cx="1107734" cy="1107730"/>
              </a:xfrm>
              <a:custGeom>
                <a:avLst/>
                <a:gdLst>
                  <a:gd name="connsiteX0" fmla="*/ 1124074 w 1583637"/>
                  <a:gd name="connsiteY0" fmla="*/ 252493 h 1583637"/>
                  <a:gd name="connsiteX1" fmla="*/ 1247256 w 1583637"/>
                  <a:gd name="connsiteY1" fmla="*/ 149126 h 1583637"/>
                  <a:gd name="connsiteX2" fmla="*/ 1345663 w 1583637"/>
                  <a:gd name="connsiteY2" fmla="*/ 231701 h 1583637"/>
                  <a:gd name="connsiteX3" fmla="*/ 1265256 w 1583637"/>
                  <a:gd name="connsiteY3" fmla="*/ 370961 h 1583637"/>
                  <a:gd name="connsiteX4" fmla="*/ 1393012 w 1583637"/>
                  <a:gd name="connsiteY4" fmla="*/ 592241 h 1583637"/>
                  <a:gd name="connsiteX5" fmla="*/ 1553818 w 1583637"/>
                  <a:gd name="connsiteY5" fmla="*/ 592237 h 1583637"/>
                  <a:gd name="connsiteX6" fmla="*/ 1576125 w 1583637"/>
                  <a:gd name="connsiteY6" fmla="*/ 718748 h 1583637"/>
                  <a:gd name="connsiteX7" fmla="*/ 1425015 w 1583637"/>
                  <a:gd name="connsiteY7" fmla="*/ 773743 h 1583637"/>
                  <a:gd name="connsiteX8" fmla="*/ 1380646 w 1583637"/>
                  <a:gd name="connsiteY8" fmla="*/ 1025372 h 1583637"/>
                  <a:gd name="connsiteX9" fmla="*/ 1503833 w 1583637"/>
                  <a:gd name="connsiteY9" fmla="*/ 1128733 h 1583637"/>
                  <a:gd name="connsiteX10" fmla="*/ 1439602 w 1583637"/>
                  <a:gd name="connsiteY10" fmla="*/ 1239984 h 1583637"/>
                  <a:gd name="connsiteX11" fmla="*/ 1288495 w 1583637"/>
                  <a:gd name="connsiteY11" fmla="*/ 1184982 h 1583637"/>
                  <a:gd name="connsiteX12" fmla="*/ 1092761 w 1583637"/>
                  <a:gd name="connsiteY12" fmla="*/ 1349222 h 1583637"/>
                  <a:gd name="connsiteX13" fmla="*/ 1120689 w 1583637"/>
                  <a:gd name="connsiteY13" fmla="*/ 1507584 h 1583637"/>
                  <a:gd name="connsiteX14" fmla="*/ 999974 w 1583637"/>
                  <a:gd name="connsiteY14" fmla="*/ 1551521 h 1583637"/>
                  <a:gd name="connsiteX15" fmla="*/ 919574 w 1583637"/>
                  <a:gd name="connsiteY15" fmla="*/ 1412257 h 1583637"/>
                  <a:gd name="connsiteX16" fmla="*/ 664062 w 1583637"/>
                  <a:gd name="connsiteY16" fmla="*/ 1412257 h 1583637"/>
                  <a:gd name="connsiteX17" fmla="*/ 583663 w 1583637"/>
                  <a:gd name="connsiteY17" fmla="*/ 1551521 h 1583637"/>
                  <a:gd name="connsiteX18" fmla="*/ 462948 w 1583637"/>
                  <a:gd name="connsiteY18" fmla="*/ 1507584 h 1583637"/>
                  <a:gd name="connsiteX19" fmla="*/ 490876 w 1583637"/>
                  <a:gd name="connsiteY19" fmla="*/ 1349222 h 1583637"/>
                  <a:gd name="connsiteX20" fmla="*/ 295142 w 1583637"/>
                  <a:gd name="connsiteY20" fmla="*/ 1184981 h 1583637"/>
                  <a:gd name="connsiteX21" fmla="*/ 144035 w 1583637"/>
                  <a:gd name="connsiteY21" fmla="*/ 1239984 h 1583637"/>
                  <a:gd name="connsiteX22" fmla="*/ 79804 w 1583637"/>
                  <a:gd name="connsiteY22" fmla="*/ 1128733 h 1583637"/>
                  <a:gd name="connsiteX23" fmla="*/ 202991 w 1583637"/>
                  <a:gd name="connsiteY23" fmla="*/ 1025372 h 1583637"/>
                  <a:gd name="connsiteX24" fmla="*/ 158622 w 1583637"/>
                  <a:gd name="connsiteY24" fmla="*/ 773743 h 1583637"/>
                  <a:gd name="connsiteX25" fmla="*/ 7512 w 1583637"/>
                  <a:gd name="connsiteY25" fmla="*/ 718748 h 1583637"/>
                  <a:gd name="connsiteX26" fmla="*/ 29819 w 1583637"/>
                  <a:gd name="connsiteY26" fmla="*/ 592237 h 1583637"/>
                  <a:gd name="connsiteX27" fmla="*/ 190625 w 1583637"/>
                  <a:gd name="connsiteY27" fmla="*/ 592241 h 1583637"/>
                  <a:gd name="connsiteX28" fmla="*/ 318381 w 1583637"/>
                  <a:gd name="connsiteY28" fmla="*/ 370961 h 1583637"/>
                  <a:gd name="connsiteX29" fmla="*/ 237974 w 1583637"/>
                  <a:gd name="connsiteY29" fmla="*/ 231701 h 1583637"/>
                  <a:gd name="connsiteX30" fmla="*/ 336381 w 1583637"/>
                  <a:gd name="connsiteY30" fmla="*/ 149126 h 1583637"/>
                  <a:gd name="connsiteX31" fmla="*/ 459563 w 1583637"/>
                  <a:gd name="connsiteY31" fmla="*/ 252493 h 1583637"/>
                  <a:gd name="connsiteX32" fmla="*/ 699666 w 1583637"/>
                  <a:gd name="connsiteY32" fmla="*/ 165103 h 1583637"/>
                  <a:gd name="connsiteX33" fmla="*/ 727586 w 1583637"/>
                  <a:gd name="connsiteY33" fmla="*/ 6739 h 1583637"/>
                  <a:gd name="connsiteX34" fmla="*/ 856051 w 1583637"/>
                  <a:gd name="connsiteY34" fmla="*/ 6739 h 1583637"/>
                  <a:gd name="connsiteX35" fmla="*/ 883970 w 1583637"/>
                  <a:gd name="connsiteY35" fmla="*/ 165102 h 1583637"/>
                  <a:gd name="connsiteX36" fmla="*/ 1124073 w 1583637"/>
                  <a:gd name="connsiteY36" fmla="*/ 252493 h 1583637"/>
                  <a:gd name="connsiteX37" fmla="*/ 1124074 w 1583637"/>
                  <a:gd name="connsiteY37" fmla="*/ 252493 h 1583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83637" h="1583637">
                    <a:moveTo>
                      <a:pt x="1124074" y="252493"/>
                    </a:moveTo>
                    <a:lnTo>
                      <a:pt x="1247256" y="149126"/>
                    </a:lnTo>
                    <a:lnTo>
                      <a:pt x="1345663" y="231701"/>
                    </a:lnTo>
                    <a:lnTo>
                      <a:pt x="1265256" y="370961"/>
                    </a:lnTo>
                    <a:cubicBezTo>
                      <a:pt x="1322430" y="435278"/>
                      <a:pt x="1365899" y="510569"/>
                      <a:pt x="1393012" y="592241"/>
                    </a:cubicBezTo>
                    <a:lnTo>
                      <a:pt x="1553818" y="592237"/>
                    </a:lnTo>
                    <a:lnTo>
                      <a:pt x="1576125" y="718748"/>
                    </a:lnTo>
                    <a:lnTo>
                      <a:pt x="1425015" y="773743"/>
                    </a:lnTo>
                    <a:cubicBezTo>
                      <a:pt x="1427471" y="859762"/>
                      <a:pt x="1412374" y="945380"/>
                      <a:pt x="1380646" y="1025372"/>
                    </a:cubicBezTo>
                    <a:lnTo>
                      <a:pt x="1503833" y="1128733"/>
                    </a:lnTo>
                    <a:lnTo>
                      <a:pt x="1439602" y="1239984"/>
                    </a:lnTo>
                    <a:lnTo>
                      <a:pt x="1288495" y="1184982"/>
                    </a:lnTo>
                    <a:cubicBezTo>
                      <a:pt x="1235084" y="1252456"/>
                      <a:pt x="1168484" y="1308339"/>
                      <a:pt x="1092761" y="1349222"/>
                    </a:cubicBezTo>
                    <a:lnTo>
                      <a:pt x="1120689" y="1507584"/>
                    </a:lnTo>
                    <a:lnTo>
                      <a:pt x="999974" y="1551521"/>
                    </a:lnTo>
                    <a:lnTo>
                      <a:pt x="919574" y="1412257"/>
                    </a:lnTo>
                    <a:cubicBezTo>
                      <a:pt x="835287" y="1429613"/>
                      <a:pt x="748348" y="1429613"/>
                      <a:pt x="664062" y="1412257"/>
                    </a:cubicBezTo>
                    <a:lnTo>
                      <a:pt x="583663" y="1551521"/>
                    </a:lnTo>
                    <a:lnTo>
                      <a:pt x="462948" y="1507584"/>
                    </a:lnTo>
                    <a:lnTo>
                      <a:pt x="490876" y="1349222"/>
                    </a:lnTo>
                    <a:cubicBezTo>
                      <a:pt x="415153" y="1308339"/>
                      <a:pt x="348553" y="1252455"/>
                      <a:pt x="295142" y="1184981"/>
                    </a:cubicBezTo>
                    <a:lnTo>
                      <a:pt x="144035" y="1239984"/>
                    </a:lnTo>
                    <a:lnTo>
                      <a:pt x="79804" y="1128733"/>
                    </a:lnTo>
                    <a:lnTo>
                      <a:pt x="202991" y="1025372"/>
                    </a:lnTo>
                    <a:cubicBezTo>
                      <a:pt x="171263" y="945380"/>
                      <a:pt x="156166" y="859762"/>
                      <a:pt x="158622" y="773743"/>
                    </a:cubicBezTo>
                    <a:lnTo>
                      <a:pt x="7512" y="718748"/>
                    </a:lnTo>
                    <a:lnTo>
                      <a:pt x="29819" y="592237"/>
                    </a:lnTo>
                    <a:lnTo>
                      <a:pt x="190625" y="592241"/>
                    </a:lnTo>
                    <a:cubicBezTo>
                      <a:pt x="217738" y="510569"/>
                      <a:pt x="261208" y="435277"/>
                      <a:pt x="318381" y="370961"/>
                    </a:cubicBezTo>
                    <a:lnTo>
                      <a:pt x="237974" y="231701"/>
                    </a:lnTo>
                    <a:lnTo>
                      <a:pt x="336381" y="149126"/>
                    </a:lnTo>
                    <a:lnTo>
                      <a:pt x="459563" y="252493"/>
                    </a:lnTo>
                    <a:cubicBezTo>
                      <a:pt x="532831" y="207356"/>
                      <a:pt x="614527" y="177621"/>
                      <a:pt x="699666" y="165103"/>
                    </a:cubicBezTo>
                    <a:lnTo>
                      <a:pt x="727586" y="6739"/>
                    </a:lnTo>
                    <a:lnTo>
                      <a:pt x="856051" y="6739"/>
                    </a:lnTo>
                    <a:lnTo>
                      <a:pt x="883970" y="165102"/>
                    </a:lnTo>
                    <a:cubicBezTo>
                      <a:pt x="969110" y="177621"/>
                      <a:pt x="1050806" y="207356"/>
                      <a:pt x="1124073" y="252493"/>
                    </a:cubicBezTo>
                    <a:lnTo>
                      <a:pt x="1124074" y="252493"/>
                    </a:lnTo>
                    <a:close/>
                  </a:path>
                </a:pathLst>
              </a:custGeom>
              <a:solidFill>
                <a:srgbClr val="0170BD"/>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56481" tIns="548640" rIns="356481" bIns="436755" numCol="1" spcCol="1270" anchor="ctr" anchorCtr="0">
                <a:noAutofit/>
              </a:bodyPr>
              <a:lstStyle/>
              <a:p>
                <a:pPr lvl="0" algn="ctr" defTabSz="1333500">
                  <a:lnSpc>
                    <a:spcPct val="120000"/>
                  </a:lnSpc>
                  <a:spcBef>
                    <a:spcPct val="0"/>
                  </a:spcBef>
                  <a:spcAft>
                    <a:spcPct val="0"/>
                  </a:spcAft>
                </a:pPr>
                <a:endParaRPr lang="en-US" sz="3000" kern="1200" dirty="0">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58" name="Oval 310">
                <a:extLst>
                  <a:ext uri="{FF2B5EF4-FFF2-40B4-BE49-F238E27FC236}">
                    <a16:creationId xmlns:a16="http://schemas.microsoft.com/office/drawing/2014/main" id="{F6EE53C1-9767-4CF6-9253-8841DB0519D9}"/>
                  </a:ext>
                </a:extLst>
              </p:cNvPr>
              <p:cNvSpPr/>
              <p:nvPr/>
            </p:nvSpPr>
            <p:spPr>
              <a:xfrm>
                <a:off x="4185425" y="3661959"/>
                <a:ext cx="687269" cy="687267"/>
              </a:xfrm>
              <a:prstGeom prst="ellipse">
                <a:avLst/>
              </a:prstGeom>
              <a:solidFill>
                <a:schemeClr val="bg1"/>
              </a:solidFill>
              <a:ln w="12700">
                <a:no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en-US" dirty="0">
                  <a:solidFill>
                    <a:schemeClr val="tx1"/>
                  </a:solidFill>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grpSp>
          <p:nvGrpSpPr>
            <p:cNvPr id="18" name="Group 311">
              <a:extLst>
                <a:ext uri="{FF2B5EF4-FFF2-40B4-BE49-F238E27FC236}">
                  <a16:creationId xmlns:a16="http://schemas.microsoft.com/office/drawing/2014/main" id="{A80D5765-D421-4F2A-872F-C80FA06F723A}"/>
                </a:ext>
              </a:extLst>
            </p:cNvPr>
            <p:cNvGrpSpPr/>
            <p:nvPr/>
          </p:nvGrpSpPr>
          <p:grpSpPr>
            <a:xfrm flipH="1" flipV="1">
              <a:off x="3585447" y="4084611"/>
              <a:ext cx="1084052" cy="1181291"/>
              <a:chOff x="654280" y="1047000"/>
              <a:chExt cx="3037332" cy="3309787"/>
            </a:xfrm>
          </p:grpSpPr>
          <p:grpSp>
            <p:nvGrpSpPr>
              <p:cNvPr id="314" name="Group 312">
                <a:extLst>
                  <a:ext uri="{FF2B5EF4-FFF2-40B4-BE49-F238E27FC236}">
                    <a16:creationId xmlns:a16="http://schemas.microsoft.com/office/drawing/2014/main" id="{99D554FD-9348-4A27-8755-5F41B4FFFB85}"/>
                  </a:ext>
                </a:extLst>
              </p:cNvPr>
              <p:cNvGrpSpPr/>
              <p:nvPr/>
            </p:nvGrpSpPr>
            <p:grpSpPr>
              <a:xfrm>
                <a:off x="654280" y="2079826"/>
                <a:ext cx="3024555" cy="2276961"/>
                <a:chOff x="604505" y="1981058"/>
                <a:chExt cx="3153719" cy="2374200"/>
              </a:xfrm>
            </p:grpSpPr>
            <p:grpSp>
              <p:nvGrpSpPr>
                <p:cNvPr id="335" name="Group 336">
                  <a:extLst>
                    <a:ext uri="{FF2B5EF4-FFF2-40B4-BE49-F238E27FC236}">
                      <a16:creationId xmlns:a16="http://schemas.microsoft.com/office/drawing/2014/main" id="{6B8BB29B-E8EF-483C-B75F-42B07C30789D}"/>
                    </a:ext>
                  </a:extLst>
                </p:cNvPr>
                <p:cNvGrpSpPr/>
                <p:nvPr/>
              </p:nvGrpSpPr>
              <p:grpSpPr>
                <a:xfrm rot="15155533" flipH="1">
                  <a:off x="773232" y="1812331"/>
                  <a:ext cx="2374200" cy="2711653"/>
                  <a:chOff x="6326188" y="1654175"/>
                  <a:chExt cx="2410644" cy="3082384"/>
                </a:xfrm>
                <a:solidFill>
                  <a:schemeClr val="bg2">
                    <a:lumMod val="75000"/>
                  </a:schemeClr>
                </a:solidFill>
              </p:grpSpPr>
              <p:sp>
                <p:nvSpPr>
                  <p:cNvPr id="417" name="Freeform 129">
                    <a:extLst>
                      <a:ext uri="{FF2B5EF4-FFF2-40B4-BE49-F238E27FC236}">
                        <a16:creationId xmlns:a16="http://schemas.microsoft.com/office/drawing/2014/main" id="{2EAA2F49-0936-48AE-A94B-5CB736AC4CF9}"/>
                      </a:ext>
                    </a:extLst>
                  </p:cNvPr>
                  <p:cNvSpPr>
                    <a:spLocks/>
                  </p:cNvSpPr>
                  <p:nvPr/>
                </p:nvSpPr>
                <p:spPr bwMode="auto">
                  <a:xfrm>
                    <a:off x="8027988" y="1720850"/>
                    <a:ext cx="3175" cy="1588"/>
                  </a:xfrm>
                  <a:custGeom>
                    <a:avLst/>
                    <a:gdLst/>
                    <a:ahLst/>
                    <a:cxnLst>
                      <a:cxn ang="0">
                        <a:pos x="0" y="0"/>
                      </a:cxn>
                      <a:cxn ang="0">
                        <a:pos x="0" y="0"/>
                      </a:cxn>
                      <a:cxn ang="0">
                        <a:pos x="0" y="0"/>
                      </a:cxn>
                    </a:cxnLst>
                    <a:rect l="0" t="0" r="r" b="b"/>
                    <a:pathLst>
                      <a:path w="1">
                        <a:moveTo>
                          <a:pt x="0" y="0"/>
                        </a:moveTo>
                        <a:cubicBezTo>
                          <a:pt x="0" y="0"/>
                          <a:pt x="1"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18" name="Freeform 130">
                    <a:extLst>
                      <a:ext uri="{FF2B5EF4-FFF2-40B4-BE49-F238E27FC236}">
                        <a16:creationId xmlns:a16="http://schemas.microsoft.com/office/drawing/2014/main" id="{8C6AC03A-5C24-4B70-A45C-DCE01036AABE}"/>
                      </a:ext>
                    </a:extLst>
                  </p:cNvPr>
                  <p:cNvSpPr>
                    <a:spLocks/>
                  </p:cNvSpPr>
                  <p:nvPr/>
                </p:nvSpPr>
                <p:spPr bwMode="auto">
                  <a:xfrm>
                    <a:off x="7724775" y="1841500"/>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0"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19" name="Freeform 131">
                    <a:extLst>
                      <a:ext uri="{FF2B5EF4-FFF2-40B4-BE49-F238E27FC236}">
                        <a16:creationId xmlns:a16="http://schemas.microsoft.com/office/drawing/2014/main" id="{D78A44F8-E311-4403-9EB8-AEBF31165211}"/>
                      </a:ext>
                    </a:extLst>
                  </p:cNvPr>
                  <p:cNvSpPr>
                    <a:spLocks/>
                  </p:cNvSpPr>
                  <p:nvPr/>
                </p:nvSpPr>
                <p:spPr bwMode="auto">
                  <a:xfrm>
                    <a:off x="8218488" y="1671638"/>
                    <a:ext cx="12700" cy="1588"/>
                  </a:xfrm>
                  <a:custGeom>
                    <a:avLst/>
                    <a:gdLst/>
                    <a:ahLst/>
                    <a:cxnLst>
                      <a:cxn ang="0">
                        <a:pos x="0" y="1"/>
                      </a:cxn>
                      <a:cxn ang="0">
                        <a:pos x="0" y="1"/>
                      </a:cxn>
                      <a:cxn ang="0">
                        <a:pos x="5" y="0"/>
                      </a:cxn>
                      <a:cxn ang="0">
                        <a:pos x="0" y="1"/>
                      </a:cxn>
                    </a:cxnLst>
                    <a:rect l="0" t="0" r="r" b="b"/>
                    <a:pathLst>
                      <a:path w="5" h="1">
                        <a:moveTo>
                          <a:pt x="0" y="1"/>
                        </a:moveTo>
                        <a:cubicBezTo>
                          <a:pt x="0" y="1"/>
                          <a:pt x="0" y="1"/>
                          <a:pt x="0" y="1"/>
                        </a:cubicBezTo>
                        <a:cubicBezTo>
                          <a:pt x="5" y="0"/>
                          <a:pt x="5" y="0"/>
                          <a:pt x="5" y="0"/>
                        </a:cubicBezTo>
                        <a:lnTo>
                          <a:pt x="0" y="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20" name="Freeform 132">
                    <a:extLst>
                      <a:ext uri="{FF2B5EF4-FFF2-40B4-BE49-F238E27FC236}">
                        <a16:creationId xmlns:a16="http://schemas.microsoft.com/office/drawing/2014/main" id="{7D573B90-1B54-490C-AB40-2B0008452326}"/>
                      </a:ext>
                    </a:extLst>
                  </p:cNvPr>
                  <p:cNvSpPr>
                    <a:spLocks/>
                  </p:cNvSpPr>
                  <p:nvPr/>
                </p:nvSpPr>
                <p:spPr bwMode="auto">
                  <a:xfrm>
                    <a:off x="7169150" y="2263775"/>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1"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21" name="Freeform 133">
                    <a:extLst>
                      <a:ext uri="{FF2B5EF4-FFF2-40B4-BE49-F238E27FC236}">
                        <a16:creationId xmlns:a16="http://schemas.microsoft.com/office/drawing/2014/main" id="{6E7914D4-436E-4AE7-974C-401D81576F0E}"/>
                      </a:ext>
                    </a:extLst>
                  </p:cNvPr>
                  <p:cNvSpPr>
                    <a:spLocks/>
                  </p:cNvSpPr>
                  <p:nvPr/>
                </p:nvSpPr>
                <p:spPr bwMode="auto">
                  <a:xfrm>
                    <a:off x="7480300" y="1995488"/>
                    <a:ext cx="4762" cy="4763"/>
                  </a:xfrm>
                  <a:custGeom>
                    <a:avLst/>
                    <a:gdLst/>
                    <a:ahLst/>
                    <a:cxnLst>
                      <a:cxn ang="0">
                        <a:pos x="2" y="0"/>
                      </a:cxn>
                      <a:cxn ang="0">
                        <a:pos x="0" y="2"/>
                      </a:cxn>
                      <a:cxn ang="0">
                        <a:pos x="2" y="0"/>
                      </a:cxn>
                    </a:cxnLst>
                    <a:rect l="0" t="0" r="r" b="b"/>
                    <a:pathLst>
                      <a:path w="2" h="2">
                        <a:moveTo>
                          <a:pt x="2" y="0"/>
                        </a:moveTo>
                        <a:cubicBezTo>
                          <a:pt x="1" y="0"/>
                          <a:pt x="1" y="1"/>
                          <a:pt x="0" y="2"/>
                        </a:cubicBezTo>
                        <a:cubicBezTo>
                          <a:pt x="1" y="1"/>
                          <a:pt x="2" y="0"/>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22" name="Freeform 134">
                    <a:extLst>
                      <a:ext uri="{FF2B5EF4-FFF2-40B4-BE49-F238E27FC236}">
                        <a16:creationId xmlns:a16="http://schemas.microsoft.com/office/drawing/2014/main" id="{49A2A01C-5B95-4474-91BD-5B089E68C7ED}"/>
                      </a:ext>
                    </a:extLst>
                  </p:cNvPr>
                  <p:cNvSpPr>
                    <a:spLocks/>
                  </p:cNvSpPr>
                  <p:nvPr/>
                </p:nvSpPr>
                <p:spPr bwMode="auto">
                  <a:xfrm>
                    <a:off x="8318500" y="1681163"/>
                    <a:ext cx="7937" cy="1588"/>
                  </a:xfrm>
                  <a:custGeom>
                    <a:avLst/>
                    <a:gdLst/>
                    <a:ahLst/>
                    <a:cxnLst>
                      <a:cxn ang="0">
                        <a:pos x="3" y="0"/>
                      </a:cxn>
                      <a:cxn ang="0">
                        <a:pos x="0" y="0"/>
                      </a:cxn>
                      <a:cxn ang="0">
                        <a:pos x="3" y="0"/>
                      </a:cxn>
                    </a:cxnLst>
                    <a:rect l="0" t="0" r="r" b="b"/>
                    <a:pathLst>
                      <a:path w="3">
                        <a:moveTo>
                          <a:pt x="3" y="0"/>
                        </a:moveTo>
                        <a:cubicBezTo>
                          <a:pt x="0" y="0"/>
                          <a:pt x="0" y="0"/>
                          <a:pt x="0" y="0"/>
                        </a:cubicBezTo>
                        <a:cubicBezTo>
                          <a:pt x="0" y="0"/>
                          <a:pt x="1"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23" name="Freeform 135">
                    <a:extLst>
                      <a:ext uri="{FF2B5EF4-FFF2-40B4-BE49-F238E27FC236}">
                        <a16:creationId xmlns:a16="http://schemas.microsoft.com/office/drawing/2014/main" id="{DFA980C6-72F2-4E84-893F-D82C54E89D6C}"/>
                      </a:ext>
                    </a:extLst>
                  </p:cNvPr>
                  <p:cNvSpPr>
                    <a:spLocks/>
                  </p:cNvSpPr>
                  <p:nvPr/>
                </p:nvSpPr>
                <p:spPr bwMode="auto">
                  <a:xfrm>
                    <a:off x="8516938" y="1655763"/>
                    <a:ext cx="1587" cy="1588"/>
                  </a:xfrm>
                  <a:custGeom>
                    <a:avLst/>
                    <a:gdLst/>
                    <a:ahLst/>
                    <a:cxnLst>
                      <a:cxn ang="0">
                        <a:pos x="1" y="0"/>
                      </a:cxn>
                      <a:cxn ang="0">
                        <a:pos x="1" y="0"/>
                      </a:cxn>
                      <a:cxn ang="0">
                        <a:pos x="1" y="0"/>
                      </a:cxn>
                    </a:cxnLst>
                    <a:rect l="0" t="0" r="r" b="b"/>
                    <a:pathLst>
                      <a:path w="1">
                        <a:moveTo>
                          <a:pt x="1" y="0"/>
                        </a:moveTo>
                        <a:cubicBezTo>
                          <a:pt x="1" y="0"/>
                          <a:pt x="1" y="0"/>
                          <a:pt x="1"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24" name="Freeform 136">
                    <a:extLst>
                      <a:ext uri="{FF2B5EF4-FFF2-40B4-BE49-F238E27FC236}">
                        <a16:creationId xmlns:a16="http://schemas.microsoft.com/office/drawing/2014/main" id="{16C90889-A768-4936-BD7B-EF0C267FC1CA}"/>
                      </a:ext>
                    </a:extLst>
                  </p:cNvPr>
                  <p:cNvSpPr>
                    <a:spLocks/>
                  </p:cNvSpPr>
                  <p:nvPr/>
                </p:nvSpPr>
                <p:spPr bwMode="auto">
                  <a:xfrm>
                    <a:off x="8434388" y="1654175"/>
                    <a:ext cx="7937" cy="1588"/>
                  </a:xfrm>
                  <a:custGeom>
                    <a:avLst/>
                    <a:gdLst/>
                    <a:ahLst/>
                    <a:cxnLst>
                      <a:cxn ang="0">
                        <a:pos x="3" y="0"/>
                      </a:cxn>
                      <a:cxn ang="0">
                        <a:pos x="0" y="0"/>
                      </a:cxn>
                      <a:cxn ang="0">
                        <a:pos x="3" y="0"/>
                      </a:cxn>
                    </a:cxnLst>
                    <a:rect l="0" t="0" r="r" b="b"/>
                    <a:pathLst>
                      <a:path w="3">
                        <a:moveTo>
                          <a:pt x="3" y="0"/>
                        </a:moveTo>
                        <a:cubicBezTo>
                          <a:pt x="2" y="0"/>
                          <a:pt x="1" y="0"/>
                          <a:pt x="0" y="0"/>
                        </a:cubicBezTo>
                        <a:cubicBezTo>
                          <a:pt x="1" y="0"/>
                          <a:pt x="3"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25" name="Freeform 137">
                    <a:extLst>
                      <a:ext uri="{FF2B5EF4-FFF2-40B4-BE49-F238E27FC236}">
                        <a16:creationId xmlns:a16="http://schemas.microsoft.com/office/drawing/2014/main" id="{264D970B-60CC-4992-BADE-9F882081CD29}"/>
                      </a:ext>
                    </a:extLst>
                  </p:cNvPr>
                  <p:cNvSpPr>
                    <a:spLocks/>
                  </p:cNvSpPr>
                  <p:nvPr/>
                </p:nvSpPr>
                <p:spPr bwMode="auto">
                  <a:xfrm>
                    <a:off x="8432800" y="1654175"/>
                    <a:ext cx="1587" cy="1588"/>
                  </a:xfrm>
                  <a:custGeom>
                    <a:avLst/>
                    <a:gdLst/>
                    <a:ahLst/>
                    <a:cxnLst>
                      <a:cxn ang="0">
                        <a:pos x="0" y="0"/>
                      </a:cxn>
                      <a:cxn ang="0">
                        <a:pos x="1" y="0"/>
                      </a:cxn>
                      <a:cxn ang="0">
                        <a:pos x="0" y="0"/>
                      </a:cxn>
                    </a:cxnLst>
                    <a:rect l="0" t="0" r="r" b="b"/>
                    <a:pathLst>
                      <a:path w="1">
                        <a:moveTo>
                          <a:pt x="0" y="0"/>
                        </a:moveTo>
                        <a:cubicBezTo>
                          <a:pt x="1" y="0"/>
                          <a:pt x="1" y="0"/>
                          <a:pt x="1" y="0"/>
                        </a:cubicBezTo>
                        <a:cubicBezTo>
                          <a:pt x="1"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26" name="Freeform 138">
                    <a:extLst>
                      <a:ext uri="{FF2B5EF4-FFF2-40B4-BE49-F238E27FC236}">
                        <a16:creationId xmlns:a16="http://schemas.microsoft.com/office/drawing/2014/main" id="{BFD059DE-9302-49DA-B7B7-9BE72605416B}"/>
                      </a:ext>
                    </a:extLst>
                  </p:cNvPr>
                  <p:cNvSpPr>
                    <a:spLocks/>
                  </p:cNvSpPr>
                  <p:nvPr/>
                </p:nvSpPr>
                <p:spPr bwMode="auto">
                  <a:xfrm>
                    <a:off x="6326188" y="4597400"/>
                    <a:ext cx="3175" cy="17463"/>
                  </a:xfrm>
                  <a:custGeom>
                    <a:avLst/>
                    <a:gdLst/>
                    <a:ahLst/>
                    <a:cxnLst>
                      <a:cxn ang="0">
                        <a:pos x="0" y="0"/>
                      </a:cxn>
                      <a:cxn ang="0">
                        <a:pos x="1" y="7"/>
                      </a:cxn>
                      <a:cxn ang="0">
                        <a:pos x="0" y="0"/>
                      </a:cxn>
                    </a:cxnLst>
                    <a:rect l="0" t="0" r="r" b="b"/>
                    <a:pathLst>
                      <a:path w="1" h="7">
                        <a:moveTo>
                          <a:pt x="0" y="0"/>
                        </a:moveTo>
                        <a:cubicBezTo>
                          <a:pt x="0" y="3"/>
                          <a:pt x="0" y="5"/>
                          <a:pt x="1" y="7"/>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27" name="Freeform 139">
                    <a:extLst>
                      <a:ext uri="{FF2B5EF4-FFF2-40B4-BE49-F238E27FC236}">
                        <a16:creationId xmlns:a16="http://schemas.microsoft.com/office/drawing/2014/main" id="{8B5885CF-2B48-4833-B468-F2BBBFBF37D3}"/>
                      </a:ext>
                    </a:extLst>
                  </p:cNvPr>
                  <p:cNvSpPr>
                    <a:spLocks/>
                  </p:cNvSpPr>
                  <p:nvPr/>
                </p:nvSpPr>
                <p:spPr bwMode="auto">
                  <a:xfrm>
                    <a:off x="6789738" y="2773363"/>
                    <a:ext cx="3175" cy="1588"/>
                  </a:xfrm>
                  <a:custGeom>
                    <a:avLst/>
                    <a:gdLst/>
                    <a:ahLst/>
                    <a:cxnLst>
                      <a:cxn ang="0">
                        <a:pos x="1" y="1"/>
                      </a:cxn>
                      <a:cxn ang="0">
                        <a:pos x="1" y="0"/>
                      </a:cxn>
                      <a:cxn ang="0">
                        <a:pos x="1" y="1"/>
                      </a:cxn>
                    </a:cxnLst>
                    <a:rect l="0" t="0" r="r" b="b"/>
                    <a:pathLst>
                      <a:path w="1" h="1">
                        <a:moveTo>
                          <a:pt x="1" y="1"/>
                        </a:moveTo>
                        <a:cubicBezTo>
                          <a:pt x="1" y="0"/>
                          <a:pt x="1" y="0"/>
                          <a:pt x="1" y="0"/>
                        </a:cubicBezTo>
                        <a:cubicBezTo>
                          <a:pt x="0" y="1"/>
                          <a:pt x="0" y="1"/>
                          <a:pt x="1"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28" name="Freeform 140">
                    <a:extLst>
                      <a:ext uri="{FF2B5EF4-FFF2-40B4-BE49-F238E27FC236}">
                        <a16:creationId xmlns:a16="http://schemas.microsoft.com/office/drawing/2014/main" id="{18AAE2FE-862A-40E0-A079-6059C6C622DA}"/>
                      </a:ext>
                    </a:extLst>
                  </p:cNvPr>
                  <p:cNvSpPr>
                    <a:spLocks/>
                  </p:cNvSpPr>
                  <p:nvPr/>
                </p:nvSpPr>
                <p:spPr bwMode="auto">
                  <a:xfrm>
                    <a:off x="6342063" y="4603750"/>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29" name="Freeform 141">
                    <a:extLst>
                      <a:ext uri="{FF2B5EF4-FFF2-40B4-BE49-F238E27FC236}">
                        <a16:creationId xmlns:a16="http://schemas.microsoft.com/office/drawing/2014/main" id="{D33457B9-FEB3-4B1D-BB7A-A373D9F5BF45}"/>
                      </a:ext>
                    </a:extLst>
                  </p:cNvPr>
                  <p:cNvSpPr>
                    <a:spLocks/>
                  </p:cNvSpPr>
                  <p:nvPr/>
                </p:nvSpPr>
                <p:spPr bwMode="auto">
                  <a:xfrm>
                    <a:off x="8207375" y="1704975"/>
                    <a:ext cx="17462" cy="6350"/>
                  </a:xfrm>
                  <a:custGeom>
                    <a:avLst/>
                    <a:gdLst/>
                    <a:ahLst/>
                    <a:cxnLst>
                      <a:cxn ang="0">
                        <a:pos x="7" y="0"/>
                      </a:cxn>
                      <a:cxn ang="0">
                        <a:pos x="0" y="2"/>
                      </a:cxn>
                      <a:cxn ang="0">
                        <a:pos x="7" y="0"/>
                      </a:cxn>
                    </a:cxnLst>
                    <a:rect l="0" t="0" r="r" b="b"/>
                    <a:pathLst>
                      <a:path w="7" h="2">
                        <a:moveTo>
                          <a:pt x="7" y="0"/>
                        </a:moveTo>
                        <a:cubicBezTo>
                          <a:pt x="5" y="1"/>
                          <a:pt x="0" y="1"/>
                          <a:pt x="0" y="2"/>
                        </a:cubicBezTo>
                        <a:cubicBezTo>
                          <a:pt x="3" y="1"/>
                          <a:pt x="6" y="1"/>
                          <a:pt x="7"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30" name="Freeform 142">
                    <a:extLst>
                      <a:ext uri="{FF2B5EF4-FFF2-40B4-BE49-F238E27FC236}">
                        <a16:creationId xmlns:a16="http://schemas.microsoft.com/office/drawing/2014/main" id="{174AF3F0-7DD6-4338-944C-5373FCB87A72}"/>
                      </a:ext>
                    </a:extLst>
                  </p:cNvPr>
                  <p:cNvSpPr>
                    <a:spLocks/>
                  </p:cNvSpPr>
                  <p:nvPr/>
                </p:nvSpPr>
                <p:spPr bwMode="auto">
                  <a:xfrm>
                    <a:off x="6788150" y="2924175"/>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31" name="Freeform 143">
                    <a:extLst>
                      <a:ext uri="{FF2B5EF4-FFF2-40B4-BE49-F238E27FC236}">
                        <a16:creationId xmlns:a16="http://schemas.microsoft.com/office/drawing/2014/main" id="{7244FFF6-0740-45E5-BDE8-554CD6BD2F8A}"/>
                      </a:ext>
                    </a:extLst>
                  </p:cNvPr>
                  <p:cNvSpPr>
                    <a:spLocks/>
                  </p:cNvSpPr>
                  <p:nvPr/>
                </p:nvSpPr>
                <p:spPr bwMode="auto">
                  <a:xfrm>
                    <a:off x="6342063" y="4602163"/>
                    <a:ext cx="1587" cy="1588"/>
                  </a:xfrm>
                  <a:custGeom>
                    <a:avLst/>
                    <a:gdLst/>
                    <a:ahLst/>
                    <a:cxnLst>
                      <a:cxn ang="0">
                        <a:pos x="0" y="1"/>
                      </a:cxn>
                      <a:cxn ang="0">
                        <a:pos x="0" y="0"/>
                      </a:cxn>
                      <a:cxn ang="0">
                        <a:pos x="0" y="0"/>
                      </a:cxn>
                      <a:cxn ang="0">
                        <a:pos x="0" y="1"/>
                      </a:cxn>
                    </a:cxnLst>
                    <a:rect l="0" t="0" r="r" b="b"/>
                    <a:pathLst>
                      <a:path h="1">
                        <a:moveTo>
                          <a:pt x="0" y="1"/>
                        </a:moveTo>
                        <a:cubicBezTo>
                          <a:pt x="0" y="0"/>
                          <a:pt x="0" y="0"/>
                          <a:pt x="0" y="0"/>
                        </a:cubicBez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32" name="Rectangle 144">
                    <a:extLst>
                      <a:ext uri="{FF2B5EF4-FFF2-40B4-BE49-F238E27FC236}">
                        <a16:creationId xmlns:a16="http://schemas.microsoft.com/office/drawing/2014/main" id="{DAC6651A-6906-4EDC-89CD-DAA10B02F02E}"/>
                      </a:ext>
                    </a:extLst>
                  </p:cNvPr>
                  <p:cNvSpPr>
                    <a:spLocks noChangeArrowheads="1"/>
                  </p:cNvSpPr>
                  <p:nvPr/>
                </p:nvSpPr>
                <p:spPr bwMode="auto">
                  <a:xfrm>
                    <a:off x="6518275" y="3373438"/>
                    <a:ext cx="1587" cy="158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33" name="Freeform 145">
                    <a:extLst>
                      <a:ext uri="{FF2B5EF4-FFF2-40B4-BE49-F238E27FC236}">
                        <a16:creationId xmlns:a16="http://schemas.microsoft.com/office/drawing/2014/main" id="{57EB4D52-66D6-4449-899C-D94F0F7CD0A1}"/>
                      </a:ext>
                    </a:extLst>
                  </p:cNvPr>
                  <p:cNvSpPr>
                    <a:spLocks/>
                  </p:cNvSpPr>
                  <p:nvPr/>
                </p:nvSpPr>
                <p:spPr bwMode="auto">
                  <a:xfrm>
                    <a:off x="6505575" y="3398838"/>
                    <a:ext cx="1587" cy="6350"/>
                  </a:xfrm>
                  <a:custGeom>
                    <a:avLst/>
                    <a:gdLst/>
                    <a:ahLst/>
                    <a:cxnLst>
                      <a:cxn ang="0">
                        <a:pos x="0" y="3"/>
                      </a:cxn>
                      <a:cxn ang="0">
                        <a:pos x="0" y="0"/>
                      </a:cxn>
                      <a:cxn ang="0">
                        <a:pos x="0" y="3"/>
                      </a:cxn>
                    </a:cxnLst>
                    <a:rect l="0" t="0" r="r" b="b"/>
                    <a:pathLst>
                      <a:path h="3">
                        <a:moveTo>
                          <a:pt x="0" y="3"/>
                        </a:moveTo>
                        <a:cubicBezTo>
                          <a:pt x="0" y="0"/>
                          <a:pt x="0" y="0"/>
                          <a:pt x="0" y="0"/>
                        </a:cubicBezTo>
                        <a:cubicBezTo>
                          <a:pt x="0" y="2"/>
                          <a:pt x="0" y="3"/>
                          <a:pt x="0" y="3"/>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34" name="Freeform 146">
                    <a:extLst>
                      <a:ext uri="{FF2B5EF4-FFF2-40B4-BE49-F238E27FC236}">
                        <a16:creationId xmlns:a16="http://schemas.microsoft.com/office/drawing/2014/main" id="{1A5AB3CF-489A-4883-B2A2-D816448E1A87}"/>
                      </a:ext>
                    </a:extLst>
                  </p:cNvPr>
                  <p:cNvSpPr>
                    <a:spLocks/>
                  </p:cNvSpPr>
                  <p:nvPr/>
                </p:nvSpPr>
                <p:spPr bwMode="auto">
                  <a:xfrm>
                    <a:off x="6329363" y="4614863"/>
                    <a:ext cx="1587" cy="6350"/>
                  </a:xfrm>
                  <a:custGeom>
                    <a:avLst/>
                    <a:gdLst/>
                    <a:ahLst/>
                    <a:cxnLst>
                      <a:cxn ang="0">
                        <a:pos x="0" y="0"/>
                      </a:cxn>
                      <a:cxn ang="0">
                        <a:pos x="0" y="3"/>
                      </a:cxn>
                      <a:cxn ang="0">
                        <a:pos x="0" y="0"/>
                      </a:cxn>
                    </a:cxnLst>
                    <a:rect l="0" t="0" r="r" b="b"/>
                    <a:pathLst>
                      <a:path h="3">
                        <a:moveTo>
                          <a:pt x="0" y="0"/>
                        </a:moveTo>
                        <a:cubicBezTo>
                          <a:pt x="0" y="3"/>
                          <a:pt x="0" y="3"/>
                          <a:pt x="0" y="3"/>
                        </a:cubicBezTo>
                        <a:cubicBezTo>
                          <a:pt x="0" y="2"/>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35" name="Freeform 147">
                    <a:extLst>
                      <a:ext uri="{FF2B5EF4-FFF2-40B4-BE49-F238E27FC236}">
                        <a16:creationId xmlns:a16="http://schemas.microsoft.com/office/drawing/2014/main" id="{9ADAC21B-932D-4786-8592-01DDD4EBCBE5}"/>
                      </a:ext>
                    </a:extLst>
                  </p:cNvPr>
                  <p:cNvSpPr>
                    <a:spLocks/>
                  </p:cNvSpPr>
                  <p:nvPr/>
                </p:nvSpPr>
                <p:spPr bwMode="auto">
                  <a:xfrm>
                    <a:off x="6405563" y="3765550"/>
                    <a:ext cx="3175" cy="4763"/>
                  </a:xfrm>
                  <a:custGeom>
                    <a:avLst/>
                    <a:gdLst/>
                    <a:ahLst/>
                    <a:cxnLst>
                      <a:cxn ang="0">
                        <a:pos x="0" y="2"/>
                      </a:cxn>
                      <a:cxn ang="0">
                        <a:pos x="1" y="0"/>
                      </a:cxn>
                      <a:cxn ang="0">
                        <a:pos x="0" y="2"/>
                      </a:cxn>
                    </a:cxnLst>
                    <a:rect l="0" t="0" r="r" b="b"/>
                    <a:pathLst>
                      <a:path w="1" h="2">
                        <a:moveTo>
                          <a:pt x="0" y="2"/>
                        </a:moveTo>
                        <a:cubicBezTo>
                          <a:pt x="1" y="0"/>
                          <a:pt x="1" y="0"/>
                          <a:pt x="1" y="0"/>
                        </a:cubicBezTo>
                        <a:cubicBezTo>
                          <a:pt x="0" y="1"/>
                          <a:pt x="0" y="2"/>
                          <a:pt x="0"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36" name="Freeform 148">
                    <a:extLst>
                      <a:ext uri="{FF2B5EF4-FFF2-40B4-BE49-F238E27FC236}">
                        <a16:creationId xmlns:a16="http://schemas.microsoft.com/office/drawing/2014/main" id="{9811334B-09E6-4560-9290-2D55B8F2F86F}"/>
                      </a:ext>
                    </a:extLst>
                  </p:cNvPr>
                  <p:cNvSpPr>
                    <a:spLocks/>
                  </p:cNvSpPr>
                  <p:nvPr/>
                </p:nvSpPr>
                <p:spPr bwMode="auto">
                  <a:xfrm>
                    <a:off x="7507288" y="1978025"/>
                    <a:ext cx="3175" cy="3175"/>
                  </a:xfrm>
                  <a:custGeom>
                    <a:avLst/>
                    <a:gdLst/>
                    <a:ahLst/>
                    <a:cxnLst>
                      <a:cxn ang="0">
                        <a:pos x="0" y="1"/>
                      </a:cxn>
                      <a:cxn ang="0">
                        <a:pos x="1" y="0"/>
                      </a:cxn>
                      <a:cxn ang="0">
                        <a:pos x="0" y="1"/>
                      </a:cxn>
                    </a:cxnLst>
                    <a:rect l="0" t="0" r="r" b="b"/>
                    <a:pathLst>
                      <a:path w="1" h="1">
                        <a:moveTo>
                          <a:pt x="0" y="1"/>
                        </a:moveTo>
                        <a:cubicBezTo>
                          <a:pt x="0" y="1"/>
                          <a:pt x="0" y="1"/>
                          <a:pt x="1" y="0"/>
                        </a:cubicBezTo>
                        <a:cubicBezTo>
                          <a:pt x="1" y="0"/>
                          <a:pt x="1" y="0"/>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37" name="Freeform 149">
                    <a:extLst>
                      <a:ext uri="{FF2B5EF4-FFF2-40B4-BE49-F238E27FC236}">
                        <a16:creationId xmlns:a16="http://schemas.microsoft.com/office/drawing/2014/main" id="{0BBCB2E3-3CF5-4813-9056-024948856052}"/>
                      </a:ext>
                    </a:extLst>
                  </p:cNvPr>
                  <p:cNvSpPr>
                    <a:spLocks/>
                  </p:cNvSpPr>
                  <p:nvPr/>
                </p:nvSpPr>
                <p:spPr bwMode="auto">
                  <a:xfrm>
                    <a:off x="7335838" y="2182813"/>
                    <a:ext cx="3175" cy="1588"/>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38" name="Freeform 150">
                    <a:extLst>
                      <a:ext uri="{FF2B5EF4-FFF2-40B4-BE49-F238E27FC236}">
                        <a16:creationId xmlns:a16="http://schemas.microsoft.com/office/drawing/2014/main" id="{E1DA694B-2117-483D-9F4B-6EF5C4804AF7}"/>
                      </a:ext>
                    </a:extLst>
                  </p:cNvPr>
                  <p:cNvSpPr>
                    <a:spLocks/>
                  </p:cNvSpPr>
                  <p:nvPr/>
                </p:nvSpPr>
                <p:spPr bwMode="auto">
                  <a:xfrm>
                    <a:off x="7339013" y="2171700"/>
                    <a:ext cx="6350" cy="11113"/>
                  </a:xfrm>
                  <a:custGeom>
                    <a:avLst/>
                    <a:gdLst/>
                    <a:ahLst/>
                    <a:cxnLst>
                      <a:cxn ang="0">
                        <a:pos x="3" y="0"/>
                      </a:cxn>
                      <a:cxn ang="0">
                        <a:pos x="0" y="4"/>
                      </a:cxn>
                      <a:cxn ang="0">
                        <a:pos x="3" y="0"/>
                      </a:cxn>
                    </a:cxnLst>
                    <a:rect l="0" t="0" r="r" b="b"/>
                    <a:pathLst>
                      <a:path w="3" h="4">
                        <a:moveTo>
                          <a:pt x="3" y="0"/>
                        </a:moveTo>
                        <a:cubicBezTo>
                          <a:pt x="2" y="1"/>
                          <a:pt x="0" y="3"/>
                          <a:pt x="0" y="4"/>
                        </a:cubicBezTo>
                        <a:cubicBezTo>
                          <a:pt x="1" y="3"/>
                          <a:pt x="2" y="2"/>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39" name="Freeform 151">
                    <a:extLst>
                      <a:ext uri="{FF2B5EF4-FFF2-40B4-BE49-F238E27FC236}">
                        <a16:creationId xmlns:a16="http://schemas.microsoft.com/office/drawing/2014/main" id="{84BAC047-FC79-43D8-A01E-6A3DEEEE21EC}"/>
                      </a:ext>
                    </a:extLst>
                  </p:cNvPr>
                  <p:cNvSpPr>
                    <a:spLocks/>
                  </p:cNvSpPr>
                  <p:nvPr/>
                </p:nvSpPr>
                <p:spPr bwMode="auto">
                  <a:xfrm>
                    <a:off x="7316788" y="2200275"/>
                    <a:ext cx="1587" cy="1588"/>
                  </a:xfrm>
                  <a:custGeom>
                    <a:avLst/>
                    <a:gdLst/>
                    <a:ahLst/>
                    <a:cxnLst>
                      <a:cxn ang="0">
                        <a:pos x="0" y="1"/>
                      </a:cxn>
                      <a:cxn ang="0">
                        <a:pos x="0" y="0"/>
                      </a:cxn>
                      <a:cxn ang="0">
                        <a:pos x="0" y="1"/>
                      </a:cxn>
                    </a:cxnLst>
                    <a:rect l="0" t="0" r="r" b="b"/>
                    <a:pathLst>
                      <a:path h="1">
                        <a:moveTo>
                          <a:pt x="0" y="1"/>
                        </a:move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40" name="Freeform 152">
                    <a:extLst>
                      <a:ext uri="{FF2B5EF4-FFF2-40B4-BE49-F238E27FC236}">
                        <a16:creationId xmlns:a16="http://schemas.microsoft.com/office/drawing/2014/main" id="{758F0239-AA17-4576-ABE7-1FBB1C362A10}"/>
                      </a:ext>
                    </a:extLst>
                  </p:cNvPr>
                  <p:cNvSpPr>
                    <a:spLocks/>
                  </p:cNvSpPr>
                  <p:nvPr/>
                </p:nvSpPr>
                <p:spPr bwMode="auto">
                  <a:xfrm>
                    <a:off x="7526338" y="202882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41" name="Freeform 153">
                    <a:extLst>
                      <a:ext uri="{FF2B5EF4-FFF2-40B4-BE49-F238E27FC236}">
                        <a16:creationId xmlns:a16="http://schemas.microsoft.com/office/drawing/2014/main" id="{03158861-D877-4DEB-977D-3D4761981925}"/>
                      </a:ext>
                    </a:extLst>
                  </p:cNvPr>
                  <p:cNvSpPr>
                    <a:spLocks/>
                  </p:cNvSpPr>
                  <p:nvPr/>
                </p:nvSpPr>
                <p:spPr bwMode="auto">
                  <a:xfrm>
                    <a:off x="7481888" y="2063750"/>
                    <a:ext cx="3175" cy="1588"/>
                  </a:xfrm>
                  <a:custGeom>
                    <a:avLst/>
                    <a:gdLst/>
                    <a:ahLst/>
                    <a:cxnLst>
                      <a:cxn ang="0">
                        <a:pos x="1" y="0"/>
                      </a:cxn>
                      <a:cxn ang="0">
                        <a:pos x="0" y="0"/>
                      </a:cxn>
                      <a:cxn ang="0">
                        <a:pos x="1" y="0"/>
                      </a:cxn>
                    </a:cxnLst>
                    <a:rect l="0" t="0" r="r" b="b"/>
                    <a:pathLst>
                      <a:path w="1">
                        <a:moveTo>
                          <a:pt x="1" y="0"/>
                        </a:moveTo>
                        <a:cubicBezTo>
                          <a:pt x="1"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42" name="Freeform 154">
                    <a:extLst>
                      <a:ext uri="{FF2B5EF4-FFF2-40B4-BE49-F238E27FC236}">
                        <a16:creationId xmlns:a16="http://schemas.microsoft.com/office/drawing/2014/main" id="{C4FEBF4D-0A7C-4F84-A738-881B0AE53915}"/>
                      </a:ext>
                    </a:extLst>
                  </p:cNvPr>
                  <p:cNvSpPr>
                    <a:spLocks/>
                  </p:cNvSpPr>
                  <p:nvPr/>
                </p:nvSpPr>
                <p:spPr bwMode="auto">
                  <a:xfrm>
                    <a:off x="7221538" y="23018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43" name="Freeform 155">
                    <a:extLst>
                      <a:ext uri="{FF2B5EF4-FFF2-40B4-BE49-F238E27FC236}">
                        <a16:creationId xmlns:a16="http://schemas.microsoft.com/office/drawing/2014/main" id="{D0C8A412-5B92-4340-8EBE-78E1D9D54BD6}"/>
                      </a:ext>
                    </a:extLst>
                  </p:cNvPr>
                  <p:cNvSpPr>
                    <a:spLocks/>
                  </p:cNvSpPr>
                  <p:nvPr/>
                </p:nvSpPr>
                <p:spPr bwMode="auto">
                  <a:xfrm>
                    <a:off x="6471470" y="1748884"/>
                    <a:ext cx="2265362" cy="2987675"/>
                  </a:xfrm>
                  <a:custGeom>
                    <a:avLst/>
                    <a:gdLst/>
                    <a:ahLst/>
                    <a:cxnLst>
                      <a:cxn ang="0">
                        <a:pos x="295" y="351"/>
                      </a:cxn>
                      <a:cxn ang="0">
                        <a:pos x="339" y="296"/>
                      </a:cxn>
                      <a:cxn ang="0">
                        <a:pos x="362" y="265"/>
                      </a:cxn>
                      <a:cxn ang="0">
                        <a:pos x="377" y="249"/>
                      </a:cxn>
                      <a:cxn ang="0">
                        <a:pos x="403" y="224"/>
                      </a:cxn>
                      <a:cxn ang="0">
                        <a:pos x="411" y="216"/>
                      </a:cxn>
                      <a:cxn ang="0">
                        <a:pos x="427" y="202"/>
                      </a:cxn>
                      <a:cxn ang="0">
                        <a:pos x="458" y="180"/>
                      </a:cxn>
                      <a:cxn ang="0">
                        <a:pos x="477" y="162"/>
                      </a:cxn>
                      <a:cxn ang="0">
                        <a:pos x="512" y="134"/>
                      </a:cxn>
                      <a:cxn ang="0">
                        <a:pos x="530" y="124"/>
                      </a:cxn>
                      <a:cxn ang="0">
                        <a:pos x="558" y="106"/>
                      </a:cxn>
                      <a:cxn ang="0">
                        <a:pos x="583" y="94"/>
                      </a:cxn>
                      <a:cxn ang="0">
                        <a:pos x="620" y="71"/>
                      </a:cxn>
                      <a:cxn ang="0">
                        <a:pos x="662" y="54"/>
                      </a:cxn>
                      <a:cxn ang="0">
                        <a:pos x="704" y="40"/>
                      </a:cxn>
                      <a:cxn ang="0">
                        <a:pos x="735" y="30"/>
                      </a:cxn>
                      <a:cxn ang="0">
                        <a:pos x="758" y="25"/>
                      </a:cxn>
                      <a:cxn ang="0">
                        <a:pos x="759" y="26"/>
                      </a:cxn>
                      <a:cxn ang="0">
                        <a:pos x="785" y="19"/>
                      </a:cxn>
                      <a:cxn ang="0">
                        <a:pos x="800" y="15"/>
                      </a:cxn>
                      <a:cxn ang="0">
                        <a:pos x="820" y="12"/>
                      </a:cxn>
                      <a:cxn ang="0">
                        <a:pos x="870" y="10"/>
                      </a:cxn>
                      <a:cxn ang="0">
                        <a:pos x="906" y="8"/>
                      </a:cxn>
                      <a:cxn ang="0">
                        <a:pos x="880" y="2"/>
                      </a:cxn>
                      <a:cxn ang="0">
                        <a:pos x="860" y="3"/>
                      </a:cxn>
                      <a:cxn ang="0">
                        <a:pos x="836" y="3"/>
                      </a:cxn>
                      <a:cxn ang="0">
                        <a:pos x="793" y="6"/>
                      </a:cxn>
                      <a:cxn ang="0">
                        <a:pos x="772" y="11"/>
                      </a:cxn>
                      <a:cxn ang="0">
                        <a:pos x="753" y="14"/>
                      </a:cxn>
                      <a:cxn ang="0">
                        <a:pos x="685" y="33"/>
                      </a:cxn>
                      <a:cxn ang="0">
                        <a:pos x="652" y="43"/>
                      </a:cxn>
                      <a:cxn ang="0">
                        <a:pos x="635" y="50"/>
                      </a:cxn>
                      <a:cxn ang="0">
                        <a:pos x="605" y="64"/>
                      </a:cxn>
                      <a:cxn ang="0">
                        <a:pos x="569" y="81"/>
                      </a:cxn>
                      <a:cxn ang="0">
                        <a:pos x="547" y="90"/>
                      </a:cxn>
                      <a:cxn ang="0">
                        <a:pos x="500" y="120"/>
                      </a:cxn>
                      <a:cxn ang="0">
                        <a:pos x="454" y="152"/>
                      </a:cxn>
                      <a:cxn ang="0">
                        <a:pos x="418" y="183"/>
                      </a:cxn>
                      <a:cxn ang="0">
                        <a:pos x="399" y="199"/>
                      </a:cxn>
                      <a:cxn ang="0">
                        <a:pos x="372" y="223"/>
                      </a:cxn>
                      <a:cxn ang="0">
                        <a:pos x="333" y="260"/>
                      </a:cxn>
                      <a:cxn ang="0">
                        <a:pos x="303" y="297"/>
                      </a:cxn>
                      <a:cxn ang="0">
                        <a:pos x="252" y="360"/>
                      </a:cxn>
                      <a:cxn ang="0">
                        <a:pos x="200" y="442"/>
                      </a:cxn>
                      <a:cxn ang="0">
                        <a:pos x="184" y="468"/>
                      </a:cxn>
                      <a:cxn ang="0">
                        <a:pos x="168" y="498"/>
                      </a:cxn>
                      <a:cxn ang="0">
                        <a:pos x="143" y="549"/>
                      </a:cxn>
                      <a:cxn ang="0">
                        <a:pos x="99" y="648"/>
                      </a:cxn>
                      <a:cxn ang="0">
                        <a:pos x="68" y="741"/>
                      </a:cxn>
                      <a:cxn ang="0">
                        <a:pos x="38" y="844"/>
                      </a:cxn>
                      <a:cxn ang="0">
                        <a:pos x="0" y="1116"/>
                      </a:cxn>
                      <a:cxn ang="0">
                        <a:pos x="9" y="1197"/>
                      </a:cxn>
                      <a:cxn ang="0">
                        <a:pos x="11" y="1180"/>
                      </a:cxn>
                      <a:cxn ang="0">
                        <a:pos x="15" y="1154"/>
                      </a:cxn>
                      <a:cxn ang="0">
                        <a:pos x="18" y="1114"/>
                      </a:cxn>
                      <a:cxn ang="0">
                        <a:pos x="40" y="988"/>
                      </a:cxn>
                      <a:cxn ang="0">
                        <a:pos x="89" y="767"/>
                      </a:cxn>
                      <a:cxn ang="0">
                        <a:pos x="117" y="681"/>
                      </a:cxn>
                      <a:cxn ang="0">
                        <a:pos x="157" y="582"/>
                      </a:cxn>
                      <a:cxn ang="0">
                        <a:pos x="164" y="564"/>
                      </a:cxn>
                      <a:cxn ang="0">
                        <a:pos x="193" y="510"/>
                      </a:cxn>
                      <a:cxn ang="0">
                        <a:pos x="216" y="471"/>
                      </a:cxn>
                    </a:cxnLst>
                    <a:rect l="0" t="0" r="r" b="b"/>
                    <a:pathLst>
                      <a:path w="913" h="1204">
                        <a:moveTo>
                          <a:pt x="243" y="429"/>
                        </a:moveTo>
                        <a:cubicBezTo>
                          <a:pt x="254" y="411"/>
                          <a:pt x="268" y="388"/>
                          <a:pt x="280" y="372"/>
                        </a:cubicBezTo>
                        <a:cubicBezTo>
                          <a:pt x="282" y="368"/>
                          <a:pt x="286" y="362"/>
                          <a:pt x="289" y="357"/>
                        </a:cubicBezTo>
                        <a:cubicBezTo>
                          <a:pt x="291" y="358"/>
                          <a:pt x="291" y="358"/>
                          <a:pt x="291" y="358"/>
                        </a:cubicBezTo>
                        <a:cubicBezTo>
                          <a:pt x="294" y="353"/>
                          <a:pt x="294" y="353"/>
                          <a:pt x="294" y="353"/>
                        </a:cubicBezTo>
                        <a:cubicBezTo>
                          <a:pt x="296" y="351"/>
                          <a:pt x="292" y="356"/>
                          <a:pt x="295" y="354"/>
                        </a:cubicBezTo>
                        <a:cubicBezTo>
                          <a:pt x="295" y="351"/>
                          <a:pt x="295" y="351"/>
                          <a:pt x="295" y="351"/>
                        </a:cubicBezTo>
                        <a:cubicBezTo>
                          <a:pt x="296" y="351"/>
                          <a:pt x="304" y="341"/>
                          <a:pt x="299" y="349"/>
                        </a:cubicBezTo>
                        <a:cubicBezTo>
                          <a:pt x="304" y="343"/>
                          <a:pt x="308" y="338"/>
                          <a:pt x="313" y="332"/>
                        </a:cubicBezTo>
                        <a:cubicBezTo>
                          <a:pt x="316" y="329"/>
                          <a:pt x="313" y="329"/>
                          <a:pt x="317" y="325"/>
                        </a:cubicBezTo>
                        <a:cubicBezTo>
                          <a:pt x="318" y="325"/>
                          <a:pt x="316" y="327"/>
                          <a:pt x="317" y="327"/>
                        </a:cubicBezTo>
                        <a:cubicBezTo>
                          <a:pt x="328" y="316"/>
                          <a:pt x="325" y="311"/>
                          <a:pt x="335" y="300"/>
                        </a:cubicBezTo>
                        <a:cubicBezTo>
                          <a:pt x="334" y="301"/>
                          <a:pt x="334" y="301"/>
                          <a:pt x="334" y="301"/>
                        </a:cubicBezTo>
                        <a:cubicBezTo>
                          <a:pt x="336" y="299"/>
                          <a:pt x="339" y="296"/>
                          <a:pt x="339" y="296"/>
                        </a:cubicBezTo>
                        <a:cubicBezTo>
                          <a:pt x="336" y="296"/>
                          <a:pt x="338" y="298"/>
                          <a:pt x="334" y="301"/>
                        </a:cubicBezTo>
                        <a:cubicBezTo>
                          <a:pt x="333" y="299"/>
                          <a:pt x="337" y="296"/>
                          <a:pt x="336" y="295"/>
                        </a:cubicBezTo>
                        <a:cubicBezTo>
                          <a:pt x="338" y="293"/>
                          <a:pt x="339" y="291"/>
                          <a:pt x="341" y="289"/>
                        </a:cubicBezTo>
                        <a:cubicBezTo>
                          <a:pt x="345" y="286"/>
                          <a:pt x="349" y="280"/>
                          <a:pt x="353" y="278"/>
                        </a:cubicBezTo>
                        <a:cubicBezTo>
                          <a:pt x="354" y="276"/>
                          <a:pt x="355" y="273"/>
                          <a:pt x="358" y="269"/>
                        </a:cubicBezTo>
                        <a:cubicBezTo>
                          <a:pt x="362" y="267"/>
                          <a:pt x="359" y="270"/>
                          <a:pt x="363" y="267"/>
                        </a:cubicBezTo>
                        <a:cubicBezTo>
                          <a:pt x="362" y="265"/>
                          <a:pt x="362" y="265"/>
                          <a:pt x="362" y="265"/>
                        </a:cubicBezTo>
                        <a:cubicBezTo>
                          <a:pt x="365" y="262"/>
                          <a:pt x="365" y="263"/>
                          <a:pt x="365" y="264"/>
                        </a:cubicBezTo>
                        <a:cubicBezTo>
                          <a:pt x="369" y="260"/>
                          <a:pt x="367" y="260"/>
                          <a:pt x="371" y="256"/>
                        </a:cubicBezTo>
                        <a:cubicBezTo>
                          <a:pt x="370" y="259"/>
                          <a:pt x="370" y="259"/>
                          <a:pt x="370" y="259"/>
                        </a:cubicBezTo>
                        <a:cubicBezTo>
                          <a:pt x="373" y="256"/>
                          <a:pt x="374" y="255"/>
                          <a:pt x="378" y="251"/>
                        </a:cubicBezTo>
                        <a:cubicBezTo>
                          <a:pt x="378" y="251"/>
                          <a:pt x="377" y="253"/>
                          <a:pt x="375" y="254"/>
                        </a:cubicBezTo>
                        <a:cubicBezTo>
                          <a:pt x="379" y="253"/>
                          <a:pt x="379" y="250"/>
                          <a:pt x="380" y="248"/>
                        </a:cubicBezTo>
                        <a:cubicBezTo>
                          <a:pt x="379" y="249"/>
                          <a:pt x="376" y="251"/>
                          <a:pt x="377" y="249"/>
                        </a:cubicBezTo>
                        <a:cubicBezTo>
                          <a:pt x="379" y="247"/>
                          <a:pt x="381" y="244"/>
                          <a:pt x="383" y="243"/>
                        </a:cubicBezTo>
                        <a:cubicBezTo>
                          <a:pt x="381" y="246"/>
                          <a:pt x="381" y="246"/>
                          <a:pt x="381" y="246"/>
                        </a:cubicBezTo>
                        <a:cubicBezTo>
                          <a:pt x="385" y="241"/>
                          <a:pt x="383" y="243"/>
                          <a:pt x="388" y="238"/>
                        </a:cubicBezTo>
                        <a:cubicBezTo>
                          <a:pt x="388" y="239"/>
                          <a:pt x="388" y="239"/>
                          <a:pt x="388" y="239"/>
                        </a:cubicBezTo>
                        <a:cubicBezTo>
                          <a:pt x="390" y="235"/>
                          <a:pt x="395" y="232"/>
                          <a:pt x="400" y="227"/>
                        </a:cubicBezTo>
                        <a:cubicBezTo>
                          <a:pt x="399" y="228"/>
                          <a:pt x="399" y="228"/>
                          <a:pt x="399" y="228"/>
                        </a:cubicBezTo>
                        <a:cubicBezTo>
                          <a:pt x="401" y="226"/>
                          <a:pt x="402" y="225"/>
                          <a:pt x="403" y="224"/>
                        </a:cubicBezTo>
                        <a:cubicBezTo>
                          <a:pt x="399" y="226"/>
                          <a:pt x="400" y="225"/>
                          <a:pt x="399" y="224"/>
                        </a:cubicBezTo>
                        <a:cubicBezTo>
                          <a:pt x="404" y="222"/>
                          <a:pt x="403" y="218"/>
                          <a:pt x="410" y="213"/>
                        </a:cubicBezTo>
                        <a:cubicBezTo>
                          <a:pt x="410" y="214"/>
                          <a:pt x="409" y="216"/>
                          <a:pt x="407" y="217"/>
                        </a:cubicBezTo>
                        <a:cubicBezTo>
                          <a:pt x="406" y="220"/>
                          <a:pt x="407" y="221"/>
                          <a:pt x="404" y="225"/>
                        </a:cubicBezTo>
                        <a:cubicBezTo>
                          <a:pt x="406" y="223"/>
                          <a:pt x="408" y="220"/>
                          <a:pt x="408" y="221"/>
                        </a:cubicBezTo>
                        <a:cubicBezTo>
                          <a:pt x="408" y="219"/>
                          <a:pt x="408" y="219"/>
                          <a:pt x="408" y="219"/>
                        </a:cubicBezTo>
                        <a:cubicBezTo>
                          <a:pt x="409" y="218"/>
                          <a:pt x="410" y="217"/>
                          <a:pt x="411" y="216"/>
                        </a:cubicBezTo>
                        <a:cubicBezTo>
                          <a:pt x="411" y="215"/>
                          <a:pt x="408" y="217"/>
                          <a:pt x="410" y="214"/>
                        </a:cubicBezTo>
                        <a:cubicBezTo>
                          <a:pt x="414" y="210"/>
                          <a:pt x="413" y="213"/>
                          <a:pt x="413" y="212"/>
                        </a:cubicBezTo>
                        <a:cubicBezTo>
                          <a:pt x="418" y="208"/>
                          <a:pt x="414" y="209"/>
                          <a:pt x="419" y="205"/>
                        </a:cubicBezTo>
                        <a:cubicBezTo>
                          <a:pt x="419" y="206"/>
                          <a:pt x="418" y="207"/>
                          <a:pt x="418" y="207"/>
                        </a:cubicBezTo>
                        <a:cubicBezTo>
                          <a:pt x="422" y="205"/>
                          <a:pt x="426" y="200"/>
                          <a:pt x="428" y="200"/>
                        </a:cubicBezTo>
                        <a:cubicBezTo>
                          <a:pt x="428" y="201"/>
                          <a:pt x="428" y="201"/>
                          <a:pt x="427" y="202"/>
                        </a:cubicBezTo>
                        <a:cubicBezTo>
                          <a:pt x="427" y="202"/>
                          <a:pt x="427" y="202"/>
                          <a:pt x="427" y="202"/>
                        </a:cubicBezTo>
                        <a:cubicBezTo>
                          <a:pt x="424" y="207"/>
                          <a:pt x="430" y="199"/>
                          <a:pt x="430" y="201"/>
                        </a:cubicBezTo>
                        <a:cubicBezTo>
                          <a:pt x="429" y="201"/>
                          <a:pt x="434" y="197"/>
                          <a:pt x="436" y="195"/>
                        </a:cubicBezTo>
                        <a:cubicBezTo>
                          <a:pt x="435" y="195"/>
                          <a:pt x="435" y="195"/>
                          <a:pt x="435" y="195"/>
                        </a:cubicBezTo>
                        <a:cubicBezTo>
                          <a:pt x="440" y="186"/>
                          <a:pt x="436" y="197"/>
                          <a:pt x="443" y="190"/>
                        </a:cubicBezTo>
                        <a:cubicBezTo>
                          <a:pt x="447" y="186"/>
                          <a:pt x="441" y="192"/>
                          <a:pt x="443" y="189"/>
                        </a:cubicBezTo>
                        <a:cubicBezTo>
                          <a:pt x="446" y="186"/>
                          <a:pt x="448" y="186"/>
                          <a:pt x="452" y="182"/>
                        </a:cubicBezTo>
                        <a:cubicBezTo>
                          <a:pt x="454" y="181"/>
                          <a:pt x="457" y="180"/>
                          <a:pt x="458" y="180"/>
                        </a:cubicBezTo>
                        <a:cubicBezTo>
                          <a:pt x="461" y="178"/>
                          <a:pt x="467" y="174"/>
                          <a:pt x="468" y="172"/>
                        </a:cubicBezTo>
                        <a:cubicBezTo>
                          <a:pt x="462" y="175"/>
                          <a:pt x="464" y="177"/>
                          <a:pt x="457" y="180"/>
                        </a:cubicBezTo>
                        <a:cubicBezTo>
                          <a:pt x="458" y="178"/>
                          <a:pt x="458" y="178"/>
                          <a:pt x="458" y="178"/>
                        </a:cubicBezTo>
                        <a:cubicBezTo>
                          <a:pt x="462" y="174"/>
                          <a:pt x="467" y="170"/>
                          <a:pt x="470" y="168"/>
                        </a:cubicBezTo>
                        <a:cubicBezTo>
                          <a:pt x="469" y="168"/>
                          <a:pt x="469" y="168"/>
                          <a:pt x="469" y="168"/>
                        </a:cubicBezTo>
                        <a:cubicBezTo>
                          <a:pt x="474" y="163"/>
                          <a:pt x="475" y="161"/>
                          <a:pt x="481" y="157"/>
                        </a:cubicBezTo>
                        <a:cubicBezTo>
                          <a:pt x="482" y="157"/>
                          <a:pt x="479" y="160"/>
                          <a:pt x="477" y="162"/>
                        </a:cubicBezTo>
                        <a:cubicBezTo>
                          <a:pt x="481" y="160"/>
                          <a:pt x="480" y="159"/>
                          <a:pt x="486" y="155"/>
                        </a:cubicBezTo>
                        <a:cubicBezTo>
                          <a:pt x="487" y="156"/>
                          <a:pt x="482" y="158"/>
                          <a:pt x="482" y="159"/>
                        </a:cubicBezTo>
                        <a:cubicBezTo>
                          <a:pt x="488" y="154"/>
                          <a:pt x="488" y="154"/>
                          <a:pt x="488" y="154"/>
                        </a:cubicBezTo>
                        <a:cubicBezTo>
                          <a:pt x="488" y="154"/>
                          <a:pt x="488" y="154"/>
                          <a:pt x="488" y="154"/>
                        </a:cubicBezTo>
                        <a:cubicBezTo>
                          <a:pt x="488" y="152"/>
                          <a:pt x="493" y="151"/>
                          <a:pt x="497" y="148"/>
                        </a:cubicBezTo>
                        <a:cubicBezTo>
                          <a:pt x="506" y="141"/>
                          <a:pt x="506" y="139"/>
                          <a:pt x="510" y="134"/>
                        </a:cubicBezTo>
                        <a:cubicBezTo>
                          <a:pt x="512" y="133"/>
                          <a:pt x="513" y="134"/>
                          <a:pt x="512" y="134"/>
                        </a:cubicBezTo>
                        <a:cubicBezTo>
                          <a:pt x="510" y="135"/>
                          <a:pt x="510" y="135"/>
                          <a:pt x="510" y="136"/>
                        </a:cubicBezTo>
                        <a:cubicBezTo>
                          <a:pt x="513" y="134"/>
                          <a:pt x="518" y="133"/>
                          <a:pt x="516" y="135"/>
                        </a:cubicBezTo>
                        <a:cubicBezTo>
                          <a:pt x="521" y="131"/>
                          <a:pt x="514" y="135"/>
                          <a:pt x="517" y="133"/>
                        </a:cubicBezTo>
                        <a:cubicBezTo>
                          <a:pt x="524" y="128"/>
                          <a:pt x="524" y="128"/>
                          <a:pt x="524" y="128"/>
                        </a:cubicBezTo>
                        <a:cubicBezTo>
                          <a:pt x="522" y="128"/>
                          <a:pt x="520" y="130"/>
                          <a:pt x="523" y="127"/>
                        </a:cubicBezTo>
                        <a:cubicBezTo>
                          <a:pt x="526" y="125"/>
                          <a:pt x="527" y="124"/>
                          <a:pt x="531" y="121"/>
                        </a:cubicBezTo>
                        <a:cubicBezTo>
                          <a:pt x="531" y="122"/>
                          <a:pt x="533" y="122"/>
                          <a:pt x="530" y="124"/>
                        </a:cubicBezTo>
                        <a:cubicBezTo>
                          <a:pt x="533" y="123"/>
                          <a:pt x="536" y="121"/>
                          <a:pt x="536" y="119"/>
                        </a:cubicBezTo>
                        <a:cubicBezTo>
                          <a:pt x="531" y="121"/>
                          <a:pt x="543" y="114"/>
                          <a:pt x="539" y="115"/>
                        </a:cubicBezTo>
                        <a:cubicBezTo>
                          <a:pt x="544" y="113"/>
                          <a:pt x="544" y="113"/>
                          <a:pt x="544" y="113"/>
                        </a:cubicBezTo>
                        <a:cubicBezTo>
                          <a:pt x="543" y="114"/>
                          <a:pt x="543" y="114"/>
                          <a:pt x="541" y="115"/>
                        </a:cubicBezTo>
                        <a:cubicBezTo>
                          <a:pt x="543" y="115"/>
                          <a:pt x="545" y="112"/>
                          <a:pt x="546" y="111"/>
                        </a:cubicBezTo>
                        <a:cubicBezTo>
                          <a:pt x="548" y="111"/>
                          <a:pt x="552" y="108"/>
                          <a:pt x="553" y="109"/>
                        </a:cubicBezTo>
                        <a:cubicBezTo>
                          <a:pt x="554" y="108"/>
                          <a:pt x="557" y="106"/>
                          <a:pt x="558" y="106"/>
                        </a:cubicBezTo>
                        <a:cubicBezTo>
                          <a:pt x="560" y="105"/>
                          <a:pt x="558" y="105"/>
                          <a:pt x="559" y="104"/>
                        </a:cubicBezTo>
                        <a:cubicBezTo>
                          <a:pt x="566" y="100"/>
                          <a:pt x="566" y="100"/>
                          <a:pt x="566" y="100"/>
                        </a:cubicBezTo>
                        <a:cubicBezTo>
                          <a:pt x="567" y="101"/>
                          <a:pt x="568" y="102"/>
                          <a:pt x="567" y="103"/>
                        </a:cubicBezTo>
                        <a:cubicBezTo>
                          <a:pt x="570" y="101"/>
                          <a:pt x="567" y="101"/>
                          <a:pt x="571" y="98"/>
                        </a:cubicBezTo>
                        <a:cubicBezTo>
                          <a:pt x="570" y="101"/>
                          <a:pt x="577" y="96"/>
                          <a:pt x="575" y="100"/>
                        </a:cubicBezTo>
                        <a:cubicBezTo>
                          <a:pt x="577" y="99"/>
                          <a:pt x="584" y="96"/>
                          <a:pt x="588" y="93"/>
                        </a:cubicBezTo>
                        <a:cubicBezTo>
                          <a:pt x="589" y="91"/>
                          <a:pt x="583" y="95"/>
                          <a:pt x="583" y="94"/>
                        </a:cubicBezTo>
                        <a:cubicBezTo>
                          <a:pt x="593" y="88"/>
                          <a:pt x="592" y="85"/>
                          <a:pt x="601" y="81"/>
                        </a:cubicBezTo>
                        <a:cubicBezTo>
                          <a:pt x="598" y="82"/>
                          <a:pt x="598" y="82"/>
                          <a:pt x="598" y="82"/>
                        </a:cubicBezTo>
                        <a:cubicBezTo>
                          <a:pt x="603" y="79"/>
                          <a:pt x="602" y="80"/>
                          <a:pt x="605" y="77"/>
                        </a:cubicBezTo>
                        <a:cubicBezTo>
                          <a:pt x="604" y="79"/>
                          <a:pt x="612" y="78"/>
                          <a:pt x="620" y="74"/>
                        </a:cubicBezTo>
                        <a:cubicBezTo>
                          <a:pt x="620" y="73"/>
                          <a:pt x="615" y="75"/>
                          <a:pt x="616" y="73"/>
                        </a:cubicBezTo>
                        <a:cubicBezTo>
                          <a:pt x="621" y="70"/>
                          <a:pt x="621" y="70"/>
                          <a:pt x="621" y="70"/>
                        </a:cubicBezTo>
                        <a:cubicBezTo>
                          <a:pt x="622" y="70"/>
                          <a:pt x="621" y="71"/>
                          <a:pt x="620" y="71"/>
                        </a:cubicBezTo>
                        <a:cubicBezTo>
                          <a:pt x="625" y="69"/>
                          <a:pt x="630" y="69"/>
                          <a:pt x="631" y="67"/>
                        </a:cubicBezTo>
                        <a:cubicBezTo>
                          <a:pt x="637" y="67"/>
                          <a:pt x="637" y="67"/>
                          <a:pt x="637" y="67"/>
                        </a:cubicBezTo>
                        <a:cubicBezTo>
                          <a:pt x="634" y="67"/>
                          <a:pt x="634" y="67"/>
                          <a:pt x="634" y="67"/>
                        </a:cubicBezTo>
                        <a:cubicBezTo>
                          <a:pt x="635" y="66"/>
                          <a:pt x="640" y="63"/>
                          <a:pt x="641" y="62"/>
                        </a:cubicBezTo>
                        <a:cubicBezTo>
                          <a:pt x="646" y="59"/>
                          <a:pt x="649" y="59"/>
                          <a:pt x="652" y="59"/>
                        </a:cubicBezTo>
                        <a:cubicBezTo>
                          <a:pt x="651" y="58"/>
                          <a:pt x="648" y="58"/>
                          <a:pt x="652" y="56"/>
                        </a:cubicBezTo>
                        <a:cubicBezTo>
                          <a:pt x="653" y="58"/>
                          <a:pt x="662" y="53"/>
                          <a:pt x="662" y="54"/>
                        </a:cubicBezTo>
                        <a:cubicBezTo>
                          <a:pt x="664" y="54"/>
                          <a:pt x="668" y="53"/>
                          <a:pt x="667" y="52"/>
                        </a:cubicBezTo>
                        <a:cubicBezTo>
                          <a:pt x="668" y="54"/>
                          <a:pt x="668" y="54"/>
                          <a:pt x="668" y="54"/>
                        </a:cubicBezTo>
                        <a:cubicBezTo>
                          <a:pt x="667" y="52"/>
                          <a:pt x="674" y="49"/>
                          <a:pt x="679" y="47"/>
                        </a:cubicBezTo>
                        <a:cubicBezTo>
                          <a:pt x="679" y="50"/>
                          <a:pt x="684" y="45"/>
                          <a:pt x="688" y="46"/>
                        </a:cubicBezTo>
                        <a:cubicBezTo>
                          <a:pt x="688" y="44"/>
                          <a:pt x="696" y="43"/>
                          <a:pt x="697" y="41"/>
                        </a:cubicBezTo>
                        <a:cubicBezTo>
                          <a:pt x="701" y="39"/>
                          <a:pt x="701" y="41"/>
                          <a:pt x="702" y="41"/>
                        </a:cubicBezTo>
                        <a:cubicBezTo>
                          <a:pt x="704" y="40"/>
                          <a:pt x="704" y="40"/>
                          <a:pt x="704" y="40"/>
                        </a:cubicBezTo>
                        <a:cubicBezTo>
                          <a:pt x="706" y="40"/>
                          <a:pt x="713" y="38"/>
                          <a:pt x="718" y="37"/>
                        </a:cubicBezTo>
                        <a:cubicBezTo>
                          <a:pt x="722" y="35"/>
                          <a:pt x="722" y="35"/>
                          <a:pt x="722" y="35"/>
                        </a:cubicBezTo>
                        <a:cubicBezTo>
                          <a:pt x="723" y="35"/>
                          <a:pt x="723" y="35"/>
                          <a:pt x="723" y="35"/>
                        </a:cubicBezTo>
                        <a:cubicBezTo>
                          <a:pt x="724" y="34"/>
                          <a:pt x="727" y="33"/>
                          <a:pt x="725" y="33"/>
                        </a:cubicBezTo>
                        <a:cubicBezTo>
                          <a:pt x="727" y="33"/>
                          <a:pt x="727" y="33"/>
                          <a:pt x="727" y="33"/>
                        </a:cubicBezTo>
                        <a:cubicBezTo>
                          <a:pt x="727" y="31"/>
                          <a:pt x="730" y="31"/>
                          <a:pt x="735" y="29"/>
                        </a:cubicBezTo>
                        <a:cubicBezTo>
                          <a:pt x="736" y="29"/>
                          <a:pt x="736" y="30"/>
                          <a:pt x="735" y="30"/>
                        </a:cubicBezTo>
                        <a:cubicBezTo>
                          <a:pt x="737" y="30"/>
                          <a:pt x="736" y="31"/>
                          <a:pt x="738" y="31"/>
                        </a:cubicBezTo>
                        <a:cubicBezTo>
                          <a:pt x="736" y="31"/>
                          <a:pt x="745" y="26"/>
                          <a:pt x="739" y="27"/>
                        </a:cubicBezTo>
                        <a:cubicBezTo>
                          <a:pt x="738" y="26"/>
                          <a:pt x="741" y="25"/>
                          <a:pt x="744" y="24"/>
                        </a:cubicBezTo>
                        <a:cubicBezTo>
                          <a:pt x="745" y="26"/>
                          <a:pt x="745" y="26"/>
                          <a:pt x="745" y="26"/>
                        </a:cubicBezTo>
                        <a:cubicBezTo>
                          <a:pt x="748" y="23"/>
                          <a:pt x="748" y="23"/>
                          <a:pt x="748" y="23"/>
                        </a:cubicBezTo>
                        <a:cubicBezTo>
                          <a:pt x="751" y="22"/>
                          <a:pt x="753" y="23"/>
                          <a:pt x="756" y="22"/>
                        </a:cubicBezTo>
                        <a:cubicBezTo>
                          <a:pt x="753" y="23"/>
                          <a:pt x="750" y="27"/>
                          <a:pt x="758" y="25"/>
                        </a:cubicBezTo>
                        <a:cubicBezTo>
                          <a:pt x="754" y="26"/>
                          <a:pt x="752" y="28"/>
                          <a:pt x="750" y="28"/>
                        </a:cubicBezTo>
                        <a:cubicBezTo>
                          <a:pt x="752" y="28"/>
                          <a:pt x="752" y="28"/>
                          <a:pt x="750" y="29"/>
                        </a:cubicBezTo>
                        <a:cubicBezTo>
                          <a:pt x="756" y="27"/>
                          <a:pt x="752" y="28"/>
                          <a:pt x="758" y="26"/>
                        </a:cubicBezTo>
                        <a:cubicBezTo>
                          <a:pt x="758" y="28"/>
                          <a:pt x="759" y="28"/>
                          <a:pt x="764" y="27"/>
                        </a:cubicBezTo>
                        <a:cubicBezTo>
                          <a:pt x="760" y="27"/>
                          <a:pt x="760" y="27"/>
                          <a:pt x="760" y="27"/>
                        </a:cubicBezTo>
                        <a:cubicBezTo>
                          <a:pt x="761" y="27"/>
                          <a:pt x="761" y="27"/>
                          <a:pt x="761" y="26"/>
                        </a:cubicBezTo>
                        <a:cubicBezTo>
                          <a:pt x="760" y="27"/>
                          <a:pt x="759" y="26"/>
                          <a:pt x="759" y="26"/>
                        </a:cubicBezTo>
                        <a:cubicBezTo>
                          <a:pt x="760" y="26"/>
                          <a:pt x="765" y="23"/>
                          <a:pt x="766" y="23"/>
                        </a:cubicBezTo>
                        <a:cubicBezTo>
                          <a:pt x="760" y="22"/>
                          <a:pt x="776" y="19"/>
                          <a:pt x="772" y="19"/>
                        </a:cubicBezTo>
                        <a:cubicBezTo>
                          <a:pt x="773" y="18"/>
                          <a:pt x="777" y="17"/>
                          <a:pt x="777" y="18"/>
                        </a:cubicBezTo>
                        <a:cubicBezTo>
                          <a:pt x="772" y="20"/>
                          <a:pt x="781" y="19"/>
                          <a:pt x="781" y="20"/>
                        </a:cubicBezTo>
                        <a:cubicBezTo>
                          <a:pt x="782" y="19"/>
                          <a:pt x="777" y="20"/>
                          <a:pt x="779" y="19"/>
                        </a:cubicBezTo>
                        <a:cubicBezTo>
                          <a:pt x="782" y="18"/>
                          <a:pt x="784" y="19"/>
                          <a:pt x="786" y="19"/>
                        </a:cubicBezTo>
                        <a:cubicBezTo>
                          <a:pt x="785" y="19"/>
                          <a:pt x="785" y="19"/>
                          <a:pt x="785" y="19"/>
                        </a:cubicBezTo>
                        <a:cubicBezTo>
                          <a:pt x="789" y="19"/>
                          <a:pt x="789" y="19"/>
                          <a:pt x="789" y="19"/>
                        </a:cubicBezTo>
                        <a:cubicBezTo>
                          <a:pt x="790" y="18"/>
                          <a:pt x="785" y="19"/>
                          <a:pt x="789" y="17"/>
                        </a:cubicBezTo>
                        <a:cubicBezTo>
                          <a:pt x="790" y="18"/>
                          <a:pt x="794" y="16"/>
                          <a:pt x="794" y="17"/>
                        </a:cubicBezTo>
                        <a:cubicBezTo>
                          <a:pt x="792" y="18"/>
                          <a:pt x="794" y="19"/>
                          <a:pt x="790" y="20"/>
                        </a:cubicBezTo>
                        <a:cubicBezTo>
                          <a:pt x="793" y="20"/>
                          <a:pt x="802" y="18"/>
                          <a:pt x="798" y="17"/>
                        </a:cubicBezTo>
                        <a:cubicBezTo>
                          <a:pt x="802" y="17"/>
                          <a:pt x="802" y="17"/>
                          <a:pt x="802" y="17"/>
                        </a:cubicBezTo>
                        <a:cubicBezTo>
                          <a:pt x="800" y="16"/>
                          <a:pt x="793" y="16"/>
                          <a:pt x="800" y="15"/>
                        </a:cubicBezTo>
                        <a:cubicBezTo>
                          <a:pt x="800" y="15"/>
                          <a:pt x="800" y="15"/>
                          <a:pt x="800" y="15"/>
                        </a:cubicBezTo>
                        <a:cubicBezTo>
                          <a:pt x="805" y="13"/>
                          <a:pt x="805" y="13"/>
                          <a:pt x="805" y="13"/>
                        </a:cubicBezTo>
                        <a:cubicBezTo>
                          <a:pt x="807" y="14"/>
                          <a:pt x="807" y="14"/>
                          <a:pt x="807" y="14"/>
                        </a:cubicBezTo>
                        <a:cubicBezTo>
                          <a:pt x="807" y="13"/>
                          <a:pt x="808" y="13"/>
                          <a:pt x="810" y="13"/>
                        </a:cubicBezTo>
                        <a:cubicBezTo>
                          <a:pt x="810" y="13"/>
                          <a:pt x="812" y="13"/>
                          <a:pt x="812" y="14"/>
                        </a:cubicBezTo>
                        <a:cubicBezTo>
                          <a:pt x="817" y="13"/>
                          <a:pt x="817" y="12"/>
                          <a:pt x="817" y="12"/>
                        </a:cubicBezTo>
                        <a:cubicBezTo>
                          <a:pt x="820" y="11"/>
                          <a:pt x="821" y="11"/>
                          <a:pt x="820" y="12"/>
                        </a:cubicBezTo>
                        <a:cubicBezTo>
                          <a:pt x="824" y="12"/>
                          <a:pt x="831" y="11"/>
                          <a:pt x="834" y="11"/>
                        </a:cubicBezTo>
                        <a:cubicBezTo>
                          <a:pt x="839" y="10"/>
                          <a:pt x="833" y="11"/>
                          <a:pt x="836" y="10"/>
                        </a:cubicBezTo>
                        <a:cubicBezTo>
                          <a:pt x="841" y="12"/>
                          <a:pt x="854" y="9"/>
                          <a:pt x="863" y="8"/>
                        </a:cubicBezTo>
                        <a:cubicBezTo>
                          <a:pt x="860" y="6"/>
                          <a:pt x="865" y="7"/>
                          <a:pt x="867" y="5"/>
                        </a:cubicBezTo>
                        <a:cubicBezTo>
                          <a:pt x="865" y="6"/>
                          <a:pt x="875" y="7"/>
                          <a:pt x="868" y="8"/>
                        </a:cubicBezTo>
                        <a:cubicBezTo>
                          <a:pt x="872" y="7"/>
                          <a:pt x="872" y="7"/>
                          <a:pt x="872" y="7"/>
                        </a:cubicBezTo>
                        <a:cubicBezTo>
                          <a:pt x="876" y="8"/>
                          <a:pt x="865" y="9"/>
                          <a:pt x="870" y="10"/>
                        </a:cubicBezTo>
                        <a:cubicBezTo>
                          <a:pt x="875" y="9"/>
                          <a:pt x="878" y="7"/>
                          <a:pt x="884" y="7"/>
                        </a:cubicBezTo>
                        <a:cubicBezTo>
                          <a:pt x="882" y="9"/>
                          <a:pt x="889" y="7"/>
                          <a:pt x="888" y="9"/>
                        </a:cubicBezTo>
                        <a:cubicBezTo>
                          <a:pt x="887" y="9"/>
                          <a:pt x="885" y="9"/>
                          <a:pt x="883" y="9"/>
                        </a:cubicBezTo>
                        <a:cubicBezTo>
                          <a:pt x="884" y="9"/>
                          <a:pt x="884" y="9"/>
                          <a:pt x="884" y="9"/>
                        </a:cubicBezTo>
                        <a:cubicBezTo>
                          <a:pt x="896" y="9"/>
                          <a:pt x="887" y="7"/>
                          <a:pt x="894" y="6"/>
                        </a:cubicBezTo>
                        <a:cubicBezTo>
                          <a:pt x="901" y="6"/>
                          <a:pt x="899" y="7"/>
                          <a:pt x="900" y="8"/>
                        </a:cubicBezTo>
                        <a:cubicBezTo>
                          <a:pt x="901" y="8"/>
                          <a:pt x="904" y="8"/>
                          <a:pt x="906" y="8"/>
                        </a:cubicBezTo>
                        <a:cubicBezTo>
                          <a:pt x="902" y="9"/>
                          <a:pt x="898" y="7"/>
                          <a:pt x="900" y="6"/>
                        </a:cubicBezTo>
                        <a:cubicBezTo>
                          <a:pt x="903" y="7"/>
                          <a:pt x="911" y="6"/>
                          <a:pt x="913" y="5"/>
                        </a:cubicBezTo>
                        <a:cubicBezTo>
                          <a:pt x="902" y="3"/>
                          <a:pt x="906" y="5"/>
                          <a:pt x="896" y="3"/>
                        </a:cubicBezTo>
                        <a:cubicBezTo>
                          <a:pt x="895" y="4"/>
                          <a:pt x="895" y="5"/>
                          <a:pt x="889" y="5"/>
                        </a:cubicBezTo>
                        <a:cubicBezTo>
                          <a:pt x="893" y="4"/>
                          <a:pt x="889" y="4"/>
                          <a:pt x="888" y="4"/>
                        </a:cubicBezTo>
                        <a:cubicBezTo>
                          <a:pt x="889" y="5"/>
                          <a:pt x="884" y="4"/>
                          <a:pt x="882" y="5"/>
                        </a:cubicBezTo>
                        <a:cubicBezTo>
                          <a:pt x="880" y="4"/>
                          <a:pt x="885" y="2"/>
                          <a:pt x="880" y="2"/>
                        </a:cubicBezTo>
                        <a:cubicBezTo>
                          <a:pt x="879" y="5"/>
                          <a:pt x="879" y="5"/>
                          <a:pt x="879" y="5"/>
                        </a:cubicBezTo>
                        <a:cubicBezTo>
                          <a:pt x="876" y="4"/>
                          <a:pt x="879" y="3"/>
                          <a:pt x="875" y="4"/>
                        </a:cubicBezTo>
                        <a:cubicBezTo>
                          <a:pt x="877" y="2"/>
                          <a:pt x="874" y="2"/>
                          <a:pt x="880" y="1"/>
                        </a:cubicBezTo>
                        <a:cubicBezTo>
                          <a:pt x="872" y="0"/>
                          <a:pt x="868" y="3"/>
                          <a:pt x="862" y="4"/>
                        </a:cubicBezTo>
                        <a:cubicBezTo>
                          <a:pt x="863" y="4"/>
                          <a:pt x="863" y="4"/>
                          <a:pt x="864" y="4"/>
                        </a:cubicBezTo>
                        <a:cubicBezTo>
                          <a:pt x="862" y="4"/>
                          <a:pt x="860" y="4"/>
                          <a:pt x="858" y="5"/>
                        </a:cubicBezTo>
                        <a:cubicBezTo>
                          <a:pt x="854" y="4"/>
                          <a:pt x="861" y="3"/>
                          <a:pt x="860" y="3"/>
                        </a:cubicBezTo>
                        <a:cubicBezTo>
                          <a:pt x="854" y="3"/>
                          <a:pt x="854" y="3"/>
                          <a:pt x="854" y="3"/>
                        </a:cubicBezTo>
                        <a:cubicBezTo>
                          <a:pt x="853" y="3"/>
                          <a:pt x="853" y="3"/>
                          <a:pt x="853" y="3"/>
                        </a:cubicBezTo>
                        <a:cubicBezTo>
                          <a:pt x="852" y="4"/>
                          <a:pt x="850" y="4"/>
                          <a:pt x="850" y="4"/>
                        </a:cubicBezTo>
                        <a:cubicBezTo>
                          <a:pt x="851" y="3"/>
                          <a:pt x="852" y="2"/>
                          <a:pt x="853" y="1"/>
                        </a:cubicBezTo>
                        <a:cubicBezTo>
                          <a:pt x="847" y="3"/>
                          <a:pt x="847" y="3"/>
                          <a:pt x="847" y="3"/>
                        </a:cubicBezTo>
                        <a:cubicBezTo>
                          <a:pt x="847" y="3"/>
                          <a:pt x="841" y="3"/>
                          <a:pt x="846" y="2"/>
                        </a:cubicBezTo>
                        <a:cubicBezTo>
                          <a:pt x="836" y="3"/>
                          <a:pt x="836" y="3"/>
                          <a:pt x="836" y="3"/>
                        </a:cubicBezTo>
                        <a:cubicBezTo>
                          <a:pt x="835" y="2"/>
                          <a:pt x="835" y="2"/>
                          <a:pt x="835" y="2"/>
                        </a:cubicBezTo>
                        <a:cubicBezTo>
                          <a:pt x="832" y="2"/>
                          <a:pt x="832" y="3"/>
                          <a:pt x="835" y="2"/>
                        </a:cubicBezTo>
                        <a:cubicBezTo>
                          <a:pt x="832" y="2"/>
                          <a:pt x="820" y="7"/>
                          <a:pt x="821" y="4"/>
                        </a:cubicBezTo>
                        <a:cubicBezTo>
                          <a:pt x="814" y="6"/>
                          <a:pt x="811" y="6"/>
                          <a:pt x="801" y="8"/>
                        </a:cubicBezTo>
                        <a:cubicBezTo>
                          <a:pt x="808" y="6"/>
                          <a:pt x="793" y="8"/>
                          <a:pt x="800" y="6"/>
                        </a:cubicBezTo>
                        <a:cubicBezTo>
                          <a:pt x="796" y="6"/>
                          <a:pt x="795" y="8"/>
                          <a:pt x="791" y="9"/>
                        </a:cubicBezTo>
                        <a:cubicBezTo>
                          <a:pt x="788" y="9"/>
                          <a:pt x="789" y="7"/>
                          <a:pt x="793" y="6"/>
                        </a:cubicBezTo>
                        <a:cubicBezTo>
                          <a:pt x="789" y="7"/>
                          <a:pt x="789" y="7"/>
                          <a:pt x="789" y="7"/>
                        </a:cubicBezTo>
                        <a:cubicBezTo>
                          <a:pt x="789" y="7"/>
                          <a:pt x="789" y="7"/>
                          <a:pt x="789" y="7"/>
                        </a:cubicBezTo>
                        <a:cubicBezTo>
                          <a:pt x="785" y="9"/>
                          <a:pt x="785" y="9"/>
                          <a:pt x="785" y="9"/>
                        </a:cubicBezTo>
                        <a:cubicBezTo>
                          <a:pt x="781" y="9"/>
                          <a:pt x="784" y="7"/>
                          <a:pt x="780" y="8"/>
                        </a:cubicBezTo>
                        <a:cubicBezTo>
                          <a:pt x="779" y="9"/>
                          <a:pt x="779" y="9"/>
                          <a:pt x="779" y="9"/>
                        </a:cubicBezTo>
                        <a:cubicBezTo>
                          <a:pt x="776" y="9"/>
                          <a:pt x="776" y="9"/>
                          <a:pt x="776" y="9"/>
                        </a:cubicBezTo>
                        <a:cubicBezTo>
                          <a:pt x="777" y="9"/>
                          <a:pt x="775" y="10"/>
                          <a:pt x="772" y="11"/>
                        </a:cubicBezTo>
                        <a:cubicBezTo>
                          <a:pt x="772" y="11"/>
                          <a:pt x="772" y="11"/>
                          <a:pt x="772" y="11"/>
                        </a:cubicBezTo>
                        <a:cubicBezTo>
                          <a:pt x="769" y="12"/>
                          <a:pt x="769" y="12"/>
                          <a:pt x="769" y="12"/>
                        </a:cubicBezTo>
                        <a:cubicBezTo>
                          <a:pt x="772" y="10"/>
                          <a:pt x="765" y="12"/>
                          <a:pt x="767" y="11"/>
                        </a:cubicBezTo>
                        <a:cubicBezTo>
                          <a:pt x="764" y="11"/>
                          <a:pt x="764" y="11"/>
                          <a:pt x="758" y="13"/>
                        </a:cubicBezTo>
                        <a:cubicBezTo>
                          <a:pt x="759" y="14"/>
                          <a:pt x="759" y="14"/>
                          <a:pt x="759" y="14"/>
                        </a:cubicBezTo>
                        <a:cubicBezTo>
                          <a:pt x="752" y="16"/>
                          <a:pt x="759" y="12"/>
                          <a:pt x="753" y="14"/>
                        </a:cubicBezTo>
                        <a:cubicBezTo>
                          <a:pt x="753" y="14"/>
                          <a:pt x="753" y="14"/>
                          <a:pt x="753" y="14"/>
                        </a:cubicBezTo>
                        <a:cubicBezTo>
                          <a:pt x="745" y="15"/>
                          <a:pt x="740" y="19"/>
                          <a:pt x="733" y="19"/>
                        </a:cubicBezTo>
                        <a:cubicBezTo>
                          <a:pt x="737" y="18"/>
                          <a:pt x="735" y="17"/>
                          <a:pt x="735" y="18"/>
                        </a:cubicBezTo>
                        <a:cubicBezTo>
                          <a:pt x="730" y="19"/>
                          <a:pt x="722" y="22"/>
                          <a:pt x="716" y="24"/>
                        </a:cubicBezTo>
                        <a:cubicBezTo>
                          <a:pt x="714" y="24"/>
                          <a:pt x="713" y="23"/>
                          <a:pt x="708" y="24"/>
                        </a:cubicBezTo>
                        <a:cubicBezTo>
                          <a:pt x="704" y="26"/>
                          <a:pt x="703" y="26"/>
                          <a:pt x="702" y="27"/>
                        </a:cubicBezTo>
                        <a:cubicBezTo>
                          <a:pt x="698" y="28"/>
                          <a:pt x="691" y="31"/>
                          <a:pt x="690" y="30"/>
                        </a:cubicBezTo>
                        <a:cubicBezTo>
                          <a:pt x="690" y="31"/>
                          <a:pt x="687" y="31"/>
                          <a:pt x="685" y="33"/>
                        </a:cubicBezTo>
                        <a:cubicBezTo>
                          <a:pt x="684" y="32"/>
                          <a:pt x="684" y="32"/>
                          <a:pt x="684" y="32"/>
                        </a:cubicBezTo>
                        <a:cubicBezTo>
                          <a:pt x="685" y="33"/>
                          <a:pt x="685" y="33"/>
                          <a:pt x="685" y="33"/>
                        </a:cubicBezTo>
                        <a:cubicBezTo>
                          <a:pt x="677" y="33"/>
                          <a:pt x="674" y="38"/>
                          <a:pt x="666" y="39"/>
                        </a:cubicBezTo>
                        <a:cubicBezTo>
                          <a:pt x="667" y="39"/>
                          <a:pt x="667" y="39"/>
                          <a:pt x="667" y="39"/>
                        </a:cubicBezTo>
                        <a:cubicBezTo>
                          <a:pt x="665" y="40"/>
                          <a:pt x="665" y="40"/>
                          <a:pt x="665" y="40"/>
                        </a:cubicBezTo>
                        <a:cubicBezTo>
                          <a:pt x="664" y="40"/>
                          <a:pt x="665" y="39"/>
                          <a:pt x="665" y="38"/>
                        </a:cubicBezTo>
                        <a:cubicBezTo>
                          <a:pt x="661" y="40"/>
                          <a:pt x="656" y="42"/>
                          <a:pt x="652" y="43"/>
                        </a:cubicBezTo>
                        <a:cubicBezTo>
                          <a:pt x="654" y="43"/>
                          <a:pt x="654" y="43"/>
                          <a:pt x="654" y="43"/>
                        </a:cubicBezTo>
                        <a:cubicBezTo>
                          <a:pt x="652" y="44"/>
                          <a:pt x="650" y="46"/>
                          <a:pt x="647" y="47"/>
                        </a:cubicBezTo>
                        <a:cubicBezTo>
                          <a:pt x="651" y="43"/>
                          <a:pt x="642" y="48"/>
                          <a:pt x="641" y="48"/>
                        </a:cubicBezTo>
                        <a:cubicBezTo>
                          <a:pt x="644" y="46"/>
                          <a:pt x="644" y="46"/>
                          <a:pt x="644" y="46"/>
                        </a:cubicBezTo>
                        <a:cubicBezTo>
                          <a:pt x="640" y="48"/>
                          <a:pt x="640" y="48"/>
                          <a:pt x="641" y="49"/>
                        </a:cubicBezTo>
                        <a:cubicBezTo>
                          <a:pt x="636" y="51"/>
                          <a:pt x="636" y="48"/>
                          <a:pt x="632" y="51"/>
                        </a:cubicBezTo>
                        <a:cubicBezTo>
                          <a:pt x="635" y="50"/>
                          <a:pt x="635" y="50"/>
                          <a:pt x="635" y="50"/>
                        </a:cubicBezTo>
                        <a:cubicBezTo>
                          <a:pt x="637" y="50"/>
                          <a:pt x="635" y="52"/>
                          <a:pt x="632" y="53"/>
                        </a:cubicBezTo>
                        <a:cubicBezTo>
                          <a:pt x="632" y="53"/>
                          <a:pt x="630" y="53"/>
                          <a:pt x="632" y="52"/>
                        </a:cubicBezTo>
                        <a:cubicBezTo>
                          <a:pt x="628" y="54"/>
                          <a:pt x="622" y="57"/>
                          <a:pt x="620" y="58"/>
                        </a:cubicBezTo>
                        <a:cubicBezTo>
                          <a:pt x="618" y="58"/>
                          <a:pt x="618" y="57"/>
                          <a:pt x="619" y="57"/>
                        </a:cubicBezTo>
                        <a:cubicBezTo>
                          <a:pt x="611" y="61"/>
                          <a:pt x="616" y="58"/>
                          <a:pt x="608" y="63"/>
                        </a:cubicBezTo>
                        <a:cubicBezTo>
                          <a:pt x="607" y="62"/>
                          <a:pt x="607" y="62"/>
                          <a:pt x="607" y="62"/>
                        </a:cubicBezTo>
                        <a:cubicBezTo>
                          <a:pt x="605" y="64"/>
                          <a:pt x="605" y="64"/>
                          <a:pt x="605" y="64"/>
                        </a:cubicBezTo>
                        <a:cubicBezTo>
                          <a:pt x="600" y="65"/>
                          <a:pt x="600" y="65"/>
                          <a:pt x="600" y="65"/>
                        </a:cubicBezTo>
                        <a:cubicBezTo>
                          <a:pt x="602" y="65"/>
                          <a:pt x="602" y="65"/>
                          <a:pt x="602" y="65"/>
                        </a:cubicBezTo>
                        <a:cubicBezTo>
                          <a:pt x="599" y="67"/>
                          <a:pt x="598" y="68"/>
                          <a:pt x="595" y="69"/>
                        </a:cubicBezTo>
                        <a:cubicBezTo>
                          <a:pt x="595" y="68"/>
                          <a:pt x="595" y="68"/>
                          <a:pt x="595" y="68"/>
                        </a:cubicBezTo>
                        <a:cubicBezTo>
                          <a:pt x="588" y="72"/>
                          <a:pt x="586" y="71"/>
                          <a:pt x="579" y="76"/>
                        </a:cubicBezTo>
                        <a:cubicBezTo>
                          <a:pt x="579" y="76"/>
                          <a:pt x="580" y="75"/>
                          <a:pt x="580" y="74"/>
                        </a:cubicBezTo>
                        <a:cubicBezTo>
                          <a:pt x="574" y="79"/>
                          <a:pt x="575" y="76"/>
                          <a:pt x="569" y="81"/>
                        </a:cubicBezTo>
                        <a:cubicBezTo>
                          <a:pt x="569" y="80"/>
                          <a:pt x="568" y="80"/>
                          <a:pt x="568" y="80"/>
                        </a:cubicBezTo>
                        <a:cubicBezTo>
                          <a:pt x="565" y="82"/>
                          <a:pt x="565" y="82"/>
                          <a:pt x="565" y="82"/>
                        </a:cubicBezTo>
                        <a:cubicBezTo>
                          <a:pt x="565" y="81"/>
                          <a:pt x="565" y="81"/>
                          <a:pt x="565" y="81"/>
                        </a:cubicBezTo>
                        <a:cubicBezTo>
                          <a:pt x="563" y="84"/>
                          <a:pt x="563" y="84"/>
                          <a:pt x="563" y="84"/>
                        </a:cubicBezTo>
                        <a:cubicBezTo>
                          <a:pt x="561" y="84"/>
                          <a:pt x="561" y="84"/>
                          <a:pt x="561" y="84"/>
                        </a:cubicBezTo>
                        <a:cubicBezTo>
                          <a:pt x="560" y="85"/>
                          <a:pt x="560" y="85"/>
                          <a:pt x="560" y="85"/>
                        </a:cubicBezTo>
                        <a:cubicBezTo>
                          <a:pt x="556" y="85"/>
                          <a:pt x="552" y="89"/>
                          <a:pt x="547" y="90"/>
                        </a:cubicBezTo>
                        <a:cubicBezTo>
                          <a:pt x="548" y="91"/>
                          <a:pt x="548" y="91"/>
                          <a:pt x="548" y="91"/>
                        </a:cubicBezTo>
                        <a:cubicBezTo>
                          <a:pt x="539" y="100"/>
                          <a:pt x="522" y="104"/>
                          <a:pt x="510" y="114"/>
                        </a:cubicBezTo>
                        <a:cubicBezTo>
                          <a:pt x="510" y="113"/>
                          <a:pt x="510" y="113"/>
                          <a:pt x="510" y="113"/>
                        </a:cubicBezTo>
                        <a:cubicBezTo>
                          <a:pt x="505" y="118"/>
                          <a:pt x="505" y="118"/>
                          <a:pt x="505" y="118"/>
                        </a:cubicBezTo>
                        <a:cubicBezTo>
                          <a:pt x="502" y="119"/>
                          <a:pt x="507" y="116"/>
                          <a:pt x="505" y="116"/>
                        </a:cubicBezTo>
                        <a:cubicBezTo>
                          <a:pt x="500" y="120"/>
                          <a:pt x="504" y="119"/>
                          <a:pt x="498" y="123"/>
                        </a:cubicBezTo>
                        <a:cubicBezTo>
                          <a:pt x="494" y="125"/>
                          <a:pt x="498" y="122"/>
                          <a:pt x="500" y="120"/>
                        </a:cubicBezTo>
                        <a:cubicBezTo>
                          <a:pt x="494" y="125"/>
                          <a:pt x="485" y="132"/>
                          <a:pt x="481" y="134"/>
                        </a:cubicBezTo>
                        <a:cubicBezTo>
                          <a:pt x="481" y="135"/>
                          <a:pt x="480" y="135"/>
                          <a:pt x="481" y="135"/>
                        </a:cubicBezTo>
                        <a:cubicBezTo>
                          <a:pt x="477" y="138"/>
                          <a:pt x="472" y="142"/>
                          <a:pt x="467" y="145"/>
                        </a:cubicBezTo>
                        <a:cubicBezTo>
                          <a:pt x="467" y="144"/>
                          <a:pt x="468" y="143"/>
                          <a:pt x="469" y="143"/>
                        </a:cubicBezTo>
                        <a:cubicBezTo>
                          <a:pt x="467" y="144"/>
                          <a:pt x="465" y="145"/>
                          <a:pt x="464" y="146"/>
                        </a:cubicBezTo>
                        <a:cubicBezTo>
                          <a:pt x="465" y="144"/>
                          <a:pt x="465" y="144"/>
                          <a:pt x="465" y="144"/>
                        </a:cubicBezTo>
                        <a:cubicBezTo>
                          <a:pt x="462" y="147"/>
                          <a:pt x="456" y="152"/>
                          <a:pt x="454" y="152"/>
                        </a:cubicBezTo>
                        <a:cubicBezTo>
                          <a:pt x="455" y="152"/>
                          <a:pt x="455" y="153"/>
                          <a:pt x="453" y="155"/>
                        </a:cubicBezTo>
                        <a:cubicBezTo>
                          <a:pt x="450" y="155"/>
                          <a:pt x="445" y="162"/>
                          <a:pt x="440" y="165"/>
                        </a:cubicBezTo>
                        <a:cubicBezTo>
                          <a:pt x="440" y="164"/>
                          <a:pt x="444" y="161"/>
                          <a:pt x="443" y="162"/>
                        </a:cubicBezTo>
                        <a:cubicBezTo>
                          <a:pt x="440" y="163"/>
                          <a:pt x="439" y="166"/>
                          <a:pt x="437" y="168"/>
                        </a:cubicBezTo>
                        <a:cubicBezTo>
                          <a:pt x="437" y="167"/>
                          <a:pt x="437" y="167"/>
                          <a:pt x="437" y="167"/>
                        </a:cubicBezTo>
                        <a:cubicBezTo>
                          <a:pt x="427" y="176"/>
                          <a:pt x="427" y="176"/>
                          <a:pt x="427" y="176"/>
                        </a:cubicBezTo>
                        <a:cubicBezTo>
                          <a:pt x="425" y="176"/>
                          <a:pt x="418" y="184"/>
                          <a:pt x="418" y="183"/>
                        </a:cubicBezTo>
                        <a:cubicBezTo>
                          <a:pt x="414" y="186"/>
                          <a:pt x="421" y="181"/>
                          <a:pt x="417" y="185"/>
                        </a:cubicBezTo>
                        <a:cubicBezTo>
                          <a:pt x="415" y="185"/>
                          <a:pt x="413" y="189"/>
                          <a:pt x="412" y="188"/>
                        </a:cubicBezTo>
                        <a:cubicBezTo>
                          <a:pt x="413" y="187"/>
                          <a:pt x="413" y="187"/>
                          <a:pt x="413" y="187"/>
                        </a:cubicBezTo>
                        <a:cubicBezTo>
                          <a:pt x="410" y="190"/>
                          <a:pt x="410" y="190"/>
                          <a:pt x="410" y="190"/>
                        </a:cubicBezTo>
                        <a:cubicBezTo>
                          <a:pt x="411" y="187"/>
                          <a:pt x="411" y="187"/>
                          <a:pt x="411" y="187"/>
                        </a:cubicBezTo>
                        <a:cubicBezTo>
                          <a:pt x="408" y="190"/>
                          <a:pt x="407" y="193"/>
                          <a:pt x="408" y="193"/>
                        </a:cubicBezTo>
                        <a:cubicBezTo>
                          <a:pt x="405" y="195"/>
                          <a:pt x="401" y="199"/>
                          <a:pt x="399" y="199"/>
                        </a:cubicBezTo>
                        <a:cubicBezTo>
                          <a:pt x="400" y="198"/>
                          <a:pt x="400" y="198"/>
                          <a:pt x="400" y="198"/>
                        </a:cubicBezTo>
                        <a:cubicBezTo>
                          <a:pt x="393" y="205"/>
                          <a:pt x="386" y="207"/>
                          <a:pt x="382" y="214"/>
                        </a:cubicBezTo>
                        <a:cubicBezTo>
                          <a:pt x="381" y="214"/>
                          <a:pt x="381" y="214"/>
                          <a:pt x="382" y="213"/>
                        </a:cubicBezTo>
                        <a:cubicBezTo>
                          <a:pt x="378" y="217"/>
                          <a:pt x="378" y="217"/>
                          <a:pt x="378" y="217"/>
                        </a:cubicBezTo>
                        <a:cubicBezTo>
                          <a:pt x="378" y="215"/>
                          <a:pt x="378" y="215"/>
                          <a:pt x="378" y="215"/>
                        </a:cubicBezTo>
                        <a:cubicBezTo>
                          <a:pt x="372" y="223"/>
                          <a:pt x="372" y="223"/>
                          <a:pt x="372" y="223"/>
                        </a:cubicBezTo>
                        <a:cubicBezTo>
                          <a:pt x="372" y="223"/>
                          <a:pt x="372" y="223"/>
                          <a:pt x="372" y="223"/>
                        </a:cubicBezTo>
                        <a:cubicBezTo>
                          <a:pt x="367" y="227"/>
                          <a:pt x="360" y="235"/>
                          <a:pt x="354" y="241"/>
                        </a:cubicBezTo>
                        <a:cubicBezTo>
                          <a:pt x="355" y="240"/>
                          <a:pt x="355" y="240"/>
                          <a:pt x="355" y="240"/>
                        </a:cubicBezTo>
                        <a:cubicBezTo>
                          <a:pt x="349" y="247"/>
                          <a:pt x="348" y="246"/>
                          <a:pt x="344" y="251"/>
                        </a:cubicBezTo>
                        <a:cubicBezTo>
                          <a:pt x="344" y="251"/>
                          <a:pt x="344" y="251"/>
                          <a:pt x="344" y="250"/>
                        </a:cubicBezTo>
                        <a:cubicBezTo>
                          <a:pt x="340" y="255"/>
                          <a:pt x="340" y="255"/>
                          <a:pt x="340" y="255"/>
                        </a:cubicBezTo>
                        <a:cubicBezTo>
                          <a:pt x="340" y="253"/>
                          <a:pt x="340" y="253"/>
                          <a:pt x="340" y="253"/>
                        </a:cubicBezTo>
                        <a:cubicBezTo>
                          <a:pt x="338" y="258"/>
                          <a:pt x="331" y="262"/>
                          <a:pt x="333" y="260"/>
                        </a:cubicBezTo>
                        <a:cubicBezTo>
                          <a:pt x="332" y="263"/>
                          <a:pt x="329" y="266"/>
                          <a:pt x="329" y="267"/>
                        </a:cubicBezTo>
                        <a:cubicBezTo>
                          <a:pt x="325" y="272"/>
                          <a:pt x="328" y="268"/>
                          <a:pt x="325" y="271"/>
                        </a:cubicBezTo>
                        <a:cubicBezTo>
                          <a:pt x="321" y="274"/>
                          <a:pt x="322" y="276"/>
                          <a:pt x="317" y="280"/>
                        </a:cubicBezTo>
                        <a:cubicBezTo>
                          <a:pt x="317" y="280"/>
                          <a:pt x="317" y="280"/>
                          <a:pt x="317" y="280"/>
                        </a:cubicBezTo>
                        <a:cubicBezTo>
                          <a:pt x="315" y="282"/>
                          <a:pt x="314" y="284"/>
                          <a:pt x="311" y="287"/>
                        </a:cubicBezTo>
                        <a:cubicBezTo>
                          <a:pt x="312" y="286"/>
                          <a:pt x="312" y="286"/>
                          <a:pt x="312" y="286"/>
                        </a:cubicBezTo>
                        <a:cubicBezTo>
                          <a:pt x="308" y="292"/>
                          <a:pt x="305" y="291"/>
                          <a:pt x="303" y="297"/>
                        </a:cubicBezTo>
                        <a:cubicBezTo>
                          <a:pt x="301" y="299"/>
                          <a:pt x="298" y="304"/>
                          <a:pt x="297" y="303"/>
                        </a:cubicBezTo>
                        <a:cubicBezTo>
                          <a:pt x="283" y="322"/>
                          <a:pt x="283" y="322"/>
                          <a:pt x="283" y="322"/>
                        </a:cubicBezTo>
                        <a:cubicBezTo>
                          <a:pt x="281" y="322"/>
                          <a:pt x="282" y="324"/>
                          <a:pt x="278" y="327"/>
                        </a:cubicBezTo>
                        <a:cubicBezTo>
                          <a:pt x="279" y="328"/>
                          <a:pt x="279" y="328"/>
                          <a:pt x="279" y="328"/>
                        </a:cubicBezTo>
                        <a:cubicBezTo>
                          <a:pt x="272" y="337"/>
                          <a:pt x="262" y="347"/>
                          <a:pt x="254" y="358"/>
                        </a:cubicBezTo>
                        <a:cubicBezTo>
                          <a:pt x="253" y="357"/>
                          <a:pt x="253" y="357"/>
                          <a:pt x="253" y="357"/>
                        </a:cubicBezTo>
                        <a:cubicBezTo>
                          <a:pt x="252" y="360"/>
                          <a:pt x="252" y="360"/>
                          <a:pt x="252" y="360"/>
                        </a:cubicBezTo>
                        <a:cubicBezTo>
                          <a:pt x="244" y="372"/>
                          <a:pt x="233" y="387"/>
                          <a:pt x="226" y="396"/>
                        </a:cubicBezTo>
                        <a:cubicBezTo>
                          <a:pt x="225" y="400"/>
                          <a:pt x="223" y="405"/>
                          <a:pt x="219" y="410"/>
                        </a:cubicBezTo>
                        <a:cubicBezTo>
                          <a:pt x="219" y="409"/>
                          <a:pt x="219" y="409"/>
                          <a:pt x="219" y="409"/>
                        </a:cubicBezTo>
                        <a:cubicBezTo>
                          <a:pt x="214" y="418"/>
                          <a:pt x="209" y="428"/>
                          <a:pt x="202" y="437"/>
                        </a:cubicBezTo>
                        <a:cubicBezTo>
                          <a:pt x="202" y="436"/>
                          <a:pt x="202" y="437"/>
                          <a:pt x="202" y="436"/>
                        </a:cubicBezTo>
                        <a:cubicBezTo>
                          <a:pt x="202" y="439"/>
                          <a:pt x="199" y="442"/>
                          <a:pt x="197" y="444"/>
                        </a:cubicBezTo>
                        <a:cubicBezTo>
                          <a:pt x="200" y="442"/>
                          <a:pt x="200" y="442"/>
                          <a:pt x="200" y="442"/>
                        </a:cubicBezTo>
                        <a:cubicBezTo>
                          <a:pt x="199" y="445"/>
                          <a:pt x="196" y="448"/>
                          <a:pt x="194" y="449"/>
                        </a:cubicBezTo>
                        <a:cubicBezTo>
                          <a:pt x="192" y="454"/>
                          <a:pt x="192" y="454"/>
                          <a:pt x="192" y="454"/>
                        </a:cubicBezTo>
                        <a:cubicBezTo>
                          <a:pt x="192" y="455"/>
                          <a:pt x="192" y="455"/>
                          <a:pt x="192" y="455"/>
                        </a:cubicBezTo>
                        <a:cubicBezTo>
                          <a:pt x="192" y="456"/>
                          <a:pt x="192" y="456"/>
                          <a:pt x="192" y="456"/>
                        </a:cubicBezTo>
                        <a:cubicBezTo>
                          <a:pt x="189" y="458"/>
                          <a:pt x="189" y="458"/>
                          <a:pt x="189" y="458"/>
                        </a:cubicBezTo>
                        <a:cubicBezTo>
                          <a:pt x="189" y="459"/>
                          <a:pt x="186" y="465"/>
                          <a:pt x="186" y="467"/>
                        </a:cubicBezTo>
                        <a:cubicBezTo>
                          <a:pt x="185" y="467"/>
                          <a:pt x="182" y="471"/>
                          <a:pt x="184" y="468"/>
                        </a:cubicBezTo>
                        <a:cubicBezTo>
                          <a:pt x="175" y="484"/>
                          <a:pt x="175" y="484"/>
                          <a:pt x="175" y="484"/>
                        </a:cubicBezTo>
                        <a:cubicBezTo>
                          <a:pt x="176" y="482"/>
                          <a:pt x="176" y="482"/>
                          <a:pt x="176" y="482"/>
                        </a:cubicBezTo>
                        <a:cubicBezTo>
                          <a:pt x="178" y="482"/>
                          <a:pt x="175" y="487"/>
                          <a:pt x="174" y="489"/>
                        </a:cubicBezTo>
                        <a:cubicBezTo>
                          <a:pt x="175" y="486"/>
                          <a:pt x="172" y="488"/>
                          <a:pt x="171" y="490"/>
                        </a:cubicBezTo>
                        <a:cubicBezTo>
                          <a:pt x="170" y="492"/>
                          <a:pt x="173" y="488"/>
                          <a:pt x="173" y="489"/>
                        </a:cubicBezTo>
                        <a:cubicBezTo>
                          <a:pt x="172" y="493"/>
                          <a:pt x="169" y="499"/>
                          <a:pt x="168" y="500"/>
                        </a:cubicBezTo>
                        <a:cubicBezTo>
                          <a:pt x="168" y="498"/>
                          <a:pt x="168" y="498"/>
                          <a:pt x="168" y="498"/>
                        </a:cubicBezTo>
                        <a:cubicBezTo>
                          <a:pt x="167" y="502"/>
                          <a:pt x="164" y="503"/>
                          <a:pt x="162" y="507"/>
                        </a:cubicBezTo>
                        <a:cubicBezTo>
                          <a:pt x="161" y="511"/>
                          <a:pt x="159" y="513"/>
                          <a:pt x="161" y="513"/>
                        </a:cubicBezTo>
                        <a:cubicBezTo>
                          <a:pt x="159" y="518"/>
                          <a:pt x="159" y="514"/>
                          <a:pt x="158" y="516"/>
                        </a:cubicBezTo>
                        <a:cubicBezTo>
                          <a:pt x="158" y="518"/>
                          <a:pt x="154" y="525"/>
                          <a:pt x="153" y="525"/>
                        </a:cubicBezTo>
                        <a:cubicBezTo>
                          <a:pt x="153" y="529"/>
                          <a:pt x="145" y="538"/>
                          <a:pt x="147" y="540"/>
                        </a:cubicBezTo>
                        <a:cubicBezTo>
                          <a:pt x="143" y="544"/>
                          <a:pt x="143" y="544"/>
                          <a:pt x="143" y="544"/>
                        </a:cubicBezTo>
                        <a:cubicBezTo>
                          <a:pt x="144" y="544"/>
                          <a:pt x="145" y="545"/>
                          <a:pt x="143" y="549"/>
                        </a:cubicBezTo>
                        <a:cubicBezTo>
                          <a:pt x="141" y="552"/>
                          <a:pt x="141" y="551"/>
                          <a:pt x="140" y="551"/>
                        </a:cubicBezTo>
                        <a:cubicBezTo>
                          <a:pt x="141" y="554"/>
                          <a:pt x="141" y="554"/>
                          <a:pt x="141" y="554"/>
                        </a:cubicBezTo>
                        <a:cubicBezTo>
                          <a:pt x="130" y="571"/>
                          <a:pt x="121" y="596"/>
                          <a:pt x="111" y="615"/>
                        </a:cubicBezTo>
                        <a:cubicBezTo>
                          <a:pt x="107" y="624"/>
                          <a:pt x="104" y="636"/>
                          <a:pt x="99" y="647"/>
                        </a:cubicBezTo>
                        <a:cubicBezTo>
                          <a:pt x="100" y="645"/>
                          <a:pt x="100" y="645"/>
                          <a:pt x="100" y="645"/>
                        </a:cubicBezTo>
                        <a:cubicBezTo>
                          <a:pt x="95" y="656"/>
                          <a:pt x="95" y="656"/>
                          <a:pt x="95" y="656"/>
                        </a:cubicBezTo>
                        <a:cubicBezTo>
                          <a:pt x="99" y="648"/>
                          <a:pt x="99" y="648"/>
                          <a:pt x="99" y="648"/>
                        </a:cubicBezTo>
                        <a:cubicBezTo>
                          <a:pt x="98" y="651"/>
                          <a:pt x="98" y="653"/>
                          <a:pt x="97" y="655"/>
                        </a:cubicBezTo>
                        <a:cubicBezTo>
                          <a:pt x="92" y="666"/>
                          <a:pt x="85" y="681"/>
                          <a:pt x="81" y="696"/>
                        </a:cubicBezTo>
                        <a:cubicBezTo>
                          <a:pt x="80" y="706"/>
                          <a:pt x="77" y="702"/>
                          <a:pt x="76" y="711"/>
                        </a:cubicBezTo>
                        <a:cubicBezTo>
                          <a:pt x="76" y="710"/>
                          <a:pt x="76" y="710"/>
                          <a:pt x="76" y="709"/>
                        </a:cubicBezTo>
                        <a:cubicBezTo>
                          <a:pt x="73" y="719"/>
                          <a:pt x="72" y="725"/>
                          <a:pt x="70" y="735"/>
                        </a:cubicBezTo>
                        <a:cubicBezTo>
                          <a:pt x="68" y="733"/>
                          <a:pt x="68" y="741"/>
                          <a:pt x="67" y="740"/>
                        </a:cubicBezTo>
                        <a:cubicBezTo>
                          <a:pt x="68" y="741"/>
                          <a:pt x="68" y="741"/>
                          <a:pt x="68" y="741"/>
                        </a:cubicBezTo>
                        <a:cubicBezTo>
                          <a:pt x="67" y="743"/>
                          <a:pt x="65" y="748"/>
                          <a:pt x="65" y="747"/>
                        </a:cubicBezTo>
                        <a:cubicBezTo>
                          <a:pt x="64" y="752"/>
                          <a:pt x="64" y="752"/>
                          <a:pt x="64" y="752"/>
                        </a:cubicBezTo>
                        <a:cubicBezTo>
                          <a:pt x="63" y="752"/>
                          <a:pt x="63" y="752"/>
                          <a:pt x="63" y="752"/>
                        </a:cubicBezTo>
                        <a:cubicBezTo>
                          <a:pt x="62" y="757"/>
                          <a:pt x="59" y="770"/>
                          <a:pt x="56" y="772"/>
                        </a:cubicBezTo>
                        <a:cubicBezTo>
                          <a:pt x="53" y="787"/>
                          <a:pt x="47" y="809"/>
                          <a:pt x="42" y="827"/>
                        </a:cubicBezTo>
                        <a:cubicBezTo>
                          <a:pt x="43" y="830"/>
                          <a:pt x="41" y="835"/>
                          <a:pt x="40" y="839"/>
                        </a:cubicBezTo>
                        <a:cubicBezTo>
                          <a:pt x="38" y="844"/>
                          <a:pt x="38" y="844"/>
                          <a:pt x="38" y="844"/>
                        </a:cubicBezTo>
                        <a:cubicBezTo>
                          <a:pt x="38" y="848"/>
                          <a:pt x="38" y="853"/>
                          <a:pt x="36" y="856"/>
                        </a:cubicBezTo>
                        <a:cubicBezTo>
                          <a:pt x="36" y="856"/>
                          <a:pt x="36" y="856"/>
                          <a:pt x="36" y="856"/>
                        </a:cubicBezTo>
                        <a:cubicBezTo>
                          <a:pt x="36" y="860"/>
                          <a:pt x="34" y="864"/>
                          <a:pt x="34" y="868"/>
                        </a:cubicBezTo>
                        <a:cubicBezTo>
                          <a:pt x="33" y="873"/>
                          <a:pt x="32" y="877"/>
                          <a:pt x="31" y="876"/>
                        </a:cubicBezTo>
                        <a:cubicBezTo>
                          <a:pt x="33" y="877"/>
                          <a:pt x="29" y="886"/>
                          <a:pt x="29" y="886"/>
                        </a:cubicBezTo>
                        <a:cubicBezTo>
                          <a:pt x="29" y="886"/>
                          <a:pt x="15" y="946"/>
                          <a:pt x="7" y="1014"/>
                        </a:cubicBezTo>
                        <a:cubicBezTo>
                          <a:pt x="3" y="1049"/>
                          <a:pt x="1" y="1085"/>
                          <a:pt x="0" y="1116"/>
                        </a:cubicBezTo>
                        <a:cubicBezTo>
                          <a:pt x="0" y="1148"/>
                          <a:pt x="1" y="1175"/>
                          <a:pt x="4" y="1189"/>
                        </a:cubicBezTo>
                        <a:cubicBezTo>
                          <a:pt x="5" y="1191"/>
                          <a:pt x="5" y="1197"/>
                          <a:pt x="6" y="1195"/>
                        </a:cubicBezTo>
                        <a:cubicBezTo>
                          <a:pt x="7" y="1199"/>
                          <a:pt x="5" y="1201"/>
                          <a:pt x="6" y="1202"/>
                        </a:cubicBezTo>
                        <a:cubicBezTo>
                          <a:pt x="7" y="1196"/>
                          <a:pt x="9" y="1204"/>
                          <a:pt x="10" y="1198"/>
                        </a:cubicBezTo>
                        <a:cubicBezTo>
                          <a:pt x="10" y="1202"/>
                          <a:pt x="10" y="1202"/>
                          <a:pt x="10" y="1202"/>
                        </a:cubicBezTo>
                        <a:cubicBezTo>
                          <a:pt x="11" y="1203"/>
                          <a:pt x="9" y="1197"/>
                          <a:pt x="11" y="1198"/>
                        </a:cubicBezTo>
                        <a:cubicBezTo>
                          <a:pt x="9" y="1197"/>
                          <a:pt x="9" y="1197"/>
                          <a:pt x="9" y="1197"/>
                        </a:cubicBezTo>
                        <a:cubicBezTo>
                          <a:pt x="9" y="1194"/>
                          <a:pt x="9" y="1192"/>
                          <a:pt x="10" y="1191"/>
                        </a:cubicBezTo>
                        <a:cubicBezTo>
                          <a:pt x="9" y="1188"/>
                          <a:pt x="7" y="1186"/>
                          <a:pt x="8" y="1180"/>
                        </a:cubicBezTo>
                        <a:cubicBezTo>
                          <a:pt x="8" y="1182"/>
                          <a:pt x="8" y="1182"/>
                          <a:pt x="8" y="1182"/>
                        </a:cubicBezTo>
                        <a:cubicBezTo>
                          <a:pt x="8" y="1176"/>
                          <a:pt x="9" y="1178"/>
                          <a:pt x="10" y="1177"/>
                        </a:cubicBezTo>
                        <a:cubicBezTo>
                          <a:pt x="10" y="1178"/>
                          <a:pt x="10" y="1178"/>
                          <a:pt x="10" y="1178"/>
                        </a:cubicBezTo>
                        <a:cubicBezTo>
                          <a:pt x="11" y="1174"/>
                          <a:pt x="11" y="1174"/>
                          <a:pt x="11" y="1174"/>
                        </a:cubicBezTo>
                        <a:cubicBezTo>
                          <a:pt x="10" y="1177"/>
                          <a:pt x="11" y="1183"/>
                          <a:pt x="11" y="1180"/>
                        </a:cubicBezTo>
                        <a:cubicBezTo>
                          <a:pt x="12" y="1174"/>
                          <a:pt x="11" y="1182"/>
                          <a:pt x="11" y="1177"/>
                        </a:cubicBezTo>
                        <a:cubicBezTo>
                          <a:pt x="11" y="1174"/>
                          <a:pt x="12" y="1175"/>
                          <a:pt x="12" y="1175"/>
                        </a:cubicBezTo>
                        <a:cubicBezTo>
                          <a:pt x="12" y="1170"/>
                          <a:pt x="12" y="1170"/>
                          <a:pt x="12" y="1170"/>
                        </a:cubicBezTo>
                        <a:cubicBezTo>
                          <a:pt x="13" y="1170"/>
                          <a:pt x="12" y="1173"/>
                          <a:pt x="13" y="1171"/>
                        </a:cubicBezTo>
                        <a:cubicBezTo>
                          <a:pt x="12" y="1164"/>
                          <a:pt x="12" y="1164"/>
                          <a:pt x="12" y="1164"/>
                        </a:cubicBezTo>
                        <a:cubicBezTo>
                          <a:pt x="14" y="1163"/>
                          <a:pt x="11" y="1157"/>
                          <a:pt x="13" y="1154"/>
                        </a:cubicBezTo>
                        <a:cubicBezTo>
                          <a:pt x="14" y="1159"/>
                          <a:pt x="14" y="1153"/>
                          <a:pt x="15" y="1154"/>
                        </a:cubicBezTo>
                        <a:cubicBezTo>
                          <a:pt x="15" y="1142"/>
                          <a:pt x="15" y="1142"/>
                          <a:pt x="15" y="1142"/>
                        </a:cubicBezTo>
                        <a:cubicBezTo>
                          <a:pt x="16" y="1141"/>
                          <a:pt x="16" y="1145"/>
                          <a:pt x="16" y="1144"/>
                        </a:cubicBezTo>
                        <a:cubicBezTo>
                          <a:pt x="16" y="1141"/>
                          <a:pt x="15" y="1140"/>
                          <a:pt x="15" y="1139"/>
                        </a:cubicBezTo>
                        <a:cubicBezTo>
                          <a:pt x="16" y="1138"/>
                          <a:pt x="16" y="1130"/>
                          <a:pt x="17" y="1130"/>
                        </a:cubicBezTo>
                        <a:cubicBezTo>
                          <a:pt x="19" y="1122"/>
                          <a:pt x="15" y="1127"/>
                          <a:pt x="17" y="1119"/>
                        </a:cubicBezTo>
                        <a:cubicBezTo>
                          <a:pt x="18" y="1118"/>
                          <a:pt x="17" y="1125"/>
                          <a:pt x="18" y="1122"/>
                        </a:cubicBezTo>
                        <a:cubicBezTo>
                          <a:pt x="18" y="1114"/>
                          <a:pt x="18" y="1114"/>
                          <a:pt x="18" y="1114"/>
                        </a:cubicBezTo>
                        <a:cubicBezTo>
                          <a:pt x="18" y="1115"/>
                          <a:pt x="19" y="1116"/>
                          <a:pt x="19" y="1119"/>
                        </a:cubicBezTo>
                        <a:cubicBezTo>
                          <a:pt x="21" y="1098"/>
                          <a:pt x="26" y="1087"/>
                          <a:pt x="27" y="1067"/>
                        </a:cubicBezTo>
                        <a:cubicBezTo>
                          <a:pt x="28" y="1065"/>
                          <a:pt x="27" y="1069"/>
                          <a:pt x="28" y="1071"/>
                        </a:cubicBezTo>
                        <a:cubicBezTo>
                          <a:pt x="28" y="1057"/>
                          <a:pt x="32" y="1052"/>
                          <a:pt x="33" y="1040"/>
                        </a:cubicBezTo>
                        <a:cubicBezTo>
                          <a:pt x="32" y="1040"/>
                          <a:pt x="32" y="1040"/>
                          <a:pt x="32" y="1040"/>
                        </a:cubicBezTo>
                        <a:cubicBezTo>
                          <a:pt x="36" y="1024"/>
                          <a:pt x="37" y="1004"/>
                          <a:pt x="41" y="986"/>
                        </a:cubicBezTo>
                        <a:cubicBezTo>
                          <a:pt x="40" y="988"/>
                          <a:pt x="40" y="988"/>
                          <a:pt x="40" y="988"/>
                        </a:cubicBezTo>
                        <a:cubicBezTo>
                          <a:pt x="39" y="985"/>
                          <a:pt x="40" y="981"/>
                          <a:pt x="40" y="978"/>
                        </a:cubicBezTo>
                        <a:cubicBezTo>
                          <a:pt x="40" y="977"/>
                          <a:pt x="41" y="980"/>
                          <a:pt x="42" y="975"/>
                        </a:cubicBezTo>
                        <a:cubicBezTo>
                          <a:pt x="41" y="976"/>
                          <a:pt x="41" y="978"/>
                          <a:pt x="40" y="977"/>
                        </a:cubicBezTo>
                        <a:cubicBezTo>
                          <a:pt x="45" y="962"/>
                          <a:pt x="50" y="928"/>
                          <a:pt x="56" y="903"/>
                        </a:cubicBezTo>
                        <a:cubicBezTo>
                          <a:pt x="62" y="868"/>
                          <a:pt x="72" y="831"/>
                          <a:pt x="81" y="797"/>
                        </a:cubicBezTo>
                        <a:cubicBezTo>
                          <a:pt x="79" y="802"/>
                          <a:pt x="78" y="799"/>
                          <a:pt x="79" y="796"/>
                        </a:cubicBezTo>
                        <a:cubicBezTo>
                          <a:pt x="86" y="786"/>
                          <a:pt x="84" y="777"/>
                          <a:pt x="89" y="767"/>
                        </a:cubicBezTo>
                        <a:cubicBezTo>
                          <a:pt x="94" y="747"/>
                          <a:pt x="103" y="731"/>
                          <a:pt x="106" y="712"/>
                        </a:cubicBezTo>
                        <a:cubicBezTo>
                          <a:pt x="107" y="712"/>
                          <a:pt x="107" y="712"/>
                          <a:pt x="107" y="712"/>
                        </a:cubicBezTo>
                        <a:cubicBezTo>
                          <a:pt x="108" y="710"/>
                          <a:pt x="108" y="709"/>
                          <a:pt x="109" y="706"/>
                        </a:cubicBezTo>
                        <a:cubicBezTo>
                          <a:pt x="109" y="706"/>
                          <a:pt x="109" y="706"/>
                          <a:pt x="109" y="706"/>
                        </a:cubicBezTo>
                        <a:cubicBezTo>
                          <a:pt x="112" y="700"/>
                          <a:pt x="113" y="691"/>
                          <a:pt x="115" y="688"/>
                        </a:cubicBezTo>
                        <a:cubicBezTo>
                          <a:pt x="114" y="687"/>
                          <a:pt x="114" y="687"/>
                          <a:pt x="114" y="687"/>
                        </a:cubicBezTo>
                        <a:cubicBezTo>
                          <a:pt x="116" y="683"/>
                          <a:pt x="116" y="685"/>
                          <a:pt x="117" y="681"/>
                        </a:cubicBezTo>
                        <a:cubicBezTo>
                          <a:pt x="117" y="681"/>
                          <a:pt x="117" y="681"/>
                          <a:pt x="117" y="681"/>
                        </a:cubicBezTo>
                        <a:cubicBezTo>
                          <a:pt x="118" y="676"/>
                          <a:pt x="118" y="676"/>
                          <a:pt x="118" y="676"/>
                        </a:cubicBezTo>
                        <a:cubicBezTo>
                          <a:pt x="120" y="677"/>
                          <a:pt x="122" y="665"/>
                          <a:pt x="124" y="663"/>
                        </a:cubicBezTo>
                        <a:cubicBezTo>
                          <a:pt x="126" y="657"/>
                          <a:pt x="129" y="648"/>
                          <a:pt x="132" y="640"/>
                        </a:cubicBezTo>
                        <a:cubicBezTo>
                          <a:pt x="134" y="639"/>
                          <a:pt x="137" y="630"/>
                          <a:pt x="140" y="624"/>
                        </a:cubicBezTo>
                        <a:cubicBezTo>
                          <a:pt x="145" y="613"/>
                          <a:pt x="151" y="596"/>
                          <a:pt x="158" y="582"/>
                        </a:cubicBezTo>
                        <a:cubicBezTo>
                          <a:pt x="157" y="582"/>
                          <a:pt x="157" y="582"/>
                          <a:pt x="157" y="582"/>
                        </a:cubicBezTo>
                        <a:cubicBezTo>
                          <a:pt x="159" y="578"/>
                          <a:pt x="159" y="578"/>
                          <a:pt x="159" y="578"/>
                        </a:cubicBezTo>
                        <a:cubicBezTo>
                          <a:pt x="159" y="578"/>
                          <a:pt x="159" y="578"/>
                          <a:pt x="159" y="578"/>
                        </a:cubicBezTo>
                        <a:cubicBezTo>
                          <a:pt x="162" y="576"/>
                          <a:pt x="163" y="569"/>
                          <a:pt x="165" y="567"/>
                        </a:cubicBezTo>
                        <a:cubicBezTo>
                          <a:pt x="163" y="568"/>
                          <a:pt x="164" y="569"/>
                          <a:pt x="163" y="572"/>
                        </a:cubicBezTo>
                        <a:cubicBezTo>
                          <a:pt x="161" y="574"/>
                          <a:pt x="161" y="571"/>
                          <a:pt x="163" y="567"/>
                        </a:cubicBezTo>
                        <a:cubicBezTo>
                          <a:pt x="164" y="567"/>
                          <a:pt x="164" y="567"/>
                          <a:pt x="164" y="567"/>
                        </a:cubicBezTo>
                        <a:cubicBezTo>
                          <a:pt x="164" y="564"/>
                          <a:pt x="164" y="564"/>
                          <a:pt x="164" y="564"/>
                        </a:cubicBezTo>
                        <a:cubicBezTo>
                          <a:pt x="165" y="564"/>
                          <a:pt x="167" y="562"/>
                          <a:pt x="168" y="562"/>
                        </a:cubicBezTo>
                        <a:cubicBezTo>
                          <a:pt x="174" y="550"/>
                          <a:pt x="176" y="541"/>
                          <a:pt x="183" y="528"/>
                        </a:cubicBezTo>
                        <a:cubicBezTo>
                          <a:pt x="183" y="530"/>
                          <a:pt x="187" y="519"/>
                          <a:pt x="188" y="523"/>
                        </a:cubicBezTo>
                        <a:cubicBezTo>
                          <a:pt x="191" y="515"/>
                          <a:pt x="186" y="523"/>
                          <a:pt x="186" y="519"/>
                        </a:cubicBezTo>
                        <a:cubicBezTo>
                          <a:pt x="188" y="517"/>
                          <a:pt x="188" y="515"/>
                          <a:pt x="189" y="515"/>
                        </a:cubicBezTo>
                        <a:cubicBezTo>
                          <a:pt x="189" y="516"/>
                          <a:pt x="191" y="513"/>
                          <a:pt x="190" y="515"/>
                        </a:cubicBezTo>
                        <a:cubicBezTo>
                          <a:pt x="193" y="510"/>
                          <a:pt x="193" y="510"/>
                          <a:pt x="193" y="510"/>
                        </a:cubicBezTo>
                        <a:cubicBezTo>
                          <a:pt x="193" y="510"/>
                          <a:pt x="193" y="511"/>
                          <a:pt x="193" y="512"/>
                        </a:cubicBezTo>
                        <a:cubicBezTo>
                          <a:pt x="197" y="501"/>
                          <a:pt x="203" y="494"/>
                          <a:pt x="207" y="485"/>
                        </a:cubicBezTo>
                        <a:cubicBezTo>
                          <a:pt x="207" y="484"/>
                          <a:pt x="205" y="488"/>
                          <a:pt x="205" y="487"/>
                        </a:cubicBezTo>
                        <a:cubicBezTo>
                          <a:pt x="209" y="478"/>
                          <a:pt x="211" y="480"/>
                          <a:pt x="215" y="471"/>
                        </a:cubicBezTo>
                        <a:cubicBezTo>
                          <a:pt x="214" y="473"/>
                          <a:pt x="214" y="473"/>
                          <a:pt x="214" y="473"/>
                        </a:cubicBezTo>
                        <a:cubicBezTo>
                          <a:pt x="215" y="470"/>
                          <a:pt x="215" y="469"/>
                          <a:pt x="219" y="465"/>
                        </a:cubicBezTo>
                        <a:cubicBezTo>
                          <a:pt x="220" y="465"/>
                          <a:pt x="217" y="469"/>
                          <a:pt x="216" y="471"/>
                        </a:cubicBezTo>
                        <a:cubicBezTo>
                          <a:pt x="218" y="468"/>
                          <a:pt x="223" y="461"/>
                          <a:pt x="220" y="462"/>
                        </a:cubicBezTo>
                        <a:cubicBezTo>
                          <a:pt x="222" y="459"/>
                          <a:pt x="224" y="458"/>
                          <a:pt x="225" y="456"/>
                        </a:cubicBezTo>
                        <a:cubicBezTo>
                          <a:pt x="225" y="456"/>
                          <a:pt x="223" y="459"/>
                          <a:pt x="223" y="457"/>
                        </a:cubicBezTo>
                        <a:cubicBezTo>
                          <a:pt x="227" y="452"/>
                          <a:pt x="231" y="444"/>
                          <a:pt x="235" y="439"/>
                        </a:cubicBezTo>
                        <a:cubicBezTo>
                          <a:pt x="235" y="439"/>
                          <a:pt x="236" y="439"/>
                          <a:pt x="236" y="439"/>
                        </a:cubicBezTo>
                        <a:cubicBezTo>
                          <a:pt x="238" y="434"/>
                          <a:pt x="239" y="436"/>
                          <a:pt x="243" y="429"/>
                        </a:cubicBezTo>
                        <a:close/>
                      </a:path>
                    </a:pathLst>
                  </a:custGeom>
                  <a:solidFill>
                    <a:schemeClr val="bg1">
                      <a:lumMod val="85000"/>
                    </a:schemeClr>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44" name="Freeform 156">
                    <a:extLst>
                      <a:ext uri="{FF2B5EF4-FFF2-40B4-BE49-F238E27FC236}">
                        <a16:creationId xmlns:a16="http://schemas.microsoft.com/office/drawing/2014/main" id="{6BD5C326-95FC-4B30-9F36-4BEBA44F248E}"/>
                      </a:ext>
                    </a:extLst>
                  </p:cNvPr>
                  <p:cNvSpPr>
                    <a:spLocks/>
                  </p:cNvSpPr>
                  <p:nvPr/>
                </p:nvSpPr>
                <p:spPr bwMode="auto">
                  <a:xfrm>
                    <a:off x="7526338" y="2025650"/>
                    <a:ext cx="7937" cy="7938"/>
                  </a:xfrm>
                  <a:custGeom>
                    <a:avLst/>
                    <a:gdLst/>
                    <a:ahLst/>
                    <a:cxnLst>
                      <a:cxn ang="0">
                        <a:pos x="3" y="0"/>
                      </a:cxn>
                      <a:cxn ang="0">
                        <a:pos x="0" y="1"/>
                      </a:cxn>
                      <a:cxn ang="0">
                        <a:pos x="0" y="3"/>
                      </a:cxn>
                      <a:cxn ang="0">
                        <a:pos x="3" y="0"/>
                      </a:cxn>
                    </a:cxnLst>
                    <a:rect l="0" t="0" r="r" b="b"/>
                    <a:pathLst>
                      <a:path w="3" h="3">
                        <a:moveTo>
                          <a:pt x="3" y="0"/>
                        </a:moveTo>
                        <a:cubicBezTo>
                          <a:pt x="0" y="1"/>
                          <a:pt x="0" y="1"/>
                          <a:pt x="0" y="1"/>
                        </a:cubicBezTo>
                        <a:cubicBezTo>
                          <a:pt x="1" y="2"/>
                          <a:pt x="1" y="2"/>
                          <a:pt x="0" y="3"/>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45" name="Freeform 157">
                    <a:extLst>
                      <a:ext uri="{FF2B5EF4-FFF2-40B4-BE49-F238E27FC236}">
                        <a16:creationId xmlns:a16="http://schemas.microsoft.com/office/drawing/2014/main" id="{BDEF52A1-011E-4846-BA5A-F7B0C2720733}"/>
                      </a:ext>
                    </a:extLst>
                  </p:cNvPr>
                  <p:cNvSpPr>
                    <a:spLocks/>
                  </p:cNvSpPr>
                  <p:nvPr/>
                </p:nvSpPr>
                <p:spPr bwMode="auto">
                  <a:xfrm>
                    <a:off x="7278688" y="2239963"/>
                    <a:ext cx="1587" cy="1588"/>
                  </a:xfrm>
                  <a:custGeom>
                    <a:avLst/>
                    <a:gdLst/>
                    <a:ahLst/>
                    <a:cxnLst>
                      <a:cxn ang="0">
                        <a:pos x="0" y="0"/>
                      </a:cxn>
                      <a:cxn ang="0">
                        <a:pos x="0" y="1"/>
                      </a:cxn>
                      <a:cxn ang="0">
                        <a:pos x="0" y="0"/>
                      </a:cxn>
                    </a:cxnLst>
                    <a:rect l="0" t="0" r="r" b="b"/>
                    <a:pathLst>
                      <a:path h="1">
                        <a:moveTo>
                          <a:pt x="0" y="0"/>
                        </a:moveTo>
                        <a:cubicBezTo>
                          <a:pt x="0" y="0"/>
                          <a:pt x="0" y="1"/>
                          <a:pt x="0" y="1"/>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46" name="Freeform 158">
                    <a:extLst>
                      <a:ext uri="{FF2B5EF4-FFF2-40B4-BE49-F238E27FC236}">
                        <a16:creationId xmlns:a16="http://schemas.microsoft.com/office/drawing/2014/main" id="{38E212E1-A3E5-454D-BE50-FD7078A39BE7}"/>
                      </a:ext>
                    </a:extLst>
                  </p:cNvPr>
                  <p:cNvSpPr>
                    <a:spLocks/>
                  </p:cNvSpPr>
                  <p:nvPr/>
                </p:nvSpPr>
                <p:spPr bwMode="auto">
                  <a:xfrm>
                    <a:off x="7221538" y="2297113"/>
                    <a:ext cx="7937" cy="4763"/>
                  </a:xfrm>
                  <a:custGeom>
                    <a:avLst/>
                    <a:gdLst/>
                    <a:ahLst/>
                    <a:cxnLst>
                      <a:cxn ang="0">
                        <a:pos x="2" y="2"/>
                      </a:cxn>
                      <a:cxn ang="0">
                        <a:pos x="0" y="2"/>
                      </a:cxn>
                      <a:cxn ang="0">
                        <a:pos x="2" y="2"/>
                      </a:cxn>
                    </a:cxnLst>
                    <a:rect l="0" t="0" r="r" b="b"/>
                    <a:pathLst>
                      <a:path w="3" h="2">
                        <a:moveTo>
                          <a:pt x="2" y="2"/>
                        </a:moveTo>
                        <a:cubicBezTo>
                          <a:pt x="3" y="0"/>
                          <a:pt x="1" y="1"/>
                          <a:pt x="0" y="2"/>
                        </a:cubicBezTo>
                        <a:cubicBezTo>
                          <a:pt x="1" y="2"/>
                          <a:pt x="1" y="2"/>
                          <a:pt x="2"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47" name="Freeform 159">
                    <a:extLst>
                      <a:ext uri="{FF2B5EF4-FFF2-40B4-BE49-F238E27FC236}">
                        <a16:creationId xmlns:a16="http://schemas.microsoft.com/office/drawing/2014/main" id="{D62E1663-0014-4C45-8AB3-702FC48A81B9}"/>
                      </a:ext>
                    </a:extLst>
                  </p:cNvPr>
                  <p:cNvSpPr>
                    <a:spLocks/>
                  </p:cNvSpPr>
                  <p:nvPr/>
                </p:nvSpPr>
                <p:spPr bwMode="auto">
                  <a:xfrm>
                    <a:off x="7685088" y="1916113"/>
                    <a:ext cx="3175" cy="1588"/>
                  </a:xfrm>
                  <a:custGeom>
                    <a:avLst/>
                    <a:gdLst/>
                    <a:ahLst/>
                    <a:cxnLst>
                      <a:cxn ang="0">
                        <a:pos x="1" y="0"/>
                      </a:cxn>
                      <a:cxn ang="0">
                        <a:pos x="0" y="0"/>
                      </a:cxn>
                      <a:cxn ang="0">
                        <a:pos x="1" y="0"/>
                      </a:cxn>
                    </a:cxnLst>
                    <a:rect l="0" t="0" r="r" b="b"/>
                    <a:pathLst>
                      <a:path w="1">
                        <a:moveTo>
                          <a:pt x="1" y="0"/>
                        </a:moveTo>
                        <a:cubicBezTo>
                          <a:pt x="0" y="0"/>
                          <a:pt x="0" y="0"/>
                          <a:pt x="0"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48" name="Freeform 160">
                    <a:extLst>
                      <a:ext uri="{FF2B5EF4-FFF2-40B4-BE49-F238E27FC236}">
                        <a16:creationId xmlns:a16="http://schemas.microsoft.com/office/drawing/2014/main" id="{3E449BE9-B9D7-4091-967E-A32A24564C03}"/>
                      </a:ext>
                    </a:extLst>
                  </p:cNvPr>
                  <p:cNvSpPr>
                    <a:spLocks/>
                  </p:cNvSpPr>
                  <p:nvPr/>
                </p:nvSpPr>
                <p:spPr bwMode="auto">
                  <a:xfrm>
                    <a:off x="8167688" y="17176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49" name="Freeform 161">
                    <a:extLst>
                      <a:ext uri="{FF2B5EF4-FFF2-40B4-BE49-F238E27FC236}">
                        <a16:creationId xmlns:a16="http://schemas.microsoft.com/office/drawing/2014/main" id="{710E8E21-C9BF-4CF4-ABDC-2D9A40FF7F82}"/>
                      </a:ext>
                    </a:extLst>
                  </p:cNvPr>
                  <p:cNvSpPr>
                    <a:spLocks/>
                  </p:cNvSpPr>
                  <p:nvPr/>
                </p:nvSpPr>
                <p:spPr bwMode="auto">
                  <a:xfrm>
                    <a:off x="8132763" y="1720850"/>
                    <a:ext cx="6350" cy="1588"/>
                  </a:xfrm>
                  <a:custGeom>
                    <a:avLst/>
                    <a:gdLst/>
                    <a:ahLst/>
                    <a:cxnLst>
                      <a:cxn ang="0">
                        <a:pos x="3" y="0"/>
                      </a:cxn>
                      <a:cxn ang="0">
                        <a:pos x="0" y="1"/>
                      </a:cxn>
                      <a:cxn ang="0">
                        <a:pos x="3" y="0"/>
                      </a:cxn>
                    </a:cxnLst>
                    <a:rect l="0" t="0" r="r" b="b"/>
                    <a:pathLst>
                      <a:path w="3" h="1">
                        <a:moveTo>
                          <a:pt x="3" y="0"/>
                        </a:moveTo>
                        <a:cubicBezTo>
                          <a:pt x="2" y="0"/>
                          <a:pt x="1" y="1"/>
                          <a:pt x="0" y="1"/>
                        </a:cubicBezTo>
                        <a:cubicBezTo>
                          <a:pt x="1" y="1"/>
                          <a:pt x="2" y="1"/>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50" name="Freeform 162">
                    <a:extLst>
                      <a:ext uri="{FF2B5EF4-FFF2-40B4-BE49-F238E27FC236}">
                        <a16:creationId xmlns:a16="http://schemas.microsoft.com/office/drawing/2014/main" id="{503E6274-77B5-4D20-8FE5-31CE8F6B29A1}"/>
                      </a:ext>
                    </a:extLst>
                  </p:cNvPr>
                  <p:cNvSpPr>
                    <a:spLocks/>
                  </p:cNvSpPr>
                  <p:nvPr/>
                </p:nvSpPr>
                <p:spPr bwMode="auto">
                  <a:xfrm>
                    <a:off x="7577138" y="1984375"/>
                    <a:ext cx="4762" cy="4763"/>
                  </a:xfrm>
                  <a:custGeom>
                    <a:avLst/>
                    <a:gdLst/>
                    <a:ahLst/>
                    <a:cxnLst>
                      <a:cxn ang="0">
                        <a:pos x="2" y="0"/>
                      </a:cxn>
                      <a:cxn ang="0">
                        <a:pos x="0" y="2"/>
                      </a:cxn>
                      <a:cxn ang="0">
                        <a:pos x="2" y="0"/>
                      </a:cxn>
                    </a:cxnLst>
                    <a:rect l="0" t="0" r="r" b="b"/>
                    <a:pathLst>
                      <a:path w="2" h="2">
                        <a:moveTo>
                          <a:pt x="2" y="0"/>
                        </a:moveTo>
                        <a:cubicBezTo>
                          <a:pt x="1" y="1"/>
                          <a:pt x="1" y="1"/>
                          <a:pt x="0" y="2"/>
                        </a:cubicBezTo>
                        <a:cubicBezTo>
                          <a:pt x="1" y="1"/>
                          <a:pt x="2"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51" name="Freeform 163">
                    <a:extLst>
                      <a:ext uri="{FF2B5EF4-FFF2-40B4-BE49-F238E27FC236}">
                        <a16:creationId xmlns:a16="http://schemas.microsoft.com/office/drawing/2014/main" id="{FE0E81DF-9133-4E5C-9158-68BCE141D1FF}"/>
                      </a:ext>
                    </a:extLst>
                  </p:cNvPr>
                  <p:cNvSpPr>
                    <a:spLocks/>
                  </p:cNvSpPr>
                  <p:nvPr/>
                </p:nvSpPr>
                <p:spPr bwMode="auto">
                  <a:xfrm>
                    <a:off x="8120063" y="1725613"/>
                    <a:ext cx="7937" cy="3175"/>
                  </a:xfrm>
                  <a:custGeom>
                    <a:avLst/>
                    <a:gdLst/>
                    <a:ahLst/>
                    <a:cxnLst>
                      <a:cxn ang="0">
                        <a:pos x="3" y="0"/>
                      </a:cxn>
                      <a:cxn ang="0">
                        <a:pos x="0" y="1"/>
                      </a:cxn>
                      <a:cxn ang="0">
                        <a:pos x="0" y="1"/>
                      </a:cxn>
                      <a:cxn ang="0">
                        <a:pos x="3" y="0"/>
                      </a:cxn>
                    </a:cxnLst>
                    <a:rect l="0" t="0" r="r" b="b"/>
                    <a:pathLst>
                      <a:path w="3" h="1">
                        <a:moveTo>
                          <a:pt x="3" y="0"/>
                        </a:moveTo>
                        <a:cubicBezTo>
                          <a:pt x="0" y="1"/>
                          <a:pt x="0" y="1"/>
                          <a:pt x="0" y="1"/>
                        </a:cubicBezTo>
                        <a:cubicBezTo>
                          <a:pt x="0" y="1"/>
                          <a:pt x="0" y="1"/>
                          <a:pt x="0" y="1"/>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52" name="Freeform 164">
                    <a:extLst>
                      <a:ext uri="{FF2B5EF4-FFF2-40B4-BE49-F238E27FC236}">
                        <a16:creationId xmlns:a16="http://schemas.microsoft.com/office/drawing/2014/main" id="{E73D4739-D365-4071-A090-5F1C109BF921}"/>
                      </a:ext>
                    </a:extLst>
                  </p:cNvPr>
                  <p:cNvSpPr>
                    <a:spLocks/>
                  </p:cNvSpPr>
                  <p:nvPr/>
                </p:nvSpPr>
                <p:spPr bwMode="auto">
                  <a:xfrm>
                    <a:off x="8167688" y="1716088"/>
                    <a:ext cx="9525" cy="1588"/>
                  </a:xfrm>
                  <a:custGeom>
                    <a:avLst/>
                    <a:gdLst/>
                    <a:ahLst/>
                    <a:cxnLst>
                      <a:cxn ang="0">
                        <a:pos x="4" y="0"/>
                      </a:cxn>
                      <a:cxn ang="0">
                        <a:pos x="0" y="1"/>
                      </a:cxn>
                      <a:cxn ang="0">
                        <a:pos x="4" y="0"/>
                      </a:cxn>
                    </a:cxnLst>
                    <a:rect l="0" t="0" r="r" b="b"/>
                    <a:pathLst>
                      <a:path w="4" h="1">
                        <a:moveTo>
                          <a:pt x="4" y="0"/>
                        </a:moveTo>
                        <a:cubicBezTo>
                          <a:pt x="3" y="1"/>
                          <a:pt x="1" y="1"/>
                          <a:pt x="0" y="1"/>
                        </a:cubicBezTo>
                        <a:cubicBezTo>
                          <a:pt x="2" y="1"/>
                          <a:pt x="3" y="1"/>
                          <a:pt x="4"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53" name="Freeform 165">
                    <a:extLst>
                      <a:ext uri="{FF2B5EF4-FFF2-40B4-BE49-F238E27FC236}">
                        <a16:creationId xmlns:a16="http://schemas.microsoft.com/office/drawing/2014/main" id="{08C9A896-2555-4ED7-B7BA-D6D416F92540}"/>
                      </a:ext>
                    </a:extLst>
                  </p:cNvPr>
                  <p:cNvSpPr>
                    <a:spLocks/>
                  </p:cNvSpPr>
                  <p:nvPr/>
                </p:nvSpPr>
                <p:spPr bwMode="auto">
                  <a:xfrm>
                    <a:off x="7850188" y="1822450"/>
                    <a:ext cx="4762" cy="4763"/>
                  </a:xfrm>
                  <a:custGeom>
                    <a:avLst/>
                    <a:gdLst/>
                    <a:ahLst/>
                    <a:cxnLst>
                      <a:cxn ang="0">
                        <a:pos x="2" y="0"/>
                      </a:cxn>
                      <a:cxn ang="0">
                        <a:pos x="2" y="1"/>
                      </a:cxn>
                      <a:cxn ang="0">
                        <a:pos x="2" y="0"/>
                      </a:cxn>
                    </a:cxnLst>
                    <a:rect l="0" t="0" r="r" b="b"/>
                    <a:pathLst>
                      <a:path w="2" h="2">
                        <a:moveTo>
                          <a:pt x="2" y="0"/>
                        </a:moveTo>
                        <a:cubicBezTo>
                          <a:pt x="2" y="1"/>
                          <a:pt x="2" y="1"/>
                          <a:pt x="2" y="1"/>
                        </a:cubicBezTo>
                        <a:cubicBezTo>
                          <a:pt x="0" y="2"/>
                          <a:pt x="1"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54" name="Freeform 166">
                    <a:extLst>
                      <a:ext uri="{FF2B5EF4-FFF2-40B4-BE49-F238E27FC236}">
                        <a16:creationId xmlns:a16="http://schemas.microsoft.com/office/drawing/2014/main" id="{EDD5AFF3-26B5-452D-AAAF-E21E4C08D1D6}"/>
                      </a:ext>
                    </a:extLst>
                  </p:cNvPr>
                  <p:cNvSpPr>
                    <a:spLocks/>
                  </p:cNvSpPr>
                  <p:nvPr/>
                </p:nvSpPr>
                <p:spPr bwMode="auto">
                  <a:xfrm>
                    <a:off x="8094663" y="1738313"/>
                    <a:ext cx="3175" cy="1588"/>
                  </a:xfrm>
                  <a:custGeom>
                    <a:avLst/>
                    <a:gdLst/>
                    <a:ahLst/>
                    <a:cxnLst>
                      <a:cxn ang="0">
                        <a:pos x="2" y="0"/>
                      </a:cxn>
                      <a:cxn ang="0">
                        <a:pos x="2" y="0"/>
                      </a:cxn>
                      <a:cxn ang="0">
                        <a:pos x="0" y="1"/>
                      </a:cxn>
                      <a:cxn ang="0">
                        <a:pos x="2" y="0"/>
                      </a:cxn>
                    </a:cxnLst>
                    <a:rect l="0" t="0" r="r" b="b"/>
                    <a:pathLst>
                      <a:path w="2" h="1">
                        <a:moveTo>
                          <a:pt x="2" y="0"/>
                        </a:moveTo>
                        <a:lnTo>
                          <a:pt x="2" y="0"/>
                        </a:lnTo>
                        <a:lnTo>
                          <a:pt x="0" y="1"/>
                        </a:lnTo>
                        <a:lnTo>
                          <a:pt x="2"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55" name="Freeform 167">
                    <a:extLst>
                      <a:ext uri="{FF2B5EF4-FFF2-40B4-BE49-F238E27FC236}">
                        <a16:creationId xmlns:a16="http://schemas.microsoft.com/office/drawing/2014/main" id="{BAD350D3-8440-40E2-A6DB-68B49498A846}"/>
                      </a:ext>
                    </a:extLst>
                  </p:cNvPr>
                  <p:cNvSpPr>
                    <a:spLocks/>
                  </p:cNvSpPr>
                  <p:nvPr/>
                </p:nvSpPr>
                <p:spPr bwMode="auto">
                  <a:xfrm>
                    <a:off x="8204200" y="1711325"/>
                    <a:ext cx="4762" cy="1588"/>
                  </a:xfrm>
                  <a:custGeom>
                    <a:avLst/>
                    <a:gdLst/>
                    <a:ahLst/>
                    <a:cxnLst>
                      <a:cxn ang="0">
                        <a:pos x="1" y="0"/>
                      </a:cxn>
                      <a:cxn ang="0">
                        <a:pos x="0" y="0"/>
                      </a:cxn>
                      <a:cxn ang="0">
                        <a:pos x="2" y="0"/>
                      </a:cxn>
                      <a:cxn ang="0">
                        <a:pos x="1" y="0"/>
                      </a:cxn>
                    </a:cxnLst>
                    <a:rect l="0" t="0" r="r" b="b"/>
                    <a:pathLst>
                      <a:path w="2">
                        <a:moveTo>
                          <a:pt x="1" y="0"/>
                        </a:moveTo>
                        <a:cubicBezTo>
                          <a:pt x="1" y="0"/>
                          <a:pt x="0" y="0"/>
                          <a:pt x="0" y="0"/>
                        </a:cubicBezTo>
                        <a:cubicBezTo>
                          <a:pt x="2" y="0"/>
                          <a:pt x="2" y="0"/>
                          <a:pt x="2"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56" name="Freeform 168">
                    <a:extLst>
                      <a:ext uri="{FF2B5EF4-FFF2-40B4-BE49-F238E27FC236}">
                        <a16:creationId xmlns:a16="http://schemas.microsoft.com/office/drawing/2014/main" id="{3E109976-27C5-436B-9DF9-0140A3187200}"/>
                      </a:ext>
                    </a:extLst>
                  </p:cNvPr>
                  <p:cNvSpPr>
                    <a:spLocks/>
                  </p:cNvSpPr>
                  <p:nvPr/>
                </p:nvSpPr>
                <p:spPr bwMode="auto">
                  <a:xfrm>
                    <a:off x="7956550" y="1779588"/>
                    <a:ext cx="1587" cy="4763"/>
                  </a:xfrm>
                  <a:custGeom>
                    <a:avLst/>
                    <a:gdLst/>
                    <a:ahLst/>
                    <a:cxnLst>
                      <a:cxn ang="0">
                        <a:pos x="1" y="2"/>
                      </a:cxn>
                      <a:cxn ang="0">
                        <a:pos x="1" y="0"/>
                      </a:cxn>
                      <a:cxn ang="0">
                        <a:pos x="1" y="2"/>
                      </a:cxn>
                    </a:cxnLst>
                    <a:rect l="0" t="0" r="r" b="b"/>
                    <a:pathLst>
                      <a:path w="1" h="2">
                        <a:moveTo>
                          <a:pt x="1" y="2"/>
                        </a:moveTo>
                        <a:cubicBezTo>
                          <a:pt x="1" y="1"/>
                          <a:pt x="1" y="1"/>
                          <a:pt x="1" y="0"/>
                        </a:cubicBezTo>
                        <a:cubicBezTo>
                          <a:pt x="0" y="1"/>
                          <a:pt x="0" y="1"/>
                          <a:pt x="1"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grpSp>
              <p:nvGrpSpPr>
                <p:cNvPr id="336" name="Group 337">
                  <a:extLst>
                    <a:ext uri="{FF2B5EF4-FFF2-40B4-BE49-F238E27FC236}">
                      <a16:creationId xmlns:a16="http://schemas.microsoft.com/office/drawing/2014/main" id="{840EE142-BE93-4A1E-A5DD-4C2515EE26C1}"/>
                    </a:ext>
                  </a:extLst>
                </p:cNvPr>
                <p:cNvGrpSpPr/>
                <p:nvPr/>
              </p:nvGrpSpPr>
              <p:grpSpPr>
                <a:xfrm rot="15155533" flipH="1">
                  <a:off x="1114059" y="1803071"/>
                  <a:ext cx="2159193" cy="2610180"/>
                  <a:chOff x="6326188" y="1654175"/>
                  <a:chExt cx="2192337" cy="2967038"/>
                </a:xfrm>
                <a:solidFill>
                  <a:schemeClr val="bg2">
                    <a:lumMod val="75000"/>
                  </a:schemeClr>
                </a:solidFill>
              </p:grpSpPr>
              <p:sp>
                <p:nvSpPr>
                  <p:cNvPr id="378" name="Freeform 129">
                    <a:extLst>
                      <a:ext uri="{FF2B5EF4-FFF2-40B4-BE49-F238E27FC236}">
                        <a16:creationId xmlns:a16="http://schemas.microsoft.com/office/drawing/2014/main" id="{3894D674-ADF7-4DE6-98F3-A9EC02B1F25F}"/>
                      </a:ext>
                    </a:extLst>
                  </p:cNvPr>
                  <p:cNvSpPr>
                    <a:spLocks/>
                  </p:cNvSpPr>
                  <p:nvPr/>
                </p:nvSpPr>
                <p:spPr bwMode="auto">
                  <a:xfrm>
                    <a:off x="8027988" y="1720850"/>
                    <a:ext cx="3175" cy="1588"/>
                  </a:xfrm>
                  <a:custGeom>
                    <a:avLst/>
                    <a:gdLst/>
                    <a:ahLst/>
                    <a:cxnLst>
                      <a:cxn ang="0">
                        <a:pos x="0" y="0"/>
                      </a:cxn>
                      <a:cxn ang="0">
                        <a:pos x="0" y="0"/>
                      </a:cxn>
                      <a:cxn ang="0">
                        <a:pos x="0" y="0"/>
                      </a:cxn>
                    </a:cxnLst>
                    <a:rect l="0" t="0" r="r" b="b"/>
                    <a:pathLst>
                      <a:path w="1">
                        <a:moveTo>
                          <a:pt x="0" y="0"/>
                        </a:moveTo>
                        <a:cubicBezTo>
                          <a:pt x="0" y="0"/>
                          <a:pt x="1"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79" name="Freeform 130">
                    <a:extLst>
                      <a:ext uri="{FF2B5EF4-FFF2-40B4-BE49-F238E27FC236}">
                        <a16:creationId xmlns:a16="http://schemas.microsoft.com/office/drawing/2014/main" id="{7192698A-167C-4247-9E4D-F3E6AC10D230}"/>
                      </a:ext>
                    </a:extLst>
                  </p:cNvPr>
                  <p:cNvSpPr>
                    <a:spLocks/>
                  </p:cNvSpPr>
                  <p:nvPr/>
                </p:nvSpPr>
                <p:spPr bwMode="auto">
                  <a:xfrm>
                    <a:off x="7724775" y="1841500"/>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0"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80" name="Freeform 131">
                    <a:extLst>
                      <a:ext uri="{FF2B5EF4-FFF2-40B4-BE49-F238E27FC236}">
                        <a16:creationId xmlns:a16="http://schemas.microsoft.com/office/drawing/2014/main" id="{A95E89FA-721D-47F4-90EE-18C04718D428}"/>
                      </a:ext>
                    </a:extLst>
                  </p:cNvPr>
                  <p:cNvSpPr>
                    <a:spLocks/>
                  </p:cNvSpPr>
                  <p:nvPr/>
                </p:nvSpPr>
                <p:spPr bwMode="auto">
                  <a:xfrm>
                    <a:off x="8218488" y="1671638"/>
                    <a:ext cx="12700" cy="1588"/>
                  </a:xfrm>
                  <a:custGeom>
                    <a:avLst/>
                    <a:gdLst/>
                    <a:ahLst/>
                    <a:cxnLst>
                      <a:cxn ang="0">
                        <a:pos x="0" y="1"/>
                      </a:cxn>
                      <a:cxn ang="0">
                        <a:pos x="0" y="1"/>
                      </a:cxn>
                      <a:cxn ang="0">
                        <a:pos x="5" y="0"/>
                      </a:cxn>
                      <a:cxn ang="0">
                        <a:pos x="0" y="1"/>
                      </a:cxn>
                    </a:cxnLst>
                    <a:rect l="0" t="0" r="r" b="b"/>
                    <a:pathLst>
                      <a:path w="5" h="1">
                        <a:moveTo>
                          <a:pt x="0" y="1"/>
                        </a:moveTo>
                        <a:cubicBezTo>
                          <a:pt x="0" y="1"/>
                          <a:pt x="0" y="1"/>
                          <a:pt x="0" y="1"/>
                        </a:cubicBezTo>
                        <a:cubicBezTo>
                          <a:pt x="5" y="0"/>
                          <a:pt x="5" y="0"/>
                          <a:pt x="5" y="0"/>
                        </a:cubicBezTo>
                        <a:lnTo>
                          <a:pt x="0" y="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81" name="Freeform 132">
                    <a:extLst>
                      <a:ext uri="{FF2B5EF4-FFF2-40B4-BE49-F238E27FC236}">
                        <a16:creationId xmlns:a16="http://schemas.microsoft.com/office/drawing/2014/main" id="{016AA9B0-98B9-4F80-8A79-25EB3D7FE5D8}"/>
                      </a:ext>
                    </a:extLst>
                  </p:cNvPr>
                  <p:cNvSpPr>
                    <a:spLocks/>
                  </p:cNvSpPr>
                  <p:nvPr/>
                </p:nvSpPr>
                <p:spPr bwMode="auto">
                  <a:xfrm>
                    <a:off x="7169150" y="2263775"/>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1"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82" name="Freeform 133">
                    <a:extLst>
                      <a:ext uri="{FF2B5EF4-FFF2-40B4-BE49-F238E27FC236}">
                        <a16:creationId xmlns:a16="http://schemas.microsoft.com/office/drawing/2014/main" id="{F926F95D-69A3-4D13-AE84-324052332D17}"/>
                      </a:ext>
                    </a:extLst>
                  </p:cNvPr>
                  <p:cNvSpPr>
                    <a:spLocks/>
                  </p:cNvSpPr>
                  <p:nvPr/>
                </p:nvSpPr>
                <p:spPr bwMode="auto">
                  <a:xfrm>
                    <a:off x="7480300" y="1995488"/>
                    <a:ext cx="4762" cy="4763"/>
                  </a:xfrm>
                  <a:custGeom>
                    <a:avLst/>
                    <a:gdLst/>
                    <a:ahLst/>
                    <a:cxnLst>
                      <a:cxn ang="0">
                        <a:pos x="2" y="0"/>
                      </a:cxn>
                      <a:cxn ang="0">
                        <a:pos x="0" y="2"/>
                      </a:cxn>
                      <a:cxn ang="0">
                        <a:pos x="2" y="0"/>
                      </a:cxn>
                    </a:cxnLst>
                    <a:rect l="0" t="0" r="r" b="b"/>
                    <a:pathLst>
                      <a:path w="2" h="2">
                        <a:moveTo>
                          <a:pt x="2" y="0"/>
                        </a:moveTo>
                        <a:cubicBezTo>
                          <a:pt x="1" y="0"/>
                          <a:pt x="1" y="1"/>
                          <a:pt x="0" y="2"/>
                        </a:cubicBezTo>
                        <a:cubicBezTo>
                          <a:pt x="1" y="1"/>
                          <a:pt x="2" y="0"/>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83" name="Freeform 134">
                    <a:extLst>
                      <a:ext uri="{FF2B5EF4-FFF2-40B4-BE49-F238E27FC236}">
                        <a16:creationId xmlns:a16="http://schemas.microsoft.com/office/drawing/2014/main" id="{AAE22233-03DE-4549-A356-677BB5EBF167}"/>
                      </a:ext>
                    </a:extLst>
                  </p:cNvPr>
                  <p:cNvSpPr>
                    <a:spLocks/>
                  </p:cNvSpPr>
                  <p:nvPr/>
                </p:nvSpPr>
                <p:spPr bwMode="auto">
                  <a:xfrm>
                    <a:off x="8318500" y="1681163"/>
                    <a:ext cx="7937" cy="1588"/>
                  </a:xfrm>
                  <a:custGeom>
                    <a:avLst/>
                    <a:gdLst/>
                    <a:ahLst/>
                    <a:cxnLst>
                      <a:cxn ang="0">
                        <a:pos x="3" y="0"/>
                      </a:cxn>
                      <a:cxn ang="0">
                        <a:pos x="0" y="0"/>
                      </a:cxn>
                      <a:cxn ang="0">
                        <a:pos x="3" y="0"/>
                      </a:cxn>
                    </a:cxnLst>
                    <a:rect l="0" t="0" r="r" b="b"/>
                    <a:pathLst>
                      <a:path w="3">
                        <a:moveTo>
                          <a:pt x="3" y="0"/>
                        </a:moveTo>
                        <a:cubicBezTo>
                          <a:pt x="0" y="0"/>
                          <a:pt x="0" y="0"/>
                          <a:pt x="0" y="0"/>
                        </a:cubicBezTo>
                        <a:cubicBezTo>
                          <a:pt x="0" y="0"/>
                          <a:pt x="1"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84" name="Freeform 135">
                    <a:extLst>
                      <a:ext uri="{FF2B5EF4-FFF2-40B4-BE49-F238E27FC236}">
                        <a16:creationId xmlns:a16="http://schemas.microsoft.com/office/drawing/2014/main" id="{14519EE4-6B65-4A99-B000-2D1EB3D71ABA}"/>
                      </a:ext>
                    </a:extLst>
                  </p:cNvPr>
                  <p:cNvSpPr>
                    <a:spLocks/>
                  </p:cNvSpPr>
                  <p:nvPr/>
                </p:nvSpPr>
                <p:spPr bwMode="auto">
                  <a:xfrm>
                    <a:off x="8516938" y="1655763"/>
                    <a:ext cx="1587" cy="1588"/>
                  </a:xfrm>
                  <a:custGeom>
                    <a:avLst/>
                    <a:gdLst/>
                    <a:ahLst/>
                    <a:cxnLst>
                      <a:cxn ang="0">
                        <a:pos x="1" y="0"/>
                      </a:cxn>
                      <a:cxn ang="0">
                        <a:pos x="1" y="0"/>
                      </a:cxn>
                      <a:cxn ang="0">
                        <a:pos x="1" y="0"/>
                      </a:cxn>
                    </a:cxnLst>
                    <a:rect l="0" t="0" r="r" b="b"/>
                    <a:pathLst>
                      <a:path w="1">
                        <a:moveTo>
                          <a:pt x="1" y="0"/>
                        </a:moveTo>
                        <a:cubicBezTo>
                          <a:pt x="1" y="0"/>
                          <a:pt x="1" y="0"/>
                          <a:pt x="1"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85" name="Freeform 136">
                    <a:extLst>
                      <a:ext uri="{FF2B5EF4-FFF2-40B4-BE49-F238E27FC236}">
                        <a16:creationId xmlns:a16="http://schemas.microsoft.com/office/drawing/2014/main" id="{1BB16607-3544-4B12-9CE1-21FC52C32570}"/>
                      </a:ext>
                    </a:extLst>
                  </p:cNvPr>
                  <p:cNvSpPr>
                    <a:spLocks/>
                  </p:cNvSpPr>
                  <p:nvPr/>
                </p:nvSpPr>
                <p:spPr bwMode="auto">
                  <a:xfrm>
                    <a:off x="8434388" y="1654175"/>
                    <a:ext cx="7937" cy="1588"/>
                  </a:xfrm>
                  <a:custGeom>
                    <a:avLst/>
                    <a:gdLst/>
                    <a:ahLst/>
                    <a:cxnLst>
                      <a:cxn ang="0">
                        <a:pos x="3" y="0"/>
                      </a:cxn>
                      <a:cxn ang="0">
                        <a:pos x="0" y="0"/>
                      </a:cxn>
                      <a:cxn ang="0">
                        <a:pos x="3" y="0"/>
                      </a:cxn>
                    </a:cxnLst>
                    <a:rect l="0" t="0" r="r" b="b"/>
                    <a:pathLst>
                      <a:path w="3">
                        <a:moveTo>
                          <a:pt x="3" y="0"/>
                        </a:moveTo>
                        <a:cubicBezTo>
                          <a:pt x="2" y="0"/>
                          <a:pt x="1" y="0"/>
                          <a:pt x="0" y="0"/>
                        </a:cubicBezTo>
                        <a:cubicBezTo>
                          <a:pt x="1" y="0"/>
                          <a:pt x="3"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86" name="Freeform 137">
                    <a:extLst>
                      <a:ext uri="{FF2B5EF4-FFF2-40B4-BE49-F238E27FC236}">
                        <a16:creationId xmlns:a16="http://schemas.microsoft.com/office/drawing/2014/main" id="{C87ED3F4-44D1-4492-A41B-356780A77B2F}"/>
                      </a:ext>
                    </a:extLst>
                  </p:cNvPr>
                  <p:cNvSpPr>
                    <a:spLocks/>
                  </p:cNvSpPr>
                  <p:nvPr/>
                </p:nvSpPr>
                <p:spPr bwMode="auto">
                  <a:xfrm>
                    <a:off x="8432800" y="1654175"/>
                    <a:ext cx="1587" cy="1588"/>
                  </a:xfrm>
                  <a:custGeom>
                    <a:avLst/>
                    <a:gdLst/>
                    <a:ahLst/>
                    <a:cxnLst>
                      <a:cxn ang="0">
                        <a:pos x="0" y="0"/>
                      </a:cxn>
                      <a:cxn ang="0">
                        <a:pos x="1" y="0"/>
                      </a:cxn>
                      <a:cxn ang="0">
                        <a:pos x="0" y="0"/>
                      </a:cxn>
                    </a:cxnLst>
                    <a:rect l="0" t="0" r="r" b="b"/>
                    <a:pathLst>
                      <a:path w="1">
                        <a:moveTo>
                          <a:pt x="0" y="0"/>
                        </a:moveTo>
                        <a:cubicBezTo>
                          <a:pt x="1" y="0"/>
                          <a:pt x="1" y="0"/>
                          <a:pt x="1" y="0"/>
                        </a:cubicBezTo>
                        <a:cubicBezTo>
                          <a:pt x="1"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87" name="Freeform 138">
                    <a:extLst>
                      <a:ext uri="{FF2B5EF4-FFF2-40B4-BE49-F238E27FC236}">
                        <a16:creationId xmlns:a16="http://schemas.microsoft.com/office/drawing/2014/main" id="{B7ED240F-7826-4499-9B0D-67A4ADD57392}"/>
                      </a:ext>
                    </a:extLst>
                  </p:cNvPr>
                  <p:cNvSpPr>
                    <a:spLocks/>
                  </p:cNvSpPr>
                  <p:nvPr/>
                </p:nvSpPr>
                <p:spPr bwMode="auto">
                  <a:xfrm>
                    <a:off x="6326188" y="4597400"/>
                    <a:ext cx="3175" cy="17463"/>
                  </a:xfrm>
                  <a:custGeom>
                    <a:avLst/>
                    <a:gdLst/>
                    <a:ahLst/>
                    <a:cxnLst>
                      <a:cxn ang="0">
                        <a:pos x="0" y="0"/>
                      </a:cxn>
                      <a:cxn ang="0">
                        <a:pos x="1" y="7"/>
                      </a:cxn>
                      <a:cxn ang="0">
                        <a:pos x="0" y="0"/>
                      </a:cxn>
                    </a:cxnLst>
                    <a:rect l="0" t="0" r="r" b="b"/>
                    <a:pathLst>
                      <a:path w="1" h="7">
                        <a:moveTo>
                          <a:pt x="0" y="0"/>
                        </a:moveTo>
                        <a:cubicBezTo>
                          <a:pt x="0" y="3"/>
                          <a:pt x="0" y="5"/>
                          <a:pt x="1" y="7"/>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88" name="Freeform 139">
                    <a:extLst>
                      <a:ext uri="{FF2B5EF4-FFF2-40B4-BE49-F238E27FC236}">
                        <a16:creationId xmlns:a16="http://schemas.microsoft.com/office/drawing/2014/main" id="{2597A5CC-A42E-415C-9AFE-AF5B189FA03E}"/>
                      </a:ext>
                    </a:extLst>
                  </p:cNvPr>
                  <p:cNvSpPr>
                    <a:spLocks/>
                  </p:cNvSpPr>
                  <p:nvPr/>
                </p:nvSpPr>
                <p:spPr bwMode="auto">
                  <a:xfrm>
                    <a:off x="6789738" y="2773363"/>
                    <a:ext cx="3175" cy="1588"/>
                  </a:xfrm>
                  <a:custGeom>
                    <a:avLst/>
                    <a:gdLst/>
                    <a:ahLst/>
                    <a:cxnLst>
                      <a:cxn ang="0">
                        <a:pos x="1" y="1"/>
                      </a:cxn>
                      <a:cxn ang="0">
                        <a:pos x="1" y="0"/>
                      </a:cxn>
                      <a:cxn ang="0">
                        <a:pos x="1" y="1"/>
                      </a:cxn>
                    </a:cxnLst>
                    <a:rect l="0" t="0" r="r" b="b"/>
                    <a:pathLst>
                      <a:path w="1" h="1">
                        <a:moveTo>
                          <a:pt x="1" y="1"/>
                        </a:moveTo>
                        <a:cubicBezTo>
                          <a:pt x="1" y="0"/>
                          <a:pt x="1" y="0"/>
                          <a:pt x="1" y="0"/>
                        </a:cubicBezTo>
                        <a:cubicBezTo>
                          <a:pt x="0" y="1"/>
                          <a:pt x="0" y="1"/>
                          <a:pt x="1"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89" name="Freeform 140">
                    <a:extLst>
                      <a:ext uri="{FF2B5EF4-FFF2-40B4-BE49-F238E27FC236}">
                        <a16:creationId xmlns:a16="http://schemas.microsoft.com/office/drawing/2014/main" id="{5737C86E-5063-408D-BDB5-A998AC0CD46D}"/>
                      </a:ext>
                    </a:extLst>
                  </p:cNvPr>
                  <p:cNvSpPr>
                    <a:spLocks/>
                  </p:cNvSpPr>
                  <p:nvPr/>
                </p:nvSpPr>
                <p:spPr bwMode="auto">
                  <a:xfrm>
                    <a:off x="6342063" y="4603750"/>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90" name="Freeform 141">
                    <a:extLst>
                      <a:ext uri="{FF2B5EF4-FFF2-40B4-BE49-F238E27FC236}">
                        <a16:creationId xmlns:a16="http://schemas.microsoft.com/office/drawing/2014/main" id="{4AA2DAA0-3860-4721-80D9-74D8DD8DAF10}"/>
                      </a:ext>
                    </a:extLst>
                  </p:cNvPr>
                  <p:cNvSpPr>
                    <a:spLocks/>
                  </p:cNvSpPr>
                  <p:nvPr/>
                </p:nvSpPr>
                <p:spPr bwMode="auto">
                  <a:xfrm>
                    <a:off x="8207375" y="1704975"/>
                    <a:ext cx="17462" cy="6350"/>
                  </a:xfrm>
                  <a:custGeom>
                    <a:avLst/>
                    <a:gdLst/>
                    <a:ahLst/>
                    <a:cxnLst>
                      <a:cxn ang="0">
                        <a:pos x="7" y="0"/>
                      </a:cxn>
                      <a:cxn ang="0">
                        <a:pos x="0" y="2"/>
                      </a:cxn>
                      <a:cxn ang="0">
                        <a:pos x="7" y="0"/>
                      </a:cxn>
                    </a:cxnLst>
                    <a:rect l="0" t="0" r="r" b="b"/>
                    <a:pathLst>
                      <a:path w="7" h="2">
                        <a:moveTo>
                          <a:pt x="7" y="0"/>
                        </a:moveTo>
                        <a:cubicBezTo>
                          <a:pt x="5" y="1"/>
                          <a:pt x="0" y="1"/>
                          <a:pt x="0" y="2"/>
                        </a:cubicBezTo>
                        <a:cubicBezTo>
                          <a:pt x="3" y="1"/>
                          <a:pt x="6" y="1"/>
                          <a:pt x="7"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91" name="Freeform 142">
                    <a:extLst>
                      <a:ext uri="{FF2B5EF4-FFF2-40B4-BE49-F238E27FC236}">
                        <a16:creationId xmlns:a16="http://schemas.microsoft.com/office/drawing/2014/main" id="{5037DAB8-5C42-41EB-8180-54F740669F27}"/>
                      </a:ext>
                    </a:extLst>
                  </p:cNvPr>
                  <p:cNvSpPr>
                    <a:spLocks/>
                  </p:cNvSpPr>
                  <p:nvPr/>
                </p:nvSpPr>
                <p:spPr bwMode="auto">
                  <a:xfrm>
                    <a:off x="6788150" y="2924175"/>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92" name="Freeform 143">
                    <a:extLst>
                      <a:ext uri="{FF2B5EF4-FFF2-40B4-BE49-F238E27FC236}">
                        <a16:creationId xmlns:a16="http://schemas.microsoft.com/office/drawing/2014/main" id="{95AF8C35-724F-48B6-BCE1-13E14DF84126}"/>
                      </a:ext>
                    </a:extLst>
                  </p:cNvPr>
                  <p:cNvSpPr>
                    <a:spLocks/>
                  </p:cNvSpPr>
                  <p:nvPr/>
                </p:nvSpPr>
                <p:spPr bwMode="auto">
                  <a:xfrm>
                    <a:off x="6342063" y="4602163"/>
                    <a:ext cx="1587" cy="1588"/>
                  </a:xfrm>
                  <a:custGeom>
                    <a:avLst/>
                    <a:gdLst/>
                    <a:ahLst/>
                    <a:cxnLst>
                      <a:cxn ang="0">
                        <a:pos x="0" y="1"/>
                      </a:cxn>
                      <a:cxn ang="0">
                        <a:pos x="0" y="0"/>
                      </a:cxn>
                      <a:cxn ang="0">
                        <a:pos x="0" y="0"/>
                      </a:cxn>
                      <a:cxn ang="0">
                        <a:pos x="0" y="1"/>
                      </a:cxn>
                    </a:cxnLst>
                    <a:rect l="0" t="0" r="r" b="b"/>
                    <a:pathLst>
                      <a:path h="1">
                        <a:moveTo>
                          <a:pt x="0" y="1"/>
                        </a:moveTo>
                        <a:cubicBezTo>
                          <a:pt x="0" y="0"/>
                          <a:pt x="0" y="0"/>
                          <a:pt x="0" y="0"/>
                        </a:cubicBez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93" name="Rectangle 144">
                    <a:extLst>
                      <a:ext uri="{FF2B5EF4-FFF2-40B4-BE49-F238E27FC236}">
                        <a16:creationId xmlns:a16="http://schemas.microsoft.com/office/drawing/2014/main" id="{C1A9E571-5D1A-4DF5-8BB7-816480138427}"/>
                      </a:ext>
                    </a:extLst>
                  </p:cNvPr>
                  <p:cNvSpPr>
                    <a:spLocks noChangeArrowheads="1"/>
                  </p:cNvSpPr>
                  <p:nvPr/>
                </p:nvSpPr>
                <p:spPr bwMode="auto">
                  <a:xfrm>
                    <a:off x="6518275" y="3373438"/>
                    <a:ext cx="1587" cy="158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94" name="Freeform 145">
                    <a:extLst>
                      <a:ext uri="{FF2B5EF4-FFF2-40B4-BE49-F238E27FC236}">
                        <a16:creationId xmlns:a16="http://schemas.microsoft.com/office/drawing/2014/main" id="{42E866FA-3B60-4DAA-ADE1-1F2470AB8961}"/>
                      </a:ext>
                    </a:extLst>
                  </p:cNvPr>
                  <p:cNvSpPr>
                    <a:spLocks/>
                  </p:cNvSpPr>
                  <p:nvPr/>
                </p:nvSpPr>
                <p:spPr bwMode="auto">
                  <a:xfrm>
                    <a:off x="6505575" y="3398838"/>
                    <a:ext cx="1587" cy="6350"/>
                  </a:xfrm>
                  <a:custGeom>
                    <a:avLst/>
                    <a:gdLst/>
                    <a:ahLst/>
                    <a:cxnLst>
                      <a:cxn ang="0">
                        <a:pos x="0" y="3"/>
                      </a:cxn>
                      <a:cxn ang="0">
                        <a:pos x="0" y="0"/>
                      </a:cxn>
                      <a:cxn ang="0">
                        <a:pos x="0" y="3"/>
                      </a:cxn>
                    </a:cxnLst>
                    <a:rect l="0" t="0" r="r" b="b"/>
                    <a:pathLst>
                      <a:path h="3">
                        <a:moveTo>
                          <a:pt x="0" y="3"/>
                        </a:moveTo>
                        <a:cubicBezTo>
                          <a:pt x="0" y="0"/>
                          <a:pt x="0" y="0"/>
                          <a:pt x="0" y="0"/>
                        </a:cubicBezTo>
                        <a:cubicBezTo>
                          <a:pt x="0" y="2"/>
                          <a:pt x="0" y="3"/>
                          <a:pt x="0" y="3"/>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95" name="Freeform 146">
                    <a:extLst>
                      <a:ext uri="{FF2B5EF4-FFF2-40B4-BE49-F238E27FC236}">
                        <a16:creationId xmlns:a16="http://schemas.microsoft.com/office/drawing/2014/main" id="{B06AE3BA-5EF4-40AE-9C95-FA94B40EC0D7}"/>
                      </a:ext>
                    </a:extLst>
                  </p:cNvPr>
                  <p:cNvSpPr>
                    <a:spLocks/>
                  </p:cNvSpPr>
                  <p:nvPr/>
                </p:nvSpPr>
                <p:spPr bwMode="auto">
                  <a:xfrm>
                    <a:off x="6329363" y="4614863"/>
                    <a:ext cx="1587" cy="6350"/>
                  </a:xfrm>
                  <a:custGeom>
                    <a:avLst/>
                    <a:gdLst/>
                    <a:ahLst/>
                    <a:cxnLst>
                      <a:cxn ang="0">
                        <a:pos x="0" y="0"/>
                      </a:cxn>
                      <a:cxn ang="0">
                        <a:pos x="0" y="3"/>
                      </a:cxn>
                      <a:cxn ang="0">
                        <a:pos x="0" y="0"/>
                      </a:cxn>
                    </a:cxnLst>
                    <a:rect l="0" t="0" r="r" b="b"/>
                    <a:pathLst>
                      <a:path h="3">
                        <a:moveTo>
                          <a:pt x="0" y="0"/>
                        </a:moveTo>
                        <a:cubicBezTo>
                          <a:pt x="0" y="3"/>
                          <a:pt x="0" y="3"/>
                          <a:pt x="0" y="3"/>
                        </a:cubicBezTo>
                        <a:cubicBezTo>
                          <a:pt x="0" y="2"/>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96" name="Freeform 147">
                    <a:extLst>
                      <a:ext uri="{FF2B5EF4-FFF2-40B4-BE49-F238E27FC236}">
                        <a16:creationId xmlns:a16="http://schemas.microsoft.com/office/drawing/2014/main" id="{74122F29-C3C5-4E78-96BF-8041814EFA04}"/>
                      </a:ext>
                    </a:extLst>
                  </p:cNvPr>
                  <p:cNvSpPr>
                    <a:spLocks/>
                  </p:cNvSpPr>
                  <p:nvPr/>
                </p:nvSpPr>
                <p:spPr bwMode="auto">
                  <a:xfrm>
                    <a:off x="6405563" y="3765550"/>
                    <a:ext cx="3175" cy="4763"/>
                  </a:xfrm>
                  <a:custGeom>
                    <a:avLst/>
                    <a:gdLst/>
                    <a:ahLst/>
                    <a:cxnLst>
                      <a:cxn ang="0">
                        <a:pos x="0" y="2"/>
                      </a:cxn>
                      <a:cxn ang="0">
                        <a:pos x="1" y="0"/>
                      </a:cxn>
                      <a:cxn ang="0">
                        <a:pos x="0" y="2"/>
                      </a:cxn>
                    </a:cxnLst>
                    <a:rect l="0" t="0" r="r" b="b"/>
                    <a:pathLst>
                      <a:path w="1" h="2">
                        <a:moveTo>
                          <a:pt x="0" y="2"/>
                        </a:moveTo>
                        <a:cubicBezTo>
                          <a:pt x="1" y="0"/>
                          <a:pt x="1" y="0"/>
                          <a:pt x="1" y="0"/>
                        </a:cubicBezTo>
                        <a:cubicBezTo>
                          <a:pt x="0" y="1"/>
                          <a:pt x="0" y="2"/>
                          <a:pt x="0"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97" name="Freeform 148">
                    <a:extLst>
                      <a:ext uri="{FF2B5EF4-FFF2-40B4-BE49-F238E27FC236}">
                        <a16:creationId xmlns:a16="http://schemas.microsoft.com/office/drawing/2014/main" id="{B5EF3384-DAA3-4217-8505-1A0FEDBD6341}"/>
                      </a:ext>
                    </a:extLst>
                  </p:cNvPr>
                  <p:cNvSpPr>
                    <a:spLocks/>
                  </p:cNvSpPr>
                  <p:nvPr/>
                </p:nvSpPr>
                <p:spPr bwMode="auto">
                  <a:xfrm>
                    <a:off x="7507288" y="1978025"/>
                    <a:ext cx="3175" cy="3175"/>
                  </a:xfrm>
                  <a:custGeom>
                    <a:avLst/>
                    <a:gdLst/>
                    <a:ahLst/>
                    <a:cxnLst>
                      <a:cxn ang="0">
                        <a:pos x="0" y="1"/>
                      </a:cxn>
                      <a:cxn ang="0">
                        <a:pos x="1" y="0"/>
                      </a:cxn>
                      <a:cxn ang="0">
                        <a:pos x="0" y="1"/>
                      </a:cxn>
                    </a:cxnLst>
                    <a:rect l="0" t="0" r="r" b="b"/>
                    <a:pathLst>
                      <a:path w="1" h="1">
                        <a:moveTo>
                          <a:pt x="0" y="1"/>
                        </a:moveTo>
                        <a:cubicBezTo>
                          <a:pt x="0" y="1"/>
                          <a:pt x="0" y="1"/>
                          <a:pt x="1" y="0"/>
                        </a:cubicBezTo>
                        <a:cubicBezTo>
                          <a:pt x="1" y="0"/>
                          <a:pt x="1" y="0"/>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98" name="Freeform 149">
                    <a:extLst>
                      <a:ext uri="{FF2B5EF4-FFF2-40B4-BE49-F238E27FC236}">
                        <a16:creationId xmlns:a16="http://schemas.microsoft.com/office/drawing/2014/main" id="{15A729FD-9CF1-4C24-8E46-D0753D8B197D}"/>
                      </a:ext>
                    </a:extLst>
                  </p:cNvPr>
                  <p:cNvSpPr>
                    <a:spLocks/>
                  </p:cNvSpPr>
                  <p:nvPr/>
                </p:nvSpPr>
                <p:spPr bwMode="auto">
                  <a:xfrm>
                    <a:off x="7335838" y="2182813"/>
                    <a:ext cx="3175" cy="1588"/>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99" name="Freeform 150">
                    <a:extLst>
                      <a:ext uri="{FF2B5EF4-FFF2-40B4-BE49-F238E27FC236}">
                        <a16:creationId xmlns:a16="http://schemas.microsoft.com/office/drawing/2014/main" id="{D4726187-5AE6-4675-8117-35A142602AFB}"/>
                      </a:ext>
                    </a:extLst>
                  </p:cNvPr>
                  <p:cNvSpPr>
                    <a:spLocks/>
                  </p:cNvSpPr>
                  <p:nvPr/>
                </p:nvSpPr>
                <p:spPr bwMode="auto">
                  <a:xfrm>
                    <a:off x="7339013" y="2171700"/>
                    <a:ext cx="6350" cy="11113"/>
                  </a:xfrm>
                  <a:custGeom>
                    <a:avLst/>
                    <a:gdLst/>
                    <a:ahLst/>
                    <a:cxnLst>
                      <a:cxn ang="0">
                        <a:pos x="3" y="0"/>
                      </a:cxn>
                      <a:cxn ang="0">
                        <a:pos x="0" y="4"/>
                      </a:cxn>
                      <a:cxn ang="0">
                        <a:pos x="3" y="0"/>
                      </a:cxn>
                    </a:cxnLst>
                    <a:rect l="0" t="0" r="r" b="b"/>
                    <a:pathLst>
                      <a:path w="3" h="4">
                        <a:moveTo>
                          <a:pt x="3" y="0"/>
                        </a:moveTo>
                        <a:cubicBezTo>
                          <a:pt x="2" y="1"/>
                          <a:pt x="0" y="3"/>
                          <a:pt x="0" y="4"/>
                        </a:cubicBezTo>
                        <a:cubicBezTo>
                          <a:pt x="1" y="3"/>
                          <a:pt x="2" y="2"/>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00" name="Freeform 151">
                    <a:extLst>
                      <a:ext uri="{FF2B5EF4-FFF2-40B4-BE49-F238E27FC236}">
                        <a16:creationId xmlns:a16="http://schemas.microsoft.com/office/drawing/2014/main" id="{B56DE0F8-FD12-4AEC-A1F1-5FE696265F24}"/>
                      </a:ext>
                    </a:extLst>
                  </p:cNvPr>
                  <p:cNvSpPr>
                    <a:spLocks/>
                  </p:cNvSpPr>
                  <p:nvPr/>
                </p:nvSpPr>
                <p:spPr bwMode="auto">
                  <a:xfrm>
                    <a:off x="7316788" y="2200275"/>
                    <a:ext cx="1587" cy="1588"/>
                  </a:xfrm>
                  <a:custGeom>
                    <a:avLst/>
                    <a:gdLst/>
                    <a:ahLst/>
                    <a:cxnLst>
                      <a:cxn ang="0">
                        <a:pos x="0" y="1"/>
                      </a:cxn>
                      <a:cxn ang="0">
                        <a:pos x="0" y="0"/>
                      </a:cxn>
                      <a:cxn ang="0">
                        <a:pos x="0" y="1"/>
                      </a:cxn>
                    </a:cxnLst>
                    <a:rect l="0" t="0" r="r" b="b"/>
                    <a:pathLst>
                      <a:path h="1">
                        <a:moveTo>
                          <a:pt x="0" y="1"/>
                        </a:move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01" name="Freeform 152">
                    <a:extLst>
                      <a:ext uri="{FF2B5EF4-FFF2-40B4-BE49-F238E27FC236}">
                        <a16:creationId xmlns:a16="http://schemas.microsoft.com/office/drawing/2014/main" id="{D4CE61E0-39AC-483A-A53C-152F5550FDAF}"/>
                      </a:ext>
                    </a:extLst>
                  </p:cNvPr>
                  <p:cNvSpPr>
                    <a:spLocks/>
                  </p:cNvSpPr>
                  <p:nvPr/>
                </p:nvSpPr>
                <p:spPr bwMode="auto">
                  <a:xfrm>
                    <a:off x="7526338" y="202882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02" name="Freeform 153">
                    <a:extLst>
                      <a:ext uri="{FF2B5EF4-FFF2-40B4-BE49-F238E27FC236}">
                        <a16:creationId xmlns:a16="http://schemas.microsoft.com/office/drawing/2014/main" id="{FA34B2FD-A198-478A-99D4-FC1AAE66E9DA}"/>
                      </a:ext>
                    </a:extLst>
                  </p:cNvPr>
                  <p:cNvSpPr>
                    <a:spLocks/>
                  </p:cNvSpPr>
                  <p:nvPr/>
                </p:nvSpPr>
                <p:spPr bwMode="auto">
                  <a:xfrm>
                    <a:off x="7481888" y="2063750"/>
                    <a:ext cx="3175" cy="1588"/>
                  </a:xfrm>
                  <a:custGeom>
                    <a:avLst/>
                    <a:gdLst/>
                    <a:ahLst/>
                    <a:cxnLst>
                      <a:cxn ang="0">
                        <a:pos x="1" y="0"/>
                      </a:cxn>
                      <a:cxn ang="0">
                        <a:pos x="0" y="0"/>
                      </a:cxn>
                      <a:cxn ang="0">
                        <a:pos x="1" y="0"/>
                      </a:cxn>
                    </a:cxnLst>
                    <a:rect l="0" t="0" r="r" b="b"/>
                    <a:pathLst>
                      <a:path w="1">
                        <a:moveTo>
                          <a:pt x="1" y="0"/>
                        </a:moveTo>
                        <a:cubicBezTo>
                          <a:pt x="1"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03" name="Freeform 154">
                    <a:extLst>
                      <a:ext uri="{FF2B5EF4-FFF2-40B4-BE49-F238E27FC236}">
                        <a16:creationId xmlns:a16="http://schemas.microsoft.com/office/drawing/2014/main" id="{4342C266-265D-4822-B378-8A4D2FEE4F35}"/>
                      </a:ext>
                    </a:extLst>
                  </p:cNvPr>
                  <p:cNvSpPr>
                    <a:spLocks/>
                  </p:cNvSpPr>
                  <p:nvPr/>
                </p:nvSpPr>
                <p:spPr bwMode="auto">
                  <a:xfrm>
                    <a:off x="7221538" y="23018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04" name="Freeform 156">
                    <a:extLst>
                      <a:ext uri="{FF2B5EF4-FFF2-40B4-BE49-F238E27FC236}">
                        <a16:creationId xmlns:a16="http://schemas.microsoft.com/office/drawing/2014/main" id="{64D3081B-B883-418E-81C2-13F08BC733D8}"/>
                      </a:ext>
                    </a:extLst>
                  </p:cNvPr>
                  <p:cNvSpPr>
                    <a:spLocks/>
                  </p:cNvSpPr>
                  <p:nvPr/>
                </p:nvSpPr>
                <p:spPr bwMode="auto">
                  <a:xfrm>
                    <a:off x="7526338" y="2025650"/>
                    <a:ext cx="7937" cy="7938"/>
                  </a:xfrm>
                  <a:custGeom>
                    <a:avLst/>
                    <a:gdLst/>
                    <a:ahLst/>
                    <a:cxnLst>
                      <a:cxn ang="0">
                        <a:pos x="3" y="0"/>
                      </a:cxn>
                      <a:cxn ang="0">
                        <a:pos x="0" y="1"/>
                      </a:cxn>
                      <a:cxn ang="0">
                        <a:pos x="0" y="3"/>
                      </a:cxn>
                      <a:cxn ang="0">
                        <a:pos x="3" y="0"/>
                      </a:cxn>
                    </a:cxnLst>
                    <a:rect l="0" t="0" r="r" b="b"/>
                    <a:pathLst>
                      <a:path w="3" h="3">
                        <a:moveTo>
                          <a:pt x="3" y="0"/>
                        </a:moveTo>
                        <a:cubicBezTo>
                          <a:pt x="0" y="1"/>
                          <a:pt x="0" y="1"/>
                          <a:pt x="0" y="1"/>
                        </a:cubicBezTo>
                        <a:cubicBezTo>
                          <a:pt x="1" y="2"/>
                          <a:pt x="1" y="2"/>
                          <a:pt x="0" y="3"/>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05" name="Freeform 157">
                    <a:extLst>
                      <a:ext uri="{FF2B5EF4-FFF2-40B4-BE49-F238E27FC236}">
                        <a16:creationId xmlns:a16="http://schemas.microsoft.com/office/drawing/2014/main" id="{FC9524DF-CC74-4DF2-8D57-DB337B285C15}"/>
                      </a:ext>
                    </a:extLst>
                  </p:cNvPr>
                  <p:cNvSpPr>
                    <a:spLocks/>
                  </p:cNvSpPr>
                  <p:nvPr/>
                </p:nvSpPr>
                <p:spPr bwMode="auto">
                  <a:xfrm>
                    <a:off x="7278688" y="2239963"/>
                    <a:ext cx="1587" cy="1588"/>
                  </a:xfrm>
                  <a:custGeom>
                    <a:avLst/>
                    <a:gdLst/>
                    <a:ahLst/>
                    <a:cxnLst>
                      <a:cxn ang="0">
                        <a:pos x="0" y="0"/>
                      </a:cxn>
                      <a:cxn ang="0">
                        <a:pos x="0" y="1"/>
                      </a:cxn>
                      <a:cxn ang="0">
                        <a:pos x="0" y="0"/>
                      </a:cxn>
                    </a:cxnLst>
                    <a:rect l="0" t="0" r="r" b="b"/>
                    <a:pathLst>
                      <a:path h="1">
                        <a:moveTo>
                          <a:pt x="0" y="0"/>
                        </a:moveTo>
                        <a:cubicBezTo>
                          <a:pt x="0" y="0"/>
                          <a:pt x="0" y="1"/>
                          <a:pt x="0" y="1"/>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06" name="Freeform 158">
                    <a:extLst>
                      <a:ext uri="{FF2B5EF4-FFF2-40B4-BE49-F238E27FC236}">
                        <a16:creationId xmlns:a16="http://schemas.microsoft.com/office/drawing/2014/main" id="{46B56BAC-AE90-4409-98E8-773F53A1601C}"/>
                      </a:ext>
                    </a:extLst>
                  </p:cNvPr>
                  <p:cNvSpPr>
                    <a:spLocks/>
                  </p:cNvSpPr>
                  <p:nvPr/>
                </p:nvSpPr>
                <p:spPr bwMode="auto">
                  <a:xfrm>
                    <a:off x="7221538" y="2297113"/>
                    <a:ext cx="7937" cy="4763"/>
                  </a:xfrm>
                  <a:custGeom>
                    <a:avLst/>
                    <a:gdLst/>
                    <a:ahLst/>
                    <a:cxnLst>
                      <a:cxn ang="0">
                        <a:pos x="2" y="2"/>
                      </a:cxn>
                      <a:cxn ang="0">
                        <a:pos x="0" y="2"/>
                      </a:cxn>
                      <a:cxn ang="0">
                        <a:pos x="2" y="2"/>
                      </a:cxn>
                    </a:cxnLst>
                    <a:rect l="0" t="0" r="r" b="b"/>
                    <a:pathLst>
                      <a:path w="3" h="2">
                        <a:moveTo>
                          <a:pt x="2" y="2"/>
                        </a:moveTo>
                        <a:cubicBezTo>
                          <a:pt x="3" y="0"/>
                          <a:pt x="1" y="1"/>
                          <a:pt x="0" y="2"/>
                        </a:cubicBezTo>
                        <a:cubicBezTo>
                          <a:pt x="1" y="2"/>
                          <a:pt x="1" y="2"/>
                          <a:pt x="2"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07" name="Freeform 159">
                    <a:extLst>
                      <a:ext uri="{FF2B5EF4-FFF2-40B4-BE49-F238E27FC236}">
                        <a16:creationId xmlns:a16="http://schemas.microsoft.com/office/drawing/2014/main" id="{C67C68D4-1F6D-4F63-A093-6F54E2CCFF09}"/>
                      </a:ext>
                    </a:extLst>
                  </p:cNvPr>
                  <p:cNvSpPr>
                    <a:spLocks/>
                  </p:cNvSpPr>
                  <p:nvPr/>
                </p:nvSpPr>
                <p:spPr bwMode="auto">
                  <a:xfrm>
                    <a:off x="7685088" y="1916113"/>
                    <a:ext cx="3175" cy="1588"/>
                  </a:xfrm>
                  <a:custGeom>
                    <a:avLst/>
                    <a:gdLst/>
                    <a:ahLst/>
                    <a:cxnLst>
                      <a:cxn ang="0">
                        <a:pos x="1" y="0"/>
                      </a:cxn>
                      <a:cxn ang="0">
                        <a:pos x="0" y="0"/>
                      </a:cxn>
                      <a:cxn ang="0">
                        <a:pos x="1" y="0"/>
                      </a:cxn>
                    </a:cxnLst>
                    <a:rect l="0" t="0" r="r" b="b"/>
                    <a:pathLst>
                      <a:path w="1">
                        <a:moveTo>
                          <a:pt x="1" y="0"/>
                        </a:moveTo>
                        <a:cubicBezTo>
                          <a:pt x="0" y="0"/>
                          <a:pt x="0" y="0"/>
                          <a:pt x="0"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08" name="Freeform 160">
                    <a:extLst>
                      <a:ext uri="{FF2B5EF4-FFF2-40B4-BE49-F238E27FC236}">
                        <a16:creationId xmlns:a16="http://schemas.microsoft.com/office/drawing/2014/main" id="{44CADCAA-AA8B-48DC-B706-E396F10E2AAA}"/>
                      </a:ext>
                    </a:extLst>
                  </p:cNvPr>
                  <p:cNvSpPr>
                    <a:spLocks/>
                  </p:cNvSpPr>
                  <p:nvPr/>
                </p:nvSpPr>
                <p:spPr bwMode="auto">
                  <a:xfrm>
                    <a:off x="8167688" y="17176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09" name="Freeform 161">
                    <a:extLst>
                      <a:ext uri="{FF2B5EF4-FFF2-40B4-BE49-F238E27FC236}">
                        <a16:creationId xmlns:a16="http://schemas.microsoft.com/office/drawing/2014/main" id="{8FA99978-8918-4022-87DF-4F8A04709777}"/>
                      </a:ext>
                    </a:extLst>
                  </p:cNvPr>
                  <p:cNvSpPr>
                    <a:spLocks/>
                  </p:cNvSpPr>
                  <p:nvPr/>
                </p:nvSpPr>
                <p:spPr bwMode="auto">
                  <a:xfrm>
                    <a:off x="8132763" y="1720850"/>
                    <a:ext cx="6350" cy="1588"/>
                  </a:xfrm>
                  <a:custGeom>
                    <a:avLst/>
                    <a:gdLst/>
                    <a:ahLst/>
                    <a:cxnLst>
                      <a:cxn ang="0">
                        <a:pos x="3" y="0"/>
                      </a:cxn>
                      <a:cxn ang="0">
                        <a:pos x="0" y="1"/>
                      </a:cxn>
                      <a:cxn ang="0">
                        <a:pos x="3" y="0"/>
                      </a:cxn>
                    </a:cxnLst>
                    <a:rect l="0" t="0" r="r" b="b"/>
                    <a:pathLst>
                      <a:path w="3" h="1">
                        <a:moveTo>
                          <a:pt x="3" y="0"/>
                        </a:moveTo>
                        <a:cubicBezTo>
                          <a:pt x="2" y="0"/>
                          <a:pt x="1" y="1"/>
                          <a:pt x="0" y="1"/>
                        </a:cubicBezTo>
                        <a:cubicBezTo>
                          <a:pt x="1" y="1"/>
                          <a:pt x="2" y="1"/>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10" name="Freeform 162">
                    <a:extLst>
                      <a:ext uri="{FF2B5EF4-FFF2-40B4-BE49-F238E27FC236}">
                        <a16:creationId xmlns:a16="http://schemas.microsoft.com/office/drawing/2014/main" id="{1FF33F0E-EBC2-4B67-A7F3-2350D8741E1F}"/>
                      </a:ext>
                    </a:extLst>
                  </p:cNvPr>
                  <p:cNvSpPr>
                    <a:spLocks/>
                  </p:cNvSpPr>
                  <p:nvPr/>
                </p:nvSpPr>
                <p:spPr bwMode="auto">
                  <a:xfrm>
                    <a:off x="7577138" y="1984375"/>
                    <a:ext cx="4762" cy="4763"/>
                  </a:xfrm>
                  <a:custGeom>
                    <a:avLst/>
                    <a:gdLst/>
                    <a:ahLst/>
                    <a:cxnLst>
                      <a:cxn ang="0">
                        <a:pos x="2" y="0"/>
                      </a:cxn>
                      <a:cxn ang="0">
                        <a:pos x="0" y="2"/>
                      </a:cxn>
                      <a:cxn ang="0">
                        <a:pos x="2" y="0"/>
                      </a:cxn>
                    </a:cxnLst>
                    <a:rect l="0" t="0" r="r" b="b"/>
                    <a:pathLst>
                      <a:path w="2" h="2">
                        <a:moveTo>
                          <a:pt x="2" y="0"/>
                        </a:moveTo>
                        <a:cubicBezTo>
                          <a:pt x="1" y="1"/>
                          <a:pt x="1" y="1"/>
                          <a:pt x="0" y="2"/>
                        </a:cubicBezTo>
                        <a:cubicBezTo>
                          <a:pt x="1" y="1"/>
                          <a:pt x="2"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11" name="Freeform 163">
                    <a:extLst>
                      <a:ext uri="{FF2B5EF4-FFF2-40B4-BE49-F238E27FC236}">
                        <a16:creationId xmlns:a16="http://schemas.microsoft.com/office/drawing/2014/main" id="{82C777E2-9B9E-46F8-AEE1-45C66EE5671F}"/>
                      </a:ext>
                    </a:extLst>
                  </p:cNvPr>
                  <p:cNvSpPr>
                    <a:spLocks/>
                  </p:cNvSpPr>
                  <p:nvPr/>
                </p:nvSpPr>
                <p:spPr bwMode="auto">
                  <a:xfrm>
                    <a:off x="8120063" y="1725613"/>
                    <a:ext cx="7937" cy="3175"/>
                  </a:xfrm>
                  <a:custGeom>
                    <a:avLst/>
                    <a:gdLst/>
                    <a:ahLst/>
                    <a:cxnLst>
                      <a:cxn ang="0">
                        <a:pos x="3" y="0"/>
                      </a:cxn>
                      <a:cxn ang="0">
                        <a:pos x="0" y="1"/>
                      </a:cxn>
                      <a:cxn ang="0">
                        <a:pos x="0" y="1"/>
                      </a:cxn>
                      <a:cxn ang="0">
                        <a:pos x="3" y="0"/>
                      </a:cxn>
                    </a:cxnLst>
                    <a:rect l="0" t="0" r="r" b="b"/>
                    <a:pathLst>
                      <a:path w="3" h="1">
                        <a:moveTo>
                          <a:pt x="3" y="0"/>
                        </a:moveTo>
                        <a:cubicBezTo>
                          <a:pt x="0" y="1"/>
                          <a:pt x="0" y="1"/>
                          <a:pt x="0" y="1"/>
                        </a:cubicBezTo>
                        <a:cubicBezTo>
                          <a:pt x="0" y="1"/>
                          <a:pt x="0" y="1"/>
                          <a:pt x="0" y="1"/>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12" name="Freeform 164">
                    <a:extLst>
                      <a:ext uri="{FF2B5EF4-FFF2-40B4-BE49-F238E27FC236}">
                        <a16:creationId xmlns:a16="http://schemas.microsoft.com/office/drawing/2014/main" id="{DDBE1A0C-80B0-4AD1-82EE-28CCA63D44F3}"/>
                      </a:ext>
                    </a:extLst>
                  </p:cNvPr>
                  <p:cNvSpPr>
                    <a:spLocks/>
                  </p:cNvSpPr>
                  <p:nvPr/>
                </p:nvSpPr>
                <p:spPr bwMode="auto">
                  <a:xfrm>
                    <a:off x="8167688" y="1716088"/>
                    <a:ext cx="9525" cy="1588"/>
                  </a:xfrm>
                  <a:custGeom>
                    <a:avLst/>
                    <a:gdLst/>
                    <a:ahLst/>
                    <a:cxnLst>
                      <a:cxn ang="0">
                        <a:pos x="4" y="0"/>
                      </a:cxn>
                      <a:cxn ang="0">
                        <a:pos x="0" y="1"/>
                      </a:cxn>
                      <a:cxn ang="0">
                        <a:pos x="4" y="0"/>
                      </a:cxn>
                    </a:cxnLst>
                    <a:rect l="0" t="0" r="r" b="b"/>
                    <a:pathLst>
                      <a:path w="4" h="1">
                        <a:moveTo>
                          <a:pt x="4" y="0"/>
                        </a:moveTo>
                        <a:cubicBezTo>
                          <a:pt x="3" y="1"/>
                          <a:pt x="1" y="1"/>
                          <a:pt x="0" y="1"/>
                        </a:cubicBezTo>
                        <a:cubicBezTo>
                          <a:pt x="2" y="1"/>
                          <a:pt x="3" y="1"/>
                          <a:pt x="4"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13" name="Freeform 165">
                    <a:extLst>
                      <a:ext uri="{FF2B5EF4-FFF2-40B4-BE49-F238E27FC236}">
                        <a16:creationId xmlns:a16="http://schemas.microsoft.com/office/drawing/2014/main" id="{5EE74071-7777-4548-9C98-EE2E1E44F754}"/>
                      </a:ext>
                    </a:extLst>
                  </p:cNvPr>
                  <p:cNvSpPr>
                    <a:spLocks/>
                  </p:cNvSpPr>
                  <p:nvPr/>
                </p:nvSpPr>
                <p:spPr bwMode="auto">
                  <a:xfrm>
                    <a:off x="7850188" y="1822450"/>
                    <a:ext cx="4762" cy="4763"/>
                  </a:xfrm>
                  <a:custGeom>
                    <a:avLst/>
                    <a:gdLst/>
                    <a:ahLst/>
                    <a:cxnLst>
                      <a:cxn ang="0">
                        <a:pos x="2" y="0"/>
                      </a:cxn>
                      <a:cxn ang="0">
                        <a:pos x="2" y="1"/>
                      </a:cxn>
                      <a:cxn ang="0">
                        <a:pos x="2" y="0"/>
                      </a:cxn>
                    </a:cxnLst>
                    <a:rect l="0" t="0" r="r" b="b"/>
                    <a:pathLst>
                      <a:path w="2" h="2">
                        <a:moveTo>
                          <a:pt x="2" y="0"/>
                        </a:moveTo>
                        <a:cubicBezTo>
                          <a:pt x="2" y="1"/>
                          <a:pt x="2" y="1"/>
                          <a:pt x="2" y="1"/>
                        </a:cubicBezTo>
                        <a:cubicBezTo>
                          <a:pt x="0" y="2"/>
                          <a:pt x="1"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14" name="Freeform 166">
                    <a:extLst>
                      <a:ext uri="{FF2B5EF4-FFF2-40B4-BE49-F238E27FC236}">
                        <a16:creationId xmlns:a16="http://schemas.microsoft.com/office/drawing/2014/main" id="{2AB44568-4CB3-4AC8-AC9F-B72F7E8DDF9D}"/>
                      </a:ext>
                    </a:extLst>
                  </p:cNvPr>
                  <p:cNvSpPr>
                    <a:spLocks/>
                  </p:cNvSpPr>
                  <p:nvPr/>
                </p:nvSpPr>
                <p:spPr bwMode="auto">
                  <a:xfrm>
                    <a:off x="8094663" y="1738313"/>
                    <a:ext cx="3175" cy="1588"/>
                  </a:xfrm>
                  <a:custGeom>
                    <a:avLst/>
                    <a:gdLst/>
                    <a:ahLst/>
                    <a:cxnLst>
                      <a:cxn ang="0">
                        <a:pos x="2" y="0"/>
                      </a:cxn>
                      <a:cxn ang="0">
                        <a:pos x="2" y="0"/>
                      </a:cxn>
                      <a:cxn ang="0">
                        <a:pos x="0" y="1"/>
                      </a:cxn>
                      <a:cxn ang="0">
                        <a:pos x="2" y="0"/>
                      </a:cxn>
                    </a:cxnLst>
                    <a:rect l="0" t="0" r="r" b="b"/>
                    <a:pathLst>
                      <a:path w="2" h="1">
                        <a:moveTo>
                          <a:pt x="2" y="0"/>
                        </a:moveTo>
                        <a:lnTo>
                          <a:pt x="2" y="0"/>
                        </a:lnTo>
                        <a:lnTo>
                          <a:pt x="0" y="1"/>
                        </a:lnTo>
                        <a:lnTo>
                          <a:pt x="2"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15" name="Freeform 167">
                    <a:extLst>
                      <a:ext uri="{FF2B5EF4-FFF2-40B4-BE49-F238E27FC236}">
                        <a16:creationId xmlns:a16="http://schemas.microsoft.com/office/drawing/2014/main" id="{C25F98CB-5D58-45C2-89A1-9E2874053A30}"/>
                      </a:ext>
                    </a:extLst>
                  </p:cNvPr>
                  <p:cNvSpPr>
                    <a:spLocks/>
                  </p:cNvSpPr>
                  <p:nvPr/>
                </p:nvSpPr>
                <p:spPr bwMode="auto">
                  <a:xfrm>
                    <a:off x="8204200" y="1711325"/>
                    <a:ext cx="4762" cy="1588"/>
                  </a:xfrm>
                  <a:custGeom>
                    <a:avLst/>
                    <a:gdLst/>
                    <a:ahLst/>
                    <a:cxnLst>
                      <a:cxn ang="0">
                        <a:pos x="1" y="0"/>
                      </a:cxn>
                      <a:cxn ang="0">
                        <a:pos x="0" y="0"/>
                      </a:cxn>
                      <a:cxn ang="0">
                        <a:pos x="2" y="0"/>
                      </a:cxn>
                      <a:cxn ang="0">
                        <a:pos x="1" y="0"/>
                      </a:cxn>
                    </a:cxnLst>
                    <a:rect l="0" t="0" r="r" b="b"/>
                    <a:pathLst>
                      <a:path w="2">
                        <a:moveTo>
                          <a:pt x="1" y="0"/>
                        </a:moveTo>
                        <a:cubicBezTo>
                          <a:pt x="1" y="0"/>
                          <a:pt x="0" y="0"/>
                          <a:pt x="0" y="0"/>
                        </a:cubicBezTo>
                        <a:cubicBezTo>
                          <a:pt x="2" y="0"/>
                          <a:pt x="2" y="0"/>
                          <a:pt x="2"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16" name="Freeform 168">
                    <a:extLst>
                      <a:ext uri="{FF2B5EF4-FFF2-40B4-BE49-F238E27FC236}">
                        <a16:creationId xmlns:a16="http://schemas.microsoft.com/office/drawing/2014/main" id="{4A9F6481-4D34-4555-8F00-34BABB5FFFB4}"/>
                      </a:ext>
                    </a:extLst>
                  </p:cNvPr>
                  <p:cNvSpPr>
                    <a:spLocks/>
                  </p:cNvSpPr>
                  <p:nvPr/>
                </p:nvSpPr>
                <p:spPr bwMode="auto">
                  <a:xfrm>
                    <a:off x="7956550" y="1779588"/>
                    <a:ext cx="1587" cy="4763"/>
                  </a:xfrm>
                  <a:custGeom>
                    <a:avLst/>
                    <a:gdLst/>
                    <a:ahLst/>
                    <a:cxnLst>
                      <a:cxn ang="0">
                        <a:pos x="1" y="2"/>
                      </a:cxn>
                      <a:cxn ang="0">
                        <a:pos x="1" y="0"/>
                      </a:cxn>
                      <a:cxn ang="0">
                        <a:pos x="1" y="2"/>
                      </a:cxn>
                    </a:cxnLst>
                    <a:rect l="0" t="0" r="r" b="b"/>
                    <a:pathLst>
                      <a:path w="1" h="2">
                        <a:moveTo>
                          <a:pt x="1" y="2"/>
                        </a:moveTo>
                        <a:cubicBezTo>
                          <a:pt x="1" y="1"/>
                          <a:pt x="1" y="1"/>
                          <a:pt x="1" y="0"/>
                        </a:cubicBezTo>
                        <a:cubicBezTo>
                          <a:pt x="0" y="1"/>
                          <a:pt x="0" y="1"/>
                          <a:pt x="1"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grpSp>
              <p:nvGrpSpPr>
                <p:cNvPr id="337" name="Group 338">
                  <a:extLst>
                    <a:ext uri="{FF2B5EF4-FFF2-40B4-BE49-F238E27FC236}">
                      <a16:creationId xmlns:a16="http://schemas.microsoft.com/office/drawing/2014/main" id="{3DA1F067-D931-4F11-8CE8-8FFB9AC20356}"/>
                    </a:ext>
                  </a:extLst>
                </p:cNvPr>
                <p:cNvGrpSpPr/>
                <p:nvPr/>
              </p:nvGrpSpPr>
              <p:grpSpPr>
                <a:xfrm rot="15155533" flipH="1">
                  <a:off x="1264410" y="1845476"/>
                  <a:ext cx="2259435" cy="2728193"/>
                  <a:chOff x="6224407" y="1520027"/>
                  <a:chExt cx="2294118" cy="3101186"/>
                </a:xfrm>
                <a:solidFill>
                  <a:schemeClr val="bg2">
                    <a:lumMod val="75000"/>
                  </a:schemeClr>
                </a:solidFill>
              </p:grpSpPr>
              <p:sp>
                <p:nvSpPr>
                  <p:cNvPr id="338" name="Freeform 129">
                    <a:extLst>
                      <a:ext uri="{FF2B5EF4-FFF2-40B4-BE49-F238E27FC236}">
                        <a16:creationId xmlns:a16="http://schemas.microsoft.com/office/drawing/2014/main" id="{CBCF7508-A177-4A0B-9D06-881A70E6D855}"/>
                      </a:ext>
                    </a:extLst>
                  </p:cNvPr>
                  <p:cNvSpPr>
                    <a:spLocks/>
                  </p:cNvSpPr>
                  <p:nvPr/>
                </p:nvSpPr>
                <p:spPr bwMode="auto">
                  <a:xfrm>
                    <a:off x="8027988" y="1720850"/>
                    <a:ext cx="3175" cy="1588"/>
                  </a:xfrm>
                  <a:custGeom>
                    <a:avLst/>
                    <a:gdLst/>
                    <a:ahLst/>
                    <a:cxnLst>
                      <a:cxn ang="0">
                        <a:pos x="0" y="0"/>
                      </a:cxn>
                      <a:cxn ang="0">
                        <a:pos x="0" y="0"/>
                      </a:cxn>
                      <a:cxn ang="0">
                        <a:pos x="0" y="0"/>
                      </a:cxn>
                    </a:cxnLst>
                    <a:rect l="0" t="0" r="r" b="b"/>
                    <a:pathLst>
                      <a:path w="1">
                        <a:moveTo>
                          <a:pt x="0" y="0"/>
                        </a:moveTo>
                        <a:cubicBezTo>
                          <a:pt x="0" y="0"/>
                          <a:pt x="1"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39" name="Freeform 130">
                    <a:extLst>
                      <a:ext uri="{FF2B5EF4-FFF2-40B4-BE49-F238E27FC236}">
                        <a16:creationId xmlns:a16="http://schemas.microsoft.com/office/drawing/2014/main" id="{71B5C9D2-41C2-4255-8176-D9A5B09B8370}"/>
                      </a:ext>
                    </a:extLst>
                  </p:cNvPr>
                  <p:cNvSpPr>
                    <a:spLocks/>
                  </p:cNvSpPr>
                  <p:nvPr/>
                </p:nvSpPr>
                <p:spPr bwMode="auto">
                  <a:xfrm>
                    <a:off x="7724775" y="1841500"/>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0"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40" name="Freeform 131">
                    <a:extLst>
                      <a:ext uri="{FF2B5EF4-FFF2-40B4-BE49-F238E27FC236}">
                        <a16:creationId xmlns:a16="http://schemas.microsoft.com/office/drawing/2014/main" id="{3FA5051E-9788-47C8-9821-7BB3CEEDCED3}"/>
                      </a:ext>
                    </a:extLst>
                  </p:cNvPr>
                  <p:cNvSpPr>
                    <a:spLocks/>
                  </p:cNvSpPr>
                  <p:nvPr/>
                </p:nvSpPr>
                <p:spPr bwMode="auto">
                  <a:xfrm>
                    <a:off x="8218488" y="1671638"/>
                    <a:ext cx="12700" cy="1588"/>
                  </a:xfrm>
                  <a:custGeom>
                    <a:avLst/>
                    <a:gdLst/>
                    <a:ahLst/>
                    <a:cxnLst>
                      <a:cxn ang="0">
                        <a:pos x="0" y="1"/>
                      </a:cxn>
                      <a:cxn ang="0">
                        <a:pos x="0" y="1"/>
                      </a:cxn>
                      <a:cxn ang="0">
                        <a:pos x="5" y="0"/>
                      </a:cxn>
                      <a:cxn ang="0">
                        <a:pos x="0" y="1"/>
                      </a:cxn>
                    </a:cxnLst>
                    <a:rect l="0" t="0" r="r" b="b"/>
                    <a:pathLst>
                      <a:path w="5" h="1">
                        <a:moveTo>
                          <a:pt x="0" y="1"/>
                        </a:moveTo>
                        <a:cubicBezTo>
                          <a:pt x="0" y="1"/>
                          <a:pt x="0" y="1"/>
                          <a:pt x="0" y="1"/>
                        </a:cubicBezTo>
                        <a:cubicBezTo>
                          <a:pt x="5" y="0"/>
                          <a:pt x="5" y="0"/>
                          <a:pt x="5" y="0"/>
                        </a:cubicBezTo>
                        <a:lnTo>
                          <a:pt x="0" y="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41" name="Freeform 132">
                    <a:extLst>
                      <a:ext uri="{FF2B5EF4-FFF2-40B4-BE49-F238E27FC236}">
                        <a16:creationId xmlns:a16="http://schemas.microsoft.com/office/drawing/2014/main" id="{42174D0F-2536-41BB-B0DD-505512630630}"/>
                      </a:ext>
                    </a:extLst>
                  </p:cNvPr>
                  <p:cNvSpPr>
                    <a:spLocks/>
                  </p:cNvSpPr>
                  <p:nvPr/>
                </p:nvSpPr>
                <p:spPr bwMode="auto">
                  <a:xfrm>
                    <a:off x="7169150" y="2263775"/>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1"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42" name="Freeform 133">
                    <a:extLst>
                      <a:ext uri="{FF2B5EF4-FFF2-40B4-BE49-F238E27FC236}">
                        <a16:creationId xmlns:a16="http://schemas.microsoft.com/office/drawing/2014/main" id="{D4D34E83-F852-4113-BFD4-8B99869C6566}"/>
                      </a:ext>
                    </a:extLst>
                  </p:cNvPr>
                  <p:cNvSpPr>
                    <a:spLocks/>
                  </p:cNvSpPr>
                  <p:nvPr/>
                </p:nvSpPr>
                <p:spPr bwMode="auto">
                  <a:xfrm>
                    <a:off x="7480300" y="1995488"/>
                    <a:ext cx="4762" cy="4763"/>
                  </a:xfrm>
                  <a:custGeom>
                    <a:avLst/>
                    <a:gdLst/>
                    <a:ahLst/>
                    <a:cxnLst>
                      <a:cxn ang="0">
                        <a:pos x="2" y="0"/>
                      </a:cxn>
                      <a:cxn ang="0">
                        <a:pos x="0" y="2"/>
                      </a:cxn>
                      <a:cxn ang="0">
                        <a:pos x="2" y="0"/>
                      </a:cxn>
                    </a:cxnLst>
                    <a:rect l="0" t="0" r="r" b="b"/>
                    <a:pathLst>
                      <a:path w="2" h="2">
                        <a:moveTo>
                          <a:pt x="2" y="0"/>
                        </a:moveTo>
                        <a:cubicBezTo>
                          <a:pt x="1" y="0"/>
                          <a:pt x="1" y="1"/>
                          <a:pt x="0" y="2"/>
                        </a:cubicBezTo>
                        <a:cubicBezTo>
                          <a:pt x="1" y="1"/>
                          <a:pt x="2" y="0"/>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43" name="Freeform 134">
                    <a:extLst>
                      <a:ext uri="{FF2B5EF4-FFF2-40B4-BE49-F238E27FC236}">
                        <a16:creationId xmlns:a16="http://schemas.microsoft.com/office/drawing/2014/main" id="{F81FA425-BBAB-4240-B1D5-A1C7B5CE9368}"/>
                      </a:ext>
                    </a:extLst>
                  </p:cNvPr>
                  <p:cNvSpPr>
                    <a:spLocks/>
                  </p:cNvSpPr>
                  <p:nvPr/>
                </p:nvSpPr>
                <p:spPr bwMode="auto">
                  <a:xfrm>
                    <a:off x="8318500" y="1681163"/>
                    <a:ext cx="7937" cy="1588"/>
                  </a:xfrm>
                  <a:custGeom>
                    <a:avLst/>
                    <a:gdLst/>
                    <a:ahLst/>
                    <a:cxnLst>
                      <a:cxn ang="0">
                        <a:pos x="3" y="0"/>
                      </a:cxn>
                      <a:cxn ang="0">
                        <a:pos x="0" y="0"/>
                      </a:cxn>
                      <a:cxn ang="0">
                        <a:pos x="3" y="0"/>
                      </a:cxn>
                    </a:cxnLst>
                    <a:rect l="0" t="0" r="r" b="b"/>
                    <a:pathLst>
                      <a:path w="3">
                        <a:moveTo>
                          <a:pt x="3" y="0"/>
                        </a:moveTo>
                        <a:cubicBezTo>
                          <a:pt x="0" y="0"/>
                          <a:pt x="0" y="0"/>
                          <a:pt x="0" y="0"/>
                        </a:cubicBezTo>
                        <a:cubicBezTo>
                          <a:pt x="0" y="0"/>
                          <a:pt x="1"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44" name="Freeform 135">
                    <a:extLst>
                      <a:ext uri="{FF2B5EF4-FFF2-40B4-BE49-F238E27FC236}">
                        <a16:creationId xmlns:a16="http://schemas.microsoft.com/office/drawing/2014/main" id="{3E2CB811-72FB-42F8-A079-08A9C790B94B}"/>
                      </a:ext>
                    </a:extLst>
                  </p:cNvPr>
                  <p:cNvSpPr>
                    <a:spLocks/>
                  </p:cNvSpPr>
                  <p:nvPr/>
                </p:nvSpPr>
                <p:spPr bwMode="auto">
                  <a:xfrm>
                    <a:off x="8516938" y="1655763"/>
                    <a:ext cx="1587" cy="1588"/>
                  </a:xfrm>
                  <a:custGeom>
                    <a:avLst/>
                    <a:gdLst/>
                    <a:ahLst/>
                    <a:cxnLst>
                      <a:cxn ang="0">
                        <a:pos x="1" y="0"/>
                      </a:cxn>
                      <a:cxn ang="0">
                        <a:pos x="1" y="0"/>
                      </a:cxn>
                      <a:cxn ang="0">
                        <a:pos x="1" y="0"/>
                      </a:cxn>
                    </a:cxnLst>
                    <a:rect l="0" t="0" r="r" b="b"/>
                    <a:pathLst>
                      <a:path w="1">
                        <a:moveTo>
                          <a:pt x="1" y="0"/>
                        </a:moveTo>
                        <a:cubicBezTo>
                          <a:pt x="1" y="0"/>
                          <a:pt x="1" y="0"/>
                          <a:pt x="1"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45" name="Freeform 136">
                    <a:extLst>
                      <a:ext uri="{FF2B5EF4-FFF2-40B4-BE49-F238E27FC236}">
                        <a16:creationId xmlns:a16="http://schemas.microsoft.com/office/drawing/2014/main" id="{277B9337-D679-4851-B797-2365E5B4C0EC}"/>
                      </a:ext>
                    </a:extLst>
                  </p:cNvPr>
                  <p:cNvSpPr>
                    <a:spLocks/>
                  </p:cNvSpPr>
                  <p:nvPr/>
                </p:nvSpPr>
                <p:spPr bwMode="auto">
                  <a:xfrm>
                    <a:off x="8434388" y="1654175"/>
                    <a:ext cx="7937" cy="1588"/>
                  </a:xfrm>
                  <a:custGeom>
                    <a:avLst/>
                    <a:gdLst/>
                    <a:ahLst/>
                    <a:cxnLst>
                      <a:cxn ang="0">
                        <a:pos x="3" y="0"/>
                      </a:cxn>
                      <a:cxn ang="0">
                        <a:pos x="0" y="0"/>
                      </a:cxn>
                      <a:cxn ang="0">
                        <a:pos x="3" y="0"/>
                      </a:cxn>
                    </a:cxnLst>
                    <a:rect l="0" t="0" r="r" b="b"/>
                    <a:pathLst>
                      <a:path w="3">
                        <a:moveTo>
                          <a:pt x="3" y="0"/>
                        </a:moveTo>
                        <a:cubicBezTo>
                          <a:pt x="2" y="0"/>
                          <a:pt x="1" y="0"/>
                          <a:pt x="0" y="0"/>
                        </a:cubicBezTo>
                        <a:cubicBezTo>
                          <a:pt x="1" y="0"/>
                          <a:pt x="3"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46" name="Freeform 137">
                    <a:extLst>
                      <a:ext uri="{FF2B5EF4-FFF2-40B4-BE49-F238E27FC236}">
                        <a16:creationId xmlns:a16="http://schemas.microsoft.com/office/drawing/2014/main" id="{469AA56B-2587-4870-BD5F-6C6358E6930E}"/>
                      </a:ext>
                    </a:extLst>
                  </p:cNvPr>
                  <p:cNvSpPr>
                    <a:spLocks/>
                  </p:cNvSpPr>
                  <p:nvPr/>
                </p:nvSpPr>
                <p:spPr bwMode="auto">
                  <a:xfrm>
                    <a:off x="8432800" y="1654175"/>
                    <a:ext cx="1587" cy="1588"/>
                  </a:xfrm>
                  <a:custGeom>
                    <a:avLst/>
                    <a:gdLst/>
                    <a:ahLst/>
                    <a:cxnLst>
                      <a:cxn ang="0">
                        <a:pos x="0" y="0"/>
                      </a:cxn>
                      <a:cxn ang="0">
                        <a:pos x="1" y="0"/>
                      </a:cxn>
                      <a:cxn ang="0">
                        <a:pos x="0" y="0"/>
                      </a:cxn>
                    </a:cxnLst>
                    <a:rect l="0" t="0" r="r" b="b"/>
                    <a:pathLst>
                      <a:path w="1">
                        <a:moveTo>
                          <a:pt x="0" y="0"/>
                        </a:moveTo>
                        <a:cubicBezTo>
                          <a:pt x="1" y="0"/>
                          <a:pt x="1" y="0"/>
                          <a:pt x="1" y="0"/>
                        </a:cubicBezTo>
                        <a:cubicBezTo>
                          <a:pt x="1"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47" name="Freeform 138">
                    <a:extLst>
                      <a:ext uri="{FF2B5EF4-FFF2-40B4-BE49-F238E27FC236}">
                        <a16:creationId xmlns:a16="http://schemas.microsoft.com/office/drawing/2014/main" id="{E8DA3613-CB47-4AA6-B15E-31F924EE5FBE}"/>
                      </a:ext>
                    </a:extLst>
                  </p:cNvPr>
                  <p:cNvSpPr>
                    <a:spLocks/>
                  </p:cNvSpPr>
                  <p:nvPr/>
                </p:nvSpPr>
                <p:spPr bwMode="auto">
                  <a:xfrm>
                    <a:off x="6326188" y="4597400"/>
                    <a:ext cx="3175" cy="17463"/>
                  </a:xfrm>
                  <a:custGeom>
                    <a:avLst/>
                    <a:gdLst/>
                    <a:ahLst/>
                    <a:cxnLst>
                      <a:cxn ang="0">
                        <a:pos x="0" y="0"/>
                      </a:cxn>
                      <a:cxn ang="0">
                        <a:pos x="1" y="7"/>
                      </a:cxn>
                      <a:cxn ang="0">
                        <a:pos x="0" y="0"/>
                      </a:cxn>
                    </a:cxnLst>
                    <a:rect l="0" t="0" r="r" b="b"/>
                    <a:pathLst>
                      <a:path w="1" h="7">
                        <a:moveTo>
                          <a:pt x="0" y="0"/>
                        </a:moveTo>
                        <a:cubicBezTo>
                          <a:pt x="0" y="3"/>
                          <a:pt x="0" y="5"/>
                          <a:pt x="1" y="7"/>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48" name="Freeform 139">
                    <a:extLst>
                      <a:ext uri="{FF2B5EF4-FFF2-40B4-BE49-F238E27FC236}">
                        <a16:creationId xmlns:a16="http://schemas.microsoft.com/office/drawing/2014/main" id="{85BCD757-0B69-4220-B399-645D974E9F71}"/>
                      </a:ext>
                    </a:extLst>
                  </p:cNvPr>
                  <p:cNvSpPr>
                    <a:spLocks/>
                  </p:cNvSpPr>
                  <p:nvPr/>
                </p:nvSpPr>
                <p:spPr bwMode="auto">
                  <a:xfrm>
                    <a:off x="6789738" y="2773363"/>
                    <a:ext cx="3175" cy="1588"/>
                  </a:xfrm>
                  <a:custGeom>
                    <a:avLst/>
                    <a:gdLst/>
                    <a:ahLst/>
                    <a:cxnLst>
                      <a:cxn ang="0">
                        <a:pos x="1" y="1"/>
                      </a:cxn>
                      <a:cxn ang="0">
                        <a:pos x="1" y="0"/>
                      </a:cxn>
                      <a:cxn ang="0">
                        <a:pos x="1" y="1"/>
                      </a:cxn>
                    </a:cxnLst>
                    <a:rect l="0" t="0" r="r" b="b"/>
                    <a:pathLst>
                      <a:path w="1" h="1">
                        <a:moveTo>
                          <a:pt x="1" y="1"/>
                        </a:moveTo>
                        <a:cubicBezTo>
                          <a:pt x="1" y="0"/>
                          <a:pt x="1" y="0"/>
                          <a:pt x="1" y="0"/>
                        </a:cubicBezTo>
                        <a:cubicBezTo>
                          <a:pt x="0" y="1"/>
                          <a:pt x="0" y="1"/>
                          <a:pt x="1"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49" name="Freeform 140">
                    <a:extLst>
                      <a:ext uri="{FF2B5EF4-FFF2-40B4-BE49-F238E27FC236}">
                        <a16:creationId xmlns:a16="http://schemas.microsoft.com/office/drawing/2014/main" id="{AF906090-CCC2-4A3F-B1BF-D1A5050125D0}"/>
                      </a:ext>
                    </a:extLst>
                  </p:cNvPr>
                  <p:cNvSpPr>
                    <a:spLocks/>
                  </p:cNvSpPr>
                  <p:nvPr/>
                </p:nvSpPr>
                <p:spPr bwMode="auto">
                  <a:xfrm>
                    <a:off x="6342063" y="4603750"/>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50" name="Freeform 141">
                    <a:extLst>
                      <a:ext uri="{FF2B5EF4-FFF2-40B4-BE49-F238E27FC236}">
                        <a16:creationId xmlns:a16="http://schemas.microsoft.com/office/drawing/2014/main" id="{C9A7D161-4D0C-4129-ACE4-95CDFD08A566}"/>
                      </a:ext>
                    </a:extLst>
                  </p:cNvPr>
                  <p:cNvSpPr>
                    <a:spLocks/>
                  </p:cNvSpPr>
                  <p:nvPr/>
                </p:nvSpPr>
                <p:spPr bwMode="auto">
                  <a:xfrm>
                    <a:off x="8207375" y="1704975"/>
                    <a:ext cx="17462" cy="6350"/>
                  </a:xfrm>
                  <a:custGeom>
                    <a:avLst/>
                    <a:gdLst/>
                    <a:ahLst/>
                    <a:cxnLst>
                      <a:cxn ang="0">
                        <a:pos x="7" y="0"/>
                      </a:cxn>
                      <a:cxn ang="0">
                        <a:pos x="0" y="2"/>
                      </a:cxn>
                      <a:cxn ang="0">
                        <a:pos x="7" y="0"/>
                      </a:cxn>
                    </a:cxnLst>
                    <a:rect l="0" t="0" r="r" b="b"/>
                    <a:pathLst>
                      <a:path w="7" h="2">
                        <a:moveTo>
                          <a:pt x="7" y="0"/>
                        </a:moveTo>
                        <a:cubicBezTo>
                          <a:pt x="5" y="1"/>
                          <a:pt x="0" y="1"/>
                          <a:pt x="0" y="2"/>
                        </a:cubicBezTo>
                        <a:cubicBezTo>
                          <a:pt x="3" y="1"/>
                          <a:pt x="6" y="1"/>
                          <a:pt x="7"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51" name="Freeform 142">
                    <a:extLst>
                      <a:ext uri="{FF2B5EF4-FFF2-40B4-BE49-F238E27FC236}">
                        <a16:creationId xmlns:a16="http://schemas.microsoft.com/office/drawing/2014/main" id="{E429031E-6F8A-450A-9B65-5374E16D444D}"/>
                      </a:ext>
                    </a:extLst>
                  </p:cNvPr>
                  <p:cNvSpPr>
                    <a:spLocks/>
                  </p:cNvSpPr>
                  <p:nvPr/>
                </p:nvSpPr>
                <p:spPr bwMode="auto">
                  <a:xfrm>
                    <a:off x="6788150" y="2924175"/>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52" name="Freeform 143">
                    <a:extLst>
                      <a:ext uri="{FF2B5EF4-FFF2-40B4-BE49-F238E27FC236}">
                        <a16:creationId xmlns:a16="http://schemas.microsoft.com/office/drawing/2014/main" id="{16F987CD-E152-4B1A-9106-2F106A1253C8}"/>
                      </a:ext>
                    </a:extLst>
                  </p:cNvPr>
                  <p:cNvSpPr>
                    <a:spLocks/>
                  </p:cNvSpPr>
                  <p:nvPr/>
                </p:nvSpPr>
                <p:spPr bwMode="auto">
                  <a:xfrm>
                    <a:off x="6342063" y="4602163"/>
                    <a:ext cx="1587" cy="1588"/>
                  </a:xfrm>
                  <a:custGeom>
                    <a:avLst/>
                    <a:gdLst/>
                    <a:ahLst/>
                    <a:cxnLst>
                      <a:cxn ang="0">
                        <a:pos x="0" y="1"/>
                      </a:cxn>
                      <a:cxn ang="0">
                        <a:pos x="0" y="0"/>
                      </a:cxn>
                      <a:cxn ang="0">
                        <a:pos x="0" y="0"/>
                      </a:cxn>
                      <a:cxn ang="0">
                        <a:pos x="0" y="1"/>
                      </a:cxn>
                    </a:cxnLst>
                    <a:rect l="0" t="0" r="r" b="b"/>
                    <a:pathLst>
                      <a:path h="1">
                        <a:moveTo>
                          <a:pt x="0" y="1"/>
                        </a:moveTo>
                        <a:cubicBezTo>
                          <a:pt x="0" y="0"/>
                          <a:pt x="0" y="0"/>
                          <a:pt x="0" y="0"/>
                        </a:cubicBez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53" name="Rectangle 144">
                    <a:extLst>
                      <a:ext uri="{FF2B5EF4-FFF2-40B4-BE49-F238E27FC236}">
                        <a16:creationId xmlns:a16="http://schemas.microsoft.com/office/drawing/2014/main" id="{13004561-1A93-4B44-9AA9-4048B4138535}"/>
                      </a:ext>
                    </a:extLst>
                  </p:cNvPr>
                  <p:cNvSpPr>
                    <a:spLocks noChangeArrowheads="1"/>
                  </p:cNvSpPr>
                  <p:nvPr/>
                </p:nvSpPr>
                <p:spPr bwMode="auto">
                  <a:xfrm>
                    <a:off x="6518275" y="3373438"/>
                    <a:ext cx="1587" cy="158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54" name="Freeform 145">
                    <a:extLst>
                      <a:ext uri="{FF2B5EF4-FFF2-40B4-BE49-F238E27FC236}">
                        <a16:creationId xmlns:a16="http://schemas.microsoft.com/office/drawing/2014/main" id="{D6F53072-B3F3-4A2C-9D59-9A77D0274AB3}"/>
                      </a:ext>
                    </a:extLst>
                  </p:cNvPr>
                  <p:cNvSpPr>
                    <a:spLocks/>
                  </p:cNvSpPr>
                  <p:nvPr/>
                </p:nvSpPr>
                <p:spPr bwMode="auto">
                  <a:xfrm>
                    <a:off x="6505575" y="3398838"/>
                    <a:ext cx="1587" cy="6350"/>
                  </a:xfrm>
                  <a:custGeom>
                    <a:avLst/>
                    <a:gdLst/>
                    <a:ahLst/>
                    <a:cxnLst>
                      <a:cxn ang="0">
                        <a:pos x="0" y="3"/>
                      </a:cxn>
                      <a:cxn ang="0">
                        <a:pos x="0" y="0"/>
                      </a:cxn>
                      <a:cxn ang="0">
                        <a:pos x="0" y="3"/>
                      </a:cxn>
                    </a:cxnLst>
                    <a:rect l="0" t="0" r="r" b="b"/>
                    <a:pathLst>
                      <a:path h="3">
                        <a:moveTo>
                          <a:pt x="0" y="3"/>
                        </a:moveTo>
                        <a:cubicBezTo>
                          <a:pt x="0" y="0"/>
                          <a:pt x="0" y="0"/>
                          <a:pt x="0" y="0"/>
                        </a:cubicBezTo>
                        <a:cubicBezTo>
                          <a:pt x="0" y="2"/>
                          <a:pt x="0" y="3"/>
                          <a:pt x="0" y="3"/>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55" name="Freeform 146">
                    <a:extLst>
                      <a:ext uri="{FF2B5EF4-FFF2-40B4-BE49-F238E27FC236}">
                        <a16:creationId xmlns:a16="http://schemas.microsoft.com/office/drawing/2014/main" id="{85EA8E76-193E-465F-9EB1-EE1C47FE1A73}"/>
                      </a:ext>
                    </a:extLst>
                  </p:cNvPr>
                  <p:cNvSpPr>
                    <a:spLocks/>
                  </p:cNvSpPr>
                  <p:nvPr/>
                </p:nvSpPr>
                <p:spPr bwMode="auto">
                  <a:xfrm>
                    <a:off x="6329363" y="4614863"/>
                    <a:ext cx="1587" cy="6350"/>
                  </a:xfrm>
                  <a:custGeom>
                    <a:avLst/>
                    <a:gdLst/>
                    <a:ahLst/>
                    <a:cxnLst>
                      <a:cxn ang="0">
                        <a:pos x="0" y="0"/>
                      </a:cxn>
                      <a:cxn ang="0">
                        <a:pos x="0" y="3"/>
                      </a:cxn>
                      <a:cxn ang="0">
                        <a:pos x="0" y="0"/>
                      </a:cxn>
                    </a:cxnLst>
                    <a:rect l="0" t="0" r="r" b="b"/>
                    <a:pathLst>
                      <a:path h="3">
                        <a:moveTo>
                          <a:pt x="0" y="0"/>
                        </a:moveTo>
                        <a:cubicBezTo>
                          <a:pt x="0" y="3"/>
                          <a:pt x="0" y="3"/>
                          <a:pt x="0" y="3"/>
                        </a:cubicBezTo>
                        <a:cubicBezTo>
                          <a:pt x="0" y="2"/>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56" name="Freeform 147">
                    <a:extLst>
                      <a:ext uri="{FF2B5EF4-FFF2-40B4-BE49-F238E27FC236}">
                        <a16:creationId xmlns:a16="http://schemas.microsoft.com/office/drawing/2014/main" id="{FAF892F0-6A4C-45C7-93C6-B5B6AEFED1C2}"/>
                      </a:ext>
                    </a:extLst>
                  </p:cNvPr>
                  <p:cNvSpPr>
                    <a:spLocks/>
                  </p:cNvSpPr>
                  <p:nvPr/>
                </p:nvSpPr>
                <p:spPr bwMode="auto">
                  <a:xfrm>
                    <a:off x="6405563" y="3765550"/>
                    <a:ext cx="3175" cy="4763"/>
                  </a:xfrm>
                  <a:custGeom>
                    <a:avLst/>
                    <a:gdLst/>
                    <a:ahLst/>
                    <a:cxnLst>
                      <a:cxn ang="0">
                        <a:pos x="0" y="2"/>
                      </a:cxn>
                      <a:cxn ang="0">
                        <a:pos x="1" y="0"/>
                      </a:cxn>
                      <a:cxn ang="0">
                        <a:pos x="0" y="2"/>
                      </a:cxn>
                    </a:cxnLst>
                    <a:rect l="0" t="0" r="r" b="b"/>
                    <a:pathLst>
                      <a:path w="1" h="2">
                        <a:moveTo>
                          <a:pt x="0" y="2"/>
                        </a:moveTo>
                        <a:cubicBezTo>
                          <a:pt x="1" y="0"/>
                          <a:pt x="1" y="0"/>
                          <a:pt x="1" y="0"/>
                        </a:cubicBezTo>
                        <a:cubicBezTo>
                          <a:pt x="0" y="1"/>
                          <a:pt x="0" y="2"/>
                          <a:pt x="0"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57" name="Freeform 148">
                    <a:extLst>
                      <a:ext uri="{FF2B5EF4-FFF2-40B4-BE49-F238E27FC236}">
                        <a16:creationId xmlns:a16="http://schemas.microsoft.com/office/drawing/2014/main" id="{06F9D6C0-44A0-4B73-9FDA-95BB403C89E2}"/>
                      </a:ext>
                    </a:extLst>
                  </p:cNvPr>
                  <p:cNvSpPr>
                    <a:spLocks/>
                  </p:cNvSpPr>
                  <p:nvPr/>
                </p:nvSpPr>
                <p:spPr bwMode="auto">
                  <a:xfrm>
                    <a:off x="7507288" y="1978025"/>
                    <a:ext cx="3175" cy="3175"/>
                  </a:xfrm>
                  <a:custGeom>
                    <a:avLst/>
                    <a:gdLst/>
                    <a:ahLst/>
                    <a:cxnLst>
                      <a:cxn ang="0">
                        <a:pos x="0" y="1"/>
                      </a:cxn>
                      <a:cxn ang="0">
                        <a:pos x="1" y="0"/>
                      </a:cxn>
                      <a:cxn ang="0">
                        <a:pos x="0" y="1"/>
                      </a:cxn>
                    </a:cxnLst>
                    <a:rect l="0" t="0" r="r" b="b"/>
                    <a:pathLst>
                      <a:path w="1" h="1">
                        <a:moveTo>
                          <a:pt x="0" y="1"/>
                        </a:moveTo>
                        <a:cubicBezTo>
                          <a:pt x="0" y="1"/>
                          <a:pt x="0" y="1"/>
                          <a:pt x="1" y="0"/>
                        </a:cubicBezTo>
                        <a:cubicBezTo>
                          <a:pt x="1" y="0"/>
                          <a:pt x="1" y="0"/>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58" name="Freeform 149">
                    <a:extLst>
                      <a:ext uri="{FF2B5EF4-FFF2-40B4-BE49-F238E27FC236}">
                        <a16:creationId xmlns:a16="http://schemas.microsoft.com/office/drawing/2014/main" id="{F1DBA6E3-EDD5-40B9-BCDD-C0432FC85F59}"/>
                      </a:ext>
                    </a:extLst>
                  </p:cNvPr>
                  <p:cNvSpPr>
                    <a:spLocks/>
                  </p:cNvSpPr>
                  <p:nvPr/>
                </p:nvSpPr>
                <p:spPr bwMode="auto">
                  <a:xfrm>
                    <a:off x="7335838" y="2182813"/>
                    <a:ext cx="3175" cy="1588"/>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59" name="Freeform 150">
                    <a:extLst>
                      <a:ext uri="{FF2B5EF4-FFF2-40B4-BE49-F238E27FC236}">
                        <a16:creationId xmlns:a16="http://schemas.microsoft.com/office/drawing/2014/main" id="{364B056E-4018-46B7-85F2-0F13AC62E34A}"/>
                      </a:ext>
                    </a:extLst>
                  </p:cNvPr>
                  <p:cNvSpPr>
                    <a:spLocks/>
                  </p:cNvSpPr>
                  <p:nvPr/>
                </p:nvSpPr>
                <p:spPr bwMode="auto">
                  <a:xfrm>
                    <a:off x="7339013" y="2171700"/>
                    <a:ext cx="6350" cy="11113"/>
                  </a:xfrm>
                  <a:custGeom>
                    <a:avLst/>
                    <a:gdLst/>
                    <a:ahLst/>
                    <a:cxnLst>
                      <a:cxn ang="0">
                        <a:pos x="3" y="0"/>
                      </a:cxn>
                      <a:cxn ang="0">
                        <a:pos x="0" y="4"/>
                      </a:cxn>
                      <a:cxn ang="0">
                        <a:pos x="3" y="0"/>
                      </a:cxn>
                    </a:cxnLst>
                    <a:rect l="0" t="0" r="r" b="b"/>
                    <a:pathLst>
                      <a:path w="3" h="4">
                        <a:moveTo>
                          <a:pt x="3" y="0"/>
                        </a:moveTo>
                        <a:cubicBezTo>
                          <a:pt x="2" y="1"/>
                          <a:pt x="0" y="3"/>
                          <a:pt x="0" y="4"/>
                        </a:cubicBezTo>
                        <a:cubicBezTo>
                          <a:pt x="1" y="3"/>
                          <a:pt x="2" y="2"/>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60" name="Freeform 151">
                    <a:extLst>
                      <a:ext uri="{FF2B5EF4-FFF2-40B4-BE49-F238E27FC236}">
                        <a16:creationId xmlns:a16="http://schemas.microsoft.com/office/drawing/2014/main" id="{00ECF0D0-FD96-4CA6-9C97-2AE573D8B2DB}"/>
                      </a:ext>
                    </a:extLst>
                  </p:cNvPr>
                  <p:cNvSpPr>
                    <a:spLocks/>
                  </p:cNvSpPr>
                  <p:nvPr/>
                </p:nvSpPr>
                <p:spPr bwMode="auto">
                  <a:xfrm>
                    <a:off x="7316788" y="2200275"/>
                    <a:ext cx="1587" cy="1588"/>
                  </a:xfrm>
                  <a:custGeom>
                    <a:avLst/>
                    <a:gdLst/>
                    <a:ahLst/>
                    <a:cxnLst>
                      <a:cxn ang="0">
                        <a:pos x="0" y="1"/>
                      </a:cxn>
                      <a:cxn ang="0">
                        <a:pos x="0" y="0"/>
                      </a:cxn>
                      <a:cxn ang="0">
                        <a:pos x="0" y="1"/>
                      </a:cxn>
                    </a:cxnLst>
                    <a:rect l="0" t="0" r="r" b="b"/>
                    <a:pathLst>
                      <a:path h="1">
                        <a:moveTo>
                          <a:pt x="0" y="1"/>
                        </a:move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61" name="Freeform 152">
                    <a:extLst>
                      <a:ext uri="{FF2B5EF4-FFF2-40B4-BE49-F238E27FC236}">
                        <a16:creationId xmlns:a16="http://schemas.microsoft.com/office/drawing/2014/main" id="{B5941F1A-10E1-4202-84C5-377C36C7E9E2}"/>
                      </a:ext>
                    </a:extLst>
                  </p:cNvPr>
                  <p:cNvSpPr>
                    <a:spLocks/>
                  </p:cNvSpPr>
                  <p:nvPr/>
                </p:nvSpPr>
                <p:spPr bwMode="auto">
                  <a:xfrm>
                    <a:off x="7526338" y="202882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62" name="Freeform 153">
                    <a:extLst>
                      <a:ext uri="{FF2B5EF4-FFF2-40B4-BE49-F238E27FC236}">
                        <a16:creationId xmlns:a16="http://schemas.microsoft.com/office/drawing/2014/main" id="{7752FF30-6EDA-4AB3-898D-55CC5E19D2D5}"/>
                      </a:ext>
                    </a:extLst>
                  </p:cNvPr>
                  <p:cNvSpPr>
                    <a:spLocks/>
                  </p:cNvSpPr>
                  <p:nvPr/>
                </p:nvSpPr>
                <p:spPr bwMode="auto">
                  <a:xfrm>
                    <a:off x="7481888" y="2063750"/>
                    <a:ext cx="3175" cy="1588"/>
                  </a:xfrm>
                  <a:custGeom>
                    <a:avLst/>
                    <a:gdLst/>
                    <a:ahLst/>
                    <a:cxnLst>
                      <a:cxn ang="0">
                        <a:pos x="1" y="0"/>
                      </a:cxn>
                      <a:cxn ang="0">
                        <a:pos x="0" y="0"/>
                      </a:cxn>
                      <a:cxn ang="0">
                        <a:pos x="1" y="0"/>
                      </a:cxn>
                    </a:cxnLst>
                    <a:rect l="0" t="0" r="r" b="b"/>
                    <a:pathLst>
                      <a:path w="1">
                        <a:moveTo>
                          <a:pt x="1" y="0"/>
                        </a:moveTo>
                        <a:cubicBezTo>
                          <a:pt x="1"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63" name="Freeform 154">
                    <a:extLst>
                      <a:ext uri="{FF2B5EF4-FFF2-40B4-BE49-F238E27FC236}">
                        <a16:creationId xmlns:a16="http://schemas.microsoft.com/office/drawing/2014/main" id="{EFE9D0F6-4FB9-4862-B6BB-673F179AA842}"/>
                      </a:ext>
                    </a:extLst>
                  </p:cNvPr>
                  <p:cNvSpPr>
                    <a:spLocks/>
                  </p:cNvSpPr>
                  <p:nvPr/>
                </p:nvSpPr>
                <p:spPr bwMode="auto">
                  <a:xfrm>
                    <a:off x="7221538" y="23018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64" name="Freeform 155">
                    <a:extLst>
                      <a:ext uri="{FF2B5EF4-FFF2-40B4-BE49-F238E27FC236}">
                        <a16:creationId xmlns:a16="http://schemas.microsoft.com/office/drawing/2014/main" id="{AEA07C06-3ACD-4F77-BC87-809FBD7E6FFD}"/>
                      </a:ext>
                    </a:extLst>
                  </p:cNvPr>
                  <p:cNvSpPr>
                    <a:spLocks/>
                  </p:cNvSpPr>
                  <p:nvPr/>
                </p:nvSpPr>
                <p:spPr bwMode="auto">
                  <a:xfrm>
                    <a:off x="6224407" y="1520027"/>
                    <a:ext cx="2265362" cy="2987675"/>
                  </a:xfrm>
                  <a:custGeom>
                    <a:avLst/>
                    <a:gdLst/>
                    <a:ahLst/>
                    <a:cxnLst>
                      <a:cxn ang="0">
                        <a:pos x="295" y="351"/>
                      </a:cxn>
                      <a:cxn ang="0">
                        <a:pos x="339" y="296"/>
                      </a:cxn>
                      <a:cxn ang="0">
                        <a:pos x="362" y="265"/>
                      </a:cxn>
                      <a:cxn ang="0">
                        <a:pos x="377" y="249"/>
                      </a:cxn>
                      <a:cxn ang="0">
                        <a:pos x="403" y="224"/>
                      </a:cxn>
                      <a:cxn ang="0">
                        <a:pos x="411" y="216"/>
                      </a:cxn>
                      <a:cxn ang="0">
                        <a:pos x="427" y="202"/>
                      </a:cxn>
                      <a:cxn ang="0">
                        <a:pos x="458" y="180"/>
                      </a:cxn>
                      <a:cxn ang="0">
                        <a:pos x="477" y="162"/>
                      </a:cxn>
                      <a:cxn ang="0">
                        <a:pos x="512" y="134"/>
                      </a:cxn>
                      <a:cxn ang="0">
                        <a:pos x="530" y="124"/>
                      </a:cxn>
                      <a:cxn ang="0">
                        <a:pos x="558" y="106"/>
                      </a:cxn>
                      <a:cxn ang="0">
                        <a:pos x="583" y="94"/>
                      </a:cxn>
                      <a:cxn ang="0">
                        <a:pos x="620" y="71"/>
                      </a:cxn>
                      <a:cxn ang="0">
                        <a:pos x="662" y="54"/>
                      </a:cxn>
                      <a:cxn ang="0">
                        <a:pos x="704" y="40"/>
                      </a:cxn>
                      <a:cxn ang="0">
                        <a:pos x="735" y="30"/>
                      </a:cxn>
                      <a:cxn ang="0">
                        <a:pos x="758" y="25"/>
                      </a:cxn>
                      <a:cxn ang="0">
                        <a:pos x="759" y="26"/>
                      </a:cxn>
                      <a:cxn ang="0">
                        <a:pos x="785" y="19"/>
                      </a:cxn>
                      <a:cxn ang="0">
                        <a:pos x="800" y="15"/>
                      </a:cxn>
                      <a:cxn ang="0">
                        <a:pos x="820" y="12"/>
                      </a:cxn>
                      <a:cxn ang="0">
                        <a:pos x="870" y="10"/>
                      </a:cxn>
                      <a:cxn ang="0">
                        <a:pos x="906" y="8"/>
                      </a:cxn>
                      <a:cxn ang="0">
                        <a:pos x="880" y="2"/>
                      </a:cxn>
                      <a:cxn ang="0">
                        <a:pos x="860" y="3"/>
                      </a:cxn>
                      <a:cxn ang="0">
                        <a:pos x="836" y="3"/>
                      </a:cxn>
                      <a:cxn ang="0">
                        <a:pos x="793" y="6"/>
                      </a:cxn>
                      <a:cxn ang="0">
                        <a:pos x="772" y="11"/>
                      </a:cxn>
                      <a:cxn ang="0">
                        <a:pos x="753" y="14"/>
                      </a:cxn>
                      <a:cxn ang="0">
                        <a:pos x="685" y="33"/>
                      </a:cxn>
                      <a:cxn ang="0">
                        <a:pos x="652" y="43"/>
                      </a:cxn>
                      <a:cxn ang="0">
                        <a:pos x="635" y="50"/>
                      </a:cxn>
                      <a:cxn ang="0">
                        <a:pos x="605" y="64"/>
                      </a:cxn>
                      <a:cxn ang="0">
                        <a:pos x="569" y="81"/>
                      </a:cxn>
                      <a:cxn ang="0">
                        <a:pos x="547" y="90"/>
                      </a:cxn>
                      <a:cxn ang="0">
                        <a:pos x="500" y="120"/>
                      </a:cxn>
                      <a:cxn ang="0">
                        <a:pos x="454" y="152"/>
                      </a:cxn>
                      <a:cxn ang="0">
                        <a:pos x="418" y="183"/>
                      </a:cxn>
                      <a:cxn ang="0">
                        <a:pos x="399" y="199"/>
                      </a:cxn>
                      <a:cxn ang="0">
                        <a:pos x="372" y="223"/>
                      </a:cxn>
                      <a:cxn ang="0">
                        <a:pos x="333" y="260"/>
                      </a:cxn>
                      <a:cxn ang="0">
                        <a:pos x="303" y="297"/>
                      </a:cxn>
                      <a:cxn ang="0">
                        <a:pos x="252" y="360"/>
                      </a:cxn>
                      <a:cxn ang="0">
                        <a:pos x="200" y="442"/>
                      </a:cxn>
                      <a:cxn ang="0">
                        <a:pos x="184" y="468"/>
                      </a:cxn>
                      <a:cxn ang="0">
                        <a:pos x="168" y="498"/>
                      </a:cxn>
                      <a:cxn ang="0">
                        <a:pos x="143" y="549"/>
                      </a:cxn>
                      <a:cxn ang="0">
                        <a:pos x="99" y="648"/>
                      </a:cxn>
                      <a:cxn ang="0">
                        <a:pos x="68" y="741"/>
                      </a:cxn>
                      <a:cxn ang="0">
                        <a:pos x="38" y="844"/>
                      </a:cxn>
                      <a:cxn ang="0">
                        <a:pos x="0" y="1116"/>
                      </a:cxn>
                      <a:cxn ang="0">
                        <a:pos x="9" y="1197"/>
                      </a:cxn>
                      <a:cxn ang="0">
                        <a:pos x="11" y="1180"/>
                      </a:cxn>
                      <a:cxn ang="0">
                        <a:pos x="15" y="1154"/>
                      </a:cxn>
                      <a:cxn ang="0">
                        <a:pos x="18" y="1114"/>
                      </a:cxn>
                      <a:cxn ang="0">
                        <a:pos x="40" y="988"/>
                      </a:cxn>
                      <a:cxn ang="0">
                        <a:pos x="89" y="767"/>
                      </a:cxn>
                      <a:cxn ang="0">
                        <a:pos x="117" y="681"/>
                      </a:cxn>
                      <a:cxn ang="0">
                        <a:pos x="157" y="582"/>
                      </a:cxn>
                      <a:cxn ang="0">
                        <a:pos x="164" y="564"/>
                      </a:cxn>
                      <a:cxn ang="0">
                        <a:pos x="193" y="510"/>
                      </a:cxn>
                      <a:cxn ang="0">
                        <a:pos x="216" y="471"/>
                      </a:cxn>
                    </a:cxnLst>
                    <a:rect l="0" t="0" r="r" b="b"/>
                    <a:pathLst>
                      <a:path w="913" h="1204">
                        <a:moveTo>
                          <a:pt x="243" y="429"/>
                        </a:moveTo>
                        <a:cubicBezTo>
                          <a:pt x="254" y="411"/>
                          <a:pt x="268" y="388"/>
                          <a:pt x="280" y="372"/>
                        </a:cubicBezTo>
                        <a:cubicBezTo>
                          <a:pt x="282" y="368"/>
                          <a:pt x="286" y="362"/>
                          <a:pt x="289" y="357"/>
                        </a:cubicBezTo>
                        <a:cubicBezTo>
                          <a:pt x="291" y="358"/>
                          <a:pt x="291" y="358"/>
                          <a:pt x="291" y="358"/>
                        </a:cubicBezTo>
                        <a:cubicBezTo>
                          <a:pt x="294" y="353"/>
                          <a:pt x="294" y="353"/>
                          <a:pt x="294" y="353"/>
                        </a:cubicBezTo>
                        <a:cubicBezTo>
                          <a:pt x="296" y="351"/>
                          <a:pt x="292" y="356"/>
                          <a:pt x="295" y="354"/>
                        </a:cubicBezTo>
                        <a:cubicBezTo>
                          <a:pt x="295" y="351"/>
                          <a:pt x="295" y="351"/>
                          <a:pt x="295" y="351"/>
                        </a:cubicBezTo>
                        <a:cubicBezTo>
                          <a:pt x="296" y="351"/>
                          <a:pt x="304" y="341"/>
                          <a:pt x="299" y="349"/>
                        </a:cubicBezTo>
                        <a:cubicBezTo>
                          <a:pt x="304" y="343"/>
                          <a:pt x="308" y="338"/>
                          <a:pt x="313" y="332"/>
                        </a:cubicBezTo>
                        <a:cubicBezTo>
                          <a:pt x="316" y="329"/>
                          <a:pt x="313" y="329"/>
                          <a:pt x="317" y="325"/>
                        </a:cubicBezTo>
                        <a:cubicBezTo>
                          <a:pt x="318" y="325"/>
                          <a:pt x="316" y="327"/>
                          <a:pt x="317" y="327"/>
                        </a:cubicBezTo>
                        <a:cubicBezTo>
                          <a:pt x="328" y="316"/>
                          <a:pt x="325" y="311"/>
                          <a:pt x="335" y="300"/>
                        </a:cubicBezTo>
                        <a:cubicBezTo>
                          <a:pt x="334" y="301"/>
                          <a:pt x="334" y="301"/>
                          <a:pt x="334" y="301"/>
                        </a:cubicBezTo>
                        <a:cubicBezTo>
                          <a:pt x="336" y="299"/>
                          <a:pt x="339" y="296"/>
                          <a:pt x="339" y="296"/>
                        </a:cubicBezTo>
                        <a:cubicBezTo>
                          <a:pt x="336" y="296"/>
                          <a:pt x="338" y="298"/>
                          <a:pt x="334" y="301"/>
                        </a:cubicBezTo>
                        <a:cubicBezTo>
                          <a:pt x="333" y="299"/>
                          <a:pt x="337" y="296"/>
                          <a:pt x="336" y="295"/>
                        </a:cubicBezTo>
                        <a:cubicBezTo>
                          <a:pt x="338" y="293"/>
                          <a:pt x="339" y="291"/>
                          <a:pt x="341" y="289"/>
                        </a:cubicBezTo>
                        <a:cubicBezTo>
                          <a:pt x="345" y="286"/>
                          <a:pt x="349" y="280"/>
                          <a:pt x="353" y="278"/>
                        </a:cubicBezTo>
                        <a:cubicBezTo>
                          <a:pt x="354" y="276"/>
                          <a:pt x="355" y="273"/>
                          <a:pt x="358" y="269"/>
                        </a:cubicBezTo>
                        <a:cubicBezTo>
                          <a:pt x="362" y="267"/>
                          <a:pt x="359" y="270"/>
                          <a:pt x="363" y="267"/>
                        </a:cubicBezTo>
                        <a:cubicBezTo>
                          <a:pt x="362" y="265"/>
                          <a:pt x="362" y="265"/>
                          <a:pt x="362" y="265"/>
                        </a:cubicBezTo>
                        <a:cubicBezTo>
                          <a:pt x="365" y="262"/>
                          <a:pt x="365" y="263"/>
                          <a:pt x="365" y="264"/>
                        </a:cubicBezTo>
                        <a:cubicBezTo>
                          <a:pt x="369" y="260"/>
                          <a:pt x="367" y="260"/>
                          <a:pt x="371" y="256"/>
                        </a:cubicBezTo>
                        <a:cubicBezTo>
                          <a:pt x="370" y="259"/>
                          <a:pt x="370" y="259"/>
                          <a:pt x="370" y="259"/>
                        </a:cubicBezTo>
                        <a:cubicBezTo>
                          <a:pt x="373" y="256"/>
                          <a:pt x="374" y="255"/>
                          <a:pt x="378" y="251"/>
                        </a:cubicBezTo>
                        <a:cubicBezTo>
                          <a:pt x="378" y="251"/>
                          <a:pt x="377" y="253"/>
                          <a:pt x="375" y="254"/>
                        </a:cubicBezTo>
                        <a:cubicBezTo>
                          <a:pt x="379" y="253"/>
                          <a:pt x="379" y="250"/>
                          <a:pt x="380" y="248"/>
                        </a:cubicBezTo>
                        <a:cubicBezTo>
                          <a:pt x="379" y="249"/>
                          <a:pt x="376" y="251"/>
                          <a:pt x="377" y="249"/>
                        </a:cubicBezTo>
                        <a:cubicBezTo>
                          <a:pt x="379" y="247"/>
                          <a:pt x="381" y="244"/>
                          <a:pt x="383" y="243"/>
                        </a:cubicBezTo>
                        <a:cubicBezTo>
                          <a:pt x="381" y="246"/>
                          <a:pt x="381" y="246"/>
                          <a:pt x="381" y="246"/>
                        </a:cubicBezTo>
                        <a:cubicBezTo>
                          <a:pt x="385" y="241"/>
                          <a:pt x="383" y="243"/>
                          <a:pt x="388" y="238"/>
                        </a:cubicBezTo>
                        <a:cubicBezTo>
                          <a:pt x="388" y="239"/>
                          <a:pt x="388" y="239"/>
                          <a:pt x="388" y="239"/>
                        </a:cubicBezTo>
                        <a:cubicBezTo>
                          <a:pt x="390" y="235"/>
                          <a:pt x="395" y="232"/>
                          <a:pt x="400" y="227"/>
                        </a:cubicBezTo>
                        <a:cubicBezTo>
                          <a:pt x="399" y="228"/>
                          <a:pt x="399" y="228"/>
                          <a:pt x="399" y="228"/>
                        </a:cubicBezTo>
                        <a:cubicBezTo>
                          <a:pt x="401" y="226"/>
                          <a:pt x="402" y="225"/>
                          <a:pt x="403" y="224"/>
                        </a:cubicBezTo>
                        <a:cubicBezTo>
                          <a:pt x="399" y="226"/>
                          <a:pt x="400" y="225"/>
                          <a:pt x="399" y="224"/>
                        </a:cubicBezTo>
                        <a:cubicBezTo>
                          <a:pt x="404" y="222"/>
                          <a:pt x="403" y="218"/>
                          <a:pt x="410" y="213"/>
                        </a:cubicBezTo>
                        <a:cubicBezTo>
                          <a:pt x="410" y="214"/>
                          <a:pt x="409" y="216"/>
                          <a:pt x="407" y="217"/>
                        </a:cubicBezTo>
                        <a:cubicBezTo>
                          <a:pt x="406" y="220"/>
                          <a:pt x="407" y="221"/>
                          <a:pt x="404" y="225"/>
                        </a:cubicBezTo>
                        <a:cubicBezTo>
                          <a:pt x="406" y="223"/>
                          <a:pt x="408" y="220"/>
                          <a:pt x="408" y="221"/>
                        </a:cubicBezTo>
                        <a:cubicBezTo>
                          <a:pt x="408" y="219"/>
                          <a:pt x="408" y="219"/>
                          <a:pt x="408" y="219"/>
                        </a:cubicBezTo>
                        <a:cubicBezTo>
                          <a:pt x="409" y="218"/>
                          <a:pt x="410" y="217"/>
                          <a:pt x="411" y="216"/>
                        </a:cubicBezTo>
                        <a:cubicBezTo>
                          <a:pt x="411" y="215"/>
                          <a:pt x="408" y="217"/>
                          <a:pt x="410" y="214"/>
                        </a:cubicBezTo>
                        <a:cubicBezTo>
                          <a:pt x="414" y="210"/>
                          <a:pt x="413" y="213"/>
                          <a:pt x="413" y="212"/>
                        </a:cubicBezTo>
                        <a:cubicBezTo>
                          <a:pt x="418" y="208"/>
                          <a:pt x="414" y="209"/>
                          <a:pt x="419" y="205"/>
                        </a:cubicBezTo>
                        <a:cubicBezTo>
                          <a:pt x="419" y="206"/>
                          <a:pt x="418" y="207"/>
                          <a:pt x="418" y="207"/>
                        </a:cubicBezTo>
                        <a:cubicBezTo>
                          <a:pt x="422" y="205"/>
                          <a:pt x="426" y="200"/>
                          <a:pt x="428" y="200"/>
                        </a:cubicBezTo>
                        <a:cubicBezTo>
                          <a:pt x="428" y="201"/>
                          <a:pt x="428" y="201"/>
                          <a:pt x="427" y="202"/>
                        </a:cubicBezTo>
                        <a:cubicBezTo>
                          <a:pt x="427" y="202"/>
                          <a:pt x="427" y="202"/>
                          <a:pt x="427" y="202"/>
                        </a:cubicBezTo>
                        <a:cubicBezTo>
                          <a:pt x="424" y="207"/>
                          <a:pt x="430" y="199"/>
                          <a:pt x="430" y="201"/>
                        </a:cubicBezTo>
                        <a:cubicBezTo>
                          <a:pt x="429" y="201"/>
                          <a:pt x="434" y="197"/>
                          <a:pt x="436" y="195"/>
                        </a:cubicBezTo>
                        <a:cubicBezTo>
                          <a:pt x="435" y="195"/>
                          <a:pt x="435" y="195"/>
                          <a:pt x="435" y="195"/>
                        </a:cubicBezTo>
                        <a:cubicBezTo>
                          <a:pt x="440" y="186"/>
                          <a:pt x="436" y="197"/>
                          <a:pt x="443" y="190"/>
                        </a:cubicBezTo>
                        <a:cubicBezTo>
                          <a:pt x="447" y="186"/>
                          <a:pt x="441" y="192"/>
                          <a:pt x="443" y="189"/>
                        </a:cubicBezTo>
                        <a:cubicBezTo>
                          <a:pt x="446" y="186"/>
                          <a:pt x="448" y="186"/>
                          <a:pt x="452" y="182"/>
                        </a:cubicBezTo>
                        <a:cubicBezTo>
                          <a:pt x="454" y="181"/>
                          <a:pt x="457" y="180"/>
                          <a:pt x="458" y="180"/>
                        </a:cubicBezTo>
                        <a:cubicBezTo>
                          <a:pt x="461" y="178"/>
                          <a:pt x="467" y="174"/>
                          <a:pt x="468" y="172"/>
                        </a:cubicBezTo>
                        <a:cubicBezTo>
                          <a:pt x="462" y="175"/>
                          <a:pt x="464" y="177"/>
                          <a:pt x="457" y="180"/>
                        </a:cubicBezTo>
                        <a:cubicBezTo>
                          <a:pt x="458" y="178"/>
                          <a:pt x="458" y="178"/>
                          <a:pt x="458" y="178"/>
                        </a:cubicBezTo>
                        <a:cubicBezTo>
                          <a:pt x="462" y="174"/>
                          <a:pt x="467" y="170"/>
                          <a:pt x="470" y="168"/>
                        </a:cubicBezTo>
                        <a:cubicBezTo>
                          <a:pt x="469" y="168"/>
                          <a:pt x="469" y="168"/>
                          <a:pt x="469" y="168"/>
                        </a:cubicBezTo>
                        <a:cubicBezTo>
                          <a:pt x="474" y="163"/>
                          <a:pt x="475" y="161"/>
                          <a:pt x="481" y="157"/>
                        </a:cubicBezTo>
                        <a:cubicBezTo>
                          <a:pt x="482" y="157"/>
                          <a:pt x="479" y="160"/>
                          <a:pt x="477" y="162"/>
                        </a:cubicBezTo>
                        <a:cubicBezTo>
                          <a:pt x="481" y="160"/>
                          <a:pt x="480" y="159"/>
                          <a:pt x="486" y="155"/>
                        </a:cubicBezTo>
                        <a:cubicBezTo>
                          <a:pt x="487" y="156"/>
                          <a:pt x="482" y="158"/>
                          <a:pt x="482" y="159"/>
                        </a:cubicBezTo>
                        <a:cubicBezTo>
                          <a:pt x="488" y="154"/>
                          <a:pt x="488" y="154"/>
                          <a:pt x="488" y="154"/>
                        </a:cubicBezTo>
                        <a:cubicBezTo>
                          <a:pt x="488" y="154"/>
                          <a:pt x="488" y="154"/>
                          <a:pt x="488" y="154"/>
                        </a:cubicBezTo>
                        <a:cubicBezTo>
                          <a:pt x="488" y="152"/>
                          <a:pt x="493" y="151"/>
                          <a:pt x="497" y="148"/>
                        </a:cubicBezTo>
                        <a:cubicBezTo>
                          <a:pt x="506" y="141"/>
                          <a:pt x="506" y="139"/>
                          <a:pt x="510" y="134"/>
                        </a:cubicBezTo>
                        <a:cubicBezTo>
                          <a:pt x="512" y="133"/>
                          <a:pt x="513" y="134"/>
                          <a:pt x="512" y="134"/>
                        </a:cubicBezTo>
                        <a:cubicBezTo>
                          <a:pt x="510" y="135"/>
                          <a:pt x="510" y="135"/>
                          <a:pt x="510" y="136"/>
                        </a:cubicBezTo>
                        <a:cubicBezTo>
                          <a:pt x="513" y="134"/>
                          <a:pt x="518" y="133"/>
                          <a:pt x="516" y="135"/>
                        </a:cubicBezTo>
                        <a:cubicBezTo>
                          <a:pt x="521" y="131"/>
                          <a:pt x="514" y="135"/>
                          <a:pt x="517" y="133"/>
                        </a:cubicBezTo>
                        <a:cubicBezTo>
                          <a:pt x="524" y="128"/>
                          <a:pt x="524" y="128"/>
                          <a:pt x="524" y="128"/>
                        </a:cubicBezTo>
                        <a:cubicBezTo>
                          <a:pt x="522" y="128"/>
                          <a:pt x="520" y="130"/>
                          <a:pt x="523" y="127"/>
                        </a:cubicBezTo>
                        <a:cubicBezTo>
                          <a:pt x="526" y="125"/>
                          <a:pt x="527" y="124"/>
                          <a:pt x="531" y="121"/>
                        </a:cubicBezTo>
                        <a:cubicBezTo>
                          <a:pt x="531" y="122"/>
                          <a:pt x="533" y="122"/>
                          <a:pt x="530" y="124"/>
                        </a:cubicBezTo>
                        <a:cubicBezTo>
                          <a:pt x="533" y="123"/>
                          <a:pt x="536" y="121"/>
                          <a:pt x="536" y="119"/>
                        </a:cubicBezTo>
                        <a:cubicBezTo>
                          <a:pt x="531" y="121"/>
                          <a:pt x="543" y="114"/>
                          <a:pt x="539" y="115"/>
                        </a:cubicBezTo>
                        <a:cubicBezTo>
                          <a:pt x="544" y="113"/>
                          <a:pt x="544" y="113"/>
                          <a:pt x="544" y="113"/>
                        </a:cubicBezTo>
                        <a:cubicBezTo>
                          <a:pt x="543" y="114"/>
                          <a:pt x="543" y="114"/>
                          <a:pt x="541" y="115"/>
                        </a:cubicBezTo>
                        <a:cubicBezTo>
                          <a:pt x="543" y="115"/>
                          <a:pt x="545" y="112"/>
                          <a:pt x="546" y="111"/>
                        </a:cubicBezTo>
                        <a:cubicBezTo>
                          <a:pt x="548" y="111"/>
                          <a:pt x="552" y="108"/>
                          <a:pt x="553" y="109"/>
                        </a:cubicBezTo>
                        <a:cubicBezTo>
                          <a:pt x="554" y="108"/>
                          <a:pt x="557" y="106"/>
                          <a:pt x="558" y="106"/>
                        </a:cubicBezTo>
                        <a:cubicBezTo>
                          <a:pt x="560" y="105"/>
                          <a:pt x="558" y="105"/>
                          <a:pt x="559" y="104"/>
                        </a:cubicBezTo>
                        <a:cubicBezTo>
                          <a:pt x="566" y="100"/>
                          <a:pt x="566" y="100"/>
                          <a:pt x="566" y="100"/>
                        </a:cubicBezTo>
                        <a:cubicBezTo>
                          <a:pt x="567" y="101"/>
                          <a:pt x="568" y="102"/>
                          <a:pt x="567" y="103"/>
                        </a:cubicBezTo>
                        <a:cubicBezTo>
                          <a:pt x="570" y="101"/>
                          <a:pt x="567" y="101"/>
                          <a:pt x="571" y="98"/>
                        </a:cubicBezTo>
                        <a:cubicBezTo>
                          <a:pt x="570" y="101"/>
                          <a:pt x="577" y="96"/>
                          <a:pt x="575" y="100"/>
                        </a:cubicBezTo>
                        <a:cubicBezTo>
                          <a:pt x="577" y="99"/>
                          <a:pt x="584" y="96"/>
                          <a:pt x="588" y="93"/>
                        </a:cubicBezTo>
                        <a:cubicBezTo>
                          <a:pt x="589" y="91"/>
                          <a:pt x="583" y="95"/>
                          <a:pt x="583" y="94"/>
                        </a:cubicBezTo>
                        <a:cubicBezTo>
                          <a:pt x="593" y="88"/>
                          <a:pt x="592" y="85"/>
                          <a:pt x="601" y="81"/>
                        </a:cubicBezTo>
                        <a:cubicBezTo>
                          <a:pt x="598" y="82"/>
                          <a:pt x="598" y="82"/>
                          <a:pt x="598" y="82"/>
                        </a:cubicBezTo>
                        <a:cubicBezTo>
                          <a:pt x="603" y="79"/>
                          <a:pt x="602" y="80"/>
                          <a:pt x="605" y="77"/>
                        </a:cubicBezTo>
                        <a:cubicBezTo>
                          <a:pt x="604" y="79"/>
                          <a:pt x="612" y="78"/>
                          <a:pt x="620" y="74"/>
                        </a:cubicBezTo>
                        <a:cubicBezTo>
                          <a:pt x="620" y="73"/>
                          <a:pt x="615" y="75"/>
                          <a:pt x="616" y="73"/>
                        </a:cubicBezTo>
                        <a:cubicBezTo>
                          <a:pt x="621" y="70"/>
                          <a:pt x="621" y="70"/>
                          <a:pt x="621" y="70"/>
                        </a:cubicBezTo>
                        <a:cubicBezTo>
                          <a:pt x="622" y="70"/>
                          <a:pt x="621" y="71"/>
                          <a:pt x="620" y="71"/>
                        </a:cubicBezTo>
                        <a:cubicBezTo>
                          <a:pt x="625" y="69"/>
                          <a:pt x="630" y="69"/>
                          <a:pt x="631" y="67"/>
                        </a:cubicBezTo>
                        <a:cubicBezTo>
                          <a:pt x="637" y="67"/>
                          <a:pt x="637" y="67"/>
                          <a:pt x="637" y="67"/>
                        </a:cubicBezTo>
                        <a:cubicBezTo>
                          <a:pt x="634" y="67"/>
                          <a:pt x="634" y="67"/>
                          <a:pt x="634" y="67"/>
                        </a:cubicBezTo>
                        <a:cubicBezTo>
                          <a:pt x="635" y="66"/>
                          <a:pt x="640" y="63"/>
                          <a:pt x="641" y="62"/>
                        </a:cubicBezTo>
                        <a:cubicBezTo>
                          <a:pt x="646" y="59"/>
                          <a:pt x="649" y="59"/>
                          <a:pt x="652" y="59"/>
                        </a:cubicBezTo>
                        <a:cubicBezTo>
                          <a:pt x="651" y="58"/>
                          <a:pt x="648" y="58"/>
                          <a:pt x="652" y="56"/>
                        </a:cubicBezTo>
                        <a:cubicBezTo>
                          <a:pt x="653" y="58"/>
                          <a:pt x="662" y="53"/>
                          <a:pt x="662" y="54"/>
                        </a:cubicBezTo>
                        <a:cubicBezTo>
                          <a:pt x="664" y="54"/>
                          <a:pt x="668" y="53"/>
                          <a:pt x="667" y="52"/>
                        </a:cubicBezTo>
                        <a:cubicBezTo>
                          <a:pt x="668" y="54"/>
                          <a:pt x="668" y="54"/>
                          <a:pt x="668" y="54"/>
                        </a:cubicBezTo>
                        <a:cubicBezTo>
                          <a:pt x="667" y="52"/>
                          <a:pt x="674" y="49"/>
                          <a:pt x="679" y="47"/>
                        </a:cubicBezTo>
                        <a:cubicBezTo>
                          <a:pt x="679" y="50"/>
                          <a:pt x="684" y="45"/>
                          <a:pt x="688" y="46"/>
                        </a:cubicBezTo>
                        <a:cubicBezTo>
                          <a:pt x="688" y="44"/>
                          <a:pt x="696" y="43"/>
                          <a:pt x="697" y="41"/>
                        </a:cubicBezTo>
                        <a:cubicBezTo>
                          <a:pt x="701" y="39"/>
                          <a:pt x="701" y="41"/>
                          <a:pt x="702" y="41"/>
                        </a:cubicBezTo>
                        <a:cubicBezTo>
                          <a:pt x="704" y="40"/>
                          <a:pt x="704" y="40"/>
                          <a:pt x="704" y="40"/>
                        </a:cubicBezTo>
                        <a:cubicBezTo>
                          <a:pt x="706" y="40"/>
                          <a:pt x="713" y="38"/>
                          <a:pt x="718" y="37"/>
                        </a:cubicBezTo>
                        <a:cubicBezTo>
                          <a:pt x="722" y="35"/>
                          <a:pt x="722" y="35"/>
                          <a:pt x="722" y="35"/>
                        </a:cubicBezTo>
                        <a:cubicBezTo>
                          <a:pt x="723" y="35"/>
                          <a:pt x="723" y="35"/>
                          <a:pt x="723" y="35"/>
                        </a:cubicBezTo>
                        <a:cubicBezTo>
                          <a:pt x="724" y="34"/>
                          <a:pt x="727" y="33"/>
                          <a:pt x="725" y="33"/>
                        </a:cubicBezTo>
                        <a:cubicBezTo>
                          <a:pt x="727" y="33"/>
                          <a:pt x="727" y="33"/>
                          <a:pt x="727" y="33"/>
                        </a:cubicBezTo>
                        <a:cubicBezTo>
                          <a:pt x="727" y="31"/>
                          <a:pt x="730" y="31"/>
                          <a:pt x="735" y="29"/>
                        </a:cubicBezTo>
                        <a:cubicBezTo>
                          <a:pt x="736" y="29"/>
                          <a:pt x="736" y="30"/>
                          <a:pt x="735" y="30"/>
                        </a:cubicBezTo>
                        <a:cubicBezTo>
                          <a:pt x="737" y="30"/>
                          <a:pt x="736" y="31"/>
                          <a:pt x="738" y="31"/>
                        </a:cubicBezTo>
                        <a:cubicBezTo>
                          <a:pt x="736" y="31"/>
                          <a:pt x="745" y="26"/>
                          <a:pt x="739" y="27"/>
                        </a:cubicBezTo>
                        <a:cubicBezTo>
                          <a:pt x="738" y="26"/>
                          <a:pt x="741" y="25"/>
                          <a:pt x="744" y="24"/>
                        </a:cubicBezTo>
                        <a:cubicBezTo>
                          <a:pt x="745" y="26"/>
                          <a:pt x="745" y="26"/>
                          <a:pt x="745" y="26"/>
                        </a:cubicBezTo>
                        <a:cubicBezTo>
                          <a:pt x="748" y="23"/>
                          <a:pt x="748" y="23"/>
                          <a:pt x="748" y="23"/>
                        </a:cubicBezTo>
                        <a:cubicBezTo>
                          <a:pt x="751" y="22"/>
                          <a:pt x="753" y="23"/>
                          <a:pt x="756" y="22"/>
                        </a:cubicBezTo>
                        <a:cubicBezTo>
                          <a:pt x="753" y="23"/>
                          <a:pt x="750" y="27"/>
                          <a:pt x="758" y="25"/>
                        </a:cubicBezTo>
                        <a:cubicBezTo>
                          <a:pt x="754" y="26"/>
                          <a:pt x="752" y="28"/>
                          <a:pt x="750" y="28"/>
                        </a:cubicBezTo>
                        <a:cubicBezTo>
                          <a:pt x="752" y="28"/>
                          <a:pt x="752" y="28"/>
                          <a:pt x="750" y="29"/>
                        </a:cubicBezTo>
                        <a:cubicBezTo>
                          <a:pt x="756" y="27"/>
                          <a:pt x="752" y="28"/>
                          <a:pt x="758" y="26"/>
                        </a:cubicBezTo>
                        <a:cubicBezTo>
                          <a:pt x="758" y="28"/>
                          <a:pt x="759" y="28"/>
                          <a:pt x="764" y="27"/>
                        </a:cubicBezTo>
                        <a:cubicBezTo>
                          <a:pt x="760" y="27"/>
                          <a:pt x="760" y="27"/>
                          <a:pt x="760" y="27"/>
                        </a:cubicBezTo>
                        <a:cubicBezTo>
                          <a:pt x="761" y="27"/>
                          <a:pt x="761" y="27"/>
                          <a:pt x="761" y="26"/>
                        </a:cubicBezTo>
                        <a:cubicBezTo>
                          <a:pt x="760" y="27"/>
                          <a:pt x="759" y="26"/>
                          <a:pt x="759" y="26"/>
                        </a:cubicBezTo>
                        <a:cubicBezTo>
                          <a:pt x="760" y="26"/>
                          <a:pt x="765" y="23"/>
                          <a:pt x="766" y="23"/>
                        </a:cubicBezTo>
                        <a:cubicBezTo>
                          <a:pt x="760" y="22"/>
                          <a:pt x="776" y="19"/>
                          <a:pt x="772" y="19"/>
                        </a:cubicBezTo>
                        <a:cubicBezTo>
                          <a:pt x="773" y="18"/>
                          <a:pt x="777" y="17"/>
                          <a:pt x="777" y="18"/>
                        </a:cubicBezTo>
                        <a:cubicBezTo>
                          <a:pt x="772" y="20"/>
                          <a:pt x="781" y="19"/>
                          <a:pt x="781" y="20"/>
                        </a:cubicBezTo>
                        <a:cubicBezTo>
                          <a:pt x="782" y="19"/>
                          <a:pt x="777" y="20"/>
                          <a:pt x="779" y="19"/>
                        </a:cubicBezTo>
                        <a:cubicBezTo>
                          <a:pt x="782" y="18"/>
                          <a:pt x="784" y="19"/>
                          <a:pt x="786" y="19"/>
                        </a:cubicBezTo>
                        <a:cubicBezTo>
                          <a:pt x="785" y="19"/>
                          <a:pt x="785" y="19"/>
                          <a:pt x="785" y="19"/>
                        </a:cubicBezTo>
                        <a:cubicBezTo>
                          <a:pt x="789" y="19"/>
                          <a:pt x="789" y="19"/>
                          <a:pt x="789" y="19"/>
                        </a:cubicBezTo>
                        <a:cubicBezTo>
                          <a:pt x="790" y="18"/>
                          <a:pt x="785" y="19"/>
                          <a:pt x="789" y="17"/>
                        </a:cubicBezTo>
                        <a:cubicBezTo>
                          <a:pt x="790" y="18"/>
                          <a:pt x="794" y="16"/>
                          <a:pt x="794" y="17"/>
                        </a:cubicBezTo>
                        <a:cubicBezTo>
                          <a:pt x="792" y="18"/>
                          <a:pt x="794" y="19"/>
                          <a:pt x="790" y="20"/>
                        </a:cubicBezTo>
                        <a:cubicBezTo>
                          <a:pt x="793" y="20"/>
                          <a:pt x="802" y="18"/>
                          <a:pt x="798" y="17"/>
                        </a:cubicBezTo>
                        <a:cubicBezTo>
                          <a:pt x="802" y="17"/>
                          <a:pt x="802" y="17"/>
                          <a:pt x="802" y="17"/>
                        </a:cubicBezTo>
                        <a:cubicBezTo>
                          <a:pt x="800" y="16"/>
                          <a:pt x="793" y="16"/>
                          <a:pt x="800" y="15"/>
                        </a:cubicBezTo>
                        <a:cubicBezTo>
                          <a:pt x="800" y="15"/>
                          <a:pt x="800" y="15"/>
                          <a:pt x="800" y="15"/>
                        </a:cubicBezTo>
                        <a:cubicBezTo>
                          <a:pt x="805" y="13"/>
                          <a:pt x="805" y="13"/>
                          <a:pt x="805" y="13"/>
                        </a:cubicBezTo>
                        <a:cubicBezTo>
                          <a:pt x="807" y="14"/>
                          <a:pt x="807" y="14"/>
                          <a:pt x="807" y="14"/>
                        </a:cubicBezTo>
                        <a:cubicBezTo>
                          <a:pt x="807" y="13"/>
                          <a:pt x="808" y="13"/>
                          <a:pt x="810" y="13"/>
                        </a:cubicBezTo>
                        <a:cubicBezTo>
                          <a:pt x="810" y="13"/>
                          <a:pt x="812" y="13"/>
                          <a:pt x="812" y="14"/>
                        </a:cubicBezTo>
                        <a:cubicBezTo>
                          <a:pt x="817" y="13"/>
                          <a:pt x="817" y="12"/>
                          <a:pt x="817" y="12"/>
                        </a:cubicBezTo>
                        <a:cubicBezTo>
                          <a:pt x="820" y="11"/>
                          <a:pt x="821" y="11"/>
                          <a:pt x="820" y="12"/>
                        </a:cubicBezTo>
                        <a:cubicBezTo>
                          <a:pt x="824" y="12"/>
                          <a:pt x="831" y="11"/>
                          <a:pt x="834" y="11"/>
                        </a:cubicBezTo>
                        <a:cubicBezTo>
                          <a:pt x="839" y="10"/>
                          <a:pt x="833" y="11"/>
                          <a:pt x="836" y="10"/>
                        </a:cubicBezTo>
                        <a:cubicBezTo>
                          <a:pt x="841" y="12"/>
                          <a:pt x="854" y="9"/>
                          <a:pt x="863" y="8"/>
                        </a:cubicBezTo>
                        <a:cubicBezTo>
                          <a:pt x="860" y="6"/>
                          <a:pt x="865" y="7"/>
                          <a:pt x="867" y="5"/>
                        </a:cubicBezTo>
                        <a:cubicBezTo>
                          <a:pt x="865" y="6"/>
                          <a:pt x="875" y="7"/>
                          <a:pt x="868" y="8"/>
                        </a:cubicBezTo>
                        <a:cubicBezTo>
                          <a:pt x="872" y="7"/>
                          <a:pt x="872" y="7"/>
                          <a:pt x="872" y="7"/>
                        </a:cubicBezTo>
                        <a:cubicBezTo>
                          <a:pt x="876" y="8"/>
                          <a:pt x="865" y="9"/>
                          <a:pt x="870" y="10"/>
                        </a:cubicBezTo>
                        <a:cubicBezTo>
                          <a:pt x="875" y="9"/>
                          <a:pt x="878" y="7"/>
                          <a:pt x="884" y="7"/>
                        </a:cubicBezTo>
                        <a:cubicBezTo>
                          <a:pt x="882" y="9"/>
                          <a:pt x="889" y="7"/>
                          <a:pt x="888" y="9"/>
                        </a:cubicBezTo>
                        <a:cubicBezTo>
                          <a:pt x="887" y="9"/>
                          <a:pt x="885" y="9"/>
                          <a:pt x="883" y="9"/>
                        </a:cubicBezTo>
                        <a:cubicBezTo>
                          <a:pt x="884" y="9"/>
                          <a:pt x="884" y="9"/>
                          <a:pt x="884" y="9"/>
                        </a:cubicBezTo>
                        <a:cubicBezTo>
                          <a:pt x="896" y="9"/>
                          <a:pt x="887" y="7"/>
                          <a:pt x="894" y="6"/>
                        </a:cubicBezTo>
                        <a:cubicBezTo>
                          <a:pt x="901" y="6"/>
                          <a:pt x="899" y="7"/>
                          <a:pt x="900" y="8"/>
                        </a:cubicBezTo>
                        <a:cubicBezTo>
                          <a:pt x="901" y="8"/>
                          <a:pt x="904" y="8"/>
                          <a:pt x="906" y="8"/>
                        </a:cubicBezTo>
                        <a:cubicBezTo>
                          <a:pt x="902" y="9"/>
                          <a:pt x="898" y="7"/>
                          <a:pt x="900" y="6"/>
                        </a:cubicBezTo>
                        <a:cubicBezTo>
                          <a:pt x="903" y="7"/>
                          <a:pt x="911" y="6"/>
                          <a:pt x="913" y="5"/>
                        </a:cubicBezTo>
                        <a:cubicBezTo>
                          <a:pt x="902" y="3"/>
                          <a:pt x="906" y="5"/>
                          <a:pt x="896" y="3"/>
                        </a:cubicBezTo>
                        <a:cubicBezTo>
                          <a:pt x="895" y="4"/>
                          <a:pt x="895" y="5"/>
                          <a:pt x="889" y="5"/>
                        </a:cubicBezTo>
                        <a:cubicBezTo>
                          <a:pt x="893" y="4"/>
                          <a:pt x="889" y="4"/>
                          <a:pt x="888" y="4"/>
                        </a:cubicBezTo>
                        <a:cubicBezTo>
                          <a:pt x="889" y="5"/>
                          <a:pt x="884" y="4"/>
                          <a:pt x="882" y="5"/>
                        </a:cubicBezTo>
                        <a:cubicBezTo>
                          <a:pt x="880" y="4"/>
                          <a:pt x="885" y="2"/>
                          <a:pt x="880" y="2"/>
                        </a:cubicBezTo>
                        <a:cubicBezTo>
                          <a:pt x="879" y="5"/>
                          <a:pt x="879" y="5"/>
                          <a:pt x="879" y="5"/>
                        </a:cubicBezTo>
                        <a:cubicBezTo>
                          <a:pt x="876" y="4"/>
                          <a:pt x="879" y="3"/>
                          <a:pt x="875" y="4"/>
                        </a:cubicBezTo>
                        <a:cubicBezTo>
                          <a:pt x="877" y="2"/>
                          <a:pt x="874" y="2"/>
                          <a:pt x="880" y="1"/>
                        </a:cubicBezTo>
                        <a:cubicBezTo>
                          <a:pt x="872" y="0"/>
                          <a:pt x="868" y="3"/>
                          <a:pt x="862" y="4"/>
                        </a:cubicBezTo>
                        <a:cubicBezTo>
                          <a:pt x="863" y="4"/>
                          <a:pt x="863" y="4"/>
                          <a:pt x="864" y="4"/>
                        </a:cubicBezTo>
                        <a:cubicBezTo>
                          <a:pt x="862" y="4"/>
                          <a:pt x="860" y="4"/>
                          <a:pt x="858" y="5"/>
                        </a:cubicBezTo>
                        <a:cubicBezTo>
                          <a:pt x="854" y="4"/>
                          <a:pt x="861" y="3"/>
                          <a:pt x="860" y="3"/>
                        </a:cubicBezTo>
                        <a:cubicBezTo>
                          <a:pt x="854" y="3"/>
                          <a:pt x="854" y="3"/>
                          <a:pt x="854" y="3"/>
                        </a:cubicBezTo>
                        <a:cubicBezTo>
                          <a:pt x="853" y="3"/>
                          <a:pt x="853" y="3"/>
                          <a:pt x="853" y="3"/>
                        </a:cubicBezTo>
                        <a:cubicBezTo>
                          <a:pt x="852" y="4"/>
                          <a:pt x="850" y="4"/>
                          <a:pt x="850" y="4"/>
                        </a:cubicBezTo>
                        <a:cubicBezTo>
                          <a:pt x="851" y="3"/>
                          <a:pt x="852" y="2"/>
                          <a:pt x="853" y="1"/>
                        </a:cubicBezTo>
                        <a:cubicBezTo>
                          <a:pt x="847" y="3"/>
                          <a:pt x="847" y="3"/>
                          <a:pt x="847" y="3"/>
                        </a:cubicBezTo>
                        <a:cubicBezTo>
                          <a:pt x="847" y="3"/>
                          <a:pt x="841" y="3"/>
                          <a:pt x="846" y="2"/>
                        </a:cubicBezTo>
                        <a:cubicBezTo>
                          <a:pt x="836" y="3"/>
                          <a:pt x="836" y="3"/>
                          <a:pt x="836" y="3"/>
                        </a:cubicBezTo>
                        <a:cubicBezTo>
                          <a:pt x="835" y="2"/>
                          <a:pt x="835" y="2"/>
                          <a:pt x="835" y="2"/>
                        </a:cubicBezTo>
                        <a:cubicBezTo>
                          <a:pt x="832" y="2"/>
                          <a:pt x="832" y="3"/>
                          <a:pt x="835" y="2"/>
                        </a:cubicBezTo>
                        <a:cubicBezTo>
                          <a:pt x="832" y="2"/>
                          <a:pt x="820" y="7"/>
                          <a:pt x="821" y="4"/>
                        </a:cubicBezTo>
                        <a:cubicBezTo>
                          <a:pt x="814" y="6"/>
                          <a:pt x="811" y="6"/>
                          <a:pt x="801" y="8"/>
                        </a:cubicBezTo>
                        <a:cubicBezTo>
                          <a:pt x="808" y="6"/>
                          <a:pt x="793" y="8"/>
                          <a:pt x="800" y="6"/>
                        </a:cubicBezTo>
                        <a:cubicBezTo>
                          <a:pt x="796" y="6"/>
                          <a:pt x="795" y="8"/>
                          <a:pt x="791" y="9"/>
                        </a:cubicBezTo>
                        <a:cubicBezTo>
                          <a:pt x="788" y="9"/>
                          <a:pt x="789" y="7"/>
                          <a:pt x="793" y="6"/>
                        </a:cubicBezTo>
                        <a:cubicBezTo>
                          <a:pt x="789" y="7"/>
                          <a:pt x="789" y="7"/>
                          <a:pt x="789" y="7"/>
                        </a:cubicBezTo>
                        <a:cubicBezTo>
                          <a:pt x="789" y="7"/>
                          <a:pt x="789" y="7"/>
                          <a:pt x="789" y="7"/>
                        </a:cubicBezTo>
                        <a:cubicBezTo>
                          <a:pt x="785" y="9"/>
                          <a:pt x="785" y="9"/>
                          <a:pt x="785" y="9"/>
                        </a:cubicBezTo>
                        <a:cubicBezTo>
                          <a:pt x="781" y="9"/>
                          <a:pt x="784" y="7"/>
                          <a:pt x="780" y="8"/>
                        </a:cubicBezTo>
                        <a:cubicBezTo>
                          <a:pt x="779" y="9"/>
                          <a:pt x="779" y="9"/>
                          <a:pt x="779" y="9"/>
                        </a:cubicBezTo>
                        <a:cubicBezTo>
                          <a:pt x="776" y="9"/>
                          <a:pt x="776" y="9"/>
                          <a:pt x="776" y="9"/>
                        </a:cubicBezTo>
                        <a:cubicBezTo>
                          <a:pt x="777" y="9"/>
                          <a:pt x="775" y="10"/>
                          <a:pt x="772" y="11"/>
                        </a:cubicBezTo>
                        <a:cubicBezTo>
                          <a:pt x="772" y="11"/>
                          <a:pt x="772" y="11"/>
                          <a:pt x="772" y="11"/>
                        </a:cubicBezTo>
                        <a:cubicBezTo>
                          <a:pt x="769" y="12"/>
                          <a:pt x="769" y="12"/>
                          <a:pt x="769" y="12"/>
                        </a:cubicBezTo>
                        <a:cubicBezTo>
                          <a:pt x="772" y="10"/>
                          <a:pt x="765" y="12"/>
                          <a:pt x="767" y="11"/>
                        </a:cubicBezTo>
                        <a:cubicBezTo>
                          <a:pt x="764" y="11"/>
                          <a:pt x="764" y="11"/>
                          <a:pt x="758" y="13"/>
                        </a:cubicBezTo>
                        <a:cubicBezTo>
                          <a:pt x="759" y="14"/>
                          <a:pt x="759" y="14"/>
                          <a:pt x="759" y="14"/>
                        </a:cubicBezTo>
                        <a:cubicBezTo>
                          <a:pt x="752" y="16"/>
                          <a:pt x="759" y="12"/>
                          <a:pt x="753" y="14"/>
                        </a:cubicBezTo>
                        <a:cubicBezTo>
                          <a:pt x="753" y="14"/>
                          <a:pt x="753" y="14"/>
                          <a:pt x="753" y="14"/>
                        </a:cubicBezTo>
                        <a:cubicBezTo>
                          <a:pt x="745" y="15"/>
                          <a:pt x="740" y="19"/>
                          <a:pt x="733" y="19"/>
                        </a:cubicBezTo>
                        <a:cubicBezTo>
                          <a:pt x="737" y="18"/>
                          <a:pt x="735" y="17"/>
                          <a:pt x="735" y="18"/>
                        </a:cubicBezTo>
                        <a:cubicBezTo>
                          <a:pt x="730" y="19"/>
                          <a:pt x="722" y="22"/>
                          <a:pt x="716" y="24"/>
                        </a:cubicBezTo>
                        <a:cubicBezTo>
                          <a:pt x="714" y="24"/>
                          <a:pt x="713" y="23"/>
                          <a:pt x="708" y="24"/>
                        </a:cubicBezTo>
                        <a:cubicBezTo>
                          <a:pt x="704" y="26"/>
                          <a:pt x="703" y="26"/>
                          <a:pt x="702" y="27"/>
                        </a:cubicBezTo>
                        <a:cubicBezTo>
                          <a:pt x="698" y="28"/>
                          <a:pt x="691" y="31"/>
                          <a:pt x="690" y="30"/>
                        </a:cubicBezTo>
                        <a:cubicBezTo>
                          <a:pt x="690" y="31"/>
                          <a:pt x="687" y="31"/>
                          <a:pt x="685" y="33"/>
                        </a:cubicBezTo>
                        <a:cubicBezTo>
                          <a:pt x="684" y="32"/>
                          <a:pt x="684" y="32"/>
                          <a:pt x="684" y="32"/>
                        </a:cubicBezTo>
                        <a:cubicBezTo>
                          <a:pt x="685" y="33"/>
                          <a:pt x="685" y="33"/>
                          <a:pt x="685" y="33"/>
                        </a:cubicBezTo>
                        <a:cubicBezTo>
                          <a:pt x="677" y="33"/>
                          <a:pt x="674" y="38"/>
                          <a:pt x="666" y="39"/>
                        </a:cubicBezTo>
                        <a:cubicBezTo>
                          <a:pt x="667" y="39"/>
                          <a:pt x="667" y="39"/>
                          <a:pt x="667" y="39"/>
                        </a:cubicBezTo>
                        <a:cubicBezTo>
                          <a:pt x="665" y="40"/>
                          <a:pt x="665" y="40"/>
                          <a:pt x="665" y="40"/>
                        </a:cubicBezTo>
                        <a:cubicBezTo>
                          <a:pt x="664" y="40"/>
                          <a:pt x="665" y="39"/>
                          <a:pt x="665" y="38"/>
                        </a:cubicBezTo>
                        <a:cubicBezTo>
                          <a:pt x="661" y="40"/>
                          <a:pt x="656" y="42"/>
                          <a:pt x="652" y="43"/>
                        </a:cubicBezTo>
                        <a:cubicBezTo>
                          <a:pt x="654" y="43"/>
                          <a:pt x="654" y="43"/>
                          <a:pt x="654" y="43"/>
                        </a:cubicBezTo>
                        <a:cubicBezTo>
                          <a:pt x="652" y="44"/>
                          <a:pt x="650" y="46"/>
                          <a:pt x="647" y="47"/>
                        </a:cubicBezTo>
                        <a:cubicBezTo>
                          <a:pt x="651" y="43"/>
                          <a:pt x="642" y="48"/>
                          <a:pt x="641" y="48"/>
                        </a:cubicBezTo>
                        <a:cubicBezTo>
                          <a:pt x="644" y="46"/>
                          <a:pt x="644" y="46"/>
                          <a:pt x="644" y="46"/>
                        </a:cubicBezTo>
                        <a:cubicBezTo>
                          <a:pt x="640" y="48"/>
                          <a:pt x="640" y="48"/>
                          <a:pt x="641" y="49"/>
                        </a:cubicBezTo>
                        <a:cubicBezTo>
                          <a:pt x="636" y="51"/>
                          <a:pt x="636" y="48"/>
                          <a:pt x="632" y="51"/>
                        </a:cubicBezTo>
                        <a:cubicBezTo>
                          <a:pt x="635" y="50"/>
                          <a:pt x="635" y="50"/>
                          <a:pt x="635" y="50"/>
                        </a:cubicBezTo>
                        <a:cubicBezTo>
                          <a:pt x="637" y="50"/>
                          <a:pt x="635" y="52"/>
                          <a:pt x="632" y="53"/>
                        </a:cubicBezTo>
                        <a:cubicBezTo>
                          <a:pt x="632" y="53"/>
                          <a:pt x="630" y="53"/>
                          <a:pt x="632" y="52"/>
                        </a:cubicBezTo>
                        <a:cubicBezTo>
                          <a:pt x="628" y="54"/>
                          <a:pt x="622" y="57"/>
                          <a:pt x="620" y="58"/>
                        </a:cubicBezTo>
                        <a:cubicBezTo>
                          <a:pt x="618" y="58"/>
                          <a:pt x="618" y="57"/>
                          <a:pt x="619" y="57"/>
                        </a:cubicBezTo>
                        <a:cubicBezTo>
                          <a:pt x="611" y="61"/>
                          <a:pt x="616" y="58"/>
                          <a:pt x="608" y="63"/>
                        </a:cubicBezTo>
                        <a:cubicBezTo>
                          <a:pt x="607" y="62"/>
                          <a:pt x="607" y="62"/>
                          <a:pt x="607" y="62"/>
                        </a:cubicBezTo>
                        <a:cubicBezTo>
                          <a:pt x="605" y="64"/>
                          <a:pt x="605" y="64"/>
                          <a:pt x="605" y="64"/>
                        </a:cubicBezTo>
                        <a:cubicBezTo>
                          <a:pt x="600" y="65"/>
                          <a:pt x="600" y="65"/>
                          <a:pt x="600" y="65"/>
                        </a:cubicBezTo>
                        <a:cubicBezTo>
                          <a:pt x="602" y="65"/>
                          <a:pt x="602" y="65"/>
                          <a:pt x="602" y="65"/>
                        </a:cubicBezTo>
                        <a:cubicBezTo>
                          <a:pt x="599" y="67"/>
                          <a:pt x="598" y="68"/>
                          <a:pt x="595" y="69"/>
                        </a:cubicBezTo>
                        <a:cubicBezTo>
                          <a:pt x="595" y="68"/>
                          <a:pt x="595" y="68"/>
                          <a:pt x="595" y="68"/>
                        </a:cubicBezTo>
                        <a:cubicBezTo>
                          <a:pt x="588" y="72"/>
                          <a:pt x="586" y="71"/>
                          <a:pt x="579" y="76"/>
                        </a:cubicBezTo>
                        <a:cubicBezTo>
                          <a:pt x="579" y="76"/>
                          <a:pt x="580" y="75"/>
                          <a:pt x="580" y="74"/>
                        </a:cubicBezTo>
                        <a:cubicBezTo>
                          <a:pt x="574" y="79"/>
                          <a:pt x="575" y="76"/>
                          <a:pt x="569" y="81"/>
                        </a:cubicBezTo>
                        <a:cubicBezTo>
                          <a:pt x="569" y="80"/>
                          <a:pt x="568" y="80"/>
                          <a:pt x="568" y="80"/>
                        </a:cubicBezTo>
                        <a:cubicBezTo>
                          <a:pt x="565" y="82"/>
                          <a:pt x="565" y="82"/>
                          <a:pt x="565" y="82"/>
                        </a:cubicBezTo>
                        <a:cubicBezTo>
                          <a:pt x="565" y="81"/>
                          <a:pt x="565" y="81"/>
                          <a:pt x="565" y="81"/>
                        </a:cubicBezTo>
                        <a:cubicBezTo>
                          <a:pt x="563" y="84"/>
                          <a:pt x="563" y="84"/>
                          <a:pt x="563" y="84"/>
                        </a:cubicBezTo>
                        <a:cubicBezTo>
                          <a:pt x="561" y="84"/>
                          <a:pt x="561" y="84"/>
                          <a:pt x="561" y="84"/>
                        </a:cubicBezTo>
                        <a:cubicBezTo>
                          <a:pt x="560" y="85"/>
                          <a:pt x="560" y="85"/>
                          <a:pt x="560" y="85"/>
                        </a:cubicBezTo>
                        <a:cubicBezTo>
                          <a:pt x="556" y="85"/>
                          <a:pt x="552" y="89"/>
                          <a:pt x="547" y="90"/>
                        </a:cubicBezTo>
                        <a:cubicBezTo>
                          <a:pt x="548" y="91"/>
                          <a:pt x="548" y="91"/>
                          <a:pt x="548" y="91"/>
                        </a:cubicBezTo>
                        <a:cubicBezTo>
                          <a:pt x="539" y="100"/>
                          <a:pt x="522" y="104"/>
                          <a:pt x="510" y="114"/>
                        </a:cubicBezTo>
                        <a:cubicBezTo>
                          <a:pt x="510" y="113"/>
                          <a:pt x="510" y="113"/>
                          <a:pt x="510" y="113"/>
                        </a:cubicBezTo>
                        <a:cubicBezTo>
                          <a:pt x="505" y="118"/>
                          <a:pt x="505" y="118"/>
                          <a:pt x="505" y="118"/>
                        </a:cubicBezTo>
                        <a:cubicBezTo>
                          <a:pt x="502" y="119"/>
                          <a:pt x="507" y="116"/>
                          <a:pt x="505" y="116"/>
                        </a:cubicBezTo>
                        <a:cubicBezTo>
                          <a:pt x="500" y="120"/>
                          <a:pt x="504" y="119"/>
                          <a:pt x="498" y="123"/>
                        </a:cubicBezTo>
                        <a:cubicBezTo>
                          <a:pt x="494" y="125"/>
                          <a:pt x="498" y="122"/>
                          <a:pt x="500" y="120"/>
                        </a:cubicBezTo>
                        <a:cubicBezTo>
                          <a:pt x="494" y="125"/>
                          <a:pt x="485" y="132"/>
                          <a:pt x="481" y="134"/>
                        </a:cubicBezTo>
                        <a:cubicBezTo>
                          <a:pt x="481" y="135"/>
                          <a:pt x="480" y="135"/>
                          <a:pt x="481" y="135"/>
                        </a:cubicBezTo>
                        <a:cubicBezTo>
                          <a:pt x="477" y="138"/>
                          <a:pt x="472" y="142"/>
                          <a:pt x="467" y="145"/>
                        </a:cubicBezTo>
                        <a:cubicBezTo>
                          <a:pt x="467" y="144"/>
                          <a:pt x="468" y="143"/>
                          <a:pt x="469" y="143"/>
                        </a:cubicBezTo>
                        <a:cubicBezTo>
                          <a:pt x="467" y="144"/>
                          <a:pt x="465" y="145"/>
                          <a:pt x="464" y="146"/>
                        </a:cubicBezTo>
                        <a:cubicBezTo>
                          <a:pt x="465" y="144"/>
                          <a:pt x="465" y="144"/>
                          <a:pt x="465" y="144"/>
                        </a:cubicBezTo>
                        <a:cubicBezTo>
                          <a:pt x="462" y="147"/>
                          <a:pt x="456" y="152"/>
                          <a:pt x="454" y="152"/>
                        </a:cubicBezTo>
                        <a:cubicBezTo>
                          <a:pt x="455" y="152"/>
                          <a:pt x="455" y="153"/>
                          <a:pt x="453" y="155"/>
                        </a:cubicBezTo>
                        <a:cubicBezTo>
                          <a:pt x="450" y="155"/>
                          <a:pt x="445" y="162"/>
                          <a:pt x="440" y="165"/>
                        </a:cubicBezTo>
                        <a:cubicBezTo>
                          <a:pt x="440" y="164"/>
                          <a:pt x="444" y="161"/>
                          <a:pt x="443" y="162"/>
                        </a:cubicBezTo>
                        <a:cubicBezTo>
                          <a:pt x="440" y="163"/>
                          <a:pt x="439" y="166"/>
                          <a:pt x="437" y="168"/>
                        </a:cubicBezTo>
                        <a:cubicBezTo>
                          <a:pt x="437" y="167"/>
                          <a:pt x="437" y="167"/>
                          <a:pt x="437" y="167"/>
                        </a:cubicBezTo>
                        <a:cubicBezTo>
                          <a:pt x="427" y="176"/>
                          <a:pt x="427" y="176"/>
                          <a:pt x="427" y="176"/>
                        </a:cubicBezTo>
                        <a:cubicBezTo>
                          <a:pt x="425" y="176"/>
                          <a:pt x="418" y="184"/>
                          <a:pt x="418" y="183"/>
                        </a:cubicBezTo>
                        <a:cubicBezTo>
                          <a:pt x="414" y="186"/>
                          <a:pt x="421" y="181"/>
                          <a:pt x="417" y="185"/>
                        </a:cubicBezTo>
                        <a:cubicBezTo>
                          <a:pt x="415" y="185"/>
                          <a:pt x="413" y="189"/>
                          <a:pt x="412" y="188"/>
                        </a:cubicBezTo>
                        <a:cubicBezTo>
                          <a:pt x="413" y="187"/>
                          <a:pt x="413" y="187"/>
                          <a:pt x="413" y="187"/>
                        </a:cubicBezTo>
                        <a:cubicBezTo>
                          <a:pt x="410" y="190"/>
                          <a:pt x="410" y="190"/>
                          <a:pt x="410" y="190"/>
                        </a:cubicBezTo>
                        <a:cubicBezTo>
                          <a:pt x="411" y="187"/>
                          <a:pt x="411" y="187"/>
                          <a:pt x="411" y="187"/>
                        </a:cubicBezTo>
                        <a:cubicBezTo>
                          <a:pt x="408" y="190"/>
                          <a:pt x="407" y="193"/>
                          <a:pt x="408" y="193"/>
                        </a:cubicBezTo>
                        <a:cubicBezTo>
                          <a:pt x="405" y="195"/>
                          <a:pt x="401" y="199"/>
                          <a:pt x="399" y="199"/>
                        </a:cubicBezTo>
                        <a:cubicBezTo>
                          <a:pt x="400" y="198"/>
                          <a:pt x="400" y="198"/>
                          <a:pt x="400" y="198"/>
                        </a:cubicBezTo>
                        <a:cubicBezTo>
                          <a:pt x="393" y="205"/>
                          <a:pt x="386" y="207"/>
                          <a:pt x="382" y="214"/>
                        </a:cubicBezTo>
                        <a:cubicBezTo>
                          <a:pt x="381" y="214"/>
                          <a:pt x="381" y="214"/>
                          <a:pt x="382" y="213"/>
                        </a:cubicBezTo>
                        <a:cubicBezTo>
                          <a:pt x="378" y="217"/>
                          <a:pt x="378" y="217"/>
                          <a:pt x="378" y="217"/>
                        </a:cubicBezTo>
                        <a:cubicBezTo>
                          <a:pt x="378" y="215"/>
                          <a:pt x="378" y="215"/>
                          <a:pt x="378" y="215"/>
                        </a:cubicBezTo>
                        <a:cubicBezTo>
                          <a:pt x="372" y="223"/>
                          <a:pt x="372" y="223"/>
                          <a:pt x="372" y="223"/>
                        </a:cubicBezTo>
                        <a:cubicBezTo>
                          <a:pt x="372" y="223"/>
                          <a:pt x="372" y="223"/>
                          <a:pt x="372" y="223"/>
                        </a:cubicBezTo>
                        <a:cubicBezTo>
                          <a:pt x="367" y="227"/>
                          <a:pt x="360" y="235"/>
                          <a:pt x="354" y="241"/>
                        </a:cubicBezTo>
                        <a:cubicBezTo>
                          <a:pt x="355" y="240"/>
                          <a:pt x="355" y="240"/>
                          <a:pt x="355" y="240"/>
                        </a:cubicBezTo>
                        <a:cubicBezTo>
                          <a:pt x="349" y="247"/>
                          <a:pt x="348" y="246"/>
                          <a:pt x="344" y="251"/>
                        </a:cubicBezTo>
                        <a:cubicBezTo>
                          <a:pt x="344" y="251"/>
                          <a:pt x="344" y="251"/>
                          <a:pt x="344" y="250"/>
                        </a:cubicBezTo>
                        <a:cubicBezTo>
                          <a:pt x="340" y="255"/>
                          <a:pt x="340" y="255"/>
                          <a:pt x="340" y="255"/>
                        </a:cubicBezTo>
                        <a:cubicBezTo>
                          <a:pt x="340" y="253"/>
                          <a:pt x="340" y="253"/>
                          <a:pt x="340" y="253"/>
                        </a:cubicBezTo>
                        <a:cubicBezTo>
                          <a:pt x="338" y="258"/>
                          <a:pt x="331" y="262"/>
                          <a:pt x="333" y="260"/>
                        </a:cubicBezTo>
                        <a:cubicBezTo>
                          <a:pt x="332" y="263"/>
                          <a:pt x="329" y="266"/>
                          <a:pt x="329" y="267"/>
                        </a:cubicBezTo>
                        <a:cubicBezTo>
                          <a:pt x="325" y="272"/>
                          <a:pt x="328" y="268"/>
                          <a:pt x="325" y="271"/>
                        </a:cubicBezTo>
                        <a:cubicBezTo>
                          <a:pt x="321" y="274"/>
                          <a:pt x="322" y="276"/>
                          <a:pt x="317" y="280"/>
                        </a:cubicBezTo>
                        <a:cubicBezTo>
                          <a:pt x="317" y="280"/>
                          <a:pt x="317" y="280"/>
                          <a:pt x="317" y="280"/>
                        </a:cubicBezTo>
                        <a:cubicBezTo>
                          <a:pt x="315" y="282"/>
                          <a:pt x="314" y="284"/>
                          <a:pt x="311" y="287"/>
                        </a:cubicBezTo>
                        <a:cubicBezTo>
                          <a:pt x="312" y="286"/>
                          <a:pt x="312" y="286"/>
                          <a:pt x="312" y="286"/>
                        </a:cubicBezTo>
                        <a:cubicBezTo>
                          <a:pt x="308" y="292"/>
                          <a:pt x="305" y="291"/>
                          <a:pt x="303" y="297"/>
                        </a:cubicBezTo>
                        <a:cubicBezTo>
                          <a:pt x="301" y="299"/>
                          <a:pt x="298" y="304"/>
                          <a:pt x="297" y="303"/>
                        </a:cubicBezTo>
                        <a:cubicBezTo>
                          <a:pt x="283" y="322"/>
                          <a:pt x="283" y="322"/>
                          <a:pt x="283" y="322"/>
                        </a:cubicBezTo>
                        <a:cubicBezTo>
                          <a:pt x="281" y="322"/>
                          <a:pt x="282" y="324"/>
                          <a:pt x="278" y="327"/>
                        </a:cubicBezTo>
                        <a:cubicBezTo>
                          <a:pt x="279" y="328"/>
                          <a:pt x="279" y="328"/>
                          <a:pt x="279" y="328"/>
                        </a:cubicBezTo>
                        <a:cubicBezTo>
                          <a:pt x="272" y="337"/>
                          <a:pt x="262" y="347"/>
                          <a:pt x="254" y="358"/>
                        </a:cubicBezTo>
                        <a:cubicBezTo>
                          <a:pt x="253" y="357"/>
                          <a:pt x="253" y="357"/>
                          <a:pt x="253" y="357"/>
                        </a:cubicBezTo>
                        <a:cubicBezTo>
                          <a:pt x="252" y="360"/>
                          <a:pt x="252" y="360"/>
                          <a:pt x="252" y="360"/>
                        </a:cubicBezTo>
                        <a:cubicBezTo>
                          <a:pt x="244" y="372"/>
                          <a:pt x="233" y="387"/>
                          <a:pt x="226" y="396"/>
                        </a:cubicBezTo>
                        <a:cubicBezTo>
                          <a:pt x="225" y="400"/>
                          <a:pt x="223" y="405"/>
                          <a:pt x="219" y="410"/>
                        </a:cubicBezTo>
                        <a:cubicBezTo>
                          <a:pt x="219" y="409"/>
                          <a:pt x="219" y="409"/>
                          <a:pt x="219" y="409"/>
                        </a:cubicBezTo>
                        <a:cubicBezTo>
                          <a:pt x="214" y="418"/>
                          <a:pt x="209" y="428"/>
                          <a:pt x="202" y="437"/>
                        </a:cubicBezTo>
                        <a:cubicBezTo>
                          <a:pt x="202" y="436"/>
                          <a:pt x="202" y="437"/>
                          <a:pt x="202" y="436"/>
                        </a:cubicBezTo>
                        <a:cubicBezTo>
                          <a:pt x="202" y="439"/>
                          <a:pt x="199" y="442"/>
                          <a:pt x="197" y="444"/>
                        </a:cubicBezTo>
                        <a:cubicBezTo>
                          <a:pt x="200" y="442"/>
                          <a:pt x="200" y="442"/>
                          <a:pt x="200" y="442"/>
                        </a:cubicBezTo>
                        <a:cubicBezTo>
                          <a:pt x="199" y="445"/>
                          <a:pt x="196" y="448"/>
                          <a:pt x="194" y="449"/>
                        </a:cubicBezTo>
                        <a:cubicBezTo>
                          <a:pt x="192" y="454"/>
                          <a:pt x="192" y="454"/>
                          <a:pt x="192" y="454"/>
                        </a:cubicBezTo>
                        <a:cubicBezTo>
                          <a:pt x="192" y="455"/>
                          <a:pt x="192" y="455"/>
                          <a:pt x="192" y="455"/>
                        </a:cubicBezTo>
                        <a:cubicBezTo>
                          <a:pt x="192" y="456"/>
                          <a:pt x="192" y="456"/>
                          <a:pt x="192" y="456"/>
                        </a:cubicBezTo>
                        <a:cubicBezTo>
                          <a:pt x="189" y="458"/>
                          <a:pt x="189" y="458"/>
                          <a:pt x="189" y="458"/>
                        </a:cubicBezTo>
                        <a:cubicBezTo>
                          <a:pt x="189" y="459"/>
                          <a:pt x="186" y="465"/>
                          <a:pt x="186" y="467"/>
                        </a:cubicBezTo>
                        <a:cubicBezTo>
                          <a:pt x="185" y="467"/>
                          <a:pt x="182" y="471"/>
                          <a:pt x="184" y="468"/>
                        </a:cubicBezTo>
                        <a:cubicBezTo>
                          <a:pt x="175" y="484"/>
                          <a:pt x="175" y="484"/>
                          <a:pt x="175" y="484"/>
                        </a:cubicBezTo>
                        <a:cubicBezTo>
                          <a:pt x="176" y="482"/>
                          <a:pt x="176" y="482"/>
                          <a:pt x="176" y="482"/>
                        </a:cubicBezTo>
                        <a:cubicBezTo>
                          <a:pt x="178" y="482"/>
                          <a:pt x="175" y="487"/>
                          <a:pt x="174" y="489"/>
                        </a:cubicBezTo>
                        <a:cubicBezTo>
                          <a:pt x="175" y="486"/>
                          <a:pt x="172" y="488"/>
                          <a:pt x="171" y="490"/>
                        </a:cubicBezTo>
                        <a:cubicBezTo>
                          <a:pt x="170" y="492"/>
                          <a:pt x="173" y="488"/>
                          <a:pt x="173" y="489"/>
                        </a:cubicBezTo>
                        <a:cubicBezTo>
                          <a:pt x="172" y="493"/>
                          <a:pt x="169" y="499"/>
                          <a:pt x="168" y="500"/>
                        </a:cubicBezTo>
                        <a:cubicBezTo>
                          <a:pt x="168" y="498"/>
                          <a:pt x="168" y="498"/>
                          <a:pt x="168" y="498"/>
                        </a:cubicBezTo>
                        <a:cubicBezTo>
                          <a:pt x="167" y="502"/>
                          <a:pt x="164" y="503"/>
                          <a:pt x="162" y="507"/>
                        </a:cubicBezTo>
                        <a:cubicBezTo>
                          <a:pt x="161" y="511"/>
                          <a:pt x="159" y="513"/>
                          <a:pt x="161" y="513"/>
                        </a:cubicBezTo>
                        <a:cubicBezTo>
                          <a:pt x="159" y="518"/>
                          <a:pt x="159" y="514"/>
                          <a:pt x="158" y="516"/>
                        </a:cubicBezTo>
                        <a:cubicBezTo>
                          <a:pt x="158" y="518"/>
                          <a:pt x="154" y="525"/>
                          <a:pt x="153" y="525"/>
                        </a:cubicBezTo>
                        <a:cubicBezTo>
                          <a:pt x="153" y="529"/>
                          <a:pt x="145" y="538"/>
                          <a:pt x="147" y="540"/>
                        </a:cubicBezTo>
                        <a:cubicBezTo>
                          <a:pt x="143" y="544"/>
                          <a:pt x="143" y="544"/>
                          <a:pt x="143" y="544"/>
                        </a:cubicBezTo>
                        <a:cubicBezTo>
                          <a:pt x="144" y="544"/>
                          <a:pt x="145" y="545"/>
                          <a:pt x="143" y="549"/>
                        </a:cubicBezTo>
                        <a:cubicBezTo>
                          <a:pt x="141" y="552"/>
                          <a:pt x="141" y="551"/>
                          <a:pt x="140" y="551"/>
                        </a:cubicBezTo>
                        <a:cubicBezTo>
                          <a:pt x="141" y="554"/>
                          <a:pt x="141" y="554"/>
                          <a:pt x="141" y="554"/>
                        </a:cubicBezTo>
                        <a:cubicBezTo>
                          <a:pt x="130" y="571"/>
                          <a:pt x="121" y="596"/>
                          <a:pt x="111" y="615"/>
                        </a:cubicBezTo>
                        <a:cubicBezTo>
                          <a:pt x="107" y="624"/>
                          <a:pt x="104" y="636"/>
                          <a:pt x="99" y="647"/>
                        </a:cubicBezTo>
                        <a:cubicBezTo>
                          <a:pt x="100" y="645"/>
                          <a:pt x="100" y="645"/>
                          <a:pt x="100" y="645"/>
                        </a:cubicBezTo>
                        <a:cubicBezTo>
                          <a:pt x="95" y="656"/>
                          <a:pt x="95" y="656"/>
                          <a:pt x="95" y="656"/>
                        </a:cubicBezTo>
                        <a:cubicBezTo>
                          <a:pt x="99" y="648"/>
                          <a:pt x="99" y="648"/>
                          <a:pt x="99" y="648"/>
                        </a:cubicBezTo>
                        <a:cubicBezTo>
                          <a:pt x="98" y="651"/>
                          <a:pt x="98" y="653"/>
                          <a:pt x="97" y="655"/>
                        </a:cubicBezTo>
                        <a:cubicBezTo>
                          <a:pt x="92" y="666"/>
                          <a:pt x="85" y="681"/>
                          <a:pt x="81" y="696"/>
                        </a:cubicBezTo>
                        <a:cubicBezTo>
                          <a:pt x="80" y="706"/>
                          <a:pt x="77" y="702"/>
                          <a:pt x="76" y="711"/>
                        </a:cubicBezTo>
                        <a:cubicBezTo>
                          <a:pt x="76" y="710"/>
                          <a:pt x="76" y="710"/>
                          <a:pt x="76" y="709"/>
                        </a:cubicBezTo>
                        <a:cubicBezTo>
                          <a:pt x="73" y="719"/>
                          <a:pt x="72" y="725"/>
                          <a:pt x="70" y="735"/>
                        </a:cubicBezTo>
                        <a:cubicBezTo>
                          <a:pt x="68" y="733"/>
                          <a:pt x="68" y="741"/>
                          <a:pt x="67" y="740"/>
                        </a:cubicBezTo>
                        <a:cubicBezTo>
                          <a:pt x="68" y="741"/>
                          <a:pt x="68" y="741"/>
                          <a:pt x="68" y="741"/>
                        </a:cubicBezTo>
                        <a:cubicBezTo>
                          <a:pt x="67" y="743"/>
                          <a:pt x="65" y="748"/>
                          <a:pt x="65" y="747"/>
                        </a:cubicBezTo>
                        <a:cubicBezTo>
                          <a:pt x="64" y="752"/>
                          <a:pt x="64" y="752"/>
                          <a:pt x="64" y="752"/>
                        </a:cubicBezTo>
                        <a:cubicBezTo>
                          <a:pt x="63" y="752"/>
                          <a:pt x="63" y="752"/>
                          <a:pt x="63" y="752"/>
                        </a:cubicBezTo>
                        <a:cubicBezTo>
                          <a:pt x="62" y="757"/>
                          <a:pt x="59" y="770"/>
                          <a:pt x="56" y="772"/>
                        </a:cubicBezTo>
                        <a:cubicBezTo>
                          <a:pt x="53" y="787"/>
                          <a:pt x="47" y="809"/>
                          <a:pt x="42" y="827"/>
                        </a:cubicBezTo>
                        <a:cubicBezTo>
                          <a:pt x="43" y="830"/>
                          <a:pt x="41" y="835"/>
                          <a:pt x="40" y="839"/>
                        </a:cubicBezTo>
                        <a:cubicBezTo>
                          <a:pt x="38" y="844"/>
                          <a:pt x="38" y="844"/>
                          <a:pt x="38" y="844"/>
                        </a:cubicBezTo>
                        <a:cubicBezTo>
                          <a:pt x="38" y="848"/>
                          <a:pt x="38" y="853"/>
                          <a:pt x="36" y="856"/>
                        </a:cubicBezTo>
                        <a:cubicBezTo>
                          <a:pt x="36" y="856"/>
                          <a:pt x="36" y="856"/>
                          <a:pt x="36" y="856"/>
                        </a:cubicBezTo>
                        <a:cubicBezTo>
                          <a:pt x="36" y="860"/>
                          <a:pt x="34" y="864"/>
                          <a:pt x="34" y="868"/>
                        </a:cubicBezTo>
                        <a:cubicBezTo>
                          <a:pt x="33" y="873"/>
                          <a:pt x="32" y="877"/>
                          <a:pt x="31" y="876"/>
                        </a:cubicBezTo>
                        <a:cubicBezTo>
                          <a:pt x="33" y="877"/>
                          <a:pt x="29" y="886"/>
                          <a:pt x="29" y="886"/>
                        </a:cubicBezTo>
                        <a:cubicBezTo>
                          <a:pt x="29" y="886"/>
                          <a:pt x="15" y="946"/>
                          <a:pt x="7" y="1014"/>
                        </a:cubicBezTo>
                        <a:cubicBezTo>
                          <a:pt x="3" y="1049"/>
                          <a:pt x="1" y="1085"/>
                          <a:pt x="0" y="1116"/>
                        </a:cubicBezTo>
                        <a:cubicBezTo>
                          <a:pt x="0" y="1148"/>
                          <a:pt x="1" y="1175"/>
                          <a:pt x="4" y="1189"/>
                        </a:cubicBezTo>
                        <a:cubicBezTo>
                          <a:pt x="5" y="1191"/>
                          <a:pt x="5" y="1197"/>
                          <a:pt x="6" y="1195"/>
                        </a:cubicBezTo>
                        <a:cubicBezTo>
                          <a:pt x="7" y="1199"/>
                          <a:pt x="5" y="1201"/>
                          <a:pt x="6" y="1202"/>
                        </a:cubicBezTo>
                        <a:cubicBezTo>
                          <a:pt x="7" y="1196"/>
                          <a:pt x="9" y="1204"/>
                          <a:pt x="10" y="1198"/>
                        </a:cubicBezTo>
                        <a:cubicBezTo>
                          <a:pt x="10" y="1202"/>
                          <a:pt x="10" y="1202"/>
                          <a:pt x="10" y="1202"/>
                        </a:cubicBezTo>
                        <a:cubicBezTo>
                          <a:pt x="11" y="1203"/>
                          <a:pt x="9" y="1197"/>
                          <a:pt x="11" y="1198"/>
                        </a:cubicBezTo>
                        <a:cubicBezTo>
                          <a:pt x="9" y="1197"/>
                          <a:pt x="9" y="1197"/>
                          <a:pt x="9" y="1197"/>
                        </a:cubicBezTo>
                        <a:cubicBezTo>
                          <a:pt x="9" y="1194"/>
                          <a:pt x="9" y="1192"/>
                          <a:pt x="10" y="1191"/>
                        </a:cubicBezTo>
                        <a:cubicBezTo>
                          <a:pt x="9" y="1188"/>
                          <a:pt x="7" y="1186"/>
                          <a:pt x="8" y="1180"/>
                        </a:cubicBezTo>
                        <a:cubicBezTo>
                          <a:pt x="8" y="1182"/>
                          <a:pt x="8" y="1182"/>
                          <a:pt x="8" y="1182"/>
                        </a:cubicBezTo>
                        <a:cubicBezTo>
                          <a:pt x="8" y="1176"/>
                          <a:pt x="9" y="1178"/>
                          <a:pt x="10" y="1177"/>
                        </a:cubicBezTo>
                        <a:cubicBezTo>
                          <a:pt x="10" y="1178"/>
                          <a:pt x="10" y="1178"/>
                          <a:pt x="10" y="1178"/>
                        </a:cubicBezTo>
                        <a:cubicBezTo>
                          <a:pt x="11" y="1174"/>
                          <a:pt x="11" y="1174"/>
                          <a:pt x="11" y="1174"/>
                        </a:cubicBezTo>
                        <a:cubicBezTo>
                          <a:pt x="10" y="1177"/>
                          <a:pt x="11" y="1183"/>
                          <a:pt x="11" y="1180"/>
                        </a:cubicBezTo>
                        <a:cubicBezTo>
                          <a:pt x="12" y="1174"/>
                          <a:pt x="11" y="1182"/>
                          <a:pt x="11" y="1177"/>
                        </a:cubicBezTo>
                        <a:cubicBezTo>
                          <a:pt x="11" y="1174"/>
                          <a:pt x="12" y="1175"/>
                          <a:pt x="12" y="1175"/>
                        </a:cubicBezTo>
                        <a:cubicBezTo>
                          <a:pt x="12" y="1170"/>
                          <a:pt x="12" y="1170"/>
                          <a:pt x="12" y="1170"/>
                        </a:cubicBezTo>
                        <a:cubicBezTo>
                          <a:pt x="13" y="1170"/>
                          <a:pt x="12" y="1173"/>
                          <a:pt x="13" y="1171"/>
                        </a:cubicBezTo>
                        <a:cubicBezTo>
                          <a:pt x="12" y="1164"/>
                          <a:pt x="12" y="1164"/>
                          <a:pt x="12" y="1164"/>
                        </a:cubicBezTo>
                        <a:cubicBezTo>
                          <a:pt x="14" y="1163"/>
                          <a:pt x="11" y="1157"/>
                          <a:pt x="13" y="1154"/>
                        </a:cubicBezTo>
                        <a:cubicBezTo>
                          <a:pt x="14" y="1159"/>
                          <a:pt x="14" y="1153"/>
                          <a:pt x="15" y="1154"/>
                        </a:cubicBezTo>
                        <a:cubicBezTo>
                          <a:pt x="15" y="1142"/>
                          <a:pt x="15" y="1142"/>
                          <a:pt x="15" y="1142"/>
                        </a:cubicBezTo>
                        <a:cubicBezTo>
                          <a:pt x="16" y="1141"/>
                          <a:pt x="16" y="1145"/>
                          <a:pt x="16" y="1144"/>
                        </a:cubicBezTo>
                        <a:cubicBezTo>
                          <a:pt x="16" y="1141"/>
                          <a:pt x="15" y="1140"/>
                          <a:pt x="15" y="1139"/>
                        </a:cubicBezTo>
                        <a:cubicBezTo>
                          <a:pt x="16" y="1138"/>
                          <a:pt x="16" y="1130"/>
                          <a:pt x="17" y="1130"/>
                        </a:cubicBezTo>
                        <a:cubicBezTo>
                          <a:pt x="19" y="1122"/>
                          <a:pt x="15" y="1127"/>
                          <a:pt x="17" y="1119"/>
                        </a:cubicBezTo>
                        <a:cubicBezTo>
                          <a:pt x="18" y="1118"/>
                          <a:pt x="17" y="1125"/>
                          <a:pt x="18" y="1122"/>
                        </a:cubicBezTo>
                        <a:cubicBezTo>
                          <a:pt x="18" y="1114"/>
                          <a:pt x="18" y="1114"/>
                          <a:pt x="18" y="1114"/>
                        </a:cubicBezTo>
                        <a:cubicBezTo>
                          <a:pt x="18" y="1115"/>
                          <a:pt x="19" y="1116"/>
                          <a:pt x="19" y="1119"/>
                        </a:cubicBezTo>
                        <a:cubicBezTo>
                          <a:pt x="21" y="1098"/>
                          <a:pt x="26" y="1087"/>
                          <a:pt x="27" y="1067"/>
                        </a:cubicBezTo>
                        <a:cubicBezTo>
                          <a:pt x="28" y="1065"/>
                          <a:pt x="27" y="1069"/>
                          <a:pt x="28" y="1071"/>
                        </a:cubicBezTo>
                        <a:cubicBezTo>
                          <a:pt x="28" y="1057"/>
                          <a:pt x="32" y="1052"/>
                          <a:pt x="33" y="1040"/>
                        </a:cubicBezTo>
                        <a:cubicBezTo>
                          <a:pt x="32" y="1040"/>
                          <a:pt x="32" y="1040"/>
                          <a:pt x="32" y="1040"/>
                        </a:cubicBezTo>
                        <a:cubicBezTo>
                          <a:pt x="36" y="1024"/>
                          <a:pt x="37" y="1004"/>
                          <a:pt x="41" y="986"/>
                        </a:cubicBezTo>
                        <a:cubicBezTo>
                          <a:pt x="40" y="988"/>
                          <a:pt x="40" y="988"/>
                          <a:pt x="40" y="988"/>
                        </a:cubicBezTo>
                        <a:cubicBezTo>
                          <a:pt x="39" y="985"/>
                          <a:pt x="40" y="981"/>
                          <a:pt x="40" y="978"/>
                        </a:cubicBezTo>
                        <a:cubicBezTo>
                          <a:pt x="40" y="977"/>
                          <a:pt x="41" y="980"/>
                          <a:pt x="42" y="975"/>
                        </a:cubicBezTo>
                        <a:cubicBezTo>
                          <a:pt x="41" y="976"/>
                          <a:pt x="41" y="978"/>
                          <a:pt x="40" y="977"/>
                        </a:cubicBezTo>
                        <a:cubicBezTo>
                          <a:pt x="45" y="962"/>
                          <a:pt x="50" y="928"/>
                          <a:pt x="56" y="903"/>
                        </a:cubicBezTo>
                        <a:cubicBezTo>
                          <a:pt x="62" y="868"/>
                          <a:pt x="72" y="831"/>
                          <a:pt x="81" y="797"/>
                        </a:cubicBezTo>
                        <a:cubicBezTo>
                          <a:pt x="79" y="802"/>
                          <a:pt x="78" y="799"/>
                          <a:pt x="79" y="796"/>
                        </a:cubicBezTo>
                        <a:cubicBezTo>
                          <a:pt x="86" y="786"/>
                          <a:pt x="84" y="777"/>
                          <a:pt x="89" y="767"/>
                        </a:cubicBezTo>
                        <a:cubicBezTo>
                          <a:pt x="94" y="747"/>
                          <a:pt x="103" y="731"/>
                          <a:pt x="106" y="712"/>
                        </a:cubicBezTo>
                        <a:cubicBezTo>
                          <a:pt x="107" y="712"/>
                          <a:pt x="107" y="712"/>
                          <a:pt x="107" y="712"/>
                        </a:cubicBezTo>
                        <a:cubicBezTo>
                          <a:pt x="108" y="710"/>
                          <a:pt x="108" y="709"/>
                          <a:pt x="109" y="706"/>
                        </a:cubicBezTo>
                        <a:cubicBezTo>
                          <a:pt x="109" y="706"/>
                          <a:pt x="109" y="706"/>
                          <a:pt x="109" y="706"/>
                        </a:cubicBezTo>
                        <a:cubicBezTo>
                          <a:pt x="112" y="700"/>
                          <a:pt x="113" y="691"/>
                          <a:pt x="115" y="688"/>
                        </a:cubicBezTo>
                        <a:cubicBezTo>
                          <a:pt x="114" y="687"/>
                          <a:pt x="114" y="687"/>
                          <a:pt x="114" y="687"/>
                        </a:cubicBezTo>
                        <a:cubicBezTo>
                          <a:pt x="116" y="683"/>
                          <a:pt x="116" y="685"/>
                          <a:pt x="117" y="681"/>
                        </a:cubicBezTo>
                        <a:cubicBezTo>
                          <a:pt x="117" y="681"/>
                          <a:pt x="117" y="681"/>
                          <a:pt x="117" y="681"/>
                        </a:cubicBezTo>
                        <a:cubicBezTo>
                          <a:pt x="118" y="676"/>
                          <a:pt x="118" y="676"/>
                          <a:pt x="118" y="676"/>
                        </a:cubicBezTo>
                        <a:cubicBezTo>
                          <a:pt x="120" y="677"/>
                          <a:pt x="122" y="665"/>
                          <a:pt x="124" y="663"/>
                        </a:cubicBezTo>
                        <a:cubicBezTo>
                          <a:pt x="126" y="657"/>
                          <a:pt x="129" y="648"/>
                          <a:pt x="132" y="640"/>
                        </a:cubicBezTo>
                        <a:cubicBezTo>
                          <a:pt x="134" y="639"/>
                          <a:pt x="137" y="630"/>
                          <a:pt x="140" y="624"/>
                        </a:cubicBezTo>
                        <a:cubicBezTo>
                          <a:pt x="145" y="613"/>
                          <a:pt x="151" y="596"/>
                          <a:pt x="158" y="582"/>
                        </a:cubicBezTo>
                        <a:cubicBezTo>
                          <a:pt x="157" y="582"/>
                          <a:pt x="157" y="582"/>
                          <a:pt x="157" y="582"/>
                        </a:cubicBezTo>
                        <a:cubicBezTo>
                          <a:pt x="159" y="578"/>
                          <a:pt x="159" y="578"/>
                          <a:pt x="159" y="578"/>
                        </a:cubicBezTo>
                        <a:cubicBezTo>
                          <a:pt x="159" y="578"/>
                          <a:pt x="159" y="578"/>
                          <a:pt x="159" y="578"/>
                        </a:cubicBezTo>
                        <a:cubicBezTo>
                          <a:pt x="162" y="576"/>
                          <a:pt x="163" y="569"/>
                          <a:pt x="165" y="567"/>
                        </a:cubicBezTo>
                        <a:cubicBezTo>
                          <a:pt x="163" y="568"/>
                          <a:pt x="164" y="569"/>
                          <a:pt x="163" y="572"/>
                        </a:cubicBezTo>
                        <a:cubicBezTo>
                          <a:pt x="161" y="574"/>
                          <a:pt x="161" y="571"/>
                          <a:pt x="163" y="567"/>
                        </a:cubicBezTo>
                        <a:cubicBezTo>
                          <a:pt x="164" y="567"/>
                          <a:pt x="164" y="567"/>
                          <a:pt x="164" y="567"/>
                        </a:cubicBezTo>
                        <a:cubicBezTo>
                          <a:pt x="164" y="564"/>
                          <a:pt x="164" y="564"/>
                          <a:pt x="164" y="564"/>
                        </a:cubicBezTo>
                        <a:cubicBezTo>
                          <a:pt x="165" y="564"/>
                          <a:pt x="167" y="562"/>
                          <a:pt x="168" y="562"/>
                        </a:cubicBezTo>
                        <a:cubicBezTo>
                          <a:pt x="174" y="550"/>
                          <a:pt x="176" y="541"/>
                          <a:pt x="183" y="528"/>
                        </a:cubicBezTo>
                        <a:cubicBezTo>
                          <a:pt x="183" y="530"/>
                          <a:pt x="187" y="519"/>
                          <a:pt x="188" y="523"/>
                        </a:cubicBezTo>
                        <a:cubicBezTo>
                          <a:pt x="191" y="515"/>
                          <a:pt x="186" y="523"/>
                          <a:pt x="186" y="519"/>
                        </a:cubicBezTo>
                        <a:cubicBezTo>
                          <a:pt x="188" y="517"/>
                          <a:pt x="188" y="515"/>
                          <a:pt x="189" y="515"/>
                        </a:cubicBezTo>
                        <a:cubicBezTo>
                          <a:pt x="189" y="516"/>
                          <a:pt x="191" y="513"/>
                          <a:pt x="190" y="515"/>
                        </a:cubicBezTo>
                        <a:cubicBezTo>
                          <a:pt x="193" y="510"/>
                          <a:pt x="193" y="510"/>
                          <a:pt x="193" y="510"/>
                        </a:cubicBezTo>
                        <a:cubicBezTo>
                          <a:pt x="193" y="510"/>
                          <a:pt x="193" y="511"/>
                          <a:pt x="193" y="512"/>
                        </a:cubicBezTo>
                        <a:cubicBezTo>
                          <a:pt x="197" y="501"/>
                          <a:pt x="203" y="494"/>
                          <a:pt x="207" y="485"/>
                        </a:cubicBezTo>
                        <a:cubicBezTo>
                          <a:pt x="207" y="484"/>
                          <a:pt x="205" y="488"/>
                          <a:pt x="205" y="487"/>
                        </a:cubicBezTo>
                        <a:cubicBezTo>
                          <a:pt x="209" y="478"/>
                          <a:pt x="211" y="480"/>
                          <a:pt x="215" y="471"/>
                        </a:cubicBezTo>
                        <a:cubicBezTo>
                          <a:pt x="214" y="473"/>
                          <a:pt x="214" y="473"/>
                          <a:pt x="214" y="473"/>
                        </a:cubicBezTo>
                        <a:cubicBezTo>
                          <a:pt x="215" y="470"/>
                          <a:pt x="215" y="469"/>
                          <a:pt x="219" y="465"/>
                        </a:cubicBezTo>
                        <a:cubicBezTo>
                          <a:pt x="220" y="465"/>
                          <a:pt x="217" y="469"/>
                          <a:pt x="216" y="471"/>
                        </a:cubicBezTo>
                        <a:cubicBezTo>
                          <a:pt x="218" y="468"/>
                          <a:pt x="223" y="461"/>
                          <a:pt x="220" y="462"/>
                        </a:cubicBezTo>
                        <a:cubicBezTo>
                          <a:pt x="222" y="459"/>
                          <a:pt x="224" y="458"/>
                          <a:pt x="225" y="456"/>
                        </a:cubicBezTo>
                        <a:cubicBezTo>
                          <a:pt x="225" y="456"/>
                          <a:pt x="223" y="459"/>
                          <a:pt x="223" y="457"/>
                        </a:cubicBezTo>
                        <a:cubicBezTo>
                          <a:pt x="227" y="452"/>
                          <a:pt x="231" y="444"/>
                          <a:pt x="235" y="439"/>
                        </a:cubicBezTo>
                        <a:cubicBezTo>
                          <a:pt x="235" y="439"/>
                          <a:pt x="236" y="439"/>
                          <a:pt x="236" y="439"/>
                        </a:cubicBezTo>
                        <a:cubicBezTo>
                          <a:pt x="238" y="434"/>
                          <a:pt x="239" y="436"/>
                          <a:pt x="243" y="429"/>
                        </a:cubicBezTo>
                        <a:close/>
                      </a:path>
                    </a:pathLst>
                  </a:custGeom>
                  <a:solidFill>
                    <a:schemeClr val="bg1">
                      <a:lumMod val="85000"/>
                    </a:schemeClr>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65" name="Freeform 156">
                    <a:extLst>
                      <a:ext uri="{FF2B5EF4-FFF2-40B4-BE49-F238E27FC236}">
                        <a16:creationId xmlns:a16="http://schemas.microsoft.com/office/drawing/2014/main" id="{1FBC89E5-36D8-48D6-9C01-0AF50766892A}"/>
                      </a:ext>
                    </a:extLst>
                  </p:cNvPr>
                  <p:cNvSpPr>
                    <a:spLocks/>
                  </p:cNvSpPr>
                  <p:nvPr/>
                </p:nvSpPr>
                <p:spPr bwMode="auto">
                  <a:xfrm>
                    <a:off x="7526338" y="2025650"/>
                    <a:ext cx="7937" cy="7938"/>
                  </a:xfrm>
                  <a:custGeom>
                    <a:avLst/>
                    <a:gdLst/>
                    <a:ahLst/>
                    <a:cxnLst>
                      <a:cxn ang="0">
                        <a:pos x="3" y="0"/>
                      </a:cxn>
                      <a:cxn ang="0">
                        <a:pos x="0" y="1"/>
                      </a:cxn>
                      <a:cxn ang="0">
                        <a:pos x="0" y="3"/>
                      </a:cxn>
                      <a:cxn ang="0">
                        <a:pos x="3" y="0"/>
                      </a:cxn>
                    </a:cxnLst>
                    <a:rect l="0" t="0" r="r" b="b"/>
                    <a:pathLst>
                      <a:path w="3" h="3">
                        <a:moveTo>
                          <a:pt x="3" y="0"/>
                        </a:moveTo>
                        <a:cubicBezTo>
                          <a:pt x="0" y="1"/>
                          <a:pt x="0" y="1"/>
                          <a:pt x="0" y="1"/>
                        </a:cubicBezTo>
                        <a:cubicBezTo>
                          <a:pt x="1" y="2"/>
                          <a:pt x="1" y="2"/>
                          <a:pt x="0" y="3"/>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66" name="Freeform 157">
                    <a:extLst>
                      <a:ext uri="{FF2B5EF4-FFF2-40B4-BE49-F238E27FC236}">
                        <a16:creationId xmlns:a16="http://schemas.microsoft.com/office/drawing/2014/main" id="{CC22CB12-163F-45B5-80FA-CE88BFE0ED11}"/>
                      </a:ext>
                    </a:extLst>
                  </p:cNvPr>
                  <p:cNvSpPr>
                    <a:spLocks/>
                  </p:cNvSpPr>
                  <p:nvPr/>
                </p:nvSpPr>
                <p:spPr bwMode="auto">
                  <a:xfrm>
                    <a:off x="7278688" y="2239963"/>
                    <a:ext cx="1587" cy="1588"/>
                  </a:xfrm>
                  <a:custGeom>
                    <a:avLst/>
                    <a:gdLst/>
                    <a:ahLst/>
                    <a:cxnLst>
                      <a:cxn ang="0">
                        <a:pos x="0" y="0"/>
                      </a:cxn>
                      <a:cxn ang="0">
                        <a:pos x="0" y="1"/>
                      </a:cxn>
                      <a:cxn ang="0">
                        <a:pos x="0" y="0"/>
                      </a:cxn>
                    </a:cxnLst>
                    <a:rect l="0" t="0" r="r" b="b"/>
                    <a:pathLst>
                      <a:path h="1">
                        <a:moveTo>
                          <a:pt x="0" y="0"/>
                        </a:moveTo>
                        <a:cubicBezTo>
                          <a:pt x="0" y="0"/>
                          <a:pt x="0" y="1"/>
                          <a:pt x="0" y="1"/>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67" name="Freeform 158">
                    <a:extLst>
                      <a:ext uri="{FF2B5EF4-FFF2-40B4-BE49-F238E27FC236}">
                        <a16:creationId xmlns:a16="http://schemas.microsoft.com/office/drawing/2014/main" id="{A7B2AEFA-3A40-4F9D-9F84-AF4C36C3062B}"/>
                      </a:ext>
                    </a:extLst>
                  </p:cNvPr>
                  <p:cNvSpPr>
                    <a:spLocks/>
                  </p:cNvSpPr>
                  <p:nvPr/>
                </p:nvSpPr>
                <p:spPr bwMode="auto">
                  <a:xfrm>
                    <a:off x="7221538" y="2297113"/>
                    <a:ext cx="7937" cy="4763"/>
                  </a:xfrm>
                  <a:custGeom>
                    <a:avLst/>
                    <a:gdLst/>
                    <a:ahLst/>
                    <a:cxnLst>
                      <a:cxn ang="0">
                        <a:pos x="2" y="2"/>
                      </a:cxn>
                      <a:cxn ang="0">
                        <a:pos x="0" y="2"/>
                      </a:cxn>
                      <a:cxn ang="0">
                        <a:pos x="2" y="2"/>
                      </a:cxn>
                    </a:cxnLst>
                    <a:rect l="0" t="0" r="r" b="b"/>
                    <a:pathLst>
                      <a:path w="3" h="2">
                        <a:moveTo>
                          <a:pt x="2" y="2"/>
                        </a:moveTo>
                        <a:cubicBezTo>
                          <a:pt x="3" y="0"/>
                          <a:pt x="1" y="1"/>
                          <a:pt x="0" y="2"/>
                        </a:cubicBezTo>
                        <a:cubicBezTo>
                          <a:pt x="1" y="2"/>
                          <a:pt x="1" y="2"/>
                          <a:pt x="2"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68" name="Freeform 159">
                    <a:extLst>
                      <a:ext uri="{FF2B5EF4-FFF2-40B4-BE49-F238E27FC236}">
                        <a16:creationId xmlns:a16="http://schemas.microsoft.com/office/drawing/2014/main" id="{B4159BE7-A51B-4484-B7C1-F3C48330155C}"/>
                      </a:ext>
                    </a:extLst>
                  </p:cNvPr>
                  <p:cNvSpPr>
                    <a:spLocks/>
                  </p:cNvSpPr>
                  <p:nvPr/>
                </p:nvSpPr>
                <p:spPr bwMode="auto">
                  <a:xfrm>
                    <a:off x="7685088" y="1916113"/>
                    <a:ext cx="3175" cy="1588"/>
                  </a:xfrm>
                  <a:custGeom>
                    <a:avLst/>
                    <a:gdLst/>
                    <a:ahLst/>
                    <a:cxnLst>
                      <a:cxn ang="0">
                        <a:pos x="1" y="0"/>
                      </a:cxn>
                      <a:cxn ang="0">
                        <a:pos x="0" y="0"/>
                      </a:cxn>
                      <a:cxn ang="0">
                        <a:pos x="1" y="0"/>
                      </a:cxn>
                    </a:cxnLst>
                    <a:rect l="0" t="0" r="r" b="b"/>
                    <a:pathLst>
                      <a:path w="1">
                        <a:moveTo>
                          <a:pt x="1" y="0"/>
                        </a:moveTo>
                        <a:cubicBezTo>
                          <a:pt x="0" y="0"/>
                          <a:pt x="0" y="0"/>
                          <a:pt x="0"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69" name="Freeform 160">
                    <a:extLst>
                      <a:ext uri="{FF2B5EF4-FFF2-40B4-BE49-F238E27FC236}">
                        <a16:creationId xmlns:a16="http://schemas.microsoft.com/office/drawing/2014/main" id="{B90881A8-255B-48F7-A6C8-312BFC570A9B}"/>
                      </a:ext>
                    </a:extLst>
                  </p:cNvPr>
                  <p:cNvSpPr>
                    <a:spLocks/>
                  </p:cNvSpPr>
                  <p:nvPr/>
                </p:nvSpPr>
                <p:spPr bwMode="auto">
                  <a:xfrm>
                    <a:off x="8167688" y="17176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70" name="Freeform 161">
                    <a:extLst>
                      <a:ext uri="{FF2B5EF4-FFF2-40B4-BE49-F238E27FC236}">
                        <a16:creationId xmlns:a16="http://schemas.microsoft.com/office/drawing/2014/main" id="{6BA34CD1-E628-431D-80D8-A2A01BCF457F}"/>
                      </a:ext>
                    </a:extLst>
                  </p:cNvPr>
                  <p:cNvSpPr>
                    <a:spLocks/>
                  </p:cNvSpPr>
                  <p:nvPr/>
                </p:nvSpPr>
                <p:spPr bwMode="auto">
                  <a:xfrm>
                    <a:off x="8132763" y="1720850"/>
                    <a:ext cx="6350" cy="1588"/>
                  </a:xfrm>
                  <a:custGeom>
                    <a:avLst/>
                    <a:gdLst/>
                    <a:ahLst/>
                    <a:cxnLst>
                      <a:cxn ang="0">
                        <a:pos x="3" y="0"/>
                      </a:cxn>
                      <a:cxn ang="0">
                        <a:pos x="0" y="1"/>
                      </a:cxn>
                      <a:cxn ang="0">
                        <a:pos x="3" y="0"/>
                      </a:cxn>
                    </a:cxnLst>
                    <a:rect l="0" t="0" r="r" b="b"/>
                    <a:pathLst>
                      <a:path w="3" h="1">
                        <a:moveTo>
                          <a:pt x="3" y="0"/>
                        </a:moveTo>
                        <a:cubicBezTo>
                          <a:pt x="2" y="0"/>
                          <a:pt x="1" y="1"/>
                          <a:pt x="0" y="1"/>
                        </a:cubicBezTo>
                        <a:cubicBezTo>
                          <a:pt x="1" y="1"/>
                          <a:pt x="2" y="1"/>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71" name="Freeform 162">
                    <a:extLst>
                      <a:ext uri="{FF2B5EF4-FFF2-40B4-BE49-F238E27FC236}">
                        <a16:creationId xmlns:a16="http://schemas.microsoft.com/office/drawing/2014/main" id="{A96FB28C-079D-49F8-8E6F-16FB8DD2D9AE}"/>
                      </a:ext>
                    </a:extLst>
                  </p:cNvPr>
                  <p:cNvSpPr>
                    <a:spLocks/>
                  </p:cNvSpPr>
                  <p:nvPr/>
                </p:nvSpPr>
                <p:spPr bwMode="auto">
                  <a:xfrm>
                    <a:off x="7577138" y="1984375"/>
                    <a:ext cx="4762" cy="4763"/>
                  </a:xfrm>
                  <a:custGeom>
                    <a:avLst/>
                    <a:gdLst/>
                    <a:ahLst/>
                    <a:cxnLst>
                      <a:cxn ang="0">
                        <a:pos x="2" y="0"/>
                      </a:cxn>
                      <a:cxn ang="0">
                        <a:pos x="0" y="2"/>
                      </a:cxn>
                      <a:cxn ang="0">
                        <a:pos x="2" y="0"/>
                      </a:cxn>
                    </a:cxnLst>
                    <a:rect l="0" t="0" r="r" b="b"/>
                    <a:pathLst>
                      <a:path w="2" h="2">
                        <a:moveTo>
                          <a:pt x="2" y="0"/>
                        </a:moveTo>
                        <a:cubicBezTo>
                          <a:pt x="1" y="1"/>
                          <a:pt x="1" y="1"/>
                          <a:pt x="0" y="2"/>
                        </a:cubicBezTo>
                        <a:cubicBezTo>
                          <a:pt x="1" y="1"/>
                          <a:pt x="2"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72" name="Freeform 163">
                    <a:extLst>
                      <a:ext uri="{FF2B5EF4-FFF2-40B4-BE49-F238E27FC236}">
                        <a16:creationId xmlns:a16="http://schemas.microsoft.com/office/drawing/2014/main" id="{B025DD16-98C6-4BA7-8A23-F3AC464FC0AE}"/>
                      </a:ext>
                    </a:extLst>
                  </p:cNvPr>
                  <p:cNvSpPr>
                    <a:spLocks/>
                  </p:cNvSpPr>
                  <p:nvPr/>
                </p:nvSpPr>
                <p:spPr bwMode="auto">
                  <a:xfrm>
                    <a:off x="8120063" y="1725613"/>
                    <a:ext cx="7937" cy="3175"/>
                  </a:xfrm>
                  <a:custGeom>
                    <a:avLst/>
                    <a:gdLst/>
                    <a:ahLst/>
                    <a:cxnLst>
                      <a:cxn ang="0">
                        <a:pos x="3" y="0"/>
                      </a:cxn>
                      <a:cxn ang="0">
                        <a:pos x="0" y="1"/>
                      </a:cxn>
                      <a:cxn ang="0">
                        <a:pos x="0" y="1"/>
                      </a:cxn>
                      <a:cxn ang="0">
                        <a:pos x="3" y="0"/>
                      </a:cxn>
                    </a:cxnLst>
                    <a:rect l="0" t="0" r="r" b="b"/>
                    <a:pathLst>
                      <a:path w="3" h="1">
                        <a:moveTo>
                          <a:pt x="3" y="0"/>
                        </a:moveTo>
                        <a:cubicBezTo>
                          <a:pt x="0" y="1"/>
                          <a:pt x="0" y="1"/>
                          <a:pt x="0" y="1"/>
                        </a:cubicBezTo>
                        <a:cubicBezTo>
                          <a:pt x="0" y="1"/>
                          <a:pt x="0" y="1"/>
                          <a:pt x="0" y="1"/>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73" name="Freeform 164">
                    <a:extLst>
                      <a:ext uri="{FF2B5EF4-FFF2-40B4-BE49-F238E27FC236}">
                        <a16:creationId xmlns:a16="http://schemas.microsoft.com/office/drawing/2014/main" id="{23879913-EF5E-42F2-9CA1-AE4B8EDD870C}"/>
                      </a:ext>
                    </a:extLst>
                  </p:cNvPr>
                  <p:cNvSpPr>
                    <a:spLocks/>
                  </p:cNvSpPr>
                  <p:nvPr/>
                </p:nvSpPr>
                <p:spPr bwMode="auto">
                  <a:xfrm>
                    <a:off x="8167688" y="1716088"/>
                    <a:ext cx="9525" cy="1588"/>
                  </a:xfrm>
                  <a:custGeom>
                    <a:avLst/>
                    <a:gdLst/>
                    <a:ahLst/>
                    <a:cxnLst>
                      <a:cxn ang="0">
                        <a:pos x="4" y="0"/>
                      </a:cxn>
                      <a:cxn ang="0">
                        <a:pos x="0" y="1"/>
                      </a:cxn>
                      <a:cxn ang="0">
                        <a:pos x="4" y="0"/>
                      </a:cxn>
                    </a:cxnLst>
                    <a:rect l="0" t="0" r="r" b="b"/>
                    <a:pathLst>
                      <a:path w="4" h="1">
                        <a:moveTo>
                          <a:pt x="4" y="0"/>
                        </a:moveTo>
                        <a:cubicBezTo>
                          <a:pt x="3" y="1"/>
                          <a:pt x="1" y="1"/>
                          <a:pt x="0" y="1"/>
                        </a:cubicBezTo>
                        <a:cubicBezTo>
                          <a:pt x="2" y="1"/>
                          <a:pt x="3" y="1"/>
                          <a:pt x="4"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74" name="Freeform 165">
                    <a:extLst>
                      <a:ext uri="{FF2B5EF4-FFF2-40B4-BE49-F238E27FC236}">
                        <a16:creationId xmlns:a16="http://schemas.microsoft.com/office/drawing/2014/main" id="{99E8AD3B-5208-4C02-B90E-C5AA48D8265A}"/>
                      </a:ext>
                    </a:extLst>
                  </p:cNvPr>
                  <p:cNvSpPr>
                    <a:spLocks/>
                  </p:cNvSpPr>
                  <p:nvPr/>
                </p:nvSpPr>
                <p:spPr bwMode="auto">
                  <a:xfrm>
                    <a:off x="7850188" y="1822450"/>
                    <a:ext cx="4762" cy="4763"/>
                  </a:xfrm>
                  <a:custGeom>
                    <a:avLst/>
                    <a:gdLst/>
                    <a:ahLst/>
                    <a:cxnLst>
                      <a:cxn ang="0">
                        <a:pos x="2" y="0"/>
                      </a:cxn>
                      <a:cxn ang="0">
                        <a:pos x="2" y="1"/>
                      </a:cxn>
                      <a:cxn ang="0">
                        <a:pos x="2" y="0"/>
                      </a:cxn>
                    </a:cxnLst>
                    <a:rect l="0" t="0" r="r" b="b"/>
                    <a:pathLst>
                      <a:path w="2" h="2">
                        <a:moveTo>
                          <a:pt x="2" y="0"/>
                        </a:moveTo>
                        <a:cubicBezTo>
                          <a:pt x="2" y="1"/>
                          <a:pt x="2" y="1"/>
                          <a:pt x="2" y="1"/>
                        </a:cubicBezTo>
                        <a:cubicBezTo>
                          <a:pt x="0" y="2"/>
                          <a:pt x="1"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75" name="Freeform 166">
                    <a:extLst>
                      <a:ext uri="{FF2B5EF4-FFF2-40B4-BE49-F238E27FC236}">
                        <a16:creationId xmlns:a16="http://schemas.microsoft.com/office/drawing/2014/main" id="{11A71223-6101-4BC3-AFAD-2A282B59FDF7}"/>
                      </a:ext>
                    </a:extLst>
                  </p:cNvPr>
                  <p:cNvSpPr>
                    <a:spLocks/>
                  </p:cNvSpPr>
                  <p:nvPr/>
                </p:nvSpPr>
                <p:spPr bwMode="auto">
                  <a:xfrm>
                    <a:off x="8094663" y="1738313"/>
                    <a:ext cx="3175" cy="1588"/>
                  </a:xfrm>
                  <a:custGeom>
                    <a:avLst/>
                    <a:gdLst/>
                    <a:ahLst/>
                    <a:cxnLst>
                      <a:cxn ang="0">
                        <a:pos x="2" y="0"/>
                      </a:cxn>
                      <a:cxn ang="0">
                        <a:pos x="2" y="0"/>
                      </a:cxn>
                      <a:cxn ang="0">
                        <a:pos x="0" y="1"/>
                      </a:cxn>
                      <a:cxn ang="0">
                        <a:pos x="2" y="0"/>
                      </a:cxn>
                    </a:cxnLst>
                    <a:rect l="0" t="0" r="r" b="b"/>
                    <a:pathLst>
                      <a:path w="2" h="1">
                        <a:moveTo>
                          <a:pt x="2" y="0"/>
                        </a:moveTo>
                        <a:lnTo>
                          <a:pt x="2" y="0"/>
                        </a:lnTo>
                        <a:lnTo>
                          <a:pt x="0" y="1"/>
                        </a:lnTo>
                        <a:lnTo>
                          <a:pt x="2"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76" name="Freeform 167">
                    <a:extLst>
                      <a:ext uri="{FF2B5EF4-FFF2-40B4-BE49-F238E27FC236}">
                        <a16:creationId xmlns:a16="http://schemas.microsoft.com/office/drawing/2014/main" id="{04B46310-D5B1-443D-A09C-327E1F3E0CB0}"/>
                      </a:ext>
                    </a:extLst>
                  </p:cNvPr>
                  <p:cNvSpPr>
                    <a:spLocks/>
                  </p:cNvSpPr>
                  <p:nvPr/>
                </p:nvSpPr>
                <p:spPr bwMode="auto">
                  <a:xfrm>
                    <a:off x="8204200" y="1711325"/>
                    <a:ext cx="4762" cy="1588"/>
                  </a:xfrm>
                  <a:custGeom>
                    <a:avLst/>
                    <a:gdLst/>
                    <a:ahLst/>
                    <a:cxnLst>
                      <a:cxn ang="0">
                        <a:pos x="1" y="0"/>
                      </a:cxn>
                      <a:cxn ang="0">
                        <a:pos x="0" y="0"/>
                      </a:cxn>
                      <a:cxn ang="0">
                        <a:pos x="2" y="0"/>
                      </a:cxn>
                      <a:cxn ang="0">
                        <a:pos x="1" y="0"/>
                      </a:cxn>
                    </a:cxnLst>
                    <a:rect l="0" t="0" r="r" b="b"/>
                    <a:pathLst>
                      <a:path w="2">
                        <a:moveTo>
                          <a:pt x="1" y="0"/>
                        </a:moveTo>
                        <a:cubicBezTo>
                          <a:pt x="1" y="0"/>
                          <a:pt x="0" y="0"/>
                          <a:pt x="0" y="0"/>
                        </a:cubicBezTo>
                        <a:cubicBezTo>
                          <a:pt x="2" y="0"/>
                          <a:pt x="2" y="0"/>
                          <a:pt x="2"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77" name="Freeform 168">
                    <a:extLst>
                      <a:ext uri="{FF2B5EF4-FFF2-40B4-BE49-F238E27FC236}">
                        <a16:creationId xmlns:a16="http://schemas.microsoft.com/office/drawing/2014/main" id="{F576F754-4C4B-46F6-B0C2-3E5E2803DA93}"/>
                      </a:ext>
                    </a:extLst>
                  </p:cNvPr>
                  <p:cNvSpPr>
                    <a:spLocks/>
                  </p:cNvSpPr>
                  <p:nvPr/>
                </p:nvSpPr>
                <p:spPr bwMode="auto">
                  <a:xfrm>
                    <a:off x="7956550" y="1779588"/>
                    <a:ext cx="1587" cy="4763"/>
                  </a:xfrm>
                  <a:custGeom>
                    <a:avLst/>
                    <a:gdLst/>
                    <a:ahLst/>
                    <a:cxnLst>
                      <a:cxn ang="0">
                        <a:pos x="1" y="2"/>
                      </a:cxn>
                      <a:cxn ang="0">
                        <a:pos x="1" y="0"/>
                      </a:cxn>
                      <a:cxn ang="0">
                        <a:pos x="1" y="2"/>
                      </a:cxn>
                    </a:cxnLst>
                    <a:rect l="0" t="0" r="r" b="b"/>
                    <a:pathLst>
                      <a:path w="1" h="2">
                        <a:moveTo>
                          <a:pt x="1" y="2"/>
                        </a:moveTo>
                        <a:cubicBezTo>
                          <a:pt x="1" y="1"/>
                          <a:pt x="1" y="1"/>
                          <a:pt x="1" y="0"/>
                        </a:cubicBezTo>
                        <a:cubicBezTo>
                          <a:pt x="0" y="1"/>
                          <a:pt x="0" y="1"/>
                          <a:pt x="1"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grpSp>
          <p:grpSp>
            <p:nvGrpSpPr>
              <p:cNvPr id="315" name="Group 313">
                <a:extLst>
                  <a:ext uri="{FF2B5EF4-FFF2-40B4-BE49-F238E27FC236}">
                    <a16:creationId xmlns:a16="http://schemas.microsoft.com/office/drawing/2014/main" id="{F7C07D1A-D170-439C-B6D5-FB20CB18F9CE}"/>
                  </a:ext>
                </a:extLst>
              </p:cNvPr>
              <p:cNvGrpSpPr/>
              <p:nvPr/>
            </p:nvGrpSpPr>
            <p:grpSpPr>
              <a:xfrm rot="806963">
                <a:off x="2008129" y="1047000"/>
                <a:ext cx="1683483" cy="1691701"/>
                <a:chOff x="4391025" y="1189038"/>
                <a:chExt cx="1952625" cy="1962150"/>
              </a:xfrm>
            </p:grpSpPr>
            <p:sp>
              <p:nvSpPr>
                <p:cNvPr id="316" name="Freeform 6">
                  <a:extLst>
                    <a:ext uri="{FF2B5EF4-FFF2-40B4-BE49-F238E27FC236}">
                      <a16:creationId xmlns:a16="http://schemas.microsoft.com/office/drawing/2014/main" id="{2CAD941C-6C7D-46C1-BA99-1C3A4BFF4FF3}"/>
                    </a:ext>
                  </a:extLst>
                </p:cNvPr>
                <p:cNvSpPr>
                  <a:spLocks/>
                </p:cNvSpPr>
                <p:nvPr/>
              </p:nvSpPr>
              <p:spPr bwMode="auto">
                <a:xfrm>
                  <a:off x="4856162" y="2362200"/>
                  <a:ext cx="342900" cy="342900"/>
                </a:xfrm>
                <a:custGeom>
                  <a:avLst/>
                  <a:gdLst/>
                  <a:ahLst/>
                  <a:cxnLst>
                    <a:cxn ang="0">
                      <a:pos x="0" y="54"/>
                    </a:cxn>
                    <a:cxn ang="0">
                      <a:pos x="164" y="216"/>
                    </a:cxn>
                    <a:cxn ang="0">
                      <a:pos x="216" y="163"/>
                    </a:cxn>
                    <a:cxn ang="0">
                      <a:pos x="52" y="0"/>
                    </a:cxn>
                    <a:cxn ang="0">
                      <a:pos x="0" y="54"/>
                    </a:cxn>
                  </a:cxnLst>
                  <a:rect l="0" t="0" r="r" b="b"/>
                  <a:pathLst>
                    <a:path w="216" h="216">
                      <a:moveTo>
                        <a:pt x="0" y="54"/>
                      </a:moveTo>
                      <a:lnTo>
                        <a:pt x="164" y="216"/>
                      </a:lnTo>
                      <a:lnTo>
                        <a:pt x="216" y="163"/>
                      </a:lnTo>
                      <a:lnTo>
                        <a:pt x="52" y="0"/>
                      </a:lnTo>
                      <a:lnTo>
                        <a:pt x="0" y="54"/>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17" name="Freeform 7">
                  <a:extLst>
                    <a:ext uri="{FF2B5EF4-FFF2-40B4-BE49-F238E27FC236}">
                      <a16:creationId xmlns:a16="http://schemas.microsoft.com/office/drawing/2014/main" id="{A6DAC06F-B0B3-487C-B9C6-F8B7EE55C1E2}"/>
                    </a:ext>
                  </a:extLst>
                </p:cNvPr>
                <p:cNvSpPr>
                  <a:spLocks/>
                </p:cNvSpPr>
                <p:nvPr/>
              </p:nvSpPr>
              <p:spPr bwMode="auto">
                <a:xfrm>
                  <a:off x="4856162" y="2362200"/>
                  <a:ext cx="342900" cy="342900"/>
                </a:xfrm>
                <a:custGeom>
                  <a:avLst/>
                  <a:gdLst/>
                  <a:ahLst/>
                  <a:cxnLst>
                    <a:cxn ang="0">
                      <a:pos x="0" y="54"/>
                    </a:cxn>
                    <a:cxn ang="0">
                      <a:pos x="164" y="216"/>
                    </a:cxn>
                    <a:cxn ang="0">
                      <a:pos x="216" y="163"/>
                    </a:cxn>
                    <a:cxn ang="0">
                      <a:pos x="52" y="0"/>
                    </a:cxn>
                    <a:cxn ang="0">
                      <a:pos x="0" y="54"/>
                    </a:cxn>
                  </a:cxnLst>
                  <a:rect l="0" t="0" r="r" b="b"/>
                  <a:pathLst>
                    <a:path w="216" h="216">
                      <a:moveTo>
                        <a:pt x="0" y="54"/>
                      </a:moveTo>
                      <a:lnTo>
                        <a:pt x="164" y="216"/>
                      </a:lnTo>
                      <a:lnTo>
                        <a:pt x="216" y="163"/>
                      </a:lnTo>
                      <a:lnTo>
                        <a:pt x="52" y="0"/>
                      </a:lnTo>
                      <a:lnTo>
                        <a:pt x="0" y="54"/>
                      </a:lnTo>
                    </a:path>
                  </a:pathLst>
                </a:custGeom>
                <a:no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18" name="Freeform 8">
                  <a:extLst>
                    <a:ext uri="{FF2B5EF4-FFF2-40B4-BE49-F238E27FC236}">
                      <a16:creationId xmlns:a16="http://schemas.microsoft.com/office/drawing/2014/main" id="{BD7357FC-42D9-4084-91CE-7624D8F96B61}"/>
                    </a:ext>
                  </a:extLst>
                </p:cNvPr>
                <p:cNvSpPr>
                  <a:spLocks/>
                </p:cNvSpPr>
                <p:nvPr/>
              </p:nvSpPr>
              <p:spPr bwMode="auto">
                <a:xfrm>
                  <a:off x="4391025" y="1874838"/>
                  <a:ext cx="1284288" cy="1276350"/>
                </a:xfrm>
                <a:custGeom>
                  <a:avLst/>
                  <a:gdLst/>
                  <a:ahLst/>
                  <a:cxnLst>
                    <a:cxn ang="0">
                      <a:pos x="1114" y="270"/>
                    </a:cxn>
                    <a:cxn ang="0">
                      <a:pos x="140" y="268"/>
                    </a:cxn>
                    <a:cxn ang="0">
                      <a:pos x="0" y="479"/>
                    </a:cxn>
                    <a:cxn ang="0">
                      <a:pos x="766" y="624"/>
                    </a:cxn>
                    <a:cxn ang="0">
                      <a:pos x="922" y="1388"/>
                    </a:cxn>
                    <a:cxn ang="0">
                      <a:pos x="1130" y="1245"/>
                    </a:cxn>
                    <a:cxn ang="0">
                      <a:pos x="1114" y="270"/>
                    </a:cxn>
                  </a:cxnLst>
                  <a:rect l="0" t="0" r="r" b="b"/>
                  <a:pathLst>
                    <a:path w="1395" h="1388">
                      <a:moveTo>
                        <a:pt x="1114" y="270"/>
                      </a:moveTo>
                      <a:cubicBezTo>
                        <a:pt x="841" y="1"/>
                        <a:pt x="405" y="0"/>
                        <a:pt x="140" y="268"/>
                      </a:cubicBezTo>
                      <a:cubicBezTo>
                        <a:pt x="79" y="331"/>
                        <a:pt x="32" y="402"/>
                        <a:pt x="0" y="479"/>
                      </a:cubicBezTo>
                      <a:cubicBezTo>
                        <a:pt x="251" y="369"/>
                        <a:pt x="556" y="417"/>
                        <a:pt x="766" y="624"/>
                      </a:cubicBezTo>
                      <a:cubicBezTo>
                        <a:pt x="976" y="831"/>
                        <a:pt x="1028" y="1136"/>
                        <a:pt x="922" y="1388"/>
                      </a:cubicBezTo>
                      <a:cubicBezTo>
                        <a:pt x="998" y="1355"/>
                        <a:pt x="1069" y="1307"/>
                        <a:pt x="1130" y="1245"/>
                      </a:cubicBezTo>
                      <a:cubicBezTo>
                        <a:pt x="1395" y="976"/>
                        <a:pt x="1388" y="540"/>
                        <a:pt x="1114" y="270"/>
                      </a:cubicBezTo>
                    </a:path>
                  </a:pathLst>
                </a:custGeom>
                <a:solidFill>
                  <a:srgbClr val="0170BD"/>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19" name="Freeform 10">
                  <a:extLst>
                    <a:ext uri="{FF2B5EF4-FFF2-40B4-BE49-F238E27FC236}">
                      <a16:creationId xmlns:a16="http://schemas.microsoft.com/office/drawing/2014/main" id="{DECF2EF3-97F1-4F04-B810-C983C2E8D602}"/>
                    </a:ext>
                  </a:extLst>
                </p:cNvPr>
                <p:cNvSpPr>
                  <a:spLocks/>
                </p:cNvSpPr>
                <p:nvPr/>
              </p:nvSpPr>
              <p:spPr bwMode="auto">
                <a:xfrm>
                  <a:off x="4854575" y="1189038"/>
                  <a:ext cx="1489075" cy="1501775"/>
                </a:xfrm>
                <a:custGeom>
                  <a:avLst/>
                  <a:gdLst/>
                  <a:ahLst/>
                  <a:cxnLst>
                    <a:cxn ang="0">
                      <a:pos x="462" y="557"/>
                    </a:cxn>
                    <a:cxn ang="0">
                      <a:pos x="0" y="1288"/>
                    </a:cxn>
                    <a:cxn ang="0">
                      <a:pos x="201" y="1433"/>
                    </a:cxn>
                    <a:cxn ang="0">
                      <a:pos x="349" y="1632"/>
                    </a:cxn>
                    <a:cxn ang="0">
                      <a:pos x="1073" y="1160"/>
                    </a:cxn>
                    <a:cxn ang="0">
                      <a:pos x="1589" y="24"/>
                    </a:cxn>
                    <a:cxn ang="0">
                      <a:pos x="462" y="557"/>
                    </a:cxn>
                  </a:cxnLst>
                  <a:rect l="0" t="0" r="r" b="b"/>
                  <a:pathLst>
                    <a:path w="1618" h="1632">
                      <a:moveTo>
                        <a:pt x="462" y="557"/>
                      </a:moveTo>
                      <a:cubicBezTo>
                        <a:pt x="236" y="786"/>
                        <a:pt x="78" y="1044"/>
                        <a:pt x="0" y="1288"/>
                      </a:cubicBezTo>
                      <a:cubicBezTo>
                        <a:pt x="72" y="1325"/>
                        <a:pt x="140" y="1373"/>
                        <a:pt x="201" y="1433"/>
                      </a:cubicBezTo>
                      <a:cubicBezTo>
                        <a:pt x="262" y="1493"/>
                        <a:pt x="311" y="1560"/>
                        <a:pt x="349" y="1632"/>
                      </a:cubicBezTo>
                      <a:cubicBezTo>
                        <a:pt x="591" y="1550"/>
                        <a:pt x="847" y="1389"/>
                        <a:pt x="1073" y="1160"/>
                      </a:cubicBezTo>
                      <a:cubicBezTo>
                        <a:pt x="1432" y="796"/>
                        <a:pt x="1618" y="358"/>
                        <a:pt x="1589" y="24"/>
                      </a:cubicBezTo>
                      <a:cubicBezTo>
                        <a:pt x="1255" y="0"/>
                        <a:pt x="820" y="193"/>
                        <a:pt x="462" y="557"/>
                      </a:cubicBezTo>
                    </a:path>
                  </a:pathLst>
                </a:custGeom>
                <a:solidFill>
                  <a:schemeClr val="tx1">
                    <a:lumMod val="10000"/>
                    <a:lumOff val="90000"/>
                  </a:schemeClr>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20" name="Freeform 11">
                  <a:extLst>
                    <a:ext uri="{FF2B5EF4-FFF2-40B4-BE49-F238E27FC236}">
                      <a16:creationId xmlns:a16="http://schemas.microsoft.com/office/drawing/2014/main" id="{C25DA20E-92F8-4B6E-B350-601BAFDC5FF9}"/>
                    </a:ext>
                  </a:extLst>
                </p:cNvPr>
                <p:cNvSpPr>
                  <a:spLocks/>
                </p:cNvSpPr>
                <p:nvPr/>
              </p:nvSpPr>
              <p:spPr bwMode="auto">
                <a:xfrm>
                  <a:off x="5029200" y="1208088"/>
                  <a:ext cx="1314450" cy="1482725"/>
                </a:xfrm>
                <a:custGeom>
                  <a:avLst/>
                  <a:gdLst/>
                  <a:ahLst/>
                  <a:cxnLst>
                    <a:cxn ang="0">
                      <a:pos x="1399" y="2"/>
                    </a:cxn>
                    <a:cxn ang="0">
                      <a:pos x="0" y="1401"/>
                    </a:cxn>
                    <a:cxn ang="0">
                      <a:pos x="11" y="1411"/>
                    </a:cxn>
                    <a:cxn ang="0">
                      <a:pos x="159" y="1610"/>
                    </a:cxn>
                    <a:cxn ang="0">
                      <a:pos x="883" y="1138"/>
                    </a:cxn>
                    <a:cxn ang="0">
                      <a:pos x="1399" y="2"/>
                    </a:cxn>
                  </a:cxnLst>
                  <a:rect l="0" t="0" r="r" b="b"/>
                  <a:pathLst>
                    <a:path w="1428" h="1610">
                      <a:moveTo>
                        <a:pt x="1399" y="2"/>
                      </a:moveTo>
                      <a:cubicBezTo>
                        <a:pt x="1361" y="0"/>
                        <a:pt x="0" y="1401"/>
                        <a:pt x="0" y="1401"/>
                      </a:cubicBezTo>
                      <a:cubicBezTo>
                        <a:pt x="4" y="1405"/>
                        <a:pt x="7" y="1408"/>
                        <a:pt x="11" y="1411"/>
                      </a:cubicBezTo>
                      <a:cubicBezTo>
                        <a:pt x="72" y="1471"/>
                        <a:pt x="121" y="1538"/>
                        <a:pt x="159" y="1610"/>
                      </a:cubicBezTo>
                      <a:cubicBezTo>
                        <a:pt x="401" y="1528"/>
                        <a:pt x="657" y="1367"/>
                        <a:pt x="883" y="1138"/>
                      </a:cubicBezTo>
                      <a:cubicBezTo>
                        <a:pt x="1242" y="774"/>
                        <a:pt x="1428" y="336"/>
                        <a:pt x="1399" y="2"/>
                      </a:cubicBezTo>
                    </a:path>
                  </a:pathLst>
                </a:custGeom>
                <a:solidFill>
                  <a:srgbClr val="CFCFCF"/>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21" name="Freeform 12">
                  <a:extLst>
                    <a:ext uri="{FF2B5EF4-FFF2-40B4-BE49-F238E27FC236}">
                      <a16:creationId xmlns:a16="http://schemas.microsoft.com/office/drawing/2014/main" id="{A2068A5A-48A4-41D3-8D3C-3A2537265BC3}"/>
                    </a:ext>
                  </a:extLst>
                </p:cNvPr>
                <p:cNvSpPr>
                  <a:spLocks/>
                </p:cNvSpPr>
                <p:nvPr/>
              </p:nvSpPr>
              <p:spPr bwMode="auto">
                <a:xfrm>
                  <a:off x="4814887" y="2097088"/>
                  <a:ext cx="630238" cy="638175"/>
                </a:xfrm>
                <a:custGeom>
                  <a:avLst/>
                  <a:gdLst/>
                  <a:ahLst/>
                  <a:cxnLst>
                    <a:cxn ang="0">
                      <a:pos x="276" y="282"/>
                    </a:cxn>
                    <a:cxn ang="0">
                      <a:pos x="0" y="694"/>
                    </a:cxn>
                    <a:cxn ang="0">
                      <a:pos x="407" y="411"/>
                    </a:cxn>
                    <a:cxn ang="0">
                      <a:pos x="684" y="0"/>
                    </a:cxn>
                    <a:cxn ang="0">
                      <a:pos x="276" y="282"/>
                    </a:cxn>
                  </a:cxnLst>
                  <a:rect l="0" t="0" r="r" b="b"/>
                  <a:pathLst>
                    <a:path w="684" h="694">
                      <a:moveTo>
                        <a:pt x="276" y="282"/>
                      </a:moveTo>
                      <a:cubicBezTo>
                        <a:pt x="127" y="433"/>
                        <a:pt x="24" y="591"/>
                        <a:pt x="0" y="694"/>
                      </a:cubicBezTo>
                      <a:cubicBezTo>
                        <a:pt x="102" y="668"/>
                        <a:pt x="258" y="563"/>
                        <a:pt x="407" y="411"/>
                      </a:cubicBezTo>
                      <a:cubicBezTo>
                        <a:pt x="556" y="260"/>
                        <a:pt x="659" y="103"/>
                        <a:pt x="684" y="0"/>
                      </a:cubicBezTo>
                      <a:cubicBezTo>
                        <a:pt x="581" y="26"/>
                        <a:pt x="425" y="131"/>
                        <a:pt x="276" y="282"/>
                      </a:cubicBezTo>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22" name="Freeform 23">
                  <a:extLst>
                    <a:ext uri="{FF2B5EF4-FFF2-40B4-BE49-F238E27FC236}">
                      <a16:creationId xmlns:a16="http://schemas.microsoft.com/office/drawing/2014/main" id="{B0D563FE-9BC6-4C04-BA20-1C7973474609}"/>
                    </a:ext>
                  </a:extLst>
                </p:cNvPr>
                <p:cNvSpPr>
                  <a:spLocks/>
                </p:cNvSpPr>
                <p:nvPr/>
              </p:nvSpPr>
              <p:spPr bwMode="auto">
                <a:xfrm>
                  <a:off x="5737225" y="1328738"/>
                  <a:ext cx="468313" cy="468313"/>
                </a:xfrm>
                <a:custGeom>
                  <a:avLst/>
                  <a:gdLst/>
                  <a:ahLst/>
                  <a:cxnLst>
                    <a:cxn ang="0">
                      <a:pos x="57" y="0"/>
                    </a:cxn>
                    <a:cxn ang="0">
                      <a:pos x="2" y="28"/>
                    </a:cxn>
                    <a:cxn ang="0">
                      <a:pos x="479" y="509"/>
                    </a:cxn>
                    <a:cxn ang="0">
                      <a:pos x="509" y="446"/>
                    </a:cxn>
                    <a:cxn ang="0">
                      <a:pos x="57" y="0"/>
                    </a:cxn>
                  </a:cxnLst>
                  <a:rect l="0" t="0" r="r" b="b"/>
                  <a:pathLst>
                    <a:path w="509" h="509">
                      <a:moveTo>
                        <a:pt x="57" y="0"/>
                      </a:moveTo>
                      <a:cubicBezTo>
                        <a:pt x="24" y="15"/>
                        <a:pt x="2" y="28"/>
                        <a:pt x="2" y="28"/>
                      </a:cubicBezTo>
                      <a:cubicBezTo>
                        <a:pt x="0" y="28"/>
                        <a:pt x="288" y="254"/>
                        <a:pt x="479" y="509"/>
                      </a:cubicBezTo>
                      <a:cubicBezTo>
                        <a:pt x="479" y="509"/>
                        <a:pt x="503" y="462"/>
                        <a:pt x="509" y="446"/>
                      </a:cubicBezTo>
                      <a:cubicBezTo>
                        <a:pt x="505" y="287"/>
                        <a:pt x="274" y="7"/>
                        <a:pt x="57" y="0"/>
                      </a:cubicBezTo>
                    </a:path>
                  </a:pathLst>
                </a:custGeom>
                <a:solidFill>
                  <a:schemeClr val="accent1">
                    <a:lumMod val="60000"/>
                    <a:lumOff val="40000"/>
                  </a:schemeClr>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23" name="Freeform 31">
                  <a:extLst>
                    <a:ext uri="{FF2B5EF4-FFF2-40B4-BE49-F238E27FC236}">
                      <a16:creationId xmlns:a16="http://schemas.microsoft.com/office/drawing/2014/main" id="{862D35A5-539E-4B92-AA70-73DC09DC52B5}"/>
                    </a:ext>
                  </a:extLst>
                </p:cNvPr>
                <p:cNvSpPr>
                  <a:spLocks/>
                </p:cNvSpPr>
                <p:nvPr/>
              </p:nvSpPr>
              <p:spPr bwMode="auto">
                <a:xfrm>
                  <a:off x="6318250" y="1219200"/>
                  <a:ext cx="1588"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C6C6C6"/>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24" name="Oval 32">
                  <a:extLst>
                    <a:ext uri="{FF2B5EF4-FFF2-40B4-BE49-F238E27FC236}">
                      <a16:creationId xmlns:a16="http://schemas.microsoft.com/office/drawing/2014/main" id="{896EB6EB-201D-41D0-A3DF-AB5F939440CE}"/>
                    </a:ext>
                  </a:extLst>
                </p:cNvPr>
                <p:cNvSpPr>
                  <a:spLocks noChangeArrowheads="1"/>
                </p:cNvSpPr>
                <p:nvPr/>
              </p:nvSpPr>
              <p:spPr bwMode="auto">
                <a:xfrm>
                  <a:off x="6318250" y="1220788"/>
                  <a:ext cx="1588" cy="1588"/>
                </a:xfrm>
                <a:prstGeom prst="ellipse">
                  <a:avLst/>
                </a:prstGeom>
                <a:solidFill>
                  <a:srgbClr val="C6C6C6"/>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25" name="Freeform 33">
                  <a:extLst>
                    <a:ext uri="{FF2B5EF4-FFF2-40B4-BE49-F238E27FC236}">
                      <a16:creationId xmlns:a16="http://schemas.microsoft.com/office/drawing/2014/main" id="{56C2E0A5-9E94-40B8-ACC9-6D140F22CC13}"/>
                    </a:ext>
                  </a:extLst>
                </p:cNvPr>
                <p:cNvSpPr>
                  <a:spLocks/>
                </p:cNvSpPr>
                <p:nvPr/>
              </p:nvSpPr>
              <p:spPr bwMode="auto">
                <a:xfrm>
                  <a:off x="6318250" y="1220788"/>
                  <a:ext cx="1588"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F2F2F2"/>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26" name="Oval 34">
                  <a:extLst>
                    <a:ext uri="{FF2B5EF4-FFF2-40B4-BE49-F238E27FC236}">
                      <a16:creationId xmlns:a16="http://schemas.microsoft.com/office/drawing/2014/main" id="{AB4F4BF7-6B42-4E97-BD00-622BB9501281}"/>
                    </a:ext>
                  </a:extLst>
                </p:cNvPr>
                <p:cNvSpPr>
                  <a:spLocks noChangeArrowheads="1"/>
                </p:cNvSpPr>
                <p:nvPr/>
              </p:nvSpPr>
              <p:spPr bwMode="auto">
                <a:xfrm>
                  <a:off x="6318250" y="1220788"/>
                  <a:ext cx="1588" cy="1588"/>
                </a:xfrm>
                <a:prstGeom prst="ellipse">
                  <a:avLst/>
                </a:prstGeom>
                <a:solidFill>
                  <a:srgbClr val="C6C6C6"/>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27" name="Freeform 35">
                  <a:extLst>
                    <a:ext uri="{FF2B5EF4-FFF2-40B4-BE49-F238E27FC236}">
                      <a16:creationId xmlns:a16="http://schemas.microsoft.com/office/drawing/2014/main" id="{4487ADAD-D3AB-4049-B04A-A5F8BF6EC60E}"/>
                    </a:ext>
                  </a:extLst>
                </p:cNvPr>
                <p:cNvSpPr>
                  <a:spLocks/>
                </p:cNvSpPr>
                <p:nvPr/>
              </p:nvSpPr>
              <p:spPr bwMode="auto">
                <a:xfrm>
                  <a:off x="6318250" y="1220788"/>
                  <a:ext cx="1588"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F2F2F2"/>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28" name="Freeform 36">
                  <a:extLst>
                    <a:ext uri="{FF2B5EF4-FFF2-40B4-BE49-F238E27FC236}">
                      <a16:creationId xmlns:a16="http://schemas.microsoft.com/office/drawing/2014/main" id="{72422DB5-3BDA-4329-B94E-064DB5CBB431}"/>
                    </a:ext>
                  </a:extLst>
                </p:cNvPr>
                <p:cNvSpPr>
                  <a:spLocks/>
                </p:cNvSpPr>
                <p:nvPr/>
              </p:nvSpPr>
              <p:spPr bwMode="auto">
                <a:xfrm>
                  <a:off x="6318250" y="1222375"/>
                  <a:ext cx="1588" cy="1588"/>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C6C6C6"/>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29" name="Freeform 37">
                  <a:extLst>
                    <a:ext uri="{FF2B5EF4-FFF2-40B4-BE49-F238E27FC236}">
                      <a16:creationId xmlns:a16="http://schemas.microsoft.com/office/drawing/2014/main" id="{83939C92-9090-4609-951B-C6E36FAE8C7D}"/>
                    </a:ext>
                  </a:extLst>
                </p:cNvPr>
                <p:cNvSpPr>
                  <a:spLocks noEditPoints="1"/>
                </p:cNvSpPr>
                <p:nvPr/>
              </p:nvSpPr>
              <p:spPr bwMode="auto">
                <a:xfrm>
                  <a:off x="6316662" y="1222375"/>
                  <a:ext cx="4763" cy="115888"/>
                </a:xfrm>
                <a:custGeom>
                  <a:avLst/>
                  <a:gdLst/>
                  <a:ahLst/>
                  <a:cxnLst>
                    <a:cxn ang="0">
                      <a:pos x="1" y="0"/>
                    </a:cxn>
                    <a:cxn ang="0">
                      <a:pos x="3" y="62"/>
                    </a:cxn>
                    <a:cxn ang="0">
                      <a:pos x="0" y="126"/>
                    </a:cxn>
                    <a:cxn ang="0">
                      <a:pos x="1" y="0"/>
                    </a:cxn>
                    <a:cxn ang="0">
                      <a:pos x="1" y="0"/>
                    </a:cxn>
                    <a:cxn ang="0">
                      <a:pos x="1" y="0"/>
                    </a:cxn>
                    <a:cxn ang="0">
                      <a:pos x="1" y="0"/>
                    </a:cxn>
                    <a:cxn ang="0">
                      <a:pos x="1" y="0"/>
                    </a:cxn>
                    <a:cxn ang="0">
                      <a:pos x="1" y="0"/>
                    </a:cxn>
                  </a:cxnLst>
                  <a:rect l="0" t="0" r="r" b="b"/>
                  <a:pathLst>
                    <a:path w="4" h="126">
                      <a:moveTo>
                        <a:pt x="1" y="0"/>
                      </a:moveTo>
                      <a:cubicBezTo>
                        <a:pt x="2" y="20"/>
                        <a:pt x="3" y="41"/>
                        <a:pt x="3" y="62"/>
                      </a:cubicBezTo>
                      <a:cubicBezTo>
                        <a:pt x="3" y="83"/>
                        <a:pt x="2" y="104"/>
                        <a:pt x="0" y="126"/>
                      </a:cubicBezTo>
                      <a:cubicBezTo>
                        <a:pt x="4" y="83"/>
                        <a:pt x="4" y="41"/>
                        <a:pt x="1" y="0"/>
                      </a:cubicBezTo>
                      <a:moveTo>
                        <a:pt x="1" y="0"/>
                      </a:moveTo>
                      <a:cubicBezTo>
                        <a:pt x="1" y="0"/>
                        <a:pt x="1" y="0"/>
                        <a:pt x="1" y="0"/>
                      </a:cubicBezTo>
                      <a:cubicBezTo>
                        <a:pt x="1" y="0"/>
                        <a:pt x="1" y="0"/>
                        <a:pt x="1" y="0"/>
                      </a:cubicBezTo>
                      <a:cubicBezTo>
                        <a:pt x="1" y="0"/>
                        <a:pt x="1" y="0"/>
                        <a:pt x="1" y="0"/>
                      </a:cubicBezTo>
                      <a:cubicBezTo>
                        <a:pt x="1" y="0"/>
                        <a:pt x="1" y="0"/>
                        <a:pt x="1" y="0"/>
                      </a:cubicBezTo>
                    </a:path>
                  </a:pathLst>
                </a:custGeom>
                <a:solidFill>
                  <a:srgbClr val="F2F2F2"/>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30" name="Freeform 38">
                  <a:extLst>
                    <a:ext uri="{FF2B5EF4-FFF2-40B4-BE49-F238E27FC236}">
                      <a16:creationId xmlns:a16="http://schemas.microsoft.com/office/drawing/2014/main" id="{7B5CB690-0DC4-4EAA-85A5-5533F86EF3AC}"/>
                    </a:ext>
                  </a:extLst>
                </p:cNvPr>
                <p:cNvSpPr>
                  <a:spLocks/>
                </p:cNvSpPr>
                <p:nvPr/>
              </p:nvSpPr>
              <p:spPr bwMode="auto">
                <a:xfrm>
                  <a:off x="6316662" y="1211263"/>
                  <a:ext cx="3175" cy="68263"/>
                </a:xfrm>
                <a:custGeom>
                  <a:avLst/>
                  <a:gdLst/>
                  <a:ahLst/>
                  <a:cxnLst>
                    <a:cxn ang="0">
                      <a:pos x="1" y="0"/>
                    </a:cxn>
                    <a:cxn ang="0">
                      <a:pos x="0" y="0"/>
                    </a:cxn>
                    <a:cxn ang="0">
                      <a:pos x="1" y="1"/>
                    </a:cxn>
                    <a:cxn ang="0">
                      <a:pos x="4" y="74"/>
                    </a:cxn>
                    <a:cxn ang="0">
                      <a:pos x="2" y="12"/>
                    </a:cxn>
                    <a:cxn ang="0">
                      <a:pos x="2" y="12"/>
                    </a:cxn>
                    <a:cxn ang="0">
                      <a:pos x="2" y="12"/>
                    </a:cxn>
                    <a:cxn ang="0">
                      <a:pos x="2" y="12"/>
                    </a:cxn>
                    <a:cxn ang="0">
                      <a:pos x="2" y="12"/>
                    </a:cxn>
                    <a:cxn ang="0">
                      <a:pos x="2" y="11"/>
                    </a:cxn>
                    <a:cxn ang="0">
                      <a:pos x="2" y="11"/>
                    </a:cxn>
                    <a:cxn ang="0">
                      <a:pos x="2" y="11"/>
                    </a:cxn>
                    <a:cxn ang="0">
                      <a:pos x="2" y="11"/>
                    </a:cxn>
                    <a:cxn ang="0">
                      <a:pos x="2" y="11"/>
                    </a:cxn>
                    <a:cxn ang="0">
                      <a:pos x="2" y="11"/>
                    </a:cxn>
                    <a:cxn ang="0">
                      <a:pos x="2" y="11"/>
                    </a:cxn>
                    <a:cxn ang="0">
                      <a:pos x="2" y="11"/>
                    </a:cxn>
                    <a:cxn ang="0">
                      <a:pos x="2" y="11"/>
                    </a:cxn>
                    <a:cxn ang="0">
                      <a:pos x="2" y="11"/>
                    </a:cxn>
                    <a:cxn ang="0">
                      <a:pos x="2" y="11"/>
                    </a:cxn>
                    <a:cxn ang="0">
                      <a:pos x="2" y="11"/>
                    </a:cxn>
                    <a:cxn ang="0">
                      <a:pos x="2" y="10"/>
                    </a:cxn>
                    <a:cxn ang="0">
                      <a:pos x="2" y="10"/>
                    </a:cxn>
                    <a:cxn ang="0">
                      <a:pos x="2" y="10"/>
                    </a:cxn>
                    <a:cxn ang="0">
                      <a:pos x="2" y="10"/>
                    </a:cxn>
                    <a:cxn ang="0">
                      <a:pos x="1" y="0"/>
                    </a:cxn>
                    <a:cxn ang="0">
                      <a:pos x="1" y="0"/>
                    </a:cxn>
                  </a:cxnLst>
                  <a:rect l="0" t="0" r="r" b="b"/>
                  <a:pathLst>
                    <a:path w="4" h="74">
                      <a:moveTo>
                        <a:pt x="1" y="0"/>
                      </a:moveTo>
                      <a:cubicBezTo>
                        <a:pt x="1" y="0"/>
                        <a:pt x="0" y="0"/>
                        <a:pt x="0" y="0"/>
                      </a:cubicBezTo>
                      <a:cubicBezTo>
                        <a:pt x="0" y="0"/>
                        <a:pt x="1" y="1"/>
                        <a:pt x="1" y="1"/>
                      </a:cubicBezTo>
                      <a:cubicBezTo>
                        <a:pt x="3" y="25"/>
                        <a:pt x="4" y="49"/>
                        <a:pt x="4" y="74"/>
                      </a:cubicBezTo>
                      <a:cubicBezTo>
                        <a:pt x="4" y="53"/>
                        <a:pt x="3" y="32"/>
                        <a:pt x="2" y="12"/>
                      </a:cubicBezTo>
                      <a:cubicBezTo>
                        <a:pt x="2" y="12"/>
                        <a:pt x="2" y="12"/>
                        <a:pt x="2" y="12"/>
                      </a:cubicBezTo>
                      <a:cubicBezTo>
                        <a:pt x="2" y="12"/>
                        <a:pt x="2" y="12"/>
                        <a:pt x="2" y="12"/>
                      </a:cubicBezTo>
                      <a:cubicBezTo>
                        <a:pt x="2" y="12"/>
                        <a:pt x="2" y="12"/>
                        <a:pt x="2" y="12"/>
                      </a:cubicBezTo>
                      <a:cubicBezTo>
                        <a:pt x="2" y="12"/>
                        <a:pt x="2" y="12"/>
                        <a:pt x="2" y="12"/>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0"/>
                        <a:pt x="2" y="10"/>
                        <a:pt x="2" y="10"/>
                      </a:cubicBezTo>
                      <a:cubicBezTo>
                        <a:pt x="2" y="10"/>
                        <a:pt x="2" y="10"/>
                        <a:pt x="2" y="10"/>
                      </a:cubicBezTo>
                      <a:cubicBezTo>
                        <a:pt x="2" y="10"/>
                        <a:pt x="2" y="10"/>
                        <a:pt x="2" y="10"/>
                      </a:cubicBezTo>
                      <a:cubicBezTo>
                        <a:pt x="2" y="10"/>
                        <a:pt x="2" y="10"/>
                        <a:pt x="2" y="10"/>
                      </a:cubicBezTo>
                      <a:cubicBezTo>
                        <a:pt x="2" y="7"/>
                        <a:pt x="1" y="4"/>
                        <a:pt x="1" y="0"/>
                      </a:cubicBezTo>
                      <a:cubicBezTo>
                        <a:pt x="1" y="0"/>
                        <a:pt x="1" y="0"/>
                        <a:pt x="1" y="0"/>
                      </a:cubicBezTo>
                    </a:path>
                  </a:pathLst>
                </a:custGeom>
                <a:solidFill>
                  <a:srgbClr val="B7352B"/>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31" name="Freeform 40">
                  <a:extLst>
                    <a:ext uri="{FF2B5EF4-FFF2-40B4-BE49-F238E27FC236}">
                      <a16:creationId xmlns:a16="http://schemas.microsoft.com/office/drawing/2014/main" id="{02AB09DA-8613-40C3-BDAD-1E1578C9F6B3}"/>
                    </a:ext>
                  </a:extLst>
                </p:cNvPr>
                <p:cNvSpPr>
                  <a:spLocks/>
                </p:cNvSpPr>
                <p:nvPr/>
              </p:nvSpPr>
              <p:spPr bwMode="auto">
                <a:xfrm>
                  <a:off x="6316662" y="1338263"/>
                  <a:ext cx="1588"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F2F2F2"/>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32" name="Freeform 41">
                  <a:extLst>
                    <a:ext uri="{FF2B5EF4-FFF2-40B4-BE49-F238E27FC236}">
                      <a16:creationId xmlns:a16="http://schemas.microsoft.com/office/drawing/2014/main" id="{DF611685-8671-438C-B39A-92E40C06FD5E}"/>
                    </a:ext>
                  </a:extLst>
                </p:cNvPr>
                <p:cNvSpPr>
                  <a:spLocks noEditPoints="1"/>
                </p:cNvSpPr>
                <p:nvPr/>
              </p:nvSpPr>
              <p:spPr bwMode="auto">
                <a:xfrm>
                  <a:off x="5175250" y="1797050"/>
                  <a:ext cx="1001713" cy="893763"/>
                </a:xfrm>
                <a:custGeom>
                  <a:avLst/>
                  <a:gdLst/>
                  <a:ahLst/>
                  <a:cxnLst>
                    <a:cxn ang="0">
                      <a:pos x="72" y="943"/>
                    </a:cxn>
                    <a:cxn ang="0">
                      <a:pos x="0" y="970"/>
                    </a:cxn>
                    <a:cxn ang="0">
                      <a:pos x="0" y="970"/>
                    </a:cxn>
                    <a:cxn ang="0">
                      <a:pos x="72" y="943"/>
                    </a:cxn>
                    <a:cxn ang="0">
                      <a:pos x="72" y="943"/>
                    </a:cxn>
                    <a:cxn ang="0">
                      <a:pos x="1088" y="0"/>
                    </a:cxn>
                    <a:cxn ang="0">
                      <a:pos x="724" y="498"/>
                    </a:cxn>
                    <a:cxn ang="0">
                      <a:pos x="1088" y="0"/>
                    </a:cxn>
                    <a:cxn ang="0">
                      <a:pos x="1088" y="0"/>
                    </a:cxn>
                  </a:cxnLst>
                  <a:rect l="0" t="0" r="r" b="b"/>
                  <a:pathLst>
                    <a:path w="1088" h="970">
                      <a:moveTo>
                        <a:pt x="72" y="943"/>
                      </a:moveTo>
                      <a:cubicBezTo>
                        <a:pt x="48" y="953"/>
                        <a:pt x="24" y="962"/>
                        <a:pt x="0" y="970"/>
                      </a:cubicBezTo>
                      <a:cubicBezTo>
                        <a:pt x="0" y="970"/>
                        <a:pt x="0" y="970"/>
                        <a:pt x="0" y="970"/>
                      </a:cubicBezTo>
                      <a:cubicBezTo>
                        <a:pt x="24" y="962"/>
                        <a:pt x="48" y="953"/>
                        <a:pt x="72" y="943"/>
                      </a:cubicBezTo>
                      <a:cubicBezTo>
                        <a:pt x="72" y="943"/>
                        <a:pt x="72" y="943"/>
                        <a:pt x="72" y="943"/>
                      </a:cubicBezTo>
                      <a:moveTo>
                        <a:pt x="1088" y="0"/>
                      </a:moveTo>
                      <a:cubicBezTo>
                        <a:pt x="1001" y="170"/>
                        <a:pt x="879" y="341"/>
                        <a:pt x="724" y="498"/>
                      </a:cubicBezTo>
                      <a:cubicBezTo>
                        <a:pt x="879" y="341"/>
                        <a:pt x="1001" y="170"/>
                        <a:pt x="1088" y="0"/>
                      </a:cubicBezTo>
                      <a:cubicBezTo>
                        <a:pt x="1088" y="0"/>
                        <a:pt x="1088" y="0"/>
                        <a:pt x="1088" y="0"/>
                      </a:cubicBezTo>
                    </a:path>
                  </a:pathLst>
                </a:custGeom>
                <a:solidFill>
                  <a:srgbClr val="C6C6C6"/>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33" name="Freeform 42">
                  <a:extLst>
                    <a:ext uri="{FF2B5EF4-FFF2-40B4-BE49-F238E27FC236}">
                      <a16:creationId xmlns:a16="http://schemas.microsoft.com/office/drawing/2014/main" id="{7824761C-627E-4FCF-8F60-4303936DAD50}"/>
                    </a:ext>
                  </a:extLst>
                </p:cNvPr>
                <p:cNvSpPr>
                  <a:spLocks/>
                </p:cNvSpPr>
                <p:nvPr/>
              </p:nvSpPr>
              <p:spPr bwMode="auto">
                <a:xfrm>
                  <a:off x="5241925" y="2493963"/>
                  <a:ext cx="317500" cy="171450"/>
                </a:xfrm>
                <a:custGeom>
                  <a:avLst/>
                  <a:gdLst/>
                  <a:ahLst/>
                  <a:cxnLst>
                    <a:cxn ang="0">
                      <a:pos x="344" y="0"/>
                    </a:cxn>
                    <a:cxn ang="0">
                      <a:pos x="0" y="186"/>
                    </a:cxn>
                    <a:cxn ang="0">
                      <a:pos x="0" y="186"/>
                    </a:cxn>
                    <a:cxn ang="0">
                      <a:pos x="344" y="0"/>
                    </a:cxn>
                  </a:cxnLst>
                  <a:rect l="0" t="0" r="r" b="b"/>
                  <a:pathLst>
                    <a:path w="344" h="186">
                      <a:moveTo>
                        <a:pt x="344" y="0"/>
                      </a:moveTo>
                      <a:cubicBezTo>
                        <a:pt x="230" y="79"/>
                        <a:pt x="114" y="141"/>
                        <a:pt x="0" y="186"/>
                      </a:cubicBezTo>
                      <a:cubicBezTo>
                        <a:pt x="0" y="186"/>
                        <a:pt x="0" y="186"/>
                        <a:pt x="0" y="186"/>
                      </a:cubicBezTo>
                      <a:cubicBezTo>
                        <a:pt x="114" y="141"/>
                        <a:pt x="230" y="79"/>
                        <a:pt x="344" y="0"/>
                      </a:cubicBezTo>
                    </a:path>
                  </a:pathLst>
                </a:custGeom>
                <a:solidFill>
                  <a:srgbClr val="264561"/>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34" name="Freeform 14">
                  <a:extLst>
                    <a:ext uri="{FF2B5EF4-FFF2-40B4-BE49-F238E27FC236}">
                      <a16:creationId xmlns:a16="http://schemas.microsoft.com/office/drawing/2014/main" id="{011A7954-B152-4C0B-98BB-15F909B1563D}"/>
                    </a:ext>
                  </a:extLst>
                </p:cNvPr>
                <p:cNvSpPr>
                  <a:spLocks/>
                </p:cNvSpPr>
                <p:nvPr/>
              </p:nvSpPr>
              <p:spPr bwMode="auto">
                <a:xfrm>
                  <a:off x="5788023" y="1203327"/>
                  <a:ext cx="541338" cy="539750"/>
                </a:xfrm>
                <a:custGeom>
                  <a:avLst/>
                  <a:gdLst/>
                  <a:ahLst/>
                  <a:cxnLst>
                    <a:cxn ang="0">
                      <a:pos x="0" y="142"/>
                    </a:cxn>
                    <a:cxn ang="0">
                      <a:pos x="233" y="357"/>
                    </a:cxn>
                    <a:cxn ang="0">
                      <a:pos x="452" y="587"/>
                    </a:cxn>
                    <a:cxn ang="0">
                      <a:pos x="573" y="12"/>
                    </a:cxn>
                    <a:cxn ang="0">
                      <a:pos x="0" y="142"/>
                    </a:cxn>
                  </a:cxnLst>
                  <a:rect l="0" t="0" r="r" b="b"/>
                  <a:pathLst>
                    <a:path w="588" h="587">
                      <a:moveTo>
                        <a:pt x="0" y="142"/>
                      </a:moveTo>
                      <a:cubicBezTo>
                        <a:pt x="79" y="210"/>
                        <a:pt x="157" y="281"/>
                        <a:pt x="233" y="357"/>
                      </a:cubicBezTo>
                      <a:cubicBezTo>
                        <a:pt x="310" y="433"/>
                        <a:pt x="383" y="510"/>
                        <a:pt x="452" y="587"/>
                      </a:cubicBezTo>
                      <a:cubicBezTo>
                        <a:pt x="546" y="384"/>
                        <a:pt x="588" y="184"/>
                        <a:pt x="573" y="12"/>
                      </a:cubicBezTo>
                      <a:cubicBezTo>
                        <a:pt x="401" y="0"/>
                        <a:pt x="202" y="45"/>
                        <a:pt x="0" y="142"/>
                      </a:cubicBezTo>
                    </a:path>
                  </a:pathLst>
                </a:custGeom>
                <a:solidFill>
                  <a:srgbClr val="0170BD"/>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grpSp>
        <p:grpSp>
          <p:nvGrpSpPr>
            <p:cNvPr id="19" name="Group 460">
              <a:extLst>
                <a:ext uri="{FF2B5EF4-FFF2-40B4-BE49-F238E27FC236}">
                  <a16:creationId xmlns:a16="http://schemas.microsoft.com/office/drawing/2014/main" id="{91FF7FF3-1DB3-4709-8221-986778C7084B}"/>
                </a:ext>
              </a:extLst>
            </p:cNvPr>
            <p:cNvGrpSpPr/>
            <p:nvPr/>
          </p:nvGrpSpPr>
          <p:grpSpPr>
            <a:xfrm flipH="1">
              <a:off x="4422941" y="1485684"/>
              <a:ext cx="2116381" cy="2306228"/>
              <a:chOff x="654280" y="1047000"/>
              <a:chExt cx="3037332" cy="3309787"/>
            </a:xfrm>
          </p:grpSpPr>
          <p:grpSp>
            <p:nvGrpSpPr>
              <p:cNvPr id="171" name="Group 461">
                <a:extLst>
                  <a:ext uri="{FF2B5EF4-FFF2-40B4-BE49-F238E27FC236}">
                    <a16:creationId xmlns:a16="http://schemas.microsoft.com/office/drawing/2014/main" id="{725D5DF7-E968-4A79-823A-4A9ADD22F89A}"/>
                  </a:ext>
                </a:extLst>
              </p:cNvPr>
              <p:cNvGrpSpPr/>
              <p:nvPr/>
            </p:nvGrpSpPr>
            <p:grpSpPr>
              <a:xfrm>
                <a:off x="654280" y="2079826"/>
                <a:ext cx="3024555" cy="2276961"/>
                <a:chOff x="604505" y="1981058"/>
                <a:chExt cx="3153719" cy="2374200"/>
              </a:xfrm>
            </p:grpSpPr>
            <p:grpSp>
              <p:nvGrpSpPr>
                <p:cNvPr id="192" name="Group 483">
                  <a:extLst>
                    <a:ext uri="{FF2B5EF4-FFF2-40B4-BE49-F238E27FC236}">
                      <a16:creationId xmlns:a16="http://schemas.microsoft.com/office/drawing/2014/main" id="{77FACCD8-6C61-4D21-8B52-CE1141A8FB80}"/>
                    </a:ext>
                  </a:extLst>
                </p:cNvPr>
                <p:cNvGrpSpPr/>
                <p:nvPr/>
              </p:nvGrpSpPr>
              <p:grpSpPr>
                <a:xfrm rot="15155533" flipH="1">
                  <a:off x="773232" y="1812331"/>
                  <a:ext cx="2374200" cy="2711653"/>
                  <a:chOff x="6326188" y="1654175"/>
                  <a:chExt cx="2410644" cy="3082384"/>
                </a:xfrm>
                <a:solidFill>
                  <a:schemeClr val="bg2">
                    <a:lumMod val="75000"/>
                  </a:schemeClr>
                </a:solidFill>
              </p:grpSpPr>
              <p:sp>
                <p:nvSpPr>
                  <p:cNvPr id="274" name="Freeform 129">
                    <a:extLst>
                      <a:ext uri="{FF2B5EF4-FFF2-40B4-BE49-F238E27FC236}">
                        <a16:creationId xmlns:a16="http://schemas.microsoft.com/office/drawing/2014/main" id="{B78AFD2B-162F-4C8D-B473-2E9C21B0B3B0}"/>
                      </a:ext>
                    </a:extLst>
                  </p:cNvPr>
                  <p:cNvSpPr>
                    <a:spLocks/>
                  </p:cNvSpPr>
                  <p:nvPr/>
                </p:nvSpPr>
                <p:spPr bwMode="auto">
                  <a:xfrm>
                    <a:off x="8027988" y="1720850"/>
                    <a:ext cx="3175" cy="1588"/>
                  </a:xfrm>
                  <a:custGeom>
                    <a:avLst/>
                    <a:gdLst/>
                    <a:ahLst/>
                    <a:cxnLst>
                      <a:cxn ang="0">
                        <a:pos x="0" y="0"/>
                      </a:cxn>
                      <a:cxn ang="0">
                        <a:pos x="0" y="0"/>
                      </a:cxn>
                      <a:cxn ang="0">
                        <a:pos x="0" y="0"/>
                      </a:cxn>
                    </a:cxnLst>
                    <a:rect l="0" t="0" r="r" b="b"/>
                    <a:pathLst>
                      <a:path w="1">
                        <a:moveTo>
                          <a:pt x="0" y="0"/>
                        </a:moveTo>
                        <a:cubicBezTo>
                          <a:pt x="0" y="0"/>
                          <a:pt x="1"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75" name="Freeform 130">
                    <a:extLst>
                      <a:ext uri="{FF2B5EF4-FFF2-40B4-BE49-F238E27FC236}">
                        <a16:creationId xmlns:a16="http://schemas.microsoft.com/office/drawing/2014/main" id="{83B98AFC-AA46-47D0-A738-E2BF7EF97996}"/>
                      </a:ext>
                    </a:extLst>
                  </p:cNvPr>
                  <p:cNvSpPr>
                    <a:spLocks/>
                  </p:cNvSpPr>
                  <p:nvPr/>
                </p:nvSpPr>
                <p:spPr bwMode="auto">
                  <a:xfrm>
                    <a:off x="7724775" y="1841500"/>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0"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76" name="Freeform 131">
                    <a:extLst>
                      <a:ext uri="{FF2B5EF4-FFF2-40B4-BE49-F238E27FC236}">
                        <a16:creationId xmlns:a16="http://schemas.microsoft.com/office/drawing/2014/main" id="{4C82EB42-C4A2-4090-8A95-6B87F7174572}"/>
                      </a:ext>
                    </a:extLst>
                  </p:cNvPr>
                  <p:cNvSpPr>
                    <a:spLocks/>
                  </p:cNvSpPr>
                  <p:nvPr/>
                </p:nvSpPr>
                <p:spPr bwMode="auto">
                  <a:xfrm>
                    <a:off x="8218488" y="1671638"/>
                    <a:ext cx="12700" cy="1588"/>
                  </a:xfrm>
                  <a:custGeom>
                    <a:avLst/>
                    <a:gdLst/>
                    <a:ahLst/>
                    <a:cxnLst>
                      <a:cxn ang="0">
                        <a:pos x="0" y="1"/>
                      </a:cxn>
                      <a:cxn ang="0">
                        <a:pos x="0" y="1"/>
                      </a:cxn>
                      <a:cxn ang="0">
                        <a:pos x="5" y="0"/>
                      </a:cxn>
                      <a:cxn ang="0">
                        <a:pos x="0" y="1"/>
                      </a:cxn>
                    </a:cxnLst>
                    <a:rect l="0" t="0" r="r" b="b"/>
                    <a:pathLst>
                      <a:path w="5" h="1">
                        <a:moveTo>
                          <a:pt x="0" y="1"/>
                        </a:moveTo>
                        <a:cubicBezTo>
                          <a:pt x="0" y="1"/>
                          <a:pt x="0" y="1"/>
                          <a:pt x="0" y="1"/>
                        </a:cubicBezTo>
                        <a:cubicBezTo>
                          <a:pt x="5" y="0"/>
                          <a:pt x="5" y="0"/>
                          <a:pt x="5" y="0"/>
                        </a:cubicBezTo>
                        <a:lnTo>
                          <a:pt x="0" y="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77" name="Freeform 132">
                    <a:extLst>
                      <a:ext uri="{FF2B5EF4-FFF2-40B4-BE49-F238E27FC236}">
                        <a16:creationId xmlns:a16="http://schemas.microsoft.com/office/drawing/2014/main" id="{6326F319-34DB-43F7-BEAD-238CCBF3DDBD}"/>
                      </a:ext>
                    </a:extLst>
                  </p:cNvPr>
                  <p:cNvSpPr>
                    <a:spLocks/>
                  </p:cNvSpPr>
                  <p:nvPr/>
                </p:nvSpPr>
                <p:spPr bwMode="auto">
                  <a:xfrm>
                    <a:off x="7169150" y="2263775"/>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1"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78" name="Freeform 133">
                    <a:extLst>
                      <a:ext uri="{FF2B5EF4-FFF2-40B4-BE49-F238E27FC236}">
                        <a16:creationId xmlns:a16="http://schemas.microsoft.com/office/drawing/2014/main" id="{852CEB46-EC6C-4BD1-8925-F12B68755C3E}"/>
                      </a:ext>
                    </a:extLst>
                  </p:cNvPr>
                  <p:cNvSpPr>
                    <a:spLocks/>
                  </p:cNvSpPr>
                  <p:nvPr/>
                </p:nvSpPr>
                <p:spPr bwMode="auto">
                  <a:xfrm>
                    <a:off x="7480300" y="1995488"/>
                    <a:ext cx="4762" cy="4763"/>
                  </a:xfrm>
                  <a:custGeom>
                    <a:avLst/>
                    <a:gdLst/>
                    <a:ahLst/>
                    <a:cxnLst>
                      <a:cxn ang="0">
                        <a:pos x="2" y="0"/>
                      </a:cxn>
                      <a:cxn ang="0">
                        <a:pos x="0" y="2"/>
                      </a:cxn>
                      <a:cxn ang="0">
                        <a:pos x="2" y="0"/>
                      </a:cxn>
                    </a:cxnLst>
                    <a:rect l="0" t="0" r="r" b="b"/>
                    <a:pathLst>
                      <a:path w="2" h="2">
                        <a:moveTo>
                          <a:pt x="2" y="0"/>
                        </a:moveTo>
                        <a:cubicBezTo>
                          <a:pt x="1" y="0"/>
                          <a:pt x="1" y="1"/>
                          <a:pt x="0" y="2"/>
                        </a:cubicBezTo>
                        <a:cubicBezTo>
                          <a:pt x="1" y="1"/>
                          <a:pt x="2" y="0"/>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79" name="Freeform 134">
                    <a:extLst>
                      <a:ext uri="{FF2B5EF4-FFF2-40B4-BE49-F238E27FC236}">
                        <a16:creationId xmlns:a16="http://schemas.microsoft.com/office/drawing/2014/main" id="{86AAC1A5-22CE-456F-B451-E6112F11069C}"/>
                      </a:ext>
                    </a:extLst>
                  </p:cNvPr>
                  <p:cNvSpPr>
                    <a:spLocks/>
                  </p:cNvSpPr>
                  <p:nvPr/>
                </p:nvSpPr>
                <p:spPr bwMode="auto">
                  <a:xfrm>
                    <a:off x="8318500" y="1681163"/>
                    <a:ext cx="7937" cy="1588"/>
                  </a:xfrm>
                  <a:custGeom>
                    <a:avLst/>
                    <a:gdLst/>
                    <a:ahLst/>
                    <a:cxnLst>
                      <a:cxn ang="0">
                        <a:pos x="3" y="0"/>
                      </a:cxn>
                      <a:cxn ang="0">
                        <a:pos x="0" y="0"/>
                      </a:cxn>
                      <a:cxn ang="0">
                        <a:pos x="3" y="0"/>
                      </a:cxn>
                    </a:cxnLst>
                    <a:rect l="0" t="0" r="r" b="b"/>
                    <a:pathLst>
                      <a:path w="3">
                        <a:moveTo>
                          <a:pt x="3" y="0"/>
                        </a:moveTo>
                        <a:cubicBezTo>
                          <a:pt x="0" y="0"/>
                          <a:pt x="0" y="0"/>
                          <a:pt x="0" y="0"/>
                        </a:cubicBezTo>
                        <a:cubicBezTo>
                          <a:pt x="0" y="0"/>
                          <a:pt x="1"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80" name="Freeform 135">
                    <a:extLst>
                      <a:ext uri="{FF2B5EF4-FFF2-40B4-BE49-F238E27FC236}">
                        <a16:creationId xmlns:a16="http://schemas.microsoft.com/office/drawing/2014/main" id="{4C7D27D4-84C8-4680-9C52-72BFB61A44DE}"/>
                      </a:ext>
                    </a:extLst>
                  </p:cNvPr>
                  <p:cNvSpPr>
                    <a:spLocks/>
                  </p:cNvSpPr>
                  <p:nvPr/>
                </p:nvSpPr>
                <p:spPr bwMode="auto">
                  <a:xfrm>
                    <a:off x="8516938" y="1655763"/>
                    <a:ext cx="1587" cy="1588"/>
                  </a:xfrm>
                  <a:custGeom>
                    <a:avLst/>
                    <a:gdLst/>
                    <a:ahLst/>
                    <a:cxnLst>
                      <a:cxn ang="0">
                        <a:pos x="1" y="0"/>
                      </a:cxn>
                      <a:cxn ang="0">
                        <a:pos x="1" y="0"/>
                      </a:cxn>
                      <a:cxn ang="0">
                        <a:pos x="1" y="0"/>
                      </a:cxn>
                    </a:cxnLst>
                    <a:rect l="0" t="0" r="r" b="b"/>
                    <a:pathLst>
                      <a:path w="1">
                        <a:moveTo>
                          <a:pt x="1" y="0"/>
                        </a:moveTo>
                        <a:cubicBezTo>
                          <a:pt x="1" y="0"/>
                          <a:pt x="1" y="0"/>
                          <a:pt x="1"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81" name="Freeform 136">
                    <a:extLst>
                      <a:ext uri="{FF2B5EF4-FFF2-40B4-BE49-F238E27FC236}">
                        <a16:creationId xmlns:a16="http://schemas.microsoft.com/office/drawing/2014/main" id="{6044D674-F546-457C-860D-51D93E5DB318}"/>
                      </a:ext>
                    </a:extLst>
                  </p:cNvPr>
                  <p:cNvSpPr>
                    <a:spLocks/>
                  </p:cNvSpPr>
                  <p:nvPr/>
                </p:nvSpPr>
                <p:spPr bwMode="auto">
                  <a:xfrm>
                    <a:off x="8434388" y="1654175"/>
                    <a:ext cx="7937" cy="1588"/>
                  </a:xfrm>
                  <a:custGeom>
                    <a:avLst/>
                    <a:gdLst/>
                    <a:ahLst/>
                    <a:cxnLst>
                      <a:cxn ang="0">
                        <a:pos x="3" y="0"/>
                      </a:cxn>
                      <a:cxn ang="0">
                        <a:pos x="0" y="0"/>
                      </a:cxn>
                      <a:cxn ang="0">
                        <a:pos x="3" y="0"/>
                      </a:cxn>
                    </a:cxnLst>
                    <a:rect l="0" t="0" r="r" b="b"/>
                    <a:pathLst>
                      <a:path w="3">
                        <a:moveTo>
                          <a:pt x="3" y="0"/>
                        </a:moveTo>
                        <a:cubicBezTo>
                          <a:pt x="2" y="0"/>
                          <a:pt x="1" y="0"/>
                          <a:pt x="0" y="0"/>
                        </a:cubicBezTo>
                        <a:cubicBezTo>
                          <a:pt x="1" y="0"/>
                          <a:pt x="3"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82" name="Freeform 137">
                    <a:extLst>
                      <a:ext uri="{FF2B5EF4-FFF2-40B4-BE49-F238E27FC236}">
                        <a16:creationId xmlns:a16="http://schemas.microsoft.com/office/drawing/2014/main" id="{4E29EE9F-9525-4BAA-AFE7-EC4A35047036}"/>
                      </a:ext>
                    </a:extLst>
                  </p:cNvPr>
                  <p:cNvSpPr>
                    <a:spLocks/>
                  </p:cNvSpPr>
                  <p:nvPr/>
                </p:nvSpPr>
                <p:spPr bwMode="auto">
                  <a:xfrm>
                    <a:off x="8432800" y="1654175"/>
                    <a:ext cx="1587" cy="1588"/>
                  </a:xfrm>
                  <a:custGeom>
                    <a:avLst/>
                    <a:gdLst/>
                    <a:ahLst/>
                    <a:cxnLst>
                      <a:cxn ang="0">
                        <a:pos x="0" y="0"/>
                      </a:cxn>
                      <a:cxn ang="0">
                        <a:pos x="1" y="0"/>
                      </a:cxn>
                      <a:cxn ang="0">
                        <a:pos x="0" y="0"/>
                      </a:cxn>
                    </a:cxnLst>
                    <a:rect l="0" t="0" r="r" b="b"/>
                    <a:pathLst>
                      <a:path w="1">
                        <a:moveTo>
                          <a:pt x="0" y="0"/>
                        </a:moveTo>
                        <a:cubicBezTo>
                          <a:pt x="1" y="0"/>
                          <a:pt x="1" y="0"/>
                          <a:pt x="1" y="0"/>
                        </a:cubicBezTo>
                        <a:cubicBezTo>
                          <a:pt x="1"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83" name="Freeform 138">
                    <a:extLst>
                      <a:ext uri="{FF2B5EF4-FFF2-40B4-BE49-F238E27FC236}">
                        <a16:creationId xmlns:a16="http://schemas.microsoft.com/office/drawing/2014/main" id="{F64835FE-EA9E-4E57-8871-C91B206F9753}"/>
                      </a:ext>
                    </a:extLst>
                  </p:cNvPr>
                  <p:cNvSpPr>
                    <a:spLocks/>
                  </p:cNvSpPr>
                  <p:nvPr/>
                </p:nvSpPr>
                <p:spPr bwMode="auto">
                  <a:xfrm>
                    <a:off x="6326188" y="4597400"/>
                    <a:ext cx="3175" cy="17463"/>
                  </a:xfrm>
                  <a:custGeom>
                    <a:avLst/>
                    <a:gdLst/>
                    <a:ahLst/>
                    <a:cxnLst>
                      <a:cxn ang="0">
                        <a:pos x="0" y="0"/>
                      </a:cxn>
                      <a:cxn ang="0">
                        <a:pos x="1" y="7"/>
                      </a:cxn>
                      <a:cxn ang="0">
                        <a:pos x="0" y="0"/>
                      </a:cxn>
                    </a:cxnLst>
                    <a:rect l="0" t="0" r="r" b="b"/>
                    <a:pathLst>
                      <a:path w="1" h="7">
                        <a:moveTo>
                          <a:pt x="0" y="0"/>
                        </a:moveTo>
                        <a:cubicBezTo>
                          <a:pt x="0" y="3"/>
                          <a:pt x="0" y="5"/>
                          <a:pt x="1" y="7"/>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84" name="Freeform 139">
                    <a:extLst>
                      <a:ext uri="{FF2B5EF4-FFF2-40B4-BE49-F238E27FC236}">
                        <a16:creationId xmlns:a16="http://schemas.microsoft.com/office/drawing/2014/main" id="{96C1FF60-4C03-4041-B59B-CE7B666FE1C2}"/>
                      </a:ext>
                    </a:extLst>
                  </p:cNvPr>
                  <p:cNvSpPr>
                    <a:spLocks/>
                  </p:cNvSpPr>
                  <p:nvPr/>
                </p:nvSpPr>
                <p:spPr bwMode="auto">
                  <a:xfrm>
                    <a:off x="6789738" y="2773363"/>
                    <a:ext cx="3175" cy="1588"/>
                  </a:xfrm>
                  <a:custGeom>
                    <a:avLst/>
                    <a:gdLst/>
                    <a:ahLst/>
                    <a:cxnLst>
                      <a:cxn ang="0">
                        <a:pos x="1" y="1"/>
                      </a:cxn>
                      <a:cxn ang="0">
                        <a:pos x="1" y="0"/>
                      </a:cxn>
                      <a:cxn ang="0">
                        <a:pos x="1" y="1"/>
                      </a:cxn>
                    </a:cxnLst>
                    <a:rect l="0" t="0" r="r" b="b"/>
                    <a:pathLst>
                      <a:path w="1" h="1">
                        <a:moveTo>
                          <a:pt x="1" y="1"/>
                        </a:moveTo>
                        <a:cubicBezTo>
                          <a:pt x="1" y="0"/>
                          <a:pt x="1" y="0"/>
                          <a:pt x="1" y="0"/>
                        </a:cubicBezTo>
                        <a:cubicBezTo>
                          <a:pt x="0" y="1"/>
                          <a:pt x="0" y="1"/>
                          <a:pt x="1"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85" name="Freeform 140">
                    <a:extLst>
                      <a:ext uri="{FF2B5EF4-FFF2-40B4-BE49-F238E27FC236}">
                        <a16:creationId xmlns:a16="http://schemas.microsoft.com/office/drawing/2014/main" id="{B7AE6B76-C074-472C-84B5-F38782C08A3E}"/>
                      </a:ext>
                    </a:extLst>
                  </p:cNvPr>
                  <p:cNvSpPr>
                    <a:spLocks/>
                  </p:cNvSpPr>
                  <p:nvPr/>
                </p:nvSpPr>
                <p:spPr bwMode="auto">
                  <a:xfrm>
                    <a:off x="6342063" y="4603750"/>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86" name="Freeform 141">
                    <a:extLst>
                      <a:ext uri="{FF2B5EF4-FFF2-40B4-BE49-F238E27FC236}">
                        <a16:creationId xmlns:a16="http://schemas.microsoft.com/office/drawing/2014/main" id="{EF52BD1C-2AA6-473C-9450-96A4A24C6F3A}"/>
                      </a:ext>
                    </a:extLst>
                  </p:cNvPr>
                  <p:cNvSpPr>
                    <a:spLocks/>
                  </p:cNvSpPr>
                  <p:nvPr/>
                </p:nvSpPr>
                <p:spPr bwMode="auto">
                  <a:xfrm>
                    <a:off x="8207375" y="1704975"/>
                    <a:ext cx="17462" cy="6350"/>
                  </a:xfrm>
                  <a:custGeom>
                    <a:avLst/>
                    <a:gdLst/>
                    <a:ahLst/>
                    <a:cxnLst>
                      <a:cxn ang="0">
                        <a:pos x="7" y="0"/>
                      </a:cxn>
                      <a:cxn ang="0">
                        <a:pos x="0" y="2"/>
                      </a:cxn>
                      <a:cxn ang="0">
                        <a:pos x="7" y="0"/>
                      </a:cxn>
                    </a:cxnLst>
                    <a:rect l="0" t="0" r="r" b="b"/>
                    <a:pathLst>
                      <a:path w="7" h="2">
                        <a:moveTo>
                          <a:pt x="7" y="0"/>
                        </a:moveTo>
                        <a:cubicBezTo>
                          <a:pt x="5" y="1"/>
                          <a:pt x="0" y="1"/>
                          <a:pt x="0" y="2"/>
                        </a:cubicBezTo>
                        <a:cubicBezTo>
                          <a:pt x="3" y="1"/>
                          <a:pt x="6" y="1"/>
                          <a:pt x="7"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87" name="Freeform 142">
                    <a:extLst>
                      <a:ext uri="{FF2B5EF4-FFF2-40B4-BE49-F238E27FC236}">
                        <a16:creationId xmlns:a16="http://schemas.microsoft.com/office/drawing/2014/main" id="{354D8709-D0B8-49E6-96EE-BC6C601844D4}"/>
                      </a:ext>
                    </a:extLst>
                  </p:cNvPr>
                  <p:cNvSpPr>
                    <a:spLocks/>
                  </p:cNvSpPr>
                  <p:nvPr/>
                </p:nvSpPr>
                <p:spPr bwMode="auto">
                  <a:xfrm>
                    <a:off x="6788150" y="2924175"/>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88" name="Freeform 143">
                    <a:extLst>
                      <a:ext uri="{FF2B5EF4-FFF2-40B4-BE49-F238E27FC236}">
                        <a16:creationId xmlns:a16="http://schemas.microsoft.com/office/drawing/2014/main" id="{2C47C08D-2586-4132-BFEA-AF0093B9D1B6}"/>
                      </a:ext>
                    </a:extLst>
                  </p:cNvPr>
                  <p:cNvSpPr>
                    <a:spLocks/>
                  </p:cNvSpPr>
                  <p:nvPr/>
                </p:nvSpPr>
                <p:spPr bwMode="auto">
                  <a:xfrm>
                    <a:off x="6342063" y="4602163"/>
                    <a:ext cx="1587" cy="1588"/>
                  </a:xfrm>
                  <a:custGeom>
                    <a:avLst/>
                    <a:gdLst/>
                    <a:ahLst/>
                    <a:cxnLst>
                      <a:cxn ang="0">
                        <a:pos x="0" y="1"/>
                      </a:cxn>
                      <a:cxn ang="0">
                        <a:pos x="0" y="0"/>
                      </a:cxn>
                      <a:cxn ang="0">
                        <a:pos x="0" y="0"/>
                      </a:cxn>
                      <a:cxn ang="0">
                        <a:pos x="0" y="1"/>
                      </a:cxn>
                    </a:cxnLst>
                    <a:rect l="0" t="0" r="r" b="b"/>
                    <a:pathLst>
                      <a:path h="1">
                        <a:moveTo>
                          <a:pt x="0" y="1"/>
                        </a:moveTo>
                        <a:cubicBezTo>
                          <a:pt x="0" y="0"/>
                          <a:pt x="0" y="0"/>
                          <a:pt x="0" y="0"/>
                        </a:cubicBez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89" name="Rectangle 144">
                    <a:extLst>
                      <a:ext uri="{FF2B5EF4-FFF2-40B4-BE49-F238E27FC236}">
                        <a16:creationId xmlns:a16="http://schemas.microsoft.com/office/drawing/2014/main" id="{7F165B28-7C7B-4B8C-9CD6-DB2E803B30B4}"/>
                      </a:ext>
                    </a:extLst>
                  </p:cNvPr>
                  <p:cNvSpPr>
                    <a:spLocks noChangeArrowheads="1"/>
                  </p:cNvSpPr>
                  <p:nvPr/>
                </p:nvSpPr>
                <p:spPr bwMode="auto">
                  <a:xfrm>
                    <a:off x="6518275" y="3373438"/>
                    <a:ext cx="1587" cy="158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90" name="Freeform 145">
                    <a:extLst>
                      <a:ext uri="{FF2B5EF4-FFF2-40B4-BE49-F238E27FC236}">
                        <a16:creationId xmlns:a16="http://schemas.microsoft.com/office/drawing/2014/main" id="{B9B87C75-96DB-4BFE-A64F-080AEAB12616}"/>
                      </a:ext>
                    </a:extLst>
                  </p:cNvPr>
                  <p:cNvSpPr>
                    <a:spLocks/>
                  </p:cNvSpPr>
                  <p:nvPr/>
                </p:nvSpPr>
                <p:spPr bwMode="auto">
                  <a:xfrm>
                    <a:off x="6505575" y="3398838"/>
                    <a:ext cx="1587" cy="6350"/>
                  </a:xfrm>
                  <a:custGeom>
                    <a:avLst/>
                    <a:gdLst/>
                    <a:ahLst/>
                    <a:cxnLst>
                      <a:cxn ang="0">
                        <a:pos x="0" y="3"/>
                      </a:cxn>
                      <a:cxn ang="0">
                        <a:pos x="0" y="0"/>
                      </a:cxn>
                      <a:cxn ang="0">
                        <a:pos x="0" y="3"/>
                      </a:cxn>
                    </a:cxnLst>
                    <a:rect l="0" t="0" r="r" b="b"/>
                    <a:pathLst>
                      <a:path h="3">
                        <a:moveTo>
                          <a:pt x="0" y="3"/>
                        </a:moveTo>
                        <a:cubicBezTo>
                          <a:pt x="0" y="0"/>
                          <a:pt x="0" y="0"/>
                          <a:pt x="0" y="0"/>
                        </a:cubicBezTo>
                        <a:cubicBezTo>
                          <a:pt x="0" y="2"/>
                          <a:pt x="0" y="3"/>
                          <a:pt x="0" y="3"/>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91" name="Freeform 146">
                    <a:extLst>
                      <a:ext uri="{FF2B5EF4-FFF2-40B4-BE49-F238E27FC236}">
                        <a16:creationId xmlns:a16="http://schemas.microsoft.com/office/drawing/2014/main" id="{B2AFD7CA-0C2A-421F-AFC7-489AA9DC6BB0}"/>
                      </a:ext>
                    </a:extLst>
                  </p:cNvPr>
                  <p:cNvSpPr>
                    <a:spLocks/>
                  </p:cNvSpPr>
                  <p:nvPr/>
                </p:nvSpPr>
                <p:spPr bwMode="auto">
                  <a:xfrm>
                    <a:off x="6329363" y="4614863"/>
                    <a:ext cx="1587" cy="6350"/>
                  </a:xfrm>
                  <a:custGeom>
                    <a:avLst/>
                    <a:gdLst/>
                    <a:ahLst/>
                    <a:cxnLst>
                      <a:cxn ang="0">
                        <a:pos x="0" y="0"/>
                      </a:cxn>
                      <a:cxn ang="0">
                        <a:pos x="0" y="3"/>
                      </a:cxn>
                      <a:cxn ang="0">
                        <a:pos x="0" y="0"/>
                      </a:cxn>
                    </a:cxnLst>
                    <a:rect l="0" t="0" r="r" b="b"/>
                    <a:pathLst>
                      <a:path h="3">
                        <a:moveTo>
                          <a:pt x="0" y="0"/>
                        </a:moveTo>
                        <a:cubicBezTo>
                          <a:pt x="0" y="3"/>
                          <a:pt x="0" y="3"/>
                          <a:pt x="0" y="3"/>
                        </a:cubicBezTo>
                        <a:cubicBezTo>
                          <a:pt x="0" y="2"/>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92" name="Freeform 147">
                    <a:extLst>
                      <a:ext uri="{FF2B5EF4-FFF2-40B4-BE49-F238E27FC236}">
                        <a16:creationId xmlns:a16="http://schemas.microsoft.com/office/drawing/2014/main" id="{3E8AA883-D92E-49CE-8CEF-2B83D776DA53}"/>
                      </a:ext>
                    </a:extLst>
                  </p:cNvPr>
                  <p:cNvSpPr>
                    <a:spLocks/>
                  </p:cNvSpPr>
                  <p:nvPr/>
                </p:nvSpPr>
                <p:spPr bwMode="auto">
                  <a:xfrm>
                    <a:off x="6405563" y="3765550"/>
                    <a:ext cx="3175" cy="4763"/>
                  </a:xfrm>
                  <a:custGeom>
                    <a:avLst/>
                    <a:gdLst/>
                    <a:ahLst/>
                    <a:cxnLst>
                      <a:cxn ang="0">
                        <a:pos x="0" y="2"/>
                      </a:cxn>
                      <a:cxn ang="0">
                        <a:pos x="1" y="0"/>
                      </a:cxn>
                      <a:cxn ang="0">
                        <a:pos x="0" y="2"/>
                      </a:cxn>
                    </a:cxnLst>
                    <a:rect l="0" t="0" r="r" b="b"/>
                    <a:pathLst>
                      <a:path w="1" h="2">
                        <a:moveTo>
                          <a:pt x="0" y="2"/>
                        </a:moveTo>
                        <a:cubicBezTo>
                          <a:pt x="1" y="0"/>
                          <a:pt x="1" y="0"/>
                          <a:pt x="1" y="0"/>
                        </a:cubicBezTo>
                        <a:cubicBezTo>
                          <a:pt x="0" y="1"/>
                          <a:pt x="0" y="2"/>
                          <a:pt x="0"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93" name="Freeform 148">
                    <a:extLst>
                      <a:ext uri="{FF2B5EF4-FFF2-40B4-BE49-F238E27FC236}">
                        <a16:creationId xmlns:a16="http://schemas.microsoft.com/office/drawing/2014/main" id="{4BA3E83B-6E36-4475-A262-B0E0A05774F5}"/>
                      </a:ext>
                    </a:extLst>
                  </p:cNvPr>
                  <p:cNvSpPr>
                    <a:spLocks/>
                  </p:cNvSpPr>
                  <p:nvPr/>
                </p:nvSpPr>
                <p:spPr bwMode="auto">
                  <a:xfrm>
                    <a:off x="7507288" y="1978025"/>
                    <a:ext cx="3175" cy="3175"/>
                  </a:xfrm>
                  <a:custGeom>
                    <a:avLst/>
                    <a:gdLst/>
                    <a:ahLst/>
                    <a:cxnLst>
                      <a:cxn ang="0">
                        <a:pos x="0" y="1"/>
                      </a:cxn>
                      <a:cxn ang="0">
                        <a:pos x="1" y="0"/>
                      </a:cxn>
                      <a:cxn ang="0">
                        <a:pos x="0" y="1"/>
                      </a:cxn>
                    </a:cxnLst>
                    <a:rect l="0" t="0" r="r" b="b"/>
                    <a:pathLst>
                      <a:path w="1" h="1">
                        <a:moveTo>
                          <a:pt x="0" y="1"/>
                        </a:moveTo>
                        <a:cubicBezTo>
                          <a:pt x="0" y="1"/>
                          <a:pt x="0" y="1"/>
                          <a:pt x="1" y="0"/>
                        </a:cubicBezTo>
                        <a:cubicBezTo>
                          <a:pt x="1" y="0"/>
                          <a:pt x="1" y="0"/>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94" name="Freeform 149">
                    <a:extLst>
                      <a:ext uri="{FF2B5EF4-FFF2-40B4-BE49-F238E27FC236}">
                        <a16:creationId xmlns:a16="http://schemas.microsoft.com/office/drawing/2014/main" id="{34749674-F208-494A-94CC-54C038BD2594}"/>
                      </a:ext>
                    </a:extLst>
                  </p:cNvPr>
                  <p:cNvSpPr>
                    <a:spLocks/>
                  </p:cNvSpPr>
                  <p:nvPr/>
                </p:nvSpPr>
                <p:spPr bwMode="auto">
                  <a:xfrm>
                    <a:off x="7335838" y="2182813"/>
                    <a:ext cx="3175" cy="1588"/>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95" name="Freeform 150">
                    <a:extLst>
                      <a:ext uri="{FF2B5EF4-FFF2-40B4-BE49-F238E27FC236}">
                        <a16:creationId xmlns:a16="http://schemas.microsoft.com/office/drawing/2014/main" id="{FEB32EEC-0E20-47C6-B562-52D3208FFF8B}"/>
                      </a:ext>
                    </a:extLst>
                  </p:cNvPr>
                  <p:cNvSpPr>
                    <a:spLocks/>
                  </p:cNvSpPr>
                  <p:nvPr/>
                </p:nvSpPr>
                <p:spPr bwMode="auto">
                  <a:xfrm>
                    <a:off x="7339013" y="2171700"/>
                    <a:ext cx="6350" cy="11113"/>
                  </a:xfrm>
                  <a:custGeom>
                    <a:avLst/>
                    <a:gdLst/>
                    <a:ahLst/>
                    <a:cxnLst>
                      <a:cxn ang="0">
                        <a:pos x="3" y="0"/>
                      </a:cxn>
                      <a:cxn ang="0">
                        <a:pos x="0" y="4"/>
                      </a:cxn>
                      <a:cxn ang="0">
                        <a:pos x="3" y="0"/>
                      </a:cxn>
                    </a:cxnLst>
                    <a:rect l="0" t="0" r="r" b="b"/>
                    <a:pathLst>
                      <a:path w="3" h="4">
                        <a:moveTo>
                          <a:pt x="3" y="0"/>
                        </a:moveTo>
                        <a:cubicBezTo>
                          <a:pt x="2" y="1"/>
                          <a:pt x="0" y="3"/>
                          <a:pt x="0" y="4"/>
                        </a:cubicBezTo>
                        <a:cubicBezTo>
                          <a:pt x="1" y="3"/>
                          <a:pt x="2" y="2"/>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96" name="Freeform 151">
                    <a:extLst>
                      <a:ext uri="{FF2B5EF4-FFF2-40B4-BE49-F238E27FC236}">
                        <a16:creationId xmlns:a16="http://schemas.microsoft.com/office/drawing/2014/main" id="{217576FA-7798-421C-A2EC-98496B3975CB}"/>
                      </a:ext>
                    </a:extLst>
                  </p:cNvPr>
                  <p:cNvSpPr>
                    <a:spLocks/>
                  </p:cNvSpPr>
                  <p:nvPr/>
                </p:nvSpPr>
                <p:spPr bwMode="auto">
                  <a:xfrm>
                    <a:off x="7316788" y="2200275"/>
                    <a:ext cx="1587" cy="1588"/>
                  </a:xfrm>
                  <a:custGeom>
                    <a:avLst/>
                    <a:gdLst/>
                    <a:ahLst/>
                    <a:cxnLst>
                      <a:cxn ang="0">
                        <a:pos x="0" y="1"/>
                      </a:cxn>
                      <a:cxn ang="0">
                        <a:pos x="0" y="0"/>
                      </a:cxn>
                      <a:cxn ang="0">
                        <a:pos x="0" y="1"/>
                      </a:cxn>
                    </a:cxnLst>
                    <a:rect l="0" t="0" r="r" b="b"/>
                    <a:pathLst>
                      <a:path h="1">
                        <a:moveTo>
                          <a:pt x="0" y="1"/>
                        </a:move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97" name="Freeform 152">
                    <a:extLst>
                      <a:ext uri="{FF2B5EF4-FFF2-40B4-BE49-F238E27FC236}">
                        <a16:creationId xmlns:a16="http://schemas.microsoft.com/office/drawing/2014/main" id="{FC52251F-90E2-4E54-AB4A-A0C73BBA1332}"/>
                      </a:ext>
                    </a:extLst>
                  </p:cNvPr>
                  <p:cNvSpPr>
                    <a:spLocks/>
                  </p:cNvSpPr>
                  <p:nvPr/>
                </p:nvSpPr>
                <p:spPr bwMode="auto">
                  <a:xfrm>
                    <a:off x="7526338" y="202882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98" name="Freeform 153">
                    <a:extLst>
                      <a:ext uri="{FF2B5EF4-FFF2-40B4-BE49-F238E27FC236}">
                        <a16:creationId xmlns:a16="http://schemas.microsoft.com/office/drawing/2014/main" id="{80336F24-9050-4922-B284-93061F417E58}"/>
                      </a:ext>
                    </a:extLst>
                  </p:cNvPr>
                  <p:cNvSpPr>
                    <a:spLocks/>
                  </p:cNvSpPr>
                  <p:nvPr/>
                </p:nvSpPr>
                <p:spPr bwMode="auto">
                  <a:xfrm>
                    <a:off x="7481888" y="2063750"/>
                    <a:ext cx="3175" cy="1588"/>
                  </a:xfrm>
                  <a:custGeom>
                    <a:avLst/>
                    <a:gdLst/>
                    <a:ahLst/>
                    <a:cxnLst>
                      <a:cxn ang="0">
                        <a:pos x="1" y="0"/>
                      </a:cxn>
                      <a:cxn ang="0">
                        <a:pos x="0" y="0"/>
                      </a:cxn>
                      <a:cxn ang="0">
                        <a:pos x="1" y="0"/>
                      </a:cxn>
                    </a:cxnLst>
                    <a:rect l="0" t="0" r="r" b="b"/>
                    <a:pathLst>
                      <a:path w="1">
                        <a:moveTo>
                          <a:pt x="1" y="0"/>
                        </a:moveTo>
                        <a:cubicBezTo>
                          <a:pt x="1"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99" name="Freeform 154">
                    <a:extLst>
                      <a:ext uri="{FF2B5EF4-FFF2-40B4-BE49-F238E27FC236}">
                        <a16:creationId xmlns:a16="http://schemas.microsoft.com/office/drawing/2014/main" id="{CD354B62-FBD2-4F28-A2EC-F5AC6D2370E9}"/>
                      </a:ext>
                    </a:extLst>
                  </p:cNvPr>
                  <p:cNvSpPr>
                    <a:spLocks/>
                  </p:cNvSpPr>
                  <p:nvPr/>
                </p:nvSpPr>
                <p:spPr bwMode="auto">
                  <a:xfrm>
                    <a:off x="7221538" y="23018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00" name="Freeform 155">
                    <a:extLst>
                      <a:ext uri="{FF2B5EF4-FFF2-40B4-BE49-F238E27FC236}">
                        <a16:creationId xmlns:a16="http://schemas.microsoft.com/office/drawing/2014/main" id="{7E873C69-E03F-42FD-8EAE-45F102025A52}"/>
                      </a:ext>
                    </a:extLst>
                  </p:cNvPr>
                  <p:cNvSpPr>
                    <a:spLocks/>
                  </p:cNvSpPr>
                  <p:nvPr/>
                </p:nvSpPr>
                <p:spPr bwMode="auto">
                  <a:xfrm>
                    <a:off x="6471470" y="1748884"/>
                    <a:ext cx="2265362" cy="2987675"/>
                  </a:xfrm>
                  <a:custGeom>
                    <a:avLst/>
                    <a:gdLst/>
                    <a:ahLst/>
                    <a:cxnLst>
                      <a:cxn ang="0">
                        <a:pos x="295" y="351"/>
                      </a:cxn>
                      <a:cxn ang="0">
                        <a:pos x="339" y="296"/>
                      </a:cxn>
                      <a:cxn ang="0">
                        <a:pos x="362" y="265"/>
                      </a:cxn>
                      <a:cxn ang="0">
                        <a:pos x="377" y="249"/>
                      </a:cxn>
                      <a:cxn ang="0">
                        <a:pos x="403" y="224"/>
                      </a:cxn>
                      <a:cxn ang="0">
                        <a:pos x="411" y="216"/>
                      </a:cxn>
                      <a:cxn ang="0">
                        <a:pos x="427" y="202"/>
                      </a:cxn>
                      <a:cxn ang="0">
                        <a:pos x="458" y="180"/>
                      </a:cxn>
                      <a:cxn ang="0">
                        <a:pos x="477" y="162"/>
                      </a:cxn>
                      <a:cxn ang="0">
                        <a:pos x="512" y="134"/>
                      </a:cxn>
                      <a:cxn ang="0">
                        <a:pos x="530" y="124"/>
                      </a:cxn>
                      <a:cxn ang="0">
                        <a:pos x="558" y="106"/>
                      </a:cxn>
                      <a:cxn ang="0">
                        <a:pos x="583" y="94"/>
                      </a:cxn>
                      <a:cxn ang="0">
                        <a:pos x="620" y="71"/>
                      </a:cxn>
                      <a:cxn ang="0">
                        <a:pos x="662" y="54"/>
                      </a:cxn>
                      <a:cxn ang="0">
                        <a:pos x="704" y="40"/>
                      </a:cxn>
                      <a:cxn ang="0">
                        <a:pos x="735" y="30"/>
                      </a:cxn>
                      <a:cxn ang="0">
                        <a:pos x="758" y="25"/>
                      </a:cxn>
                      <a:cxn ang="0">
                        <a:pos x="759" y="26"/>
                      </a:cxn>
                      <a:cxn ang="0">
                        <a:pos x="785" y="19"/>
                      </a:cxn>
                      <a:cxn ang="0">
                        <a:pos x="800" y="15"/>
                      </a:cxn>
                      <a:cxn ang="0">
                        <a:pos x="820" y="12"/>
                      </a:cxn>
                      <a:cxn ang="0">
                        <a:pos x="870" y="10"/>
                      </a:cxn>
                      <a:cxn ang="0">
                        <a:pos x="906" y="8"/>
                      </a:cxn>
                      <a:cxn ang="0">
                        <a:pos x="880" y="2"/>
                      </a:cxn>
                      <a:cxn ang="0">
                        <a:pos x="860" y="3"/>
                      </a:cxn>
                      <a:cxn ang="0">
                        <a:pos x="836" y="3"/>
                      </a:cxn>
                      <a:cxn ang="0">
                        <a:pos x="793" y="6"/>
                      </a:cxn>
                      <a:cxn ang="0">
                        <a:pos x="772" y="11"/>
                      </a:cxn>
                      <a:cxn ang="0">
                        <a:pos x="753" y="14"/>
                      </a:cxn>
                      <a:cxn ang="0">
                        <a:pos x="685" y="33"/>
                      </a:cxn>
                      <a:cxn ang="0">
                        <a:pos x="652" y="43"/>
                      </a:cxn>
                      <a:cxn ang="0">
                        <a:pos x="635" y="50"/>
                      </a:cxn>
                      <a:cxn ang="0">
                        <a:pos x="605" y="64"/>
                      </a:cxn>
                      <a:cxn ang="0">
                        <a:pos x="569" y="81"/>
                      </a:cxn>
                      <a:cxn ang="0">
                        <a:pos x="547" y="90"/>
                      </a:cxn>
                      <a:cxn ang="0">
                        <a:pos x="500" y="120"/>
                      </a:cxn>
                      <a:cxn ang="0">
                        <a:pos x="454" y="152"/>
                      </a:cxn>
                      <a:cxn ang="0">
                        <a:pos x="418" y="183"/>
                      </a:cxn>
                      <a:cxn ang="0">
                        <a:pos x="399" y="199"/>
                      </a:cxn>
                      <a:cxn ang="0">
                        <a:pos x="372" y="223"/>
                      </a:cxn>
                      <a:cxn ang="0">
                        <a:pos x="333" y="260"/>
                      </a:cxn>
                      <a:cxn ang="0">
                        <a:pos x="303" y="297"/>
                      </a:cxn>
                      <a:cxn ang="0">
                        <a:pos x="252" y="360"/>
                      </a:cxn>
                      <a:cxn ang="0">
                        <a:pos x="200" y="442"/>
                      </a:cxn>
                      <a:cxn ang="0">
                        <a:pos x="184" y="468"/>
                      </a:cxn>
                      <a:cxn ang="0">
                        <a:pos x="168" y="498"/>
                      </a:cxn>
                      <a:cxn ang="0">
                        <a:pos x="143" y="549"/>
                      </a:cxn>
                      <a:cxn ang="0">
                        <a:pos x="99" y="648"/>
                      </a:cxn>
                      <a:cxn ang="0">
                        <a:pos x="68" y="741"/>
                      </a:cxn>
                      <a:cxn ang="0">
                        <a:pos x="38" y="844"/>
                      </a:cxn>
                      <a:cxn ang="0">
                        <a:pos x="0" y="1116"/>
                      </a:cxn>
                      <a:cxn ang="0">
                        <a:pos x="9" y="1197"/>
                      </a:cxn>
                      <a:cxn ang="0">
                        <a:pos x="11" y="1180"/>
                      </a:cxn>
                      <a:cxn ang="0">
                        <a:pos x="15" y="1154"/>
                      </a:cxn>
                      <a:cxn ang="0">
                        <a:pos x="18" y="1114"/>
                      </a:cxn>
                      <a:cxn ang="0">
                        <a:pos x="40" y="988"/>
                      </a:cxn>
                      <a:cxn ang="0">
                        <a:pos x="89" y="767"/>
                      </a:cxn>
                      <a:cxn ang="0">
                        <a:pos x="117" y="681"/>
                      </a:cxn>
                      <a:cxn ang="0">
                        <a:pos x="157" y="582"/>
                      </a:cxn>
                      <a:cxn ang="0">
                        <a:pos x="164" y="564"/>
                      </a:cxn>
                      <a:cxn ang="0">
                        <a:pos x="193" y="510"/>
                      </a:cxn>
                      <a:cxn ang="0">
                        <a:pos x="216" y="471"/>
                      </a:cxn>
                    </a:cxnLst>
                    <a:rect l="0" t="0" r="r" b="b"/>
                    <a:pathLst>
                      <a:path w="913" h="1204">
                        <a:moveTo>
                          <a:pt x="243" y="429"/>
                        </a:moveTo>
                        <a:cubicBezTo>
                          <a:pt x="254" y="411"/>
                          <a:pt x="268" y="388"/>
                          <a:pt x="280" y="372"/>
                        </a:cubicBezTo>
                        <a:cubicBezTo>
                          <a:pt x="282" y="368"/>
                          <a:pt x="286" y="362"/>
                          <a:pt x="289" y="357"/>
                        </a:cubicBezTo>
                        <a:cubicBezTo>
                          <a:pt x="291" y="358"/>
                          <a:pt x="291" y="358"/>
                          <a:pt x="291" y="358"/>
                        </a:cubicBezTo>
                        <a:cubicBezTo>
                          <a:pt x="294" y="353"/>
                          <a:pt x="294" y="353"/>
                          <a:pt x="294" y="353"/>
                        </a:cubicBezTo>
                        <a:cubicBezTo>
                          <a:pt x="296" y="351"/>
                          <a:pt x="292" y="356"/>
                          <a:pt x="295" y="354"/>
                        </a:cubicBezTo>
                        <a:cubicBezTo>
                          <a:pt x="295" y="351"/>
                          <a:pt x="295" y="351"/>
                          <a:pt x="295" y="351"/>
                        </a:cubicBezTo>
                        <a:cubicBezTo>
                          <a:pt x="296" y="351"/>
                          <a:pt x="304" y="341"/>
                          <a:pt x="299" y="349"/>
                        </a:cubicBezTo>
                        <a:cubicBezTo>
                          <a:pt x="304" y="343"/>
                          <a:pt x="308" y="338"/>
                          <a:pt x="313" y="332"/>
                        </a:cubicBezTo>
                        <a:cubicBezTo>
                          <a:pt x="316" y="329"/>
                          <a:pt x="313" y="329"/>
                          <a:pt x="317" y="325"/>
                        </a:cubicBezTo>
                        <a:cubicBezTo>
                          <a:pt x="318" y="325"/>
                          <a:pt x="316" y="327"/>
                          <a:pt x="317" y="327"/>
                        </a:cubicBezTo>
                        <a:cubicBezTo>
                          <a:pt x="328" y="316"/>
                          <a:pt x="325" y="311"/>
                          <a:pt x="335" y="300"/>
                        </a:cubicBezTo>
                        <a:cubicBezTo>
                          <a:pt x="334" y="301"/>
                          <a:pt x="334" y="301"/>
                          <a:pt x="334" y="301"/>
                        </a:cubicBezTo>
                        <a:cubicBezTo>
                          <a:pt x="336" y="299"/>
                          <a:pt x="339" y="296"/>
                          <a:pt x="339" y="296"/>
                        </a:cubicBezTo>
                        <a:cubicBezTo>
                          <a:pt x="336" y="296"/>
                          <a:pt x="338" y="298"/>
                          <a:pt x="334" y="301"/>
                        </a:cubicBezTo>
                        <a:cubicBezTo>
                          <a:pt x="333" y="299"/>
                          <a:pt x="337" y="296"/>
                          <a:pt x="336" y="295"/>
                        </a:cubicBezTo>
                        <a:cubicBezTo>
                          <a:pt x="338" y="293"/>
                          <a:pt x="339" y="291"/>
                          <a:pt x="341" y="289"/>
                        </a:cubicBezTo>
                        <a:cubicBezTo>
                          <a:pt x="345" y="286"/>
                          <a:pt x="349" y="280"/>
                          <a:pt x="353" y="278"/>
                        </a:cubicBezTo>
                        <a:cubicBezTo>
                          <a:pt x="354" y="276"/>
                          <a:pt x="355" y="273"/>
                          <a:pt x="358" y="269"/>
                        </a:cubicBezTo>
                        <a:cubicBezTo>
                          <a:pt x="362" y="267"/>
                          <a:pt x="359" y="270"/>
                          <a:pt x="363" y="267"/>
                        </a:cubicBezTo>
                        <a:cubicBezTo>
                          <a:pt x="362" y="265"/>
                          <a:pt x="362" y="265"/>
                          <a:pt x="362" y="265"/>
                        </a:cubicBezTo>
                        <a:cubicBezTo>
                          <a:pt x="365" y="262"/>
                          <a:pt x="365" y="263"/>
                          <a:pt x="365" y="264"/>
                        </a:cubicBezTo>
                        <a:cubicBezTo>
                          <a:pt x="369" y="260"/>
                          <a:pt x="367" y="260"/>
                          <a:pt x="371" y="256"/>
                        </a:cubicBezTo>
                        <a:cubicBezTo>
                          <a:pt x="370" y="259"/>
                          <a:pt x="370" y="259"/>
                          <a:pt x="370" y="259"/>
                        </a:cubicBezTo>
                        <a:cubicBezTo>
                          <a:pt x="373" y="256"/>
                          <a:pt x="374" y="255"/>
                          <a:pt x="378" y="251"/>
                        </a:cubicBezTo>
                        <a:cubicBezTo>
                          <a:pt x="378" y="251"/>
                          <a:pt x="377" y="253"/>
                          <a:pt x="375" y="254"/>
                        </a:cubicBezTo>
                        <a:cubicBezTo>
                          <a:pt x="379" y="253"/>
                          <a:pt x="379" y="250"/>
                          <a:pt x="380" y="248"/>
                        </a:cubicBezTo>
                        <a:cubicBezTo>
                          <a:pt x="379" y="249"/>
                          <a:pt x="376" y="251"/>
                          <a:pt x="377" y="249"/>
                        </a:cubicBezTo>
                        <a:cubicBezTo>
                          <a:pt x="379" y="247"/>
                          <a:pt x="381" y="244"/>
                          <a:pt x="383" y="243"/>
                        </a:cubicBezTo>
                        <a:cubicBezTo>
                          <a:pt x="381" y="246"/>
                          <a:pt x="381" y="246"/>
                          <a:pt x="381" y="246"/>
                        </a:cubicBezTo>
                        <a:cubicBezTo>
                          <a:pt x="385" y="241"/>
                          <a:pt x="383" y="243"/>
                          <a:pt x="388" y="238"/>
                        </a:cubicBezTo>
                        <a:cubicBezTo>
                          <a:pt x="388" y="239"/>
                          <a:pt x="388" y="239"/>
                          <a:pt x="388" y="239"/>
                        </a:cubicBezTo>
                        <a:cubicBezTo>
                          <a:pt x="390" y="235"/>
                          <a:pt x="395" y="232"/>
                          <a:pt x="400" y="227"/>
                        </a:cubicBezTo>
                        <a:cubicBezTo>
                          <a:pt x="399" y="228"/>
                          <a:pt x="399" y="228"/>
                          <a:pt x="399" y="228"/>
                        </a:cubicBezTo>
                        <a:cubicBezTo>
                          <a:pt x="401" y="226"/>
                          <a:pt x="402" y="225"/>
                          <a:pt x="403" y="224"/>
                        </a:cubicBezTo>
                        <a:cubicBezTo>
                          <a:pt x="399" y="226"/>
                          <a:pt x="400" y="225"/>
                          <a:pt x="399" y="224"/>
                        </a:cubicBezTo>
                        <a:cubicBezTo>
                          <a:pt x="404" y="222"/>
                          <a:pt x="403" y="218"/>
                          <a:pt x="410" y="213"/>
                        </a:cubicBezTo>
                        <a:cubicBezTo>
                          <a:pt x="410" y="214"/>
                          <a:pt x="409" y="216"/>
                          <a:pt x="407" y="217"/>
                        </a:cubicBezTo>
                        <a:cubicBezTo>
                          <a:pt x="406" y="220"/>
                          <a:pt x="407" y="221"/>
                          <a:pt x="404" y="225"/>
                        </a:cubicBezTo>
                        <a:cubicBezTo>
                          <a:pt x="406" y="223"/>
                          <a:pt x="408" y="220"/>
                          <a:pt x="408" y="221"/>
                        </a:cubicBezTo>
                        <a:cubicBezTo>
                          <a:pt x="408" y="219"/>
                          <a:pt x="408" y="219"/>
                          <a:pt x="408" y="219"/>
                        </a:cubicBezTo>
                        <a:cubicBezTo>
                          <a:pt x="409" y="218"/>
                          <a:pt x="410" y="217"/>
                          <a:pt x="411" y="216"/>
                        </a:cubicBezTo>
                        <a:cubicBezTo>
                          <a:pt x="411" y="215"/>
                          <a:pt x="408" y="217"/>
                          <a:pt x="410" y="214"/>
                        </a:cubicBezTo>
                        <a:cubicBezTo>
                          <a:pt x="414" y="210"/>
                          <a:pt x="413" y="213"/>
                          <a:pt x="413" y="212"/>
                        </a:cubicBezTo>
                        <a:cubicBezTo>
                          <a:pt x="418" y="208"/>
                          <a:pt x="414" y="209"/>
                          <a:pt x="419" y="205"/>
                        </a:cubicBezTo>
                        <a:cubicBezTo>
                          <a:pt x="419" y="206"/>
                          <a:pt x="418" y="207"/>
                          <a:pt x="418" y="207"/>
                        </a:cubicBezTo>
                        <a:cubicBezTo>
                          <a:pt x="422" y="205"/>
                          <a:pt x="426" y="200"/>
                          <a:pt x="428" y="200"/>
                        </a:cubicBezTo>
                        <a:cubicBezTo>
                          <a:pt x="428" y="201"/>
                          <a:pt x="428" y="201"/>
                          <a:pt x="427" y="202"/>
                        </a:cubicBezTo>
                        <a:cubicBezTo>
                          <a:pt x="427" y="202"/>
                          <a:pt x="427" y="202"/>
                          <a:pt x="427" y="202"/>
                        </a:cubicBezTo>
                        <a:cubicBezTo>
                          <a:pt x="424" y="207"/>
                          <a:pt x="430" y="199"/>
                          <a:pt x="430" y="201"/>
                        </a:cubicBezTo>
                        <a:cubicBezTo>
                          <a:pt x="429" y="201"/>
                          <a:pt x="434" y="197"/>
                          <a:pt x="436" y="195"/>
                        </a:cubicBezTo>
                        <a:cubicBezTo>
                          <a:pt x="435" y="195"/>
                          <a:pt x="435" y="195"/>
                          <a:pt x="435" y="195"/>
                        </a:cubicBezTo>
                        <a:cubicBezTo>
                          <a:pt x="440" y="186"/>
                          <a:pt x="436" y="197"/>
                          <a:pt x="443" y="190"/>
                        </a:cubicBezTo>
                        <a:cubicBezTo>
                          <a:pt x="447" y="186"/>
                          <a:pt x="441" y="192"/>
                          <a:pt x="443" y="189"/>
                        </a:cubicBezTo>
                        <a:cubicBezTo>
                          <a:pt x="446" y="186"/>
                          <a:pt x="448" y="186"/>
                          <a:pt x="452" y="182"/>
                        </a:cubicBezTo>
                        <a:cubicBezTo>
                          <a:pt x="454" y="181"/>
                          <a:pt x="457" y="180"/>
                          <a:pt x="458" y="180"/>
                        </a:cubicBezTo>
                        <a:cubicBezTo>
                          <a:pt x="461" y="178"/>
                          <a:pt x="467" y="174"/>
                          <a:pt x="468" y="172"/>
                        </a:cubicBezTo>
                        <a:cubicBezTo>
                          <a:pt x="462" y="175"/>
                          <a:pt x="464" y="177"/>
                          <a:pt x="457" y="180"/>
                        </a:cubicBezTo>
                        <a:cubicBezTo>
                          <a:pt x="458" y="178"/>
                          <a:pt x="458" y="178"/>
                          <a:pt x="458" y="178"/>
                        </a:cubicBezTo>
                        <a:cubicBezTo>
                          <a:pt x="462" y="174"/>
                          <a:pt x="467" y="170"/>
                          <a:pt x="470" y="168"/>
                        </a:cubicBezTo>
                        <a:cubicBezTo>
                          <a:pt x="469" y="168"/>
                          <a:pt x="469" y="168"/>
                          <a:pt x="469" y="168"/>
                        </a:cubicBezTo>
                        <a:cubicBezTo>
                          <a:pt x="474" y="163"/>
                          <a:pt x="475" y="161"/>
                          <a:pt x="481" y="157"/>
                        </a:cubicBezTo>
                        <a:cubicBezTo>
                          <a:pt x="482" y="157"/>
                          <a:pt x="479" y="160"/>
                          <a:pt x="477" y="162"/>
                        </a:cubicBezTo>
                        <a:cubicBezTo>
                          <a:pt x="481" y="160"/>
                          <a:pt x="480" y="159"/>
                          <a:pt x="486" y="155"/>
                        </a:cubicBezTo>
                        <a:cubicBezTo>
                          <a:pt x="487" y="156"/>
                          <a:pt x="482" y="158"/>
                          <a:pt x="482" y="159"/>
                        </a:cubicBezTo>
                        <a:cubicBezTo>
                          <a:pt x="488" y="154"/>
                          <a:pt x="488" y="154"/>
                          <a:pt x="488" y="154"/>
                        </a:cubicBezTo>
                        <a:cubicBezTo>
                          <a:pt x="488" y="154"/>
                          <a:pt x="488" y="154"/>
                          <a:pt x="488" y="154"/>
                        </a:cubicBezTo>
                        <a:cubicBezTo>
                          <a:pt x="488" y="152"/>
                          <a:pt x="493" y="151"/>
                          <a:pt x="497" y="148"/>
                        </a:cubicBezTo>
                        <a:cubicBezTo>
                          <a:pt x="506" y="141"/>
                          <a:pt x="506" y="139"/>
                          <a:pt x="510" y="134"/>
                        </a:cubicBezTo>
                        <a:cubicBezTo>
                          <a:pt x="512" y="133"/>
                          <a:pt x="513" y="134"/>
                          <a:pt x="512" y="134"/>
                        </a:cubicBezTo>
                        <a:cubicBezTo>
                          <a:pt x="510" y="135"/>
                          <a:pt x="510" y="135"/>
                          <a:pt x="510" y="136"/>
                        </a:cubicBezTo>
                        <a:cubicBezTo>
                          <a:pt x="513" y="134"/>
                          <a:pt x="518" y="133"/>
                          <a:pt x="516" y="135"/>
                        </a:cubicBezTo>
                        <a:cubicBezTo>
                          <a:pt x="521" y="131"/>
                          <a:pt x="514" y="135"/>
                          <a:pt x="517" y="133"/>
                        </a:cubicBezTo>
                        <a:cubicBezTo>
                          <a:pt x="524" y="128"/>
                          <a:pt x="524" y="128"/>
                          <a:pt x="524" y="128"/>
                        </a:cubicBezTo>
                        <a:cubicBezTo>
                          <a:pt x="522" y="128"/>
                          <a:pt x="520" y="130"/>
                          <a:pt x="523" y="127"/>
                        </a:cubicBezTo>
                        <a:cubicBezTo>
                          <a:pt x="526" y="125"/>
                          <a:pt x="527" y="124"/>
                          <a:pt x="531" y="121"/>
                        </a:cubicBezTo>
                        <a:cubicBezTo>
                          <a:pt x="531" y="122"/>
                          <a:pt x="533" y="122"/>
                          <a:pt x="530" y="124"/>
                        </a:cubicBezTo>
                        <a:cubicBezTo>
                          <a:pt x="533" y="123"/>
                          <a:pt x="536" y="121"/>
                          <a:pt x="536" y="119"/>
                        </a:cubicBezTo>
                        <a:cubicBezTo>
                          <a:pt x="531" y="121"/>
                          <a:pt x="543" y="114"/>
                          <a:pt x="539" y="115"/>
                        </a:cubicBezTo>
                        <a:cubicBezTo>
                          <a:pt x="544" y="113"/>
                          <a:pt x="544" y="113"/>
                          <a:pt x="544" y="113"/>
                        </a:cubicBezTo>
                        <a:cubicBezTo>
                          <a:pt x="543" y="114"/>
                          <a:pt x="543" y="114"/>
                          <a:pt x="541" y="115"/>
                        </a:cubicBezTo>
                        <a:cubicBezTo>
                          <a:pt x="543" y="115"/>
                          <a:pt x="545" y="112"/>
                          <a:pt x="546" y="111"/>
                        </a:cubicBezTo>
                        <a:cubicBezTo>
                          <a:pt x="548" y="111"/>
                          <a:pt x="552" y="108"/>
                          <a:pt x="553" y="109"/>
                        </a:cubicBezTo>
                        <a:cubicBezTo>
                          <a:pt x="554" y="108"/>
                          <a:pt x="557" y="106"/>
                          <a:pt x="558" y="106"/>
                        </a:cubicBezTo>
                        <a:cubicBezTo>
                          <a:pt x="560" y="105"/>
                          <a:pt x="558" y="105"/>
                          <a:pt x="559" y="104"/>
                        </a:cubicBezTo>
                        <a:cubicBezTo>
                          <a:pt x="566" y="100"/>
                          <a:pt x="566" y="100"/>
                          <a:pt x="566" y="100"/>
                        </a:cubicBezTo>
                        <a:cubicBezTo>
                          <a:pt x="567" y="101"/>
                          <a:pt x="568" y="102"/>
                          <a:pt x="567" y="103"/>
                        </a:cubicBezTo>
                        <a:cubicBezTo>
                          <a:pt x="570" y="101"/>
                          <a:pt x="567" y="101"/>
                          <a:pt x="571" y="98"/>
                        </a:cubicBezTo>
                        <a:cubicBezTo>
                          <a:pt x="570" y="101"/>
                          <a:pt x="577" y="96"/>
                          <a:pt x="575" y="100"/>
                        </a:cubicBezTo>
                        <a:cubicBezTo>
                          <a:pt x="577" y="99"/>
                          <a:pt x="584" y="96"/>
                          <a:pt x="588" y="93"/>
                        </a:cubicBezTo>
                        <a:cubicBezTo>
                          <a:pt x="589" y="91"/>
                          <a:pt x="583" y="95"/>
                          <a:pt x="583" y="94"/>
                        </a:cubicBezTo>
                        <a:cubicBezTo>
                          <a:pt x="593" y="88"/>
                          <a:pt x="592" y="85"/>
                          <a:pt x="601" y="81"/>
                        </a:cubicBezTo>
                        <a:cubicBezTo>
                          <a:pt x="598" y="82"/>
                          <a:pt x="598" y="82"/>
                          <a:pt x="598" y="82"/>
                        </a:cubicBezTo>
                        <a:cubicBezTo>
                          <a:pt x="603" y="79"/>
                          <a:pt x="602" y="80"/>
                          <a:pt x="605" y="77"/>
                        </a:cubicBezTo>
                        <a:cubicBezTo>
                          <a:pt x="604" y="79"/>
                          <a:pt x="612" y="78"/>
                          <a:pt x="620" y="74"/>
                        </a:cubicBezTo>
                        <a:cubicBezTo>
                          <a:pt x="620" y="73"/>
                          <a:pt x="615" y="75"/>
                          <a:pt x="616" y="73"/>
                        </a:cubicBezTo>
                        <a:cubicBezTo>
                          <a:pt x="621" y="70"/>
                          <a:pt x="621" y="70"/>
                          <a:pt x="621" y="70"/>
                        </a:cubicBezTo>
                        <a:cubicBezTo>
                          <a:pt x="622" y="70"/>
                          <a:pt x="621" y="71"/>
                          <a:pt x="620" y="71"/>
                        </a:cubicBezTo>
                        <a:cubicBezTo>
                          <a:pt x="625" y="69"/>
                          <a:pt x="630" y="69"/>
                          <a:pt x="631" y="67"/>
                        </a:cubicBezTo>
                        <a:cubicBezTo>
                          <a:pt x="637" y="67"/>
                          <a:pt x="637" y="67"/>
                          <a:pt x="637" y="67"/>
                        </a:cubicBezTo>
                        <a:cubicBezTo>
                          <a:pt x="634" y="67"/>
                          <a:pt x="634" y="67"/>
                          <a:pt x="634" y="67"/>
                        </a:cubicBezTo>
                        <a:cubicBezTo>
                          <a:pt x="635" y="66"/>
                          <a:pt x="640" y="63"/>
                          <a:pt x="641" y="62"/>
                        </a:cubicBezTo>
                        <a:cubicBezTo>
                          <a:pt x="646" y="59"/>
                          <a:pt x="649" y="59"/>
                          <a:pt x="652" y="59"/>
                        </a:cubicBezTo>
                        <a:cubicBezTo>
                          <a:pt x="651" y="58"/>
                          <a:pt x="648" y="58"/>
                          <a:pt x="652" y="56"/>
                        </a:cubicBezTo>
                        <a:cubicBezTo>
                          <a:pt x="653" y="58"/>
                          <a:pt x="662" y="53"/>
                          <a:pt x="662" y="54"/>
                        </a:cubicBezTo>
                        <a:cubicBezTo>
                          <a:pt x="664" y="54"/>
                          <a:pt x="668" y="53"/>
                          <a:pt x="667" y="52"/>
                        </a:cubicBezTo>
                        <a:cubicBezTo>
                          <a:pt x="668" y="54"/>
                          <a:pt x="668" y="54"/>
                          <a:pt x="668" y="54"/>
                        </a:cubicBezTo>
                        <a:cubicBezTo>
                          <a:pt x="667" y="52"/>
                          <a:pt x="674" y="49"/>
                          <a:pt x="679" y="47"/>
                        </a:cubicBezTo>
                        <a:cubicBezTo>
                          <a:pt x="679" y="50"/>
                          <a:pt x="684" y="45"/>
                          <a:pt x="688" y="46"/>
                        </a:cubicBezTo>
                        <a:cubicBezTo>
                          <a:pt x="688" y="44"/>
                          <a:pt x="696" y="43"/>
                          <a:pt x="697" y="41"/>
                        </a:cubicBezTo>
                        <a:cubicBezTo>
                          <a:pt x="701" y="39"/>
                          <a:pt x="701" y="41"/>
                          <a:pt x="702" y="41"/>
                        </a:cubicBezTo>
                        <a:cubicBezTo>
                          <a:pt x="704" y="40"/>
                          <a:pt x="704" y="40"/>
                          <a:pt x="704" y="40"/>
                        </a:cubicBezTo>
                        <a:cubicBezTo>
                          <a:pt x="706" y="40"/>
                          <a:pt x="713" y="38"/>
                          <a:pt x="718" y="37"/>
                        </a:cubicBezTo>
                        <a:cubicBezTo>
                          <a:pt x="722" y="35"/>
                          <a:pt x="722" y="35"/>
                          <a:pt x="722" y="35"/>
                        </a:cubicBezTo>
                        <a:cubicBezTo>
                          <a:pt x="723" y="35"/>
                          <a:pt x="723" y="35"/>
                          <a:pt x="723" y="35"/>
                        </a:cubicBezTo>
                        <a:cubicBezTo>
                          <a:pt x="724" y="34"/>
                          <a:pt x="727" y="33"/>
                          <a:pt x="725" y="33"/>
                        </a:cubicBezTo>
                        <a:cubicBezTo>
                          <a:pt x="727" y="33"/>
                          <a:pt x="727" y="33"/>
                          <a:pt x="727" y="33"/>
                        </a:cubicBezTo>
                        <a:cubicBezTo>
                          <a:pt x="727" y="31"/>
                          <a:pt x="730" y="31"/>
                          <a:pt x="735" y="29"/>
                        </a:cubicBezTo>
                        <a:cubicBezTo>
                          <a:pt x="736" y="29"/>
                          <a:pt x="736" y="30"/>
                          <a:pt x="735" y="30"/>
                        </a:cubicBezTo>
                        <a:cubicBezTo>
                          <a:pt x="737" y="30"/>
                          <a:pt x="736" y="31"/>
                          <a:pt x="738" y="31"/>
                        </a:cubicBezTo>
                        <a:cubicBezTo>
                          <a:pt x="736" y="31"/>
                          <a:pt x="745" y="26"/>
                          <a:pt x="739" y="27"/>
                        </a:cubicBezTo>
                        <a:cubicBezTo>
                          <a:pt x="738" y="26"/>
                          <a:pt x="741" y="25"/>
                          <a:pt x="744" y="24"/>
                        </a:cubicBezTo>
                        <a:cubicBezTo>
                          <a:pt x="745" y="26"/>
                          <a:pt x="745" y="26"/>
                          <a:pt x="745" y="26"/>
                        </a:cubicBezTo>
                        <a:cubicBezTo>
                          <a:pt x="748" y="23"/>
                          <a:pt x="748" y="23"/>
                          <a:pt x="748" y="23"/>
                        </a:cubicBezTo>
                        <a:cubicBezTo>
                          <a:pt x="751" y="22"/>
                          <a:pt x="753" y="23"/>
                          <a:pt x="756" y="22"/>
                        </a:cubicBezTo>
                        <a:cubicBezTo>
                          <a:pt x="753" y="23"/>
                          <a:pt x="750" y="27"/>
                          <a:pt x="758" y="25"/>
                        </a:cubicBezTo>
                        <a:cubicBezTo>
                          <a:pt x="754" y="26"/>
                          <a:pt x="752" y="28"/>
                          <a:pt x="750" y="28"/>
                        </a:cubicBezTo>
                        <a:cubicBezTo>
                          <a:pt x="752" y="28"/>
                          <a:pt x="752" y="28"/>
                          <a:pt x="750" y="29"/>
                        </a:cubicBezTo>
                        <a:cubicBezTo>
                          <a:pt x="756" y="27"/>
                          <a:pt x="752" y="28"/>
                          <a:pt x="758" y="26"/>
                        </a:cubicBezTo>
                        <a:cubicBezTo>
                          <a:pt x="758" y="28"/>
                          <a:pt x="759" y="28"/>
                          <a:pt x="764" y="27"/>
                        </a:cubicBezTo>
                        <a:cubicBezTo>
                          <a:pt x="760" y="27"/>
                          <a:pt x="760" y="27"/>
                          <a:pt x="760" y="27"/>
                        </a:cubicBezTo>
                        <a:cubicBezTo>
                          <a:pt x="761" y="27"/>
                          <a:pt x="761" y="27"/>
                          <a:pt x="761" y="26"/>
                        </a:cubicBezTo>
                        <a:cubicBezTo>
                          <a:pt x="760" y="27"/>
                          <a:pt x="759" y="26"/>
                          <a:pt x="759" y="26"/>
                        </a:cubicBezTo>
                        <a:cubicBezTo>
                          <a:pt x="760" y="26"/>
                          <a:pt x="765" y="23"/>
                          <a:pt x="766" y="23"/>
                        </a:cubicBezTo>
                        <a:cubicBezTo>
                          <a:pt x="760" y="22"/>
                          <a:pt x="776" y="19"/>
                          <a:pt x="772" y="19"/>
                        </a:cubicBezTo>
                        <a:cubicBezTo>
                          <a:pt x="773" y="18"/>
                          <a:pt x="777" y="17"/>
                          <a:pt x="777" y="18"/>
                        </a:cubicBezTo>
                        <a:cubicBezTo>
                          <a:pt x="772" y="20"/>
                          <a:pt x="781" y="19"/>
                          <a:pt x="781" y="20"/>
                        </a:cubicBezTo>
                        <a:cubicBezTo>
                          <a:pt x="782" y="19"/>
                          <a:pt x="777" y="20"/>
                          <a:pt x="779" y="19"/>
                        </a:cubicBezTo>
                        <a:cubicBezTo>
                          <a:pt x="782" y="18"/>
                          <a:pt x="784" y="19"/>
                          <a:pt x="786" y="19"/>
                        </a:cubicBezTo>
                        <a:cubicBezTo>
                          <a:pt x="785" y="19"/>
                          <a:pt x="785" y="19"/>
                          <a:pt x="785" y="19"/>
                        </a:cubicBezTo>
                        <a:cubicBezTo>
                          <a:pt x="789" y="19"/>
                          <a:pt x="789" y="19"/>
                          <a:pt x="789" y="19"/>
                        </a:cubicBezTo>
                        <a:cubicBezTo>
                          <a:pt x="790" y="18"/>
                          <a:pt x="785" y="19"/>
                          <a:pt x="789" y="17"/>
                        </a:cubicBezTo>
                        <a:cubicBezTo>
                          <a:pt x="790" y="18"/>
                          <a:pt x="794" y="16"/>
                          <a:pt x="794" y="17"/>
                        </a:cubicBezTo>
                        <a:cubicBezTo>
                          <a:pt x="792" y="18"/>
                          <a:pt x="794" y="19"/>
                          <a:pt x="790" y="20"/>
                        </a:cubicBezTo>
                        <a:cubicBezTo>
                          <a:pt x="793" y="20"/>
                          <a:pt x="802" y="18"/>
                          <a:pt x="798" y="17"/>
                        </a:cubicBezTo>
                        <a:cubicBezTo>
                          <a:pt x="802" y="17"/>
                          <a:pt x="802" y="17"/>
                          <a:pt x="802" y="17"/>
                        </a:cubicBezTo>
                        <a:cubicBezTo>
                          <a:pt x="800" y="16"/>
                          <a:pt x="793" y="16"/>
                          <a:pt x="800" y="15"/>
                        </a:cubicBezTo>
                        <a:cubicBezTo>
                          <a:pt x="800" y="15"/>
                          <a:pt x="800" y="15"/>
                          <a:pt x="800" y="15"/>
                        </a:cubicBezTo>
                        <a:cubicBezTo>
                          <a:pt x="805" y="13"/>
                          <a:pt x="805" y="13"/>
                          <a:pt x="805" y="13"/>
                        </a:cubicBezTo>
                        <a:cubicBezTo>
                          <a:pt x="807" y="14"/>
                          <a:pt x="807" y="14"/>
                          <a:pt x="807" y="14"/>
                        </a:cubicBezTo>
                        <a:cubicBezTo>
                          <a:pt x="807" y="13"/>
                          <a:pt x="808" y="13"/>
                          <a:pt x="810" y="13"/>
                        </a:cubicBezTo>
                        <a:cubicBezTo>
                          <a:pt x="810" y="13"/>
                          <a:pt x="812" y="13"/>
                          <a:pt x="812" y="14"/>
                        </a:cubicBezTo>
                        <a:cubicBezTo>
                          <a:pt x="817" y="13"/>
                          <a:pt x="817" y="12"/>
                          <a:pt x="817" y="12"/>
                        </a:cubicBezTo>
                        <a:cubicBezTo>
                          <a:pt x="820" y="11"/>
                          <a:pt x="821" y="11"/>
                          <a:pt x="820" y="12"/>
                        </a:cubicBezTo>
                        <a:cubicBezTo>
                          <a:pt x="824" y="12"/>
                          <a:pt x="831" y="11"/>
                          <a:pt x="834" y="11"/>
                        </a:cubicBezTo>
                        <a:cubicBezTo>
                          <a:pt x="839" y="10"/>
                          <a:pt x="833" y="11"/>
                          <a:pt x="836" y="10"/>
                        </a:cubicBezTo>
                        <a:cubicBezTo>
                          <a:pt x="841" y="12"/>
                          <a:pt x="854" y="9"/>
                          <a:pt x="863" y="8"/>
                        </a:cubicBezTo>
                        <a:cubicBezTo>
                          <a:pt x="860" y="6"/>
                          <a:pt x="865" y="7"/>
                          <a:pt x="867" y="5"/>
                        </a:cubicBezTo>
                        <a:cubicBezTo>
                          <a:pt x="865" y="6"/>
                          <a:pt x="875" y="7"/>
                          <a:pt x="868" y="8"/>
                        </a:cubicBezTo>
                        <a:cubicBezTo>
                          <a:pt x="872" y="7"/>
                          <a:pt x="872" y="7"/>
                          <a:pt x="872" y="7"/>
                        </a:cubicBezTo>
                        <a:cubicBezTo>
                          <a:pt x="876" y="8"/>
                          <a:pt x="865" y="9"/>
                          <a:pt x="870" y="10"/>
                        </a:cubicBezTo>
                        <a:cubicBezTo>
                          <a:pt x="875" y="9"/>
                          <a:pt x="878" y="7"/>
                          <a:pt x="884" y="7"/>
                        </a:cubicBezTo>
                        <a:cubicBezTo>
                          <a:pt x="882" y="9"/>
                          <a:pt x="889" y="7"/>
                          <a:pt x="888" y="9"/>
                        </a:cubicBezTo>
                        <a:cubicBezTo>
                          <a:pt x="887" y="9"/>
                          <a:pt x="885" y="9"/>
                          <a:pt x="883" y="9"/>
                        </a:cubicBezTo>
                        <a:cubicBezTo>
                          <a:pt x="884" y="9"/>
                          <a:pt x="884" y="9"/>
                          <a:pt x="884" y="9"/>
                        </a:cubicBezTo>
                        <a:cubicBezTo>
                          <a:pt x="896" y="9"/>
                          <a:pt x="887" y="7"/>
                          <a:pt x="894" y="6"/>
                        </a:cubicBezTo>
                        <a:cubicBezTo>
                          <a:pt x="901" y="6"/>
                          <a:pt x="899" y="7"/>
                          <a:pt x="900" y="8"/>
                        </a:cubicBezTo>
                        <a:cubicBezTo>
                          <a:pt x="901" y="8"/>
                          <a:pt x="904" y="8"/>
                          <a:pt x="906" y="8"/>
                        </a:cubicBezTo>
                        <a:cubicBezTo>
                          <a:pt x="902" y="9"/>
                          <a:pt x="898" y="7"/>
                          <a:pt x="900" y="6"/>
                        </a:cubicBezTo>
                        <a:cubicBezTo>
                          <a:pt x="903" y="7"/>
                          <a:pt x="911" y="6"/>
                          <a:pt x="913" y="5"/>
                        </a:cubicBezTo>
                        <a:cubicBezTo>
                          <a:pt x="902" y="3"/>
                          <a:pt x="906" y="5"/>
                          <a:pt x="896" y="3"/>
                        </a:cubicBezTo>
                        <a:cubicBezTo>
                          <a:pt x="895" y="4"/>
                          <a:pt x="895" y="5"/>
                          <a:pt x="889" y="5"/>
                        </a:cubicBezTo>
                        <a:cubicBezTo>
                          <a:pt x="893" y="4"/>
                          <a:pt x="889" y="4"/>
                          <a:pt x="888" y="4"/>
                        </a:cubicBezTo>
                        <a:cubicBezTo>
                          <a:pt x="889" y="5"/>
                          <a:pt x="884" y="4"/>
                          <a:pt x="882" y="5"/>
                        </a:cubicBezTo>
                        <a:cubicBezTo>
                          <a:pt x="880" y="4"/>
                          <a:pt x="885" y="2"/>
                          <a:pt x="880" y="2"/>
                        </a:cubicBezTo>
                        <a:cubicBezTo>
                          <a:pt x="879" y="5"/>
                          <a:pt x="879" y="5"/>
                          <a:pt x="879" y="5"/>
                        </a:cubicBezTo>
                        <a:cubicBezTo>
                          <a:pt x="876" y="4"/>
                          <a:pt x="879" y="3"/>
                          <a:pt x="875" y="4"/>
                        </a:cubicBezTo>
                        <a:cubicBezTo>
                          <a:pt x="877" y="2"/>
                          <a:pt x="874" y="2"/>
                          <a:pt x="880" y="1"/>
                        </a:cubicBezTo>
                        <a:cubicBezTo>
                          <a:pt x="872" y="0"/>
                          <a:pt x="868" y="3"/>
                          <a:pt x="862" y="4"/>
                        </a:cubicBezTo>
                        <a:cubicBezTo>
                          <a:pt x="863" y="4"/>
                          <a:pt x="863" y="4"/>
                          <a:pt x="864" y="4"/>
                        </a:cubicBezTo>
                        <a:cubicBezTo>
                          <a:pt x="862" y="4"/>
                          <a:pt x="860" y="4"/>
                          <a:pt x="858" y="5"/>
                        </a:cubicBezTo>
                        <a:cubicBezTo>
                          <a:pt x="854" y="4"/>
                          <a:pt x="861" y="3"/>
                          <a:pt x="860" y="3"/>
                        </a:cubicBezTo>
                        <a:cubicBezTo>
                          <a:pt x="854" y="3"/>
                          <a:pt x="854" y="3"/>
                          <a:pt x="854" y="3"/>
                        </a:cubicBezTo>
                        <a:cubicBezTo>
                          <a:pt x="853" y="3"/>
                          <a:pt x="853" y="3"/>
                          <a:pt x="853" y="3"/>
                        </a:cubicBezTo>
                        <a:cubicBezTo>
                          <a:pt x="852" y="4"/>
                          <a:pt x="850" y="4"/>
                          <a:pt x="850" y="4"/>
                        </a:cubicBezTo>
                        <a:cubicBezTo>
                          <a:pt x="851" y="3"/>
                          <a:pt x="852" y="2"/>
                          <a:pt x="853" y="1"/>
                        </a:cubicBezTo>
                        <a:cubicBezTo>
                          <a:pt x="847" y="3"/>
                          <a:pt x="847" y="3"/>
                          <a:pt x="847" y="3"/>
                        </a:cubicBezTo>
                        <a:cubicBezTo>
                          <a:pt x="847" y="3"/>
                          <a:pt x="841" y="3"/>
                          <a:pt x="846" y="2"/>
                        </a:cubicBezTo>
                        <a:cubicBezTo>
                          <a:pt x="836" y="3"/>
                          <a:pt x="836" y="3"/>
                          <a:pt x="836" y="3"/>
                        </a:cubicBezTo>
                        <a:cubicBezTo>
                          <a:pt x="835" y="2"/>
                          <a:pt x="835" y="2"/>
                          <a:pt x="835" y="2"/>
                        </a:cubicBezTo>
                        <a:cubicBezTo>
                          <a:pt x="832" y="2"/>
                          <a:pt x="832" y="3"/>
                          <a:pt x="835" y="2"/>
                        </a:cubicBezTo>
                        <a:cubicBezTo>
                          <a:pt x="832" y="2"/>
                          <a:pt x="820" y="7"/>
                          <a:pt x="821" y="4"/>
                        </a:cubicBezTo>
                        <a:cubicBezTo>
                          <a:pt x="814" y="6"/>
                          <a:pt x="811" y="6"/>
                          <a:pt x="801" y="8"/>
                        </a:cubicBezTo>
                        <a:cubicBezTo>
                          <a:pt x="808" y="6"/>
                          <a:pt x="793" y="8"/>
                          <a:pt x="800" y="6"/>
                        </a:cubicBezTo>
                        <a:cubicBezTo>
                          <a:pt x="796" y="6"/>
                          <a:pt x="795" y="8"/>
                          <a:pt x="791" y="9"/>
                        </a:cubicBezTo>
                        <a:cubicBezTo>
                          <a:pt x="788" y="9"/>
                          <a:pt x="789" y="7"/>
                          <a:pt x="793" y="6"/>
                        </a:cubicBezTo>
                        <a:cubicBezTo>
                          <a:pt x="789" y="7"/>
                          <a:pt x="789" y="7"/>
                          <a:pt x="789" y="7"/>
                        </a:cubicBezTo>
                        <a:cubicBezTo>
                          <a:pt x="789" y="7"/>
                          <a:pt x="789" y="7"/>
                          <a:pt x="789" y="7"/>
                        </a:cubicBezTo>
                        <a:cubicBezTo>
                          <a:pt x="785" y="9"/>
                          <a:pt x="785" y="9"/>
                          <a:pt x="785" y="9"/>
                        </a:cubicBezTo>
                        <a:cubicBezTo>
                          <a:pt x="781" y="9"/>
                          <a:pt x="784" y="7"/>
                          <a:pt x="780" y="8"/>
                        </a:cubicBezTo>
                        <a:cubicBezTo>
                          <a:pt x="779" y="9"/>
                          <a:pt x="779" y="9"/>
                          <a:pt x="779" y="9"/>
                        </a:cubicBezTo>
                        <a:cubicBezTo>
                          <a:pt x="776" y="9"/>
                          <a:pt x="776" y="9"/>
                          <a:pt x="776" y="9"/>
                        </a:cubicBezTo>
                        <a:cubicBezTo>
                          <a:pt x="777" y="9"/>
                          <a:pt x="775" y="10"/>
                          <a:pt x="772" y="11"/>
                        </a:cubicBezTo>
                        <a:cubicBezTo>
                          <a:pt x="772" y="11"/>
                          <a:pt x="772" y="11"/>
                          <a:pt x="772" y="11"/>
                        </a:cubicBezTo>
                        <a:cubicBezTo>
                          <a:pt x="769" y="12"/>
                          <a:pt x="769" y="12"/>
                          <a:pt x="769" y="12"/>
                        </a:cubicBezTo>
                        <a:cubicBezTo>
                          <a:pt x="772" y="10"/>
                          <a:pt x="765" y="12"/>
                          <a:pt x="767" y="11"/>
                        </a:cubicBezTo>
                        <a:cubicBezTo>
                          <a:pt x="764" y="11"/>
                          <a:pt x="764" y="11"/>
                          <a:pt x="758" y="13"/>
                        </a:cubicBezTo>
                        <a:cubicBezTo>
                          <a:pt x="759" y="14"/>
                          <a:pt x="759" y="14"/>
                          <a:pt x="759" y="14"/>
                        </a:cubicBezTo>
                        <a:cubicBezTo>
                          <a:pt x="752" y="16"/>
                          <a:pt x="759" y="12"/>
                          <a:pt x="753" y="14"/>
                        </a:cubicBezTo>
                        <a:cubicBezTo>
                          <a:pt x="753" y="14"/>
                          <a:pt x="753" y="14"/>
                          <a:pt x="753" y="14"/>
                        </a:cubicBezTo>
                        <a:cubicBezTo>
                          <a:pt x="745" y="15"/>
                          <a:pt x="740" y="19"/>
                          <a:pt x="733" y="19"/>
                        </a:cubicBezTo>
                        <a:cubicBezTo>
                          <a:pt x="737" y="18"/>
                          <a:pt x="735" y="17"/>
                          <a:pt x="735" y="18"/>
                        </a:cubicBezTo>
                        <a:cubicBezTo>
                          <a:pt x="730" y="19"/>
                          <a:pt x="722" y="22"/>
                          <a:pt x="716" y="24"/>
                        </a:cubicBezTo>
                        <a:cubicBezTo>
                          <a:pt x="714" y="24"/>
                          <a:pt x="713" y="23"/>
                          <a:pt x="708" y="24"/>
                        </a:cubicBezTo>
                        <a:cubicBezTo>
                          <a:pt x="704" y="26"/>
                          <a:pt x="703" y="26"/>
                          <a:pt x="702" y="27"/>
                        </a:cubicBezTo>
                        <a:cubicBezTo>
                          <a:pt x="698" y="28"/>
                          <a:pt x="691" y="31"/>
                          <a:pt x="690" y="30"/>
                        </a:cubicBezTo>
                        <a:cubicBezTo>
                          <a:pt x="690" y="31"/>
                          <a:pt x="687" y="31"/>
                          <a:pt x="685" y="33"/>
                        </a:cubicBezTo>
                        <a:cubicBezTo>
                          <a:pt x="684" y="32"/>
                          <a:pt x="684" y="32"/>
                          <a:pt x="684" y="32"/>
                        </a:cubicBezTo>
                        <a:cubicBezTo>
                          <a:pt x="685" y="33"/>
                          <a:pt x="685" y="33"/>
                          <a:pt x="685" y="33"/>
                        </a:cubicBezTo>
                        <a:cubicBezTo>
                          <a:pt x="677" y="33"/>
                          <a:pt x="674" y="38"/>
                          <a:pt x="666" y="39"/>
                        </a:cubicBezTo>
                        <a:cubicBezTo>
                          <a:pt x="667" y="39"/>
                          <a:pt x="667" y="39"/>
                          <a:pt x="667" y="39"/>
                        </a:cubicBezTo>
                        <a:cubicBezTo>
                          <a:pt x="665" y="40"/>
                          <a:pt x="665" y="40"/>
                          <a:pt x="665" y="40"/>
                        </a:cubicBezTo>
                        <a:cubicBezTo>
                          <a:pt x="664" y="40"/>
                          <a:pt x="665" y="39"/>
                          <a:pt x="665" y="38"/>
                        </a:cubicBezTo>
                        <a:cubicBezTo>
                          <a:pt x="661" y="40"/>
                          <a:pt x="656" y="42"/>
                          <a:pt x="652" y="43"/>
                        </a:cubicBezTo>
                        <a:cubicBezTo>
                          <a:pt x="654" y="43"/>
                          <a:pt x="654" y="43"/>
                          <a:pt x="654" y="43"/>
                        </a:cubicBezTo>
                        <a:cubicBezTo>
                          <a:pt x="652" y="44"/>
                          <a:pt x="650" y="46"/>
                          <a:pt x="647" y="47"/>
                        </a:cubicBezTo>
                        <a:cubicBezTo>
                          <a:pt x="651" y="43"/>
                          <a:pt x="642" y="48"/>
                          <a:pt x="641" y="48"/>
                        </a:cubicBezTo>
                        <a:cubicBezTo>
                          <a:pt x="644" y="46"/>
                          <a:pt x="644" y="46"/>
                          <a:pt x="644" y="46"/>
                        </a:cubicBezTo>
                        <a:cubicBezTo>
                          <a:pt x="640" y="48"/>
                          <a:pt x="640" y="48"/>
                          <a:pt x="641" y="49"/>
                        </a:cubicBezTo>
                        <a:cubicBezTo>
                          <a:pt x="636" y="51"/>
                          <a:pt x="636" y="48"/>
                          <a:pt x="632" y="51"/>
                        </a:cubicBezTo>
                        <a:cubicBezTo>
                          <a:pt x="635" y="50"/>
                          <a:pt x="635" y="50"/>
                          <a:pt x="635" y="50"/>
                        </a:cubicBezTo>
                        <a:cubicBezTo>
                          <a:pt x="637" y="50"/>
                          <a:pt x="635" y="52"/>
                          <a:pt x="632" y="53"/>
                        </a:cubicBezTo>
                        <a:cubicBezTo>
                          <a:pt x="632" y="53"/>
                          <a:pt x="630" y="53"/>
                          <a:pt x="632" y="52"/>
                        </a:cubicBezTo>
                        <a:cubicBezTo>
                          <a:pt x="628" y="54"/>
                          <a:pt x="622" y="57"/>
                          <a:pt x="620" y="58"/>
                        </a:cubicBezTo>
                        <a:cubicBezTo>
                          <a:pt x="618" y="58"/>
                          <a:pt x="618" y="57"/>
                          <a:pt x="619" y="57"/>
                        </a:cubicBezTo>
                        <a:cubicBezTo>
                          <a:pt x="611" y="61"/>
                          <a:pt x="616" y="58"/>
                          <a:pt x="608" y="63"/>
                        </a:cubicBezTo>
                        <a:cubicBezTo>
                          <a:pt x="607" y="62"/>
                          <a:pt x="607" y="62"/>
                          <a:pt x="607" y="62"/>
                        </a:cubicBezTo>
                        <a:cubicBezTo>
                          <a:pt x="605" y="64"/>
                          <a:pt x="605" y="64"/>
                          <a:pt x="605" y="64"/>
                        </a:cubicBezTo>
                        <a:cubicBezTo>
                          <a:pt x="600" y="65"/>
                          <a:pt x="600" y="65"/>
                          <a:pt x="600" y="65"/>
                        </a:cubicBezTo>
                        <a:cubicBezTo>
                          <a:pt x="602" y="65"/>
                          <a:pt x="602" y="65"/>
                          <a:pt x="602" y="65"/>
                        </a:cubicBezTo>
                        <a:cubicBezTo>
                          <a:pt x="599" y="67"/>
                          <a:pt x="598" y="68"/>
                          <a:pt x="595" y="69"/>
                        </a:cubicBezTo>
                        <a:cubicBezTo>
                          <a:pt x="595" y="68"/>
                          <a:pt x="595" y="68"/>
                          <a:pt x="595" y="68"/>
                        </a:cubicBezTo>
                        <a:cubicBezTo>
                          <a:pt x="588" y="72"/>
                          <a:pt x="586" y="71"/>
                          <a:pt x="579" y="76"/>
                        </a:cubicBezTo>
                        <a:cubicBezTo>
                          <a:pt x="579" y="76"/>
                          <a:pt x="580" y="75"/>
                          <a:pt x="580" y="74"/>
                        </a:cubicBezTo>
                        <a:cubicBezTo>
                          <a:pt x="574" y="79"/>
                          <a:pt x="575" y="76"/>
                          <a:pt x="569" y="81"/>
                        </a:cubicBezTo>
                        <a:cubicBezTo>
                          <a:pt x="569" y="80"/>
                          <a:pt x="568" y="80"/>
                          <a:pt x="568" y="80"/>
                        </a:cubicBezTo>
                        <a:cubicBezTo>
                          <a:pt x="565" y="82"/>
                          <a:pt x="565" y="82"/>
                          <a:pt x="565" y="82"/>
                        </a:cubicBezTo>
                        <a:cubicBezTo>
                          <a:pt x="565" y="81"/>
                          <a:pt x="565" y="81"/>
                          <a:pt x="565" y="81"/>
                        </a:cubicBezTo>
                        <a:cubicBezTo>
                          <a:pt x="563" y="84"/>
                          <a:pt x="563" y="84"/>
                          <a:pt x="563" y="84"/>
                        </a:cubicBezTo>
                        <a:cubicBezTo>
                          <a:pt x="561" y="84"/>
                          <a:pt x="561" y="84"/>
                          <a:pt x="561" y="84"/>
                        </a:cubicBezTo>
                        <a:cubicBezTo>
                          <a:pt x="560" y="85"/>
                          <a:pt x="560" y="85"/>
                          <a:pt x="560" y="85"/>
                        </a:cubicBezTo>
                        <a:cubicBezTo>
                          <a:pt x="556" y="85"/>
                          <a:pt x="552" y="89"/>
                          <a:pt x="547" y="90"/>
                        </a:cubicBezTo>
                        <a:cubicBezTo>
                          <a:pt x="548" y="91"/>
                          <a:pt x="548" y="91"/>
                          <a:pt x="548" y="91"/>
                        </a:cubicBezTo>
                        <a:cubicBezTo>
                          <a:pt x="539" y="100"/>
                          <a:pt x="522" y="104"/>
                          <a:pt x="510" y="114"/>
                        </a:cubicBezTo>
                        <a:cubicBezTo>
                          <a:pt x="510" y="113"/>
                          <a:pt x="510" y="113"/>
                          <a:pt x="510" y="113"/>
                        </a:cubicBezTo>
                        <a:cubicBezTo>
                          <a:pt x="505" y="118"/>
                          <a:pt x="505" y="118"/>
                          <a:pt x="505" y="118"/>
                        </a:cubicBezTo>
                        <a:cubicBezTo>
                          <a:pt x="502" y="119"/>
                          <a:pt x="507" y="116"/>
                          <a:pt x="505" y="116"/>
                        </a:cubicBezTo>
                        <a:cubicBezTo>
                          <a:pt x="500" y="120"/>
                          <a:pt x="504" y="119"/>
                          <a:pt x="498" y="123"/>
                        </a:cubicBezTo>
                        <a:cubicBezTo>
                          <a:pt x="494" y="125"/>
                          <a:pt x="498" y="122"/>
                          <a:pt x="500" y="120"/>
                        </a:cubicBezTo>
                        <a:cubicBezTo>
                          <a:pt x="494" y="125"/>
                          <a:pt x="485" y="132"/>
                          <a:pt x="481" y="134"/>
                        </a:cubicBezTo>
                        <a:cubicBezTo>
                          <a:pt x="481" y="135"/>
                          <a:pt x="480" y="135"/>
                          <a:pt x="481" y="135"/>
                        </a:cubicBezTo>
                        <a:cubicBezTo>
                          <a:pt x="477" y="138"/>
                          <a:pt x="472" y="142"/>
                          <a:pt x="467" y="145"/>
                        </a:cubicBezTo>
                        <a:cubicBezTo>
                          <a:pt x="467" y="144"/>
                          <a:pt x="468" y="143"/>
                          <a:pt x="469" y="143"/>
                        </a:cubicBezTo>
                        <a:cubicBezTo>
                          <a:pt x="467" y="144"/>
                          <a:pt x="465" y="145"/>
                          <a:pt x="464" y="146"/>
                        </a:cubicBezTo>
                        <a:cubicBezTo>
                          <a:pt x="465" y="144"/>
                          <a:pt x="465" y="144"/>
                          <a:pt x="465" y="144"/>
                        </a:cubicBezTo>
                        <a:cubicBezTo>
                          <a:pt x="462" y="147"/>
                          <a:pt x="456" y="152"/>
                          <a:pt x="454" y="152"/>
                        </a:cubicBezTo>
                        <a:cubicBezTo>
                          <a:pt x="455" y="152"/>
                          <a:pt x="455" y="153"/>
                          <a:pt x="453" y="155"/>
                        </a:cubicBezTo>
                        <a:cubicBezTo>
                          <a:pt x="450" y="155"/>
                          <a:pt x="445" y="162"/>
                          <a:pt x="440" y="165"/>
                        </a:cubicBezTo>
                        <a:cubicBezTo>
                          <a:pt x="440" y="164"/>
                          <a:pt x="444" y="161"/>
                          <a:pt x="443" y="162"/>
                        </a:cubicBezTo>
                        <a:cubicBezTo>
                          <a:pt x="440" y="163"/>
                          <a:pt x="439" y="166"/>
                          <a:pt x="437" y="168"/>
                        </a:cubicBezTo>
                        <a:cubicBezTo>
                          <a:pt x="437" y="167"/>
                          <a:pt x="437" y="167"/>
                          <a:pt x="437" y="167"/>
                        </a:cubicBezTo>
                        <a:cubicBezTo>
                          <a:pt x="427" y="176"/>
                          <a:pt x="427" y="176"/>
                          <a:pt x="427" y="176"/>
                        </a:cubicBezTo>
                        <a:cubicBezTo>
                          <a:pt x="425" y="176"/>
                          <a:pt x="418" y="184"/>
                          <a:pt x="418" y="183"/>
                        </a:cubicBezTo>
                        <a:cubicBezTo>
                          <a:pt x="414" y="186"/>
                          <a:pt x="421" y="181"/>
                          <a:pt x="417" y="185"/>
                        </a:cubicBezTo>
                        <a:cubicBezTo>
                          <a:pt x="415" y="185"/>
                          <a:pt x="413" y="189"/>
                          <a:pt x="412" y="188"/>
                        </a:cubicBezTo>
                        <a:cubicBezTo>
                          <a:pt x="413" y="187"/>
                          <a:pt x="413" y="187"/>
                          <a:pt x="413" y="187"/>
                        </a:cubicBezTo>
                        <a:cubicBezTo>
                          <a:pt x="410" y="190"/>
                          <a:pt x="410" y="190"/>
                          <a:pt x="410" y="190"/>
                        </a:cubicBezTo>
                        <a:cubicBezTo>
                          <a:pt x="411" y="187"/>
                          <a:pt x="411" y="187"/>
                          <a:pt x="411" y="187"/>
                        </a:cubicBezTo>
                        <a:cubicBezTo>
                          <a:pt x="408" y="190"/>
                          <a:pt x="407" y="193"/>
                          <a:pt x="408" y="193"/>
                        </a:cubicBezTo>
                        <a:cubicBezTo>
                          <a:pt x="405" y="195"/>
                          <a:pt x="401" y="199"/>
                          <a:pt x="399" y="199"/>
                        </a:cubicBezTo>
                        <a:cubicBezTo>
                          <a:pt x="400" y="198"/>
                          <a:pt x="400" y="198"/>
                          <a:pt x="400" y="198"/>
                        </a:cubicBezTo>
                        <a:cubicBezTo>
                          <a:pt x="393" y="205"/>
                          <a:pt x="386" y="207"/>
                          <a:pt x="382" y="214"/>
                        </a:cubicBezTo>
                        <a:cubicBezTo>
                          <a:pt x="381" y="214"/>
                          <a:pt x="381" y="214"/>
                          <a:pt x="382" y="213"/>
                        </a:cubicBezTo>
                        <a:cubicBezTo>
                          <a:pt x="378" y="217"/>
                          <a:pt x="378" y="217"/>
                          <a:pt x="378" y="217"/>
                        </a:cubicBezTo>
                        <a:cubicBezTo>
                          <a:pt x="378" y="215"/>
                          <a:pt x="378" y="215"/>
                          <a:pt x="378" y="215"/>
                        </a:cubicBezTo>
                        <a:cubicBezTo>
                          <a:pt x="372" y="223"/>
                          <a:pt x="372" y="223"/>
                          <a:pt x="372" y="223"/>
                        </a:cubicBezTo>
                        <a:cubicBezTo>
                          <a:pt x="372" y="223"/>
                          <a:pt x="372" y="223"/>
                          <a:pt x="372" y="223"/>
                        </a:cubicBezTo>
                        <a:cubicBezTo>
                          <a:pt x="367" y="227"/>
                          <a:pt x="360" y="235"/>
                          <a:pt x="354" y="241"/>
                        </a:cubicBezTo>
                        <a:cubicBezTo>
                          <a:pt x="355" y="240"/>
                          <a:pt x="355" y="240"/>
                          <a:pt x="355" y="240"/>
                        </a:cubicBezTo>
                        <a:cubicBezTo>
                          <a:pt x="349" y="247"/>
                          <a:pt x="348" y="246"/>
                          <a:pt x="344" y="251"/>
                        </a:cubicBezTo>
                        <a:cubicBezTo>
                          <a:pt x="344" y="251"/>
                          <a:pt x="344" y="251"/>
                          <a:pt x="344" y="250"/>
                        </a:cubicBezTo>
                        <a:cubicBezTo>
                          <a:pt x="340" y="255"/>
                          <a:pt x="340" y="255"/>
                          <a:pt x="340" y="255"/>
                        </a:cubicBezTo>
                        <a:cubicBezTo>
                          <a:pt x="340" y="253"/>
                          <a:pt x="340" y="253"/>
                          <a:pt x="340" y="253"/>
                        </a:cubicBezTo>
                        <a:cubicBezTo>
                          <a:pt x="338" y="258"/>
                          <a:pt x="331" y="262"/>
                          <a:pt x="333" y="260"/>
                        </a:cubicBezTo>
                        <a:cubicBezTo>
                          <a:pt x="332" y="263"/>
                          <a:pt x="329" y="266"/>
                          <a:pt x="329" y="267"/>
                        </a:cubicBezTo>
                        <a:cubicBezTo>
                          <a:pt x="325" y="272"/>
                          <a:pt x="328" y="268"/>
                          <a:pt x="325" y="271"/>
                        </a:cubicBezTo>
                        <a:cubicBezTo>
                          <a:pt x="321" y="274"/>
                          <a:pt x="322" y="276"/>
                          <a:pt x="317" y="280"/>
                        </a:cubicBezTo>
                        <a:cubicBezTo>
                          <a:pt x="317" y="280"/>
                          <a:pt x="317" y="280"/>
                          <a:pt x="317" y="280"/>
                        </a:cubicBezTo>
                        <a:cubicBezTo>
                          <a:pt x="315" y="282"/>
                          <a:pt x="314" y="284"/>
                          <a:pt x="311" y="287"/>
                        </a:cubicBezTo>
                        <a:cubicBezTo>
                          <a:pt x="312" y="286"/>
                          <a:pt x="312" y="286"/>
                          <a:pt x="312" y="286"/>
                        </a:cubicBezTo>
                        <a:cubicBezTo>
                          <a:pt x="308" y="292"/>
                          <a:pt x="305" y="291"/>
                          <a:pt x="303" y="297"/>
                        </a:cubicBezTo>
                        <a:cubicBezTo>
                          <a:pt x="301" y="299"/>
                          <a:pt x="298" y="304"/>
                          <a:pt x="297" y="303"/>
                        </a:cubicBezTo>
                        <a:cubicBezTo>
                          <a:pt x="283" y="322"/>
                          <a:pt x="283" y="322"/>
                          <a:pt x="283" y="322"/>
                        </a:cubicBezTo>
                        <a:cubicBezTo>
                          <a:pt x="281" y="322"/>
                          <a:pt x="282" y="324"/>
                          <a:pt x="278" y="327"/>
                        </a:cubicBezTo>
                        <a:cubicBezTo>
                          <a:pt x="279" y="328"/>
                          <a:pt x="279" y="328"/>
                          <a:pt x="279" y="328"/>
                        </a:cubicBezTo>
                        <a:cubicBezTo>
                          <a:pt x="272" y="337"/>
                          <a:pt x="262" y="347"/>
                          <a:pt x="254" y="358"/>
                        </a:cubicBezTo>
                        <a:cubicBezTo>
                          <a:pt x="253" y="357"/>
                          <a:pt x="253" y="357"/>
                          <a:pt x="253" y="357"/>
                        </a:cubicBezTo>
                        <a:cubicBezTo>
                          <a:pt x="252" y="360"/>
                          <a:pt x="252" y="360"/>
                          <a:pt x="252" y="360"/>
                        </a:cubicBezTo>
                        <a:cubicBezTo>
                          <a:pt x="244" y="372"/>
                          <a:pt x="233" y="387"/>
                          <a:pt x="226" y="396"/>
                        </a:cubicBezTo>
                        <a:cubicBezTo>
                          <a:pt x="225" y="400"/>
                          <a:pt x="223" y="405"/>
                          <a:pt x="219" y="410"/>
                        </a:cubicBezTo>
                        <a:cubicBezTo>
                          <a:pt x="219" y="409"/>
                          <a:pt x="219" y="409"/>
                          <a:pt x="219" y="409"/>
                        </a:cubicBezTo>
                        <a:cubicBezTo>
                          <a:pt x="214" y="418"/>
                          <a:pt x="209" y="428"/>
                          <a:pt x="202" y="437"/>
                        </a:cubicBezTo>
                        <a:cubicBezTo>
                          <a:pt x="202" y="436"/>
                          <a:pt x="202" y="437"/>
                          <a:pt x="202" y="436"/>
                        </a:cubicBezTo>
                        <a:cubicBezTo>
                          <a:pt x="202" y="439"/>
                          <a:pt x="199" y="442"/>
                          <a:pt x="197" y="444"/>
                        </a:cubicBezTo>
                        <a:cubicBezTo>
                          <a:pt x="200" y="442"/>
                          <a:pt x="200" y="442"/>
                          <a:pt x="200" y="442"/>
                        </a:cubicBezTo>
                        <a:cubicBezTo>
                          <a:pt x="199" y="445"/>
                          <a:pt x="196" y="448"/>
                          <a:pt x="194" y="449"/>
                        </a:cubicBezTo>
                        <a:cubicBezTo>
                          <a:pt x="192" y="454"/>
                          <a:pt x="192" y="454"/>
                          <a:pt x="192" y="454"/>
                        </a:cubicBezTo>
                        <a:cubicBezTo>
                          <a:pt x="192" y="455"/>
                          <a:pt x="192" y="455"/>
                          <a:pt x="192" y="455"/>
                        </a:cubicBezTo>
                        <a:cubicBezTo>
                          <a:pt x="192" y="456"/>
                          <a:pt x="192" y="456"/>
                          <a:pt x="192" y="456"/>
                        </a:cubicBezTo>
                        <a:cubicBezTo>
                          <a:pt x="189" y="458"/>
                          <a:pt x="189" y="458"/>
                          <a:pt x="189" y="458"/>
                        </a:cubicBezTo>
                        <a:cubicBezTo>
                          <a:pt x="189" y="459"/>
                          <a:pt x="186" y="465"/>
                          <a:pt x="186" y="467"/>
                        </a:cubicBezTo>
                        <a:cubicBezTo>
                          <a:pt x="185" y="467"/>
                          <a:pt x="182" y="471"/>
                          <a:pt x="184" y="468"/>
                        </a:cubicBezTo>
                        <a:cubicBezTo>
                          <a:pt x="175" y="484"/>
                          <a:pt x="175" y="484"/>
                          <a:pt x="175" y="484"/>
                        </a:cubicBezTo>
                        <a:cubicBezTo>
                          <a:pt x="176" y="482"/>
                          <a:pt x="176" y="482"/>
                          <a:pt x="176" y="482"/>
                        </a:cubicBezTo>
                        <a:cubicBezTo>
                          <a:pt x="178" y="482"/>
                          <a:pt x="175" y="487"/>
                          <a:pt x="174" y="489"/>
                        </a:cubicBezTo>
                        <a:cubicBezTo>
                          <a:pt x="175" y="486"/>
                          <a:pt x="172" y="488"/>
                          <a:pt x="171" y="490"/>
                        </a:cubicBezTo>
                        <a:cubicBezTo>
                          <a:pt x="170" y="492"/>
                          <a:pt x="173" y="488"/>
                          <a:pt x="173" y="489"/>
                        </a:cubicBezTo>
                        <a:cubicBezTo>
                          <a:pt x="172" y="493"/>
                          <a:pt x="169" y="499"/>
                          <a:pt x="168" y="500"/>
                        </a:cubicBezTo>
                        <a:cubicBezTo>
                          <a:pt x="168" y="498"/>
                          <a:pt x="168" y="498"/>
                          <a:pt x="168" y="498"/>
                        </a:cubicBezTo>
                        <a:cubicBezTo>
                          <a:pt x="167" y="502"/>
                          <a:pt x="164" y="503"/>
                          <a:pt x="162" y="507"/>
                        </a:cubicBezTo>
                        <a:cubicBezTo>
                          <a:pt x="161" y="511"/>
                          <a:pt x="159" y="513"/>
                          <a:pt x="161" y="513"/>
                        </a:cubicBezTo>
                        <a:cubicBezTo>
                          <a:pt x="159" y="518"/>
                          <a:pt x="159" y="514"/>
                          <a:pt x="158" y="516"/>
                        </a:cubicBezTo>
                        <a:cubicBezTo>
                          <a:pt x="158" y="518"/>
                          <a:pt x="154" y="525"/>
                          <a:pt x="153" y="525"/>
                        </a:cubicBezTo>
                        <a:cubicBezTo>
                          <a:pt x="153" y="529"/>
                          <a:pt x="145" y="538"/>
                          <a:pt x="147" y="540"/>
                        </a:cubicBezTo>
                        <a:cubicBezTo>
                          <a:pt x="143" y="544"/>
                          <a:pt x="143" y="544"/>
                          <a:pt x="143" y="544"/>
                        </a:cubicBezTo>
                        <a:cubicBezTo>
                          <a:pt x="144" y="544"/>
                          <a:pt x="145" y="545"/>
                          <a:pt x="143" y="549"/>
                        </a:cubicBezTo>
                        <a:cubicBezTo>
                          <a:pt x="141" y="552"/>
                          <a:pt x="141" y="551"/>
                          <a:pt x="140" y="551"/>
                        </a:cubicBezTo>
                        <a:cubicBezTo>
                          <a:pt x="141" y="554"/>
                          <a:pt x="141" y="554"/>
                          <a:pt x="141" y="554"/>
                        </a:cubicBezTo>
                        <a:cubicBezTo>
                          <a:pt x="130" y="571"/>
                          <a:pt x="121" y="596"/>
                          <a:pt x="111" y="615"/>
                        </a:cubicBezTo>
                        <a:cubicBezTo>
                          <a:pt x="107" y="624"/>
                          <a:pt x="104" y="636"/>
                          <a:pt x="99" y="647"/>
                        </a:cubicBezTo>
                        <a:cubicBezTo>
                          <a:pt x="100" y="645"/>
                          <a:pt x="100" y="645"/>
                          <a:pt x="100" y="645"/>
                        </a:cubicBezTo>
                        <a:cubicBezTo>
                          <a:pt x="95" y="656"/>
                          <a:pt x="95" y="656"/>
                          <a:pt x="95" y="656"/>
                        </a:cubicBezTo>
                        <a:cubicBezTo>
                          <a:pt x="99" y="648"/>
                          <a:pt x="99" y="648"/>
                          <a:pt x="99" y="648"/>
                        </a:cubicBezTo>
                        <a:cubicBezTo>
                          <a:pt x="98" y="651"/>
                          <a:pt x="98" y="653"/>
                          <a:pt x="97" y="655"/>
                        </a:cubicBezTo>
                        <a:cubicBezTo>
                          <a:pt x="92" y="666"/>
                          <a:pt x="85" y="681"/>
                          <a:pt x="81" y="696"/>
                        </a:cubicBezTo>
                        <a:cubicBezTo>
                          <a:pt x="80" y="706"/>
                          <a:pt x="77" y="702"/>
                          <a:pt x="76" y="711"/>
                        </a:cubicBezTo>
                        <a:cubicBezTo>
                          <a:pt x="76" y="710"/>
                          <a:pt x="76" y="710"/>
                          <a:pt x="76" y="709"/>
                        </a:cubicBezTo>
                        <a:cubicBezTo>
                          <a:pt x="73" y="719"/>
                          <a:pt x="72" y="725"/>
                          <a:pt x="70" y="735"/>
                        </a:cubicBezTo>
                        <a:cubicBezTo>
                          <a:pt x="68" y="733"/>
                          <a:pt x="68" y="741"/>
                          <a:pt x="67" y="740"/>
                        </a:cubicBezTo>
                        <a:cubicBezTo>
                          <a:pt x="68" y="741"/>
                          <a:pt x="68" y="741"/>
                          <a:pt x="68" y="741"/>
                        </a:cubicBezTo>
                        <a:cubicBezTo>
                          <a:pt x="67" y="743"/>
                          <a:pt x="65" y="748"/>
                          <a:pt x="65" y="747"/>
                        </a:cubicBezTo>
                        <a:cubicBezTo>
                          <a:pt x="64" y="752"/>
                          <a:pt x="64" y="752"/>
                          <a:pt x="64" y="752"/>
                        </a:cubicBezTo>
                        <a:cubicBezTo>
                          <a:pt x="63" y="752"/>
                          <a:pt x="63" y="752"/>
                          <a:pt x="63" y="752"/>
                        </a:cubicBezTo>
                        <a:cubicBezTo>
                          <a:pt x="62" y="757"/>
                          <a:pt x="59" y="770"/>
                          <a:pt x="56" y="772"/>
                        </a:cubicBezTo>
                        <a:cubicBezTo>
                          <a:pt x="53" y="787"/>
                          <a:pt x="47" y="809"/>
                          <a:pt x="42" y="827"/>
                        </a:cubicBezTo>
                        <a:cubicBezTo>
                          <a:pt x="43" y="830"/>
                          <a:pt x="41" y="835"/>
                          <a:pt x="40" y="839"/>
                        </a:cubicBezTo>
                        <a:cubicBezTo>
                          <a:pt x="38" y="844"/>
                          <a:pt x="38" y="844"/>
                          <a:pt x="38" y="844"/>
                        </a:cubicBezTo>
                        <a:cubicBezTo>
                          <a:pt x="38" y="848"/>
                          <a:pt x="38" y="853"/>
                          <a:pt x="36" y="856"/>
                        </a:cubicBezTo>
                        <a:cubicBezTo>
                          <a:pt x="36" y="856"/>
                          <a:pt x="36" y="856"/>
                          <a:pt x="36" y="856"/>
                        </a:cubicBezTo>
                        <a:cubicBezTo>
                          <a:pt x="36" y="860"/>
                          <a:pt x="34" y="864"/>
                          <a:pt x="34" y="868"/>
                        </a:cubicBezTo>
                        <a:cubicBezTo>
                          <a:pt x="33" y="873"/>
                          <a:pt x="32" y="877"/>
                          <a:pt x="31" y="876"/>
                        </a:cubicBezTo>
                        <a:cubicBezTo>
                          <a:pt x="33" y="877"/>
                          <a:pt x="29" y="886"/>
                          <a:pt x="29" y="886"/>
                        </a:cubicBezTo>
                        <a:cubicBezTo>
                          <a:pt x="29" y="886"/>
                          <a:pt x="15" y="946"/>
                          <a:pt x="7" y="1014"/>
                        </a:cubicBezTo>
                        <a:cubicBezTo>
                          <a:pt x="3" y="1049"/>
                          <a:pt x="1" y="1085"/>
                          <a:pt x="0" y="1116"/>
                        </a:cubicBezTo>
                        <a:cubicBezTo>
                          <a:pt x="0" y="1148"/>
                          <a:pt x="1" y="1175"/>
                          <a:pt x="4" y="1189"/>
                        </a:cubicBezTo>
                        <a:cubicBezTo>
                          <a:pt x="5" y="1191"/>
                          <a:pt x="5" y="1197"/>
                          <a:pt x="6" y="1195"/>
                        </a:cubicBezTo>
                        <a:cubicBezTo>
                          <a:pt x="7" y="1199"/>
                          <a:pt x="5" y="1201"/>
                          <a:pt x="6" y="1202"/>
                        </a:cubicBezTo>
                        <a:cubicBezTo>
                          <a:pt x="7" y="1196"/>
                          <a:pt x="9" y="1204"/>
                          <a:pt x="10" y="1198"/>
                        </a:cubicBezTo>
                        <a:cubicBezTo>
                          <a:pt x="10" y="1202"/>
                          <a:pt x="10" y="1202"/>
                          <a:pt x="10" y="1202"/>
                        </a:cubicBezTo>
                        <a:cubicBezTo>
                          <a:pt x="11" y="1203"/>
                          <a:pt x="9" y="1197"/>
                          <a:pt x="11" y="1198"/>
                        </a:cubicBezTo>
                        <a:cubicBezTo>
                          <a:pt x="9" y="1197"/>
                          <a:pt x="9" y="1197"/>
                          <a:pt x="9" y="1197"/>
                        </a:cubicBezTo>
                        <a:cubicBezTo>
                          <a:pt x="9" y="1194"/>
                          <a:pt x="9" y="1192"/>
                          <a:pt x="10" y="1191"/>
                        </a:cubicBezTo>
                        <a:cubicBezTo>
                          <a:pt x="9" y="1188"/>
                          <a:pt x="7" y="1186"/>
                          <a:pt x="8" y="1180"/>
                        </a:cubicBezTo>
                        <a:cubicBezTo>
                          <a:pt x="8" y="1182"/>
                          <a:pt x="8" y="1182"/>
                          <a:pt x="8" y="1182"/>
                        </a:cubicBezTo>
                        <a:cubicBezTo>
                          <a:pt x="8" y="1176"/>
                          <a:pt x="9" y="1178"/>
                          <a:pt x="10" y="1177"/>
                        </a:cubicBezTo>
                        <a:cubicBezTo>
                          <a:pt x="10" y="1178"/>
                          <a:pt x="10" y="1178"/>
                          <a:pt x="10" y="1178"/>
                        </a:cubicBezTo>
                        <a:cubicBezTo>
                          <a:pt x="11" y="1174"/>
                          <a:pt x="11" y="1174"/>
                          <a:pt x="11" y="1174"/>
                        </a:cubicBezTo>
                        <a:cubicBezTo>
                          <a:pt x="10" y="1177"/>
                          <a:pt x="11" y="1183"/>
                          <a:pt x="11" y="1180"/>
                        </a:cubicBezTo>
                        <a:cubicBezTo>
                          <a:pt x="12" y="1174"/>
                          <a:pt x="11" y="1182"/>
                          <a:pt x="11" y="1177"/>
                        </a:cubicBezTo>
                        <a:cubicBezTo>
                          <a:pt x="11" y="1174"/>
                          <a:pt x="12" y="1175"/>
                          <a:pt x="12" y="1175"/>
                        </a:cubicBezTo>
                        <a:cubicBezTo>
                          <a:pt x="12" y="1170"/>
                          <a:pt x="12" y="1170"/>
                          <a:pt x="12" y="1170"/>
                        </a:cubicBezTo>
                        <a:cubicBezTo>
                          <a:pt x="13" y="1170"/>
                          <a:pt x="12" y="1173"/>
                          <a:pt x="13" y="1171"/>
                        </a:cubicBezTo>
                        <a:cubicBezTo>
                          <a:pt x="12" y="1164"/>
                          <a:pt x="12" y="1164"/>
                          <a:pt x="12" y="1164"/>
                        </a:cubicBezTo>
                        <a:cubicBezTo>
                          <a:pt x="14" y="1163"/>
                          <a:pt x="11" y="1157"/>
                          <a:pt x="13" y="1154"/>
                        </a:cubicBezTo>
                        <a:cubicBezTo>
                          <a:pt x="14" y="1159"/>
                          <a:pt x="14" y="1153"/>
                          <a:pt x="15" y="1154"/>
                        </a:cubicBezTo>
                        <a:cubicBezTo>
                          <a:pt x="15" y="1142"/>
                          <a:pt x="15" y="1142"/>
                          <a:pt x="15" y="1142"/>
                        </a:cubicBezTo>
                        <a:cubicBezTo>
                          <a:pt x="16" y="1141"/>
                          <a:pt x="16" y="1145"/>
                          <a:pt x="16" y="1144"/>
                        </a:cubicBezTo>
                        <a:cubicBezTo>
                          <a:pt x="16" y="1141"/>
                          <a:pt x="15" y="1140"/>
                          <a:pt x="15" y="1139"/>
                        </a:cubicBezTo>
                        <a:cubicBezTo>
                          <a:pt x="16" y="1138"/>
                          <a:pt x="16" y="1130"/>
                          <a:pt x="17" y="1130"/>
                        </a:cubicBezTo>
                        <a:cubicBezTo>
                          <a:pt x="19" y="1122"/>
                          <a:pt x="15" y="1127"/>
                          <a:pt x="17" y="1119"/>
                        </a:cubicBezTo>
                        <a:cubicBezTo>
                          <a:pt x="18" y="1118"/>
                          <a:pt x="17" y="1125"/>
                          <a:pt x="18" y="1122"/>
                        </a:cubicBezTo>
                        <a:cubicBezTo>
                          <a:pt x="18" y="1114"/>
                          <a:pt x="18" y="1114"/>
                          <a:pt x="18" y="1114"/>
                        </a:cubicBezTo>
                        <a:cubicBezTo>
                          <a:pt x="18" y="1115"/>
                          <a:pt x="19" y="1116"/>
                          <a:pt x="19" y="1119"/>
                        </a:cubicBezTo>
                        <a:cubicBezTo>
                          <a:pt x="21" y="1098"/>
                          <a:pt x="26" y="1087"/>
                          <a:pt x="27" y="1067"/>
                        </a:cubicBezTo>
                        <a:cubicBezTo>
                          <a:pt x="28" y="1065"/>
                          <a:pt x="27" y="1069"/>
                          <a:pt x="28" y="1071"/>
                        </a:cubicBezTo>
                        <a:cubicBezTo>
                          <a:pt x="28" y="1057"/>
                          <a:pt x="32" y="1052"/>
                          <a:pt x="33" y="1040"/>
                        </a:cubicBezTo>
                        <a:cubicBezTo>
                          <a:pt x="32" y="1040"/>
                          <a:pt x="32" y="1040"/>
                          <a:pt x="32" y="1040"/>
                        </a:cubicBezTo>
                        <a:cubicBezTo>
                          <a:pt x="36" y="1024"/>
                          <a:pt x="37" y="1004"/>
                          <a:pt x="41" y="986"/>
                        </a:cubicBezTo>
                        <a:cubicBezTo>
                          <a:pt x="40" y="988"/>
                          <a:pt x="40" y="988"/>
                          <a:pt x="40" y="988"/>
                        </a:cubicBezTo>
                        <a:cubicBezTo>
                          <a:pt x="39" y="985"/>
                          <a:pt x="40" y="981"/>
                          <a:pt x="40" y="978"/>
                        </a:cubicBezTo>
                        <a:cubicBezTo>
                          <a:pt x="40" y="977"/>
                          <a:pt x="41" y="980"/>
                          <a:pt x="42" y="975"/>
                        </a:cubicBezTo>
                        <a:cubicBezTo>
                          <a:pt x="41" y="976"/>
                          <a:pt x="41" y="978"/>
                          <a:pt x="40" y="977"/>
                        </a:cubicBezTo>
                        <a:cubicBezTo>
                          <a:pt x="45" y="962"/>
                          <a:pt x="50" y="928"/>
                          <a:pt x="56" y="903"/>
                        </a:cubicBezTo>
                        <a:cubicBezTo>
                          <a:pt x="62" y="868"/>
                          <a:pt x="72" y="831"/>
                          <a:pt x="81" y="797"/>
                        </a:cubicBezTo>
                        <a:cubicBezTo>
                          <a:pt x="79" y="802"/>
                          <a:pt x="78" y="799"/>
                          <a:pt x="79" y="796"/>
                        </a:cubicBezTo>
                        <a:cubicBezTo>
                          <a:pt x="86" y="786"/>
                          <a:pt x="84" y="777"/>
                          <a:pt x="89" y="767"/>
                        </a:cubicBezTo>
                        <a:cubicBezTo>
                          <a:pt x="94" y="747"/>
                          <a:pt x="103" y="731"/>
                          <a:pt x="106" y="712"/>
                        </a:cubicBezTo>
                        <a:cubicBezTo>
                          <a:pt x="107" y="712"/>
                          <a:pt x="107" y="712"/>
                          <a:pt x="107" y="712"/>
                        </a:cubicBezTo>
                        <a:cubicBezTo>
                          <a:pt x="108" y="710"/>
                          <a:pt x="108" y="709"/>
                          <a:pt x="109" y="706"/>
                        </a:cubicBezTo>
                        <a:cubicBezTo>
                          <a:pt x="109" y="706"/>
                          <a:pt x="109" y="706"/>
                          <a:pt x="109" y="706"/>
                        </a:cubicBezTo>
                        <a:cubicBezTo>
                          <a:pt x="112" y="700"/>
                          <a:pt x="113" y="691"/>
                          <a:pt x="115" y="688"/>
                        </a:cubicBezTo>
                        <a:cubicBezTo>
                          <a:pt x="114" y="687"/>
                          <a:pt x="114" y="687"/>
                          <a:pt x="114" y="687"/>
                        </a:cubicBezTo>
                        <a:cubicBezTo>
                          <a:pt x="116" y="683"/>
                          <a:pt x="116" y="685"/>
                          <a:pt x="117" y="681"/>
                        </a:cubicBezTo>
                        <a:cubicBezTo>
                          <a:pt x="117" y="681"/>
                          <a:pt x="117" y="681"/>
                          <a:pt x="117" y="681"/>
                        </a:cubicBezTo>
                        <a:cubicBezTo>
                          <a:pt x="118" y="676"/>
                          <a:pt x="118" y="676"/>
                          <a:pt x="118" y="676"/>
                        </a:cubicBezTo>
                        <a:cubicBezTo>
                          <a:pt x="120" y="677"/>
                          <a:pt x="122" y="665"/>
                          <a:pt x="124" y="663"/>
                        </a:cubicBezTo>
                        <a:cubicBezTo>
                          <a:pt x="126" y="657"/>
                          <a:pt x="129" y="648"/>
                          <a:pt x="132" y="640"/>
                        </a:cubicBezTo>
                        <a:cubicBezTo>
                          <a:pt x="134" y="639"/>
                          <a:pt x="137" y="630"/>
                          <a:pt x="140" y="624"/>
                        </a:cubicBezTo>
                        <a:cubicBezTo>
                          <a:pt x="145" y="613"/>
                          <a:pt x="151" y="596"/>
                          <a:pt x="158" y="582"/>
                        </a:cubicBezTo>
                        <a:cubicBezTo>
                          <a:pt x="157" y="582"/>
                          <a:pt x="157" y="582"/>
                          <a:pt x="157" y="582"/>
                        </a:cubicBezTo>
                        <a:cubicBezTo>
                          <a:pt x="159" y="578"/>
                          <a:pt x="159" y="578"/>
                          <a:pt x="159" y="578"/>
                        </a:cubicBezTo>
                        <a:cubicBezTo>
                          <a:pt x="159" y="578"/>
                          <a:pt x="159" y="578"/>
                          <a:pt x="159" y="578"/>
                        </a:cubicBezTo>
                        <a:cubicBezTo>
                          <a:pt x="162" y="576"/>
                          <a:pt x="163" y="569"/>
                          <a:pt x="165" y="567"/>
                        </a:cubicBezTo>
                        <a:cubicBezTo>
                          <a:pt x="163" y="568"/>
                          <a:pt x="164" y="569"/>
                          <a:pt x="163" y="572"/>
                        </a:cubicBezTo>
                        <a:cubicBezTo>
                          <a:pt x="161" y="574"/>
                          <a:pt x="161" y="571"/>
                          <a:pt x="163" y="567"/>
                        </a:cubicBezTo>
                        <a:cubicBezTo>
                          <a:pt x="164" y="567"/>
                          <a:pt x="164" y="567"/>
                          <a:pt x="164" y="567"/>
                        </a:cubicBezTo>
                        <a:cubicBezTo>
                          <a:pt x="164" y="564"/>
                          <a:pt x="164" y="564"/>
                          <a:pt x="164" y="564"/>
                        </a:cubicBezTo>
                        <a:cubicBezTo>
                          <a:pt x="165" y="564"/>
                          <a:pt x="167" y="562"/>
                          <a:pt x="168" y="562"/>
                        </a:cubicBezTo>
                        <a:cubicBezTo>
                          <a:pt x="174" y="550"/>
                          <a:pt x="176" y="541"/>
                          <a:pt x="183" y="528"/>
                        </a:cubicBezTo>
                        <a:cubicBezTo>
                          <a:pt x="183" y="530"/>
                          <a:pt x="187" y="519"/>
                          <a:pt x="188" y="523"/>
                        </a:cubicBezTo>
                        <a:cubicBezTo>
                          <a:pt x="191" y="515"/>
                          <a:pt x="186" y="523"/>
                          <a:pt x="186" y="519"/>
                        </a:cubicBezTo>
                        <a:cubicBezTo>
                          <a:pt x="188" y="517"/>
                          <a:pt x="188" y="515"/>
                          <a:pt x="189" y="515"/>
                        </a:cubicBezTo>
                        <a:cubicBezTo>
                          <a:pt x="189" y="516"/>
                          <a:pt x="191" y="513"/>
                          <a:pt x="190" y="515"/>
                        </a:cubicBezTo>
                        <a:cubicBezTo>
                          <a:pt x="193" y="510"/>
                          <a:pt x="193" y="510"/>
                          <a:pt x="193" y="510"/>
                        </a:cubicBezTo>
                        <a:cubicBezTo>
                          <a:pt x="193" y="510"/>
                          <a:pt x="193" y="511"/>
                          <a:pt x="193" y="512"/>
                        </a:cubicBezTo>
                        <a:cubicBezTo>
                          <a:pt x="197" y="501"/>
                          <a:pt x="203" y="494"/>
                          <a:pt x="207" y="485"/>
                        </a:cubicBezTo>
                        <a:cubicBezTo>
                          <a:pt x="207" y="484"/>
                          <a:pt x="205" y="488"/>
                          <a:pt x="205" y="487"/>
                        </a:cubicBezTo>
                        <a:cubicBezTo>
                          <a:pt x="209" y="478"/>
                          <a:pt x="211" y="480"/>
                          <a:pt x="215" y="471"/>
                        </a:cubicBezTo>
                        <a:cubicBezTo>
                          <a:pt x="214" y="473"/>
                          <a:pt x="214" y="473"/>
                          <a:pt x="214" y="473"/>
                        </a:cubicBezTo>
                        <a:cubicBezTo>
                          <a:pt x="215" y="470"/>
                          <a:pt x="215" y="469"/>
                          <a:pt x="219" y="465"/>
                        </a:cubicBezTo>
                        <a:cubicBezTo>
                          <a:pt x="220" y="465"/>
                          <a:pt x="217" y="469"/>
                          <a:pt x="216" y="471"/>
                        </a:cubicBezTo>
                        <a:cubicBezTo>
                          <a:pt x="218" y="468"/>
                          <a:pt x="223" y="461"/>
                          <a:pt x="220" y="462"/>
                        </a:cubicBezTo>
                        <a:cubicBezTo>
                          <a:pt x="222" y="459"/>
                          <a:pt x="224" y="458"/>
                          <a:pt x="225" y="456"/>
                        </a:cubicBezTo>
                        <a:cubicBezTo>
                          <a:pt x="225" y="456"/>
                          <a:pt x="223" y="459"/>
                          <a:pt x="223" y="457"/>
                        </a:cubicBezTo>
                        <a:cubicBezTo>
                          <a:pt x="227" y="452"/>
                          <a:pt x="231" y="444"/>
                          <a:pt x="235" y="439"/>
                        </a:cubicBezTo>
                        <a:cubicBezTo>
                          <a:pt x="235" y="439"/>
                          <a:pt x="236" y="439"/>
                          <a:pt x="236" y="439"/>
                        </a:cubicBezTo>
                        <a:cubicBezTo>
                          <a:pt x="238" y="434"/>
                          <a:pt x="239" y="436"/>
                          <a:pt x="243" y="429"/>
                        </a:cubicBezTo>
                        <a:close/>
                      </a:path>
                    </a:pathLst>
                  </a:custGeom>
                  <a:solidFill>
                    <a:schemeClr val="bg1">
                      <a:lumMod val="85000"/>
                    </a:schemeClr>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01" name="Freeform 156">
                    <a:extLst>
                      <a:ext uri="{FF2B5EF4-FFF2-40B4-BE49-F238E27FC236}">
                        <a16:creationId xmlns:a16="http://schemas.microsoft.com/office/drawing/2014/main" id="{76887870-8E6E-4798-9B63-5E202794145E}"/>
                      </a:ext>
                    </a:extLst>
                  </p:cNvPr>
                  <p:cNvSpPr>
                    <a:spLocks/>
                  </p:cNvSpPr>
                  <p:nvPr/>
                </p:nvSpPr>
                <p:spPr bwMode="auto">
                  <a:xfrm>
                    <a:off x="7526338" y="2025650"/>
                    <a:ext cx="7937" cy="7938"/>
                  </a:xfrm>
                  <a:custGeom>
                    <a:avLst/>
                    <a:gdLst/>
                    <a:ahLst/>
                    <a:cxnLst>
                      <a:cxn ang="0">
                        <a:pos x="3" y="0"/>
                      </a:cxn>
                      <a:cxn ang="0">
                        <a:pos x="0" y="1"/>
                      </a:cxn>
                      <a:cxn ang="0">
                        <a:pos x="0" y="3"/>
                      </a:cxn>
                      <a:cxn ang="0">
                        <a:pos x="3" y="0"/>
                      </a:cxn>
                    </a:cxnLst>
                    <a:rect l="0" t="0" r="r" b="b"/>
                    <a:pathLst>
                      <a:path w="3" h="3">
                        <a:moveTo>
                          <a:pt x="3" y="0"/>
                        </a:moveTo>
                        <a:cubicBezTo>
                          <a:pt x="0" y="1"/>
                          <a:pt x="0" y="1"/>
                          <a:pt x="0" y="1"/>
                        </a:cubicBezTo>
                        <a:cubicBezTo>
                          <a:pt x="1" y="2"/>
                          <a:pt x="1" y="2"/>
                          <a:pt x="0" y="3"/>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02" name="Freeform 157">
                    <a:extLst>
                      <a:ext uri="{FF2B5EF4-FFF2-40B4-BE49-F238E27FC236}">
                        <a16:creationId xmlns:a16="http://schemas.microsoft.com/office/drawing/2014/main" id="{DF12B5C2-FB82-4B6A-885E-587971157CBD}"/>
                      </a:ext>
                    </a:extLst>
                  </p:cNvPr>
                  <p:cNvSpPr>
                    <a:spLocks/>
                  </p:cNvSpPr>
                  <p:nvPr/>
                </p:nvSpPr>
                <p:spPr bwMode="auto">
                  <a:xfrm>
                    <a:off x="7278688" y="2239963"/>
                    <a:ext cx="1587" cy="1588"/>
                  </a:xfrm>
                  <a:custGeom>
                    <a:avLst/>
                    <a:gdLst/>
                    <a:ahLst/>
                    <a:cxnLst>
                      <a:cxn ang="0">
                        <a:pos x="0" y="0"/>
                      </a:cxn>
                      <a:cxn ang="0">
                        <a:pos x="0" y="1"/>
                      </a:cxn>
                      <a:cxn ang="0">
                        <a:pos x="0" y="0"/>
                      </a:cxn>
                    </a:cxnLst>
                    <a:rect l="0" t="0" r="r" b="b"/>
                    <a:pathLst>
                      <a:path h="1">
                        <a:moveTo>
                          <a:pt x="0" y="0"/>
                        </a:moveTo>
                        <a:cubicBezTo>
                          <a:pt x="0" y="0"/>
                          <a:pt x="0" y="1"/>
                          <a:pt x="0" y="1"/>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03" name="Freeform 158">
                    <a:extLst>
                      <a:ext uri="{FF2B5EF4-FFF2-40B4-BE49-F238E27FC236}">
                        <a16:creationId xmlns:a16="http://schemas.microsoft.com/office/drawing/2014/main" id="{8AD8EDFE-9900-4275-958B-B777CD087227}"/>
                      </a:ext>
                    </a:extLst>
                  </p:cNvPr>
                  <p:cNvSpPr>
                    <a:spLocks/>
                  </p:cNvSpPr>
                  <p:nvPr/>
                </p:nvSpPr>
                <p:spPr bwMode="auto">
                  <a:xfrm>
                    <a:off x="7221538" y="2297113"/>
                    <a:ext cx="7937" cy="4763"/>
                  </a:xfrm>
                  <a:custGeom>
                    <a:avLst/>
                    <a:gdLst/>
                    <a:ahLst/>
                    <a:cxnLst>
                      <a:cxn ang="0">
                        <a:pos x="2" y="2"/>
                      </a:cxn>
                      <a:cxn ang="0">
                        <a:pos x="0" y="2"/>
                      </a:cxn>
                      <a:cxn ang="0">
                        <a:pos x="2" y="2"/>
                      </a:cxn>
                    </a:cxnLst>
                    <a:rect l="0" t="0" r="r" b="b"/>
                    <a:pathLst>
                      <a:path w="3" h="2">
                        <a:moveTo>
                          <a:pt x="2" y="2"/>
                        </a:moveTo>
                        <a:cubicBezTo>
                          <a:pt x="3" y="0"/>
                          <a:pt x="1" y="1"/>
                          <a:pt x="0" y="2"/>
                        </a:cubicBezTo>
                        <a:cubicBezTo>
                          <a:pt x="1" y="2"/>
                          <a:pt x="1" y="2"/>
                          <a:pt x="2"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04" name="Freeform 159">
                    <a:extLst>
                      <a:ext uri="{FF2B5EF4-FFF2-40B4-BE49-F238E27FC236}">
                        <a16:creationId xmlns:a16="http://schemas.microsoft.com/office/drawing/2014/main" id="{EFB7D397-0BA1-446B-ADA2-E06D948043E1}"/>
                      </a:ext>
                    </a:extLst>
                  </p:cNvPr>
                  <p:cNvSpPr>
                    <a:spLocks/>
                  </p:cNvSpPr>
                  <p:nvPr/>
                </p:nvSpPr>
                <p:spPr bwMode="auto">
                  <a:xfrm>
                    <a:off x="7685088" y="1916113"/>
                    <a:ext cx="3175" cy="1588"/>
                  </a:xfrm>
                  <a:custGeom>
                    <a:avLst/>
                    <a:gdLst/>
                    <a:ahLst/>
                    <a:cxnLst>
                      <a:cxn ang="0">
                        <a:pos x="1" y="0"/>
                      </a:cxn>
                      <a:cxn ang="0">
                        <a:pos x="0" y="0"/>
                      </a:cxn>
                      <a:cxn ang="0">
                        <a:pos x="1" y="0"/>
                      </a:cxn>
                    </a:cxnLst>
                    <a:rect l="0" t="0" r="r" b="b"/>
                    <a:pathLst>
                      <a:path w="1">
                        <a:moveTo>
                          <a:pt x="1" y="0"/>
                        </a:moveTo>
                        <a:cubicBezTo>
                          <a:pt x="0" y="0"/>
                          <a:pt x="0" y="0"/>
                          <a:pt x="0"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05" name="Freeform 160">
                    <a:extLst>
                      <a:ext uri="{FF2B5EF4-FFF2-40B4-BE49-F238E27FC236}">
                        <a16:creationId xmlns:a16="http://schemas.microsoft.com/office/drawing/2014/main" id="{944872F6-3869-43D1-8042-8DF728F0BF8B}"/>
                      </a:ext>
                    </a:extLst>
                  </p:cNvPr>
                  <p:cNvSpPr>
                    <a:spLocks/>
                  </p:cNvSpPr>
                  <p:nvPr/>
                </p:nvSpPr>
                <p:spPr bwMode="auto">
                  <a:xfrm>
                    <a:off x="8167688" y="17176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06" name="Freeform 161">
                    <a:extLst>
                      <a:ext uri="{FF2B5EF4-FFF2-40B4-BE49-F238E27FC236}">
                        <a16:creationId xmlns:a16="http://schemas.microsoft.com/office/drawing/2014/main" id="{D6181F28-F687-4881-A273-0C0434386190}"/>
                      </a:ext>
                    </a:extLst>
                  </p:cNvPr>
                  <p:cNvSpPr>
                    <a:spLocks/>
                  </p:cNvSpPr>
                  <p:nvPr/>
                </p:nvSpPr>
                <p:spPr bwMode="auto">
                  <a:xfrm>
                    <a:off x="8132763" y="1720850"/>
                    <a:ext cx="6350" cy="1588"/>
                  </a:xfrm>
                  <a:custGeom>
                    <a:avLst/>
                    <a:gdLst/>
                    <a:ahLst/>
                    <a:cxnLst>
                      <a:cxn ang="0">
                        <a:pos x="3" y="0"/>
                      </a:cxn>
                      <a:cxn ang="0">
                        <a:pos x="0" y="1"/>
                      </a:cxn>
                      <a:cxn ang="0">
                        <a:pos x="3" y="0"/>
                      </a:cxn>
                    </a:cxnLst>
                    <a:rect l="0" t="0" r="r" b="b"/>
                    <a:pathLst>
                      <a:path w="3" h="1">
                        <a:moveTo>
                          <a:pt x="3" y="0"/>
                        </a:moveTo>
                        <a:cubicBezTo>
                          <a:pt x="2" y="0"/>
                          <a:pt x="1" y="1"/>
                          <a:pt x="0" y="1"/>
                        </a:cubicBezTo>
                        <a:cubicBezTo>
                          <a:pt x="1" y="1"/>
                          <a:pt x="2" y="1"/>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07" name="Freeform 162">
                    <a:extLst>
                      <a:ext uri="{FF2B5EF4-FFF2-40B4-BE49-F238E27FC236}">
                        <a16:creationId xmlns:a16="http://schemas.microsoft.com/office/drawing/2014/main" id="{645F5E02-57F6-4EFF-A211-55217D15E806}"/>
                      </a:ext>
                    </a:extLst>
                  </p:cNvPr>
                  <p:cNvSpPr>
                    <a:spLocks/>
                  </p:cNvSpPr>
                  <p:nvPr/>
                </p:nvSpPr>
                <p:spPr bwMode="auto">
                  <a:xfrm>
                    <a:off x="7577138" y="1984375"/>
                    <a:ext cx="4762" cy="4763"/>
                  </a:xfrm>
                  <a:custGeom>
                    <a:avLst/>
                    <a:gdLst/>
                    <a:ahLst/>
                    <a:cxnLst>
                      <a:cxn ang="0">
                        <a:pos x="2" y="0"/>
                      </a:cxn>
                      <a:cxn ang="0">
                        <a:pos x="0" y="2"/>
                      </a:cxn>
                      <a:cxn ang="0">
                        <a:pos x="2" y="0"/>
                      </a:cxn>
                    </a:cxnLst>
                    <a:rect l="0" t="0" r="r" b="b"/>
                    <a:pathLst>
                      <a:path w="2" h="2">
                        <a:moveTo>
                          <a:pt x="2" y="0"/>
                        </a:moveTo>
                        <a:cubicBezTo>
                          <a:pt x="1" y="1"/>
                          <a:pt x="1" y="1"/>
                          <a:pt x="0" y="2"/>
                        </a:cubicBezTo>
                        <a:cubicBezTo>
                          <a:pt x="1" y="1"/>
                          <a:pt x="2"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08" name="Freeform 163">
                    <a:extLst>
                      <a:ext uri="{FF2B5EF4-FFF2-40B4-BE49-F238E27FC236}">
                        <a16:creationId xmlns:a16="http://schemas.microsoft.com/office/drawing/2014/main" id="{8C64667B-2C0A-427E-ACD4-59C57B10B630}"/>
                      </a:ext>
                    </a:extLst>
                  </p:cNvPr>
                  <p:cNvSpPr>
                    <a:spLocks/>
                  </p:cNvSpPr>
                  <p:nvPr/>
                </p:nvSpPr>
                <p:spPr bwMode="auto">
                  <a:xfrm>
                    <a:off x="8120063" y="1725613"/>
                    <a:ext cx="7937" cy="3175"/>
                  </a:xfrm>
                  <a:custGeom>
                    <a:avLst/>
                    <a:gdLst/>
                    <a:ahLst/>
                    <a:cxnLst>
                      <a:cxn ang="0">
                        <a:pos x="3" y="0"/>
                      </a:cxn>
                      <a:cxn ang="0">
                        <a:pos x="0" y="1"/>
                      </a:cxn>
                      <a:cxn ang="0">
                        <a:pos x="0" y="1"/>
                      </a:cxn>
                      <a:cxn ang="0">
                        <a:pos x="3" y="0"/>
                      </a:cxn>
                    </a:cxnLst>
                    <a:rect l="0" t="0" r="r" b="b"/>
                    <a:pathLst>
                      <a:path w="3" h="1">
                        <a:moveTo>
                          <a:pt x="3" y="0"/>
                        </a:moveTo>
                        <a:cubicBezTo>
                          <a:pt x="0" y="1"/>
                          <a:pt x="0" y="1"/>
                          <a:pt x="0" y="1"/>
                        </a:cubicBezTo>
                        <a:cubicBezTo>
                          <a:pt x="0" y="1"/>
                          <a:pt x="0" y="1"/>
                          <a:pt x="0" y="1"/>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09" name="Freeform 164">
                    <a:extLst>
                      <a:ext uri="{FF2B5EF4-FFF2-40B4-BE49-F238E27FC236}">
                        <a16:creationId xmlns:a16="http://schemas.microsoft.com/office/drawing/2014/main" id="{7C318468-D5E0-49F4-95B6-663EC52628EF}"/>
                      </a:ext>
                    </a:extLst>
                  </p:cNvPr>
                  <p:cNvSpPr>
                    <a:spLocks/>
                  </p:cNvSpPr>
                  <p:nvPr/>
                </p:nvSpPr>
                <p:spPr bwMode="auto">
                  <a:xfrm>
                    <a:off x="8167688" y="1716088"/>
                    <a:ext cx="9525" cy="1588"/>
                  </a:xfrm>
                  <a:custGeom>
                    <a:avLst/>
                    <a:gdLst/>
                    <a:ahLst/>
                    <a:cxnLst>
                      <a:cxn ang="0">
                        <a:pos x="4" y="0"/>
                      </a:cxn>
                      <a:cxn ang="0">
                        <a:pos x="0" y="1"/>
                      </a:cxn>
                      <a:cxn ang="0">
                        <a:pos x="4" y="0"/>
                      </a:cxn>
                    </a:cxnLst>
                    <a:rect l="0" t="0" r="r" b="b"/>
                    <a:pathLst>
                      <a:path w="4" h="1">
                        <a:moveTo>
                          <a:pt x="4" y="0"/>
                        </a:moveTo>
                        <a:cubicBezTo>
                          <a:pt x="3" y="1"/>
                          <a:pt x="1" y="1"/>
                          <a:pt x="0" y="1"/>
                        </a:cubicBezTo>
                        <a:cubicBezTo>
                          <a:pt x="2" y="1"/>
                          <a:pt x="3" y="1"/>
                          <a:pt x="4"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10" name="Freeform 165">
                    <a:extLst>
                      <a:ext uri="{FF2B5EF4-FFF2-40B4-BE49-F238E27FC236}">
                        <a16:creationId xmlns:a16="http://schemas.microsoft.com/office/drawing/2014/main" id="{19FB34BE-0D00-402E-8851-EC5230A90CEA}"/>
                      </a:ext>
                    </a:extLst>
                  </p:cNvPr>
                  <p:cNvSpPr>
                    <a:spLocks/>
                  </p:cNvSpPr>
                  <p:nvPr/>
                </p:nvSpPr>
                <p:spPr bwMode="auto">
                  <a:xfrm>
                    <a:off x="7850188" y="1822450"/>
                    <a:ext cx="4762" cy="4763"/>
                  </a:xfrm>
                  <a:custGeom>
                    <a:avLst/>
                    <a:gdLst/>
                    <a:ahLst/>
                    <a:cxnLst>
                      <a:cxn ang="0">
                        <a:pos x="2" y="0"/>
                      </a:cxn>
                      <a:cxn ang="0">
                        <a:pos x="2" y="1"/>
                      </a:cxn>
                      <a:cxn ang="0">
                        <a:pos x="2" y="0"/>
                      </a:cxn>
                    </a:cxnLst>
                    <a:rect l="0" t="0" r="r" b="b"/>
                    <a:pathLst>
                      <a:path w="2" h="2">
                        <a:moveTo>
                          <a:pt x="2" y="0"/>
                        </a:moveTo>
                        <a:cubicBezTo>
                          <a:pt x="2" y="1"/>
                          <a:pt x="2" y="1"/>
                          <a:pt x="2" y="1"/>
                        </a:cubicBezTo>
                        <a:cubicBezTo>
                          <a:pt x="0" y="2"/>
                          <a:pt x="1"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11" name="Freeform 166">
                    <a:extLst>
                      <a:ext uri="{FF2B5EF4-FFF2-40B4-BE49-F238E27FC236}">
                        <a16:creationId xmlns:a16="http://schemas.microsoft.com/office/drawing/2014/main" id="{6C4B3257-E472-4C48-8203-E2BF10DF66A4}"/>
                      </a:ext>
                    </a:extLst>
                  </p:cNvPr>
                  <p:cNvSpPr>
                    <a:spLocks/>
                  </p:cNvSpPr>
                  <p:nvPr/>
                </p:nvSpPr>
                <p:spPr bwMode="auto">
                  <a:xfrm>
                    <a:off x="8094663" y="1738313"/>
                    <a:ext cx="3175" cy="1588"/>
                  </a:xfrm>
                  <a:custGeom>
                    <a:avLst/>
                    <a:gdLst/>
                    <a:ahLst/>
                    <a:cxnLst>
                      <a:cxn ang="0">
                        <a:pos x="2" y="0"/>
                      </a:cxn>
                      <a:cxn ang="0">
                        <a:pos x="2" y="0"/>
                      </a:cxn>
                      <a:cxn ang="0">
                        <a:pos x="0" y="1"/>
                      </a:cxn>
                      <a:cxn ang="0">
                        <a:pos x="2" y="0"/>
                      </a:cxn>
                    </a:cxnLst>
                    <a:rect l="0" t="0" r="r" b="b"/>
                    <a:pathLst>
                      <a:path w="2" h="1">
                        <a:moveTo>
                          <a:pt x="2" y="0"/>
                        </a:moveTo>
                        <a:lnTo>
                          <a:pt x="2" y="0"/>
                        </a:lnTo>
                        <a:lnTo>
                          <a:pt x="0" y="1"/>
                        </a:lnTo>
                        <a:lnTo>
                          <a:pt x="2"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12" name="Freeform 167">
                    <a:extLst>
                      <a:ext uri="{FF2B5EF4-FFF2-40B4-BE49-F238E27FC236}">
                        <a16:creationId xmlns:a16="http://schemas.microsoft.com/office/drawing/2014/main" id="{EC445C74-8823-417E-ACDE-9973FCA1A9D5}"/>
                      </a:ext>
                    </a:extLst>
                  </p:cNvPr>
                  <p:cNvSpPr>
                    <a:spLocks/>
                  </p:cNvSpPr>
                  <p:nvPr/>
                </p:nvSpPr>
                <p:spPr bwMode="auto">
                  <a:xfrm>
                    <a:off x="8204200" y="1711325"/>
                    <a:ext cx="4762" cy="1588"/>
                  </a:xfrm>
                  <a:custGeom>
                    <a:avLst/>
                    <a:gdLst/>
                    <a:ahLst/>
                    <a:cxnLst>
                      <a:cxn ang="0">
                        <a:pos x="1" y="0"/>
                      </a:cxn>
                      <a:cxn ang="0">
                        <a:pos x="0" y="0"/>
                      </a:cxn>
                      <a:cxn ang="0">
                        <a:pos x="2" y="0"/>
                      </a:cxn>
                      <a:cxn ang="0">
                        <a:pos x="1" y="0"/>
                      </a:cxn>
                    </a:cxnLst>
                    <a:rect l="0" t="0" r="r" b="b"/>
                    <a:pathLst>
                      <a:path w="2">
                        <a:moveTo>
                          <a:pt x="1" y="0"/>
                        </a:moveTo>
                        <a:cubicBezTo>
                          <a:pt x="1" y="0"/>
                          <a:pt x="0" y="0"/>
                          <a:pt x="0" y="0"/>
                        </a:cubicBezTo>
                        <a:cubicBezTo>
                          <a:pt x="2" y="0"/>
                          <a:pt x="2" y="0"/>
                          <a:pt x="2"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13" name="Freeform 168">
                    <a:extLst>
                      <a:ext uri="{FF2B5EF4-FFF2-40B4-BE49-F238E27FC236}">
                        <a16:creationId xmlns:a16="http://schemas.microsoft.com/office/drawing/2014/main" id="{3702C5B3-F3EB-4242-8A27-52584B791BEC}"/>
                      </a:ext>
                    </a:extLst>
                  </p:cNvPr>
                  <p:cNvSpPr>
                    <a:spLocks/>
                  </p:cNvSpPr>
                  <p:nvPr/>
                </p:nvSpPr>
                <p:spPr bwMode="auto">
                  <a:xfrm>
                    <a:off x="7956550" y="1779588"/>
                    <a:ext cx="1587" cy="4763"/>
                  </a:xfrm>
                  <a:custGeom>
                    <a:avLst/>
                    <a:gdLst/>
                    <a:ahLst/>
                    <a:cxnLst>
                      <a:cxn ang="0">
                        <a:pos x="1" y="2"/>
                      </a:cxn>
                      <a:cxn ang="0">
                        <a:pos x="1" y="0"/>
                      </a:cxn>
                      <a:cxn ang="0">
                        <a:pos x="1" y="2"/>
                      </a:cxn>
                    </a:cxnLst>
                    <a:rect l="0" t="0" r="r" b="b"/>
                    <a:pathLst>
                      <a:path w="1" h="2">
                        <a:moveTo>
                          <a:pt x="1" y="2"/>
                        </a:moveTo>
                        <a:cubicBezTo>
                          <a:pt x="1" y="1"/>
                          <a:pt x="1" y="1"/>
                          <a:pt x="1" y="0"/>
                        </a:cubicBezTo>
                        <a:cubicBezTo>
                          <a:pt x="0" y="1"/>
                          <a:pt x="0" y="1"/>
                          <a:pt x="1"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grpSp>
              <p:nvGrpSpPr>
                <p:cNvPr id="193" name="Group 484">
                  <a:extLst>
                    <a:ext uri="{FF2B5EF4-FFF2-40B4-BE49-F238E27FC236}">
                      <a16:creationId xmlns:a16="http://schemas.microsoft.com/office/drawing/2014/main" id="{5CE12652-CFF5-4096-8223-48E01111FBC0}"/>
                    </a:ext>
                  </a:extLst>
                </p:cNvPr>
                <p:cNvGrpSpPr/>
                <p:nvPr/>
              </p:nvGrpSpPr>
              <p:grpSpPr>
                <a:xfrm rot="15155533" flipH="1">
                  <a:off x="1114059" y="1803071"/>
                  <a:ext cx="2159193" cy="2610180"/>
                  <a:chOff x="6326188" y="1654175"/>
                  <a:chExt cx="2192337" cy="2967038"/>
                </a:xfrm>
                <a:solidFill>
                  <a:schemeClr val="bg2">
                    <a:lumMod val="75000"/>
                  </a:schemeClr>
                </a:solidFill>
              </p:grpSpPr>
              <p:sp>
                <p:nvSpPr>
                  <p:cNvPr id="235" name="Freeform 129">
                    <a:extLst>
                      <a:ext uri="{FF2B5EF4-FFF2-40B4-BE49-F238E27FC236}">
                        <a16:creationId xmlns:a16="http://schemas.microsoft.com/office/drawing/2014/main" id="{A26B6753-FA69-4173-97F7-ED8AD0A96E7E}"/>
                      </a:ext>
                    </a:extLst>
                  </p:cNvPr>
                  <p:cNvSpPr>
                    <a:spLocks/>
                  </p:cNvSpPr>
                  <p:nvPr/>
                </p:nvSpPr>
                <p:spPr bwMode="auto">
                  <a:xfrm>
                    <a:off x="8027988" y="1720850"/>
                    <a:ext cx="3175" cy="1588"/>
                  </a:xfrm>
                  <a:custGeom>
                    <a:avLst/>
                    <a:gdLst/>
                    <a:ahLst/>
                    <a:cxnLst>
                      <a:cxn ang="0">
                        <a:pos x="0" y="0"/>
                      </a:cxn>
                      <a:cxn ang="0">
                        <a:pos x="0" y="0"/>
                      </a:cxn>
                      <a:cxn ang="0">
                        <a:pos x="0" y="0"/>
                      </a:cxn>
                    </a:cxnLst>
                    <a:rect l="0" t="0" r="r" b="b"/>
                    <a:pathLst>
                      <a:path w="1">
                        <a:moveTo>
                          <a:pt x="0" y="0"/>
                        </a:moveTo>
                        <a:cubicBezTo>
                          <a:pt x="0" y="0"/>
                          <a:pt x="1"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36" name="Freeform 130">
                    <a:extLst>
                      <a:ext uri="{FF2B5EF4-FFF2-40B4-BE49-F238E27FC236}">
                        <a16:creationId xmlns:a16="http://schemas.microsoft.com/office/drawing/2014/main" id="{A653D3F9-23D4-4BEC-AAEA-0E87678A0331}"/>
                      </a:ext>
                    </a:extLst>
                  </p:cNvPr>
                  <p:cNvSpPr>
                    <a:spLocks/>
                  </p:cNvSpPr>
                  <p:nvPr/>
                </p:nvSpPr>
                <p:spPr bwMode="auto">
                  <a:xfrm>
                    <a:off x="7724775" y="1841500"/>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0"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37" name="Freeform 131">
                    <a:extLst>
                      <a:ext uri="{FF2B5EF4-FFF2-40B4-BE49-F238E27FC236}">
                        <a16:creationId xmlns:a16="http://schemas.microsoft.com/office/drawing/2014/main" id="{5D110981-6A8D-4834-8710-48B68D733197}"/>
                      </a:ext>
                    </a:extLst>
                  </p:cNvPr>
                  <p:cNvSpPr>
                    <a:spLocks/>
                  </p:cNvSpPr>
                  <p:nvPr/>
                </p:nvSpPr>
                <p:spPr bwMode="auto">
                  <a:xfrm>
                    <a:off x="8218488" y="1671638"/>
                    <a:ext cx="12700" cy="1588"/>
                  </a:xfrm>
                  <a:custGeom>
                    <a:avLst/>
                    <a:gdLst/>
                    <a:ahLst/>
                    <a:cxnLst>
                      <a:cxn ang="0">
                        <a:pos x="0" y="1"/>
                      </a:cxn>
                      <a:cxn ang="0">
                        <a:pos x="0" y="1"/>
                      </a:cxn>
                      <a:cxn ang="0">
                        <a:pos x="5" y="0"/>
                      </a:cxn>
                      <a:cxn ang="0">
                        <a:pos x="0" y="1"/>
                      </a:cxn>
                    </a:cxnLst>
                    <a:rect l="0" t="0" r="r" b="b"/>
                    <a:pathLst>
                      <a:path w="5" h="1">
                        <a:moveTo>
                          <a:pt x="0" y="1"/>
                        </a:moveTo>
                        <a:cubicBezTo>
                          <a:pt x="0" y="1"/>
                          <a:pt x="0" y="1"/>
                          <a:pt x="0" y="1"/>
                        </a:cubicBezTo>
                        <a:cubicBezTo>
                          <a:pt x="5" y="0"/>
                          <a:pt x="5" y="0"/>
                          <a:pt x="5" y="0"/>
                        </a:cubicBezTo>
                        <a:lnTo>
                          <a:pt x="0" y="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38" name="Freeform 132">
                    <a:extLst>
                      <a:ext uri="{FF2B5EF4-FFF2-40B4-BE49-F238E27FC236}">
                        <a16:creationId xmlns:a16="http://schemas.microsoft.com/office/drawing/2014/main" id="{2C726C42-BFFB-4299-8710-5181AB198716}"/>
                      </a:ext>
                    </a:extLst>
                  </p:cNvPr>
                  <p:cNvSpPr>
                    <a:spLocks/>
                  </p:cNvSpPr>
                  <p:nvPr/>
                </p:nvSpPr>
                <p:spPr bwMode="auto">
                  <a:xfrm>
                    <a:off x="7169150" y="2263775"/>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1"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39" name="Freeform 133">
                    <a:extLst>
                      <a:ext uri="{FF2B5EF4-FFF2-40B4-BE49-F238E27FC236}">
                        <a16:creationId xmlns:a16="http://schemas.microsoft.com/office/drawing/2014/main" id="{FF83D418-E1D0-4DBC-89B9-5EF998945178}"/>
                      </a:ext>
                    </a:extLst>
                  </p:cNvPr>
                  <p:cNvSpPr>
                    <a:spLocks/>
                  </p:cNvSpPr>
                  <p:nvPr/>
                </p:nvSpPr>
                <p:spPr bwMode="auto">
                  <a:xfrm>
                    <a:off x="7480300" y="1995488"/>
                    <a:ext cx="4762" cy="4763"/>
                  </a:xfrm>
                  <a:custGeom>
                    <a:avLst/>
                    <a:gdLst/>
                    <a:ahLst/>
                    <a:cxnLst>
                      <a:cxn ang="0">
                        <a:pos x="2" y="0"/>
                      </a:cxn>
                      <a:cxn ang="0">
                        <a:pos x="0" y="2"/>
                      </a:cxn>
                      <a:cxn ang="0">
                        <a:pos x="2" y="0"/>
                      </a:cxn>
                    </a:cxnLst>
                    <a:rect l="0" t="0" r="r" b="b"/>
                    <a:pathLst>
                      <a:path w="2" h="2">
                        <a:moveTo>
                          <a:pt x="2" y="0"/>
                        </a:moveTo>
                        <a:cubicBezTo>
                          <a:pt x="1" y="0"/>
                          <a:pt x="1" y="1"/>
                          <a:pt x="0" y="2"/>
                        </a:cubicBezTo>
                        <a:cubicBezTo>
                          <a:pt x="1" y="1"/>
                          <a:pt x="2" y="0"/>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40" name="Freeform 134">
                    <a:extLst>
                      <a:ext uri="{FF2B5EF4-FFF2-40B4-BE49-F238E27FC236}">
                        <a16:creationId xmlns:a16="http://schemas.microsoft.com/office/drawing/2014/main" id="{8358D9E1-8683-4148-8798-74FA5F5DED0C}"/>
                      </a:ext>
                    </a:extLst>
                  </p:cNvPr>
                  <p:cNvSpPr>
                    <a:spLocks/>
                  </p:cNvSpPr>
                  <p:nvPr/>
                </p:nvSpPr>
                <p:spPr bwMode="auto">
                  <a:xfrm>
                    <a:off x="8318500" y="1681163"/>
                    <a:ext cx="7937" cy="1588"/>
                  </a:xfrm>
                  <a:custGeom>
                    <a:avLst/>
                    <a:gdLst/>
                    <a:ahLst/>
                    <a:cxnLst>
                      <a:cxn ang="0">
                        <a:pos x="3" y="0"/>
                      </a:cxn>
                      <a:cxn ang="0">
                        <a:pos x="0" y="0"/>
                      </a:cxn>
                      <a:cxn ang="0">
                        <a:pos x="3" y="0"/>
                      </a:cxn>
                    </a:cxnLst>
                    <a:rect l="0" t="0" r="r" b="b"/>
                    <a:pathLst>
                      <a:path w="3">
                        <a:moveTo>
                          <a:pt x="3" y="0"/>
                        </a:moveTo>
                        <a:cubicBezTo>
                          <a:pt x="0" y="0"/>
                          <a:pt x="0" y="0"/>
                          <a:pt x="0" y="0"/>
                        </a:cubicBezTo>
                        <a:cubicBezTo>
                          <a:pt x="0" y="0"/>
                          <a:pt x="1"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41" name="Freeform 135">
                    <a:extLst>
                      <a:ext uri="{FF2B5EF4-FFF2-40B4-BE49-F238E27FC236}">
                        <a16:creationId xmlns:a16="http://schemas.microsoft.com/office/drawing/2014/main" id="{BFB9C5A0-7370-43C8-8543-E8D493023D93}"/>
                      </a:ext>
                    </a:extLst>
                  </p:cNvPr>
                  <p:cNvSpPr>
                    <a:spLocks/>
                  </p:cNvSpPr>
                  <p:nvPr/>
                </p:nvSpPr>
                <p:spPr bwMode="auto">
                  <a:xfrm>
                    <a:off x="8516938" y="1655763"/>
                    <a:ext cx="1587" cy="1588"/>
                  </a:xfrm>
                  <a:custGeom>
                    <a:avLst/>
                    <a:gdLst/>
                    <a:ahLst/>
                    <a:cxnLst>
                      <a:cxn ang="0">
                        <a:pos x="1" y="0"/>
                      </a:cxn>
                      <a:cxn ang="0">
                        <a:pos x="1" y="0"/>
                      </a:cxn>
                      <a:cxn ang="0">
                        <a:pos x="1" y="0"/>
                      </a:cxn>
                    </a:cxnLst>
                    <a:rect l="0" t="0" r="r" b="b"/>
                    <a:pathLst>
                      <a:path w="1">
                        <a:moveTo>
                          <a:pt x="1" y="0"/>
                        </a:moveTo>
                        <a:cubicBezTo>
                          <a:pt x="1" y="0"/>
                          <a:pt x="1" y="0"/>
                          <a:pt x="1"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42" name="Freeform 136">
                    <a:extLst>
                      <a:ext uri="{FF2B5EF4-FFF2-40B4-BE49-F238E27FC236}">
                        <a16:creationId xmlns:a16="http://schemas.microsoft.com/office/drawing/2014/main" id="{EC1D68EE-A489-4174-BA08-913A3AD48937}"/>
                      </a:ext>
                    </a:extLst>
                  </p:cNvPr>
                  <p:cNvSpPr>
                    <a:spLocks/>
                  </p:cNvSpPr>
                  <p:nvPr/>
                </p:nvSpPr>
                <p:spPr bwMode="auto">
                  <a:xfrm>
                    <a:off x="8434388" y="1654175"/>
                    <a:ext cx="7937" cy="1588"/>
                  </a:xfrm>
                  <a:custGeom>
                    <a:avLst/>
                    <a:gdLst/>
                    <a:ahLst/>
                    <a:cxnLst>
                      <a:cxn ang="0">
                        <a:pos x="3" y="0"/>
                      </a:cxn>
                      <a:cxn ang="0">
                        <a:pos x="0" y="0"/>
                      </a:cxn>
                      <a:cxn ang="0">
                        <a:pos x="3" y="0"/>
                      </a:cxn>
                    </a:cxnLst>
                    <a:rect l="0" t="0" r="r" b="b"/>
                    <a:pathLst>
                      <a:path w="3">
                        <a:moveTo>
                          <a:pt x="3" y="0"/>
                        </a:moveTo>
                        <a:cubicBezTo>
                          <a:pt x="2" y="0"/>
                          <a:pt x="1" y="0"/>
                          <a:pt x="0" y="0"/>
                        </a:cubicBezTo>
                        <a:cubicBezTo>
                          <a:pt x="1" y="0"/>
                          <a:pt x="3"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43" name="Freeform 137">
                    <a:extLst>
                      <a:ext uri="{FF2B5EF4-FFF2-40B4-BE49-F238E27FC236}">
                        <a16:creationId xmlns:a16="http://schemas.microsoft.com/office/drawing/2014/main" id="{9682CED1-61AB-4BB5-9231-1FB1281FBAAF}"/>
                      </a:ext>
                    </a:extLst>
                  </p:cNvPr>
                  <p:cNvSpPr>
                    <a:spLocks/>
                  </p:cNvSpPr>
                  <p:nvPr/>
                </p:nvSpPr>
                <p:spPr bwMode="auto">
                  <a:xfrm>
                    <a:off x="8432800" y="1654175"/>
                    <a:ext cx="1587" cy="1588"/>
                  </a:xfrm>
                  <a:custGeom>
                    <a:avLst/>
                    <a:gdLst/>
                    <a:ahLst/>
                    <a:cxnLst>
                      <a:cxn ang="0">
                        <a:pos x="0" y="0"/>
                      </a:cxn>
                      <a:cxn ang="0">
                        <a:pos x="1" y="0"/>
                      </a:cxn>
                      <a:cxn ang="0">
                        <a:pos x="0" y="0"/>
                      </a:cxn>
                    </a:cxnLst>
                    <a:rect l="0" t="0" r="r" b="b"/>
                    <a:pathLst>
                      <a:path w="1">
                        <a:moveTo>
                          <a:pt x="0" y="0"/>
                        </a:moveTo>
                        <a:cubicBezTo>
                          <a:pt x="1" y="0"/>
                          <a:pt x="1" y="0"/>
                          <a:pt x="1" y="0"/>
                        </a:cubicBezTo>
                        <a:cubicBezTo>
                          <a:pt x="1"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44" name="Freeform 138">
                    <a:extLst>
                      <a:ext uri="{FF2B5EF4-FFF2-40B4-BE49-F238E27FC236}">
                        <a16:creationId xmlns:a16="http://schemas.microsoft.com/office/drawing/2014/main" id="{28FA490E-E13E-452D-83BD-2CCADF8025E7}"/>
                      </a:ext>
                    </a:extLst>
                  </p:cNvPr>
                  <p:cNvSpPr>
                    <a:spLocks/>
                  </p:cNvSpPr>
                  <p:nvPr/>
                </p:nvSpPr>
                <p:spPr bwMode="auto">
                  <a:xfrm>
                    <a:off x="6326188" y="4597400"/>
                    <a:ext cx="3175" cy="17463"/>
                  </a:xfrm>
                  <a:custGeom>
                    <a:avLst/>
                    <a:gdLst/>
                    <a:ahLst/>
                    <a:cxnLst>
                      <a:cxn ang="0">
                        <a:pos x="0" y="0"/>
                      </a:cxn>
                      <a:cxn ang="0">
                        <a:pos x="1" y="7"/>
                      </a:cxn>
                      <a:cxn ang="0">
                        <a:pos x="0" y="0"/>
                      </a:cxn>
                    </a:cxnLst>
                    <a:rect l="0" t="0" r="r" b="b"/>
                    <a:pathLst>
                      <a:path w="1" h="7">
                        <a:moveTo>
                          <a:pt x="0" y="0"/>
                        </a:moveTo>
                        <a:cubicBezTo>
                          <a:pt x="0" y="3"/>
                          <a:pt x="0" y="5"/>
                          <a:pt x="1" y="7"/>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45" name="Freeform 139">
                    <a:extLst>
                      <a:ext uri="{FF2B5EF4-FFF2-40B4-BE49-F238E27FC236}">
                        <a16:creationId xmlns:a16="http://schemas.microsoft.com/office/drawing/2014/main" id="{5FCD105E-4570-44BB-A290-E4A52A08047C}"/>
                      </a:ext>
                    </a:extLst>
                  </p:cNvPr>
                  <p:cNvSpPr>
                    <a:spLocks/>
                  </p:cNvSpPr>
                  <p:nvPr/>
                </p:nvSpPr>
                <p:spPr bwMode="auto">
                  <a:xfrm>
                    <a:off x="6789738" y="2773363"/>
                    <a:ext cx="3175" cy="1588"/>
                  </a:xfrm>
                  <a:custGeom>
                    <a:avLst/>
                    <a:gdLst/>
                    <a:ahLst/>
                    <a:cxnLst>
                      <a:cxn ang="0">
                        <a:pos x="1" y="1"/>
                      </a:cxn>
                      <a:cxn ang="0">
                        <a:pos x="1" y="0"/>
                      </a:cxn>
                      <a:cxn ang="0">
                        <a:pos x="1" y="1"/>
                      </a:cxn>
                    </a:cxnLst>
                    <a:rect l="0" t="0" r="r" b="b"/>
                    <a:pathLst>
                      <a:path w="1" h="1">
                        <a:moveTo>
                          <a:pt x="1" y="1"/>
                        </a:moveTo>
                        <a:cubicBezTo>
                          <a:pt x="1" y="0"/>
                          <a:pt x="1" y="0"/>
                          <a:pt x="1" y="0"/>
                        </a:cubicBezTo>
                        <a:cubicBezTo>
                          <a:pt x="0" y="1"/>
                          <a:pt x="0" y="1"/>
                          <a:pt x="1"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46" name="Freeform 140">
                    <a:extLst>
                      <a:ext uri="{FF2B5EF4-FFF2-40B4-BE49-F238E27FC236}">
                        <a16:creationId xmlns:a16="http://schemas.microsoft.com/office/drawing/2014/main" id="{05C5DF65-3E1C-4854-B17C-F495D8ACF184}"/>
                      </a:ext>
                    </a:extLst>
                  </p:cNvPr>
                  <p:cNvSpPr>
                    <a:spLocks/>
                  </p:cNvSpPr>
                  <p:nvPr/>
                </p:nvSpPr>
                <p:spPr bwMode="auto">
                  <a:xfrm>
                    <a:off x="6342063" y="4603750"/>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47" name="Freeform 141">
                    <a:extLst>
                      <a:ext uri="{FF2B5EF4-FFF2-40B4-BE49-F238E27FC236}">
                        <a16:creationId xmlns:a16="http://schemas.microsoft.com/office/drawing/2014/main" id="{D7821B97-A742-434C-948C-F886FE2845B2}"/>
                      </a:ext>
                    </a:extLst>
                  </p:cNvPr>
                  <p:cNvSpPr>
                    <a:spLocks/>
                  </p:cNvSpPr>
                  <p:nvPr/>
                </p:nvSpPr>
                <p:spPr bwMode="auto">
                  <a:xfrm>
                    <a:off x="8207375" y="1704975"/>
                    <a:ext cx="17462" cy="6350"/>
                  </a:xfrm>
                  <a:custGeom>
                    <a:avLst/>
                    <a:gdLst/>
                    <a:ahLst/>
                    <a:cxnLst>
                      <a:cxn ang="0">
                        <a:pos x="7" y="0"/>
                      </a:cxn>
                      <a:cxn ang="0">
                        <a:pos x="0" y="2"/>
                      </a:cxn>
                      <a:cxn ang="0">
                        <a:pos x="7" y="0"/>
                      </a:cxn>
                    </a:cxnLst>
                    <a:rect l="0" t="0" r="r" b="b"/>
                    <a:pathLst>
                      <a:path w="7" h="2">
                        <a:moveTo>
                          <a:pt x="7" y="0"/>
                        </a:moveTo>
                        <a:cubicBezTo>
                          <a:pt x="5" y="1"/>
                          <a:pt x="0" y="1"/>
                          <a:pt x="0" y="2"/>
                        </a:cubicBezTo>
                        <a:cubicBezTo>
                          <a:pt x="3" y="1"/>
                          <a:pt x="6" y="1"/>
                          <a:pt x="7"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48" name="Freeform 142">
                    <a:extLst>
                      <a:ext uri="{FF2B5EF4-FFF2-40B4-BE49-F238E27FC236}">
                        <a16:creationId xmlns:a16="http://schemas.microsoft.com/office/drawing/2014/main" id="{4AA25A17-CDBB-4F66-A6CE-87E1F772B26B}"/>
                      </a:ext>
                    </a:extLst>
                  </p:cNvPr>
                  <p:cNvSpPr>
                    <a:spLocks/>
                  </p:cNvSpPr>
                  <p:nvPr/>
                </p:nvSpPr>
                <p:spPr bwMode="auto">
                  <a:xfrm>
                    <a:off x="6788150" y="2924175"/>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49" name="Freeform 143">
                    <a:extLst>
                      <a:ext uri="{FF2B5EF4-FFF2-40B4-BE49-F238E27FC236}">
                        <a16:creationId xmlns:a16="http://schemas.microsoft.com/office/drawing/2014/main" id="{884AC192-B4E3-4CE7-84E8-E62B613A9128}"/>
                      </a:ext>
                    </a:extLst>
                  </p:cNvPr>
                  <p:cNvSpPr>
                    <a:spLocks/>
                  </p:cNvSpPr>
                  <p:nvPr/>
                </p:nvSpPr>
                <p:spPr bwMode="auto">
                  <a:xfrm>
                    <a:off x="6342063" y="4602163"/>
                    <a:ext cx="1587" cy="1588"/>
                  </a:xfrm>
                  <a:custGeom>
                    <a:avLst/>
                    <a:gdLst/>
                    <a:ahLst/>
                    <a:cxnLst>
                      <a:cxn ang="0">
                        <a:pos x="0" y="1"/>
                      </a:cxn>
                      <a:cxn ang="0">
                        <a:pos x="0" y="0"/>
                      </a:cxn>
                      <a:cxn ang="0">
                        <a:pos x="0" y="0"/>
                      </a:cxn>
                      <a:cxn ang="0">
                        <a:pos x="0" y="1"/>
                      </a:cxn>
                    </a:cxnLst>
                    <a:rect l="0" t="0" r="r" b="b"/>
                    <a:pathLst>
                      <a:path h="1">
                        <a:moveTo>
                          <a:pt x="0" y="1"/>
                        </a:moveTo>
                        <a:cubicBezTo>
                          <a:pt x="0" y="0"/>
                          <a:pt x="0" y="0"/>
                          <a:pt x="0" y="0"/>
                        </a:cubicBez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50" name="Rectangle 144">
                    <a:extLst>
                      <a:ext uri="{FF2B5EF4-FFF2-40B4-BE49-F238E27FC236}">
                        <a16:creationId xmlns:a16="http://schemas.microsoft.com/office/drawing/2014/main" id="{2B68BFD1-3B0E-4581-8398-F1863849ACD9}"/>
                      </a:ext>
                    </a:extLst>
                  </p:cNvPr>
                  <p:cNvSpPr>
                    <a:spLocks noChangeArrowheads="1"/>
                  </p:cNvSpPr>
                  <p:nvPr/>
                </p:nvSpPr>
                <p:spPr bwMode="auto">
                  <a:xfrm>
                    <a:off x="6518275" y="3373438"/>
                    <a:ext cx="1587" cy="158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51" name="Freeform 145">
                    <a:extLst>
                      <a:ext uri="{FF2B5EF4-FFF2-40B4-BE49-F238E27FC236}">
                        <a16:creationId xmlns:a16="http://schemas.microsoft.com/office/drawing/2014/main" id="{8EF6DD28-21BC-47A4-A905-45B7296DF6EE}"/>
                      </a:ext>
                    </a:extLst>
                  </p:cNvPr>
                  <p:cNvSpPr>
                    <a:spLocks/>
                  </p:cNvSpPr>
                  <p:nvPr/>
                </p:nvSpPr>
                <p:spPr bwMode="auto">
                  <a:xfrm>
                    <a:off x="6505575" y="3398838"/>
                    <a:ext cx="1587" cy="6350"/>
                  </a:xfrm>
                  <a:custGeom>
                    <a:avLst/>
                    <a:gdLst/>
                    <a:ahLst/>
                    <a:cxnLst>
                      <a:cxn ang="0">
                        <a:pos x="0" y="3"/>
                      </a:cxn>
                      <a:cxn ang="0">
                        <a:pos x="0" y="0"/>
                      </a:cxn>
                      <a:cxn ang="0">
                        <a:pos x="0" y="3"/>
                      </a:cxn>
                    </a:cxnLst>
                    <a:rect l="0" t="0" r="r" b="b"/>
                    <a:pathLst>
                      <a:path h="3">
                        <a:moveTo>
                          <a:pt x="0" y="3"/>
                        </a:moveTo>
                        <a:cubicBezTo>
                          <a:pt x="0" y="0"/>
                          <a:pt x="0" y="0"/>
                          <a:pt x="0" y="0"/>
                        </a:cubicBezTo>
                        <a:cubicBezTo>
                          <a:pt x="0" y="2"/>
                          <a:pt x="0" y="3"/>
                          <a:pt x="0" y="3"/>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52" name="Freeform 146">
                    <a:extLst>
                      <a:ext uri="{FF2B5EF4-FFF2-40B4-BE49-F238E27FC236}">
                        <a16:creationId xmlns:a16="http://schemas.microsoft.com/office/drawing/2014/main" id="{E6B3603F-D240-4C88-93E0-ED01F06A8FCB}"/>
                      </a:ext>
                    </a:extLst>
                  </p:cNvPr>
                  <p:cNvSpPr>
                    <a:spLocks/>
                  </p:cNvSpPr>
                  <p:nvPr/>
                </p:nvSpPr>
                <p:spPr bwMode="auto">
                  <a:xfrm>
                    <a:off x="6329363" y="4614863"/>
                    <a:ext cx="1587" cy="6350"/>
                  </a:xfrm>
                  <a:custGeom>
                    <a:avLst/>
                    <a:gdLst/>
                    <a:ahLst/>
                    <a:cxnLst>
                      <a:cxn ang="0">
                        <a:pos x="0" y="0"/>
                      </a:cxn>
                      <a:cxn ang="0">
                        <a:pos x="0" y="3"/>
                      </a:cxn>
                      <a:cxn ang="0">
                        <a:pos x="0" y="0"/>
                      </a:cxn>
                    </a:cxnLst>
                    <a:rect l="0" t="0" r="r" b="b"/>
                    <a:pathLst>
                      <a:path h="3">
                        <a:moveTo>
                          <a:pt x="0" y="0"/>
                        </a:moveTo>
                        <a:cubicBezTo>
                          <a:pt x="0" y="3"/>
                          <a:pt x="0" y="3"/>
                          <a:pt x="0" y="3"/>
                        </a:cubicBezTo>
                        <a:cubicBezTo>
                          <a:pt x="0" y="2"/>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53" name="Freeform 147">
                    <a:extLst>
                      <a:ext uri="{FF2B5EF4-FFF2-40B4-BE49-F238E27FC236}">
                        <a16:creationId xmlns:a16="http://schemas.microsoft.com/office/drawing/2014/main" id="{224DB6A5-B99C-4C1F-B3B7-3F33F083C09C}"/>
                      </a:ext>
                    </a:extLst>
                  </p:cNvPr>
                  <p:cNvSpPr>
                    <a:spLocks/>
                  </p:cNvSpPr>
                  <p:nvPr/>
                </p:nvSpPr>
                <p:spPr bwMode="auto">
                  <a:xfrm>
                    <a:off x="6405563" y="3765550"/>
                    <a:ext cx="3175" cy="4763"/>
                  </a:xfrm>
                  <a:custGeom>
                    <a:avLst/>
                    <a:gdLst/>
                    <a:ahLst/>
                    <a:cxnLst>
                      <a:cxn ang="0">
                        <a:pos x="0" y="2"/>
                      </a:cxn>
                      <a:cxn ang="0">
                        <a:pos x="1" y="0"/>
                      </a:cxn>
                      <a:cxn ang="0">
                        <a:pos x="0" y="2"/>
                      </a:cxn>
                    </a:cxnLst>
                    <a:rect l="0" t="0" r="r" b="b"/>
                    <a:pathLst>
                      <a:path w="1" h="2">
                        <a:moveTo>
                          <a:pt x="0" y="2"/>
                        </a:moveTo>
                        <a:cubicBezTo>
                          <a:pt x="1" y="0"/>
                          <a:pt x="1" y="0"/>
                          <a:pt x="1" y="0"/>
                        </a:cubicBezTo>
                        <a:cubicBezTo>
                          <a:pt x="0" y="1"/>
                          <a:pt x="0" y="2"/>
                          <a:pt x="0"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54" name="Freeform 148">
                    <a:extLst>
                      <a:ext uri="{FF2B5EF4-FFF2-40B4-BE49-F238E27FC236}">
                        <a16:creationId xmlns:a16="http://schemas.microsoft.com/office/drawing/2014/main" id="{9BB54DA2-5AFA-462A-8050-610A684C51E7}"/>
                      </a:ext>
                    </a:extLst>
                  </p:cNvPr>
                  <p:cNvSpPr>
                    <a:spLocks/>
                  </p:cNvSpPr>
                  <p:nvPr/>
                </p:nvSpPr>
                <p:spPr bwMode="auto">
                  <a:xfrm>
                    <a:off x="7507288" y="1978025"/>
                    <a:ext cx="3175" cy="3175"/>
                  </a:xfrm>
                  <a:custGeom>
                    <a:avLst/>
                    <a:gdLst/>
                    <a:ahLst/>
                    <a:cxnLst>
                      <a:cxn ang="0">
                        <a:pos x="0" y="1"/>
                      </a:cxn>
                      <a:cxn ang="0">
                        <a:pos x="1" y="0"/>
                      </a:cxn>
                      <a:cxn ang="0">
                        <a:pos x="0" y="1"/>
                      </a:cxn>
                    </a:cxnLst>
                    <a:rect l="0" t="0" r="r" b="b"/>
                    <a:pathLst>
                      <a:path w="1" h="1">
                        <a:moveTo>
                          <a:pt x="0" y="1"/>
                        </a:moveTo>
                        <a:cubicBezTo>
                          <a:pt x="0" y="1"/>
                          <a:pt x="0" y="1"/>
                          <a:pt x="1" y="0"/>
                        </a:cubicBezTo>
                        <a:cubicBezTo>
                          <a:pt x="1" y="0"/>
                          <a:pt x="1" y="0"/>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55" name="Freeform 149">
                    <a:extLst>
                      <a:ext uri="{FF2B5EF4-FFF2-40B4-BE49-F238E27FC236}">
                        <a16:creationId xmlns:a16="http://schemas.microsoft.com/office/drawing/2014/main" id="{CD1FE541-310D-4DD9-AF38-FF3F15179B7A}"/>
                      </a:ext>
                    </a:extLst>
                  </p:cNvPr>
                  <p:cNvSpPr>
                    <a:spLocks/>
                  </p:cNvSpPr>
                  <p:nvPr/>
                </p:nvSpPr>
                <p:spPr bwMode="auto">
                  <a:xfrm>
                    <a:off x="7335838" y="2182813"/>
                    <a:ext cx="3175" cy="1588"/>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56" name="Freeform 150">
                    <a:extLst>
                      <a:ext uri="{FF2B5EF4-FFF2-40B4-BE49-F238E27FC236}">
                        <a16:creationId xmlns:a16="http://schemas.microsoft.com/office/drawing/2014/main" id="{106BBA7A-93FD-4664-B1C1-C95009A5DBD7}"/>
                      </a:ext>
                    </a:extLst>
                  </p:cNvPr>
                  <p:cNvSpPr>
                    <a:spLocks/>
                  </p:cNvSpPr>
                  <p:nvPr/>
                </p:nvSpPr>
                <p:spPr bwMode="auto">
                  <a:xfrm>
                    <a:off x="7339013" y="2171700"/>
                    <a:ext cx="6350" cy="11113"/>
                  </a:xfrm>
                  <a:custGeom>
                    <a:avLst/>
                    <a:gdLst/>
                    <a:ahLst/>
                    <a:cxnLst>
                      <a:cxn ang="0">
                        <a:pos x="3" y="0"/>
                      </a:cxn>
                      <a:cxn ang="0">
                        <a:pos x="0" y="4"/>
                      </a:cxn>
                      <a:cxn ang="0">
                        <a:pos x="3" y="0"/>
                      </a:cxn>
                    </a:cxnLst>
                    <a:rect l="0" t="0" r="r" b="b"/>
                    <a:pathLst>
                      <a:path w="3" h="4">
                        <a:moveTo>
                          <a:pt x="3" y="0"/>
                        </a:moveTo>
                        <a:cubicBezTo>
                          <a:pt x="2" y="1"/>
                          <a:pt x="0" y="3"/>
                          <a:pt x="0" y="4"/>
                        </a:cubicBezTo>
                        <a:cubicBezTo>
                          <a:pt x="1" y="3"/>
                          <a:pt x="2" y="2"/>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57" name="Freeform 151">
                    <a:extLst>
                      <a:ext uri="{FF2B5EF4-FFF2-40B4-BE49-F238E27FC236}">
                        <a16:creationId xmlns:a16="http://schemas.microsoft.com/office/drawing/2014/main" id="{DF39CD3F-992F-49A2-996B-5B9C68E58C3A}"/>
                      </a:ext>
                    </a:extLst>
                  </p:cNvPr>
                  <p:cNvSpPr>
                    <a:spLocks/>
                  </p:cNvSpPr>
                  <p:nvPr/>
                </p:nvSpPr>
                <p:spPr bwMode="auto">
                  <a:xfrm>
                    <a:off x="7316788" y="2200275"/>
                    <a:ext cx="1587" cy="1588"/>
                  </a:xfrm>
                  <a:custGeom>
                    <a:avLst/>
                    <a:gdLst/>
                    <a:ahLst/>
                    <a:cxnLst>
                      <a:cxn ang="0">
                        <a:pos x="0" y="1"/>
                      </a:cxn>
                      <a:cxn ang="0">
                        <a:pos x="0" y="0"/>
                      </a:cxn>
                      <a:cxn ang="0">
                        <a:pos x="0" y="1"/>
                      </a:cxn>
                    </a:cxnLst>
                    <a:rect l="0" t="0" r="r" b="b"/>
                    <a:pathLst>
                      <a:path h="1">
                        <a:moveTo>
                          <a:pt x="0" y="1"/>
                        </a:move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58" name="Freeform 152">
                    <a:extLst>
                      <a:ext uri="{FF2B5EF4-FFF2-40B4-BE49-F238E27FC236}">
                        <a16:creationId xmlns:a16="http://schemas.microsoft.com/office/drawing/2014/main" id="{D7E94A5D-8F60-4C15-8962-D11F84C99BE1}"/>
                      </a:ext>
                    </a:extLst>
                  </p:cNvPr>
                  <p:cNvSpPr>
                    <a:spLocks/>
                  </p:cNvSpPr>
                  <p:nvPr/>
                </p:nvSpPr>
                <p:spPr bwMode="auto">
                  <a:xfrm>
                    <a:off x="7526338" y="202882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59" name="Freeform 153">
                    <a:extLst>
                      <a:ext uri="{FF2B5EF4-FFF2-40B4-BE49-F238E27FC236}">
                        <a16:creationId xmlns:a16="http://schemas.microsoft.com/office/drawing/2014/main" id="{F7ABB711-A329-4F37-B214-E1DD379EA613}"/>
                      </a:ext>
                    </a:extLst>
                  </p:cNvPr>
                  <p:cNvSpPr>
                    <a:spLocks/>
                  </p:cNvSpPr>
                  <p:nvPr/>
                </p:nvSpPr>
                <p:spPr bwMode="auto">
                  <a:xfrm>
                    <a:off x="7481888" y="2063750"/>
                    <a:ext cx="3175" cy="1588"/>
                  </a:xfrm>
                  <a:custGeom>
                    <a:avLst/>
                    <a:gdLst/>
                    <a:ahLst/>
                    <a:cxnLst>
                      <a:cxn ang="0">
                        <a:pos x="1" y="0"/>
                      </a:cxn>
                      <a:cxn ang="0">
                        <a:pos x="0" y="0"/>
                      </a:cxn>
                      <a:cxn ang="0">
                        <a:pos x="1" y="0"/>
                      </a:cxn>
                    </a:cxnLst>
                    <a:rect l="0" t="0" r="r" b="b"/>
                    <a:pathLst>
                      <a:path w="1">
                        <a:moveTo>
                          <a:pt x="1" y="0"/>
                        </a:moveTo>
                        <a:cubicBezTo>
                          <a:pt x="1"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60" name="Freeform 154">
                    <a:extLst>
                      <a:ext uri="{FF2B5EF4-FFF2-40B4-BE49-F238E27FC236}">
                        <a16:creationId xmlns:a16="http://schemas.microsoft.com/office/drawing/2014/main" id="{4CD3DD7F-4FEC-449B-AF93-B005DABFD998}"/>
                      </a:ext>
                    </a:extLst>
                  </p:cNvPr>
                  <p:cNvSpPr>
                    <a:spLocks/>
                  </p:cNvSpPr>
                  <p:nvPr/>
                </p:nvSpPr>
                <p:spPr bwMode="auto">
                  <a:xfrm>
                    <a:off x="7221538" y="23018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61" name="Freeform 156">
                    <a:extLst>
                      <a:ext uri="{FF2B5EF4-FFF2-40B4-BE49-F238E27FC236}">
                        <a16:creationId xmlns:a16="http://schemas.microsoft.com/office/drawing/2014/main" id="{890EC428-84C5-4C99-B80E-879C0236F2DD}"/>
                      </a:ext>
                    </a:extLst>
                  </p:cNvPr>
                  <p:cNvSpPr>
                    <a:spLocks/>
                  </p:cNvSpPr>
                  <p:nvPr/>
                </p:nvSpPr>
                <p:spPr bwMode="auto">
                  <a:xfrm>
                    <a:off x="7526338" y="2025650"/>
                    <a:ext cx="7937" cy="7938"/>
                  </a:xfrm>
                  <a:custGeom>
                    <a:avLst/>
                    <a:gdLst/>
                    <a:ahLst/>
                    <a:cxnLst>
                      <a:cxn ang="0">
                        <a:pos x="3" y="0"/>
                      </a:cxn>
                      <a:cxn ang="0">
                        <a:pos x="0" y="1"/>
                      </a:cxn>
                      <a:cxn ang="0">
                        <a:pos x="0" y="3"/>
                      </a:cxn>
                      <a:cxn ang="0">
                        <a:pos x="3" y="0"/>
                      </a:cxn>
                    </a:cxnLst>
                    <a:rect l="0" t="0" r="r" b="b"/>
                    <a:pathLst>
                      <a:path w="3" h="3">
                        <a:moveTo>
                          <a:pt x="3" y="0"/>
                        </a:moveTo>
                        <a:cubicBezTo>
                          <a:pt x="0" y="1"/>
                          <a:pt x="0" y="1"/>
                          <a:pt x="0" y="1"/>
                        </a:cubicBezTo>
                        <a:cubicBezTo>
                          <a:pt x="1" y="2"/>
                          <a:pt x="1" y="2"/>
                          <a:pt x="0" y="3"/>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62" name="Freeform 157">
                    <a:extLst>
                      <a:ext uri="{FF2B5EF4-FFF2-40B4-BE49-F238E27FC236}">
                        <a16:creationId xmlns:a16="http://schemas.microsoft.com/office/drawing/2014/main" id="{784DDD2C-AF37-4FF6-B1A6-E715F9FE0BD9}"/>
                      </a:ext>
                    </a:extLst>
                  </p:cNvPr>
                  <p:cNvSpPr>
                    <a:spLocks/>
                  </p:cNvSpPr>
                  <p:nvPr/>
                </p:nvSpPr>
                <p:spPr bwMode="auto">
                  <a:xfrm>
                    <a:off x="7278688" y="2239963"/>
                    <a:ext cx="1587" cy="1588"/>
                  </a:xfrm>
                  <a:custGeom>
                    <a:avLst/>
                    <a:gdLst/>
                    <a:ahLst/>
                    <a:cxnLst>
                      <a:cxn ang="0">
                        <a:pos x="0" y="0"/>
                      </a:cxn>
                      <a:cxn ang="0">
                        <a:pos x="0" y="1"/>
                      </a:cxn>
                      <a:cxn ang="0">
                        <a:pos x="0" y="0"/>
                      </a:cxn>
                    </a:cxnLst>
                    <a:rect l="0" t="0" r="r" b="b"/>
                    <a:pathLst>
                      <a:path h="1">
                        <a:moveTo>
                          <a:pt x="0" y="0"/>
                        </a:moveTo>
                        <a:cubicBezTo>
                          <a:pt x="0" y="0"/>
                          <a:pt x="0" y="1"/>
                          <a:pt x="0" y="1"/>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63" name="Freeform 158">
                    <a:extLst>
                      <a:ext uri="{FF2B5EF4-FFF2-40B4-BE49-F238E27FC236}">
                        <a16:creationId xmlns:a16="http://schemas.microsoft.com/office/drawing/2014/main" id="{C5376DBA-1387-4322-922B-E6BD6F7C8330}"/>
                      </a:ext>
                    </a:extLst>
                  </p:cNvPr>
                  <p:cNvSpPr>
                    <a:spLocks/>
                  </p:cNvSpPr>
                  <p:nvPr/>
                </p:nvSpPr>
                <p:spPr bwMode="auto">
                  <a:xfrm>
                    <a:off x="7221538" y="2297113"/>
                    <a:ext cx="7937" cy="4763"/>
                  </a:xfrm>
                  <a:custGeom>
                    <a:avLst/>
                    <a:gdLst/>
                    <a:ahLst/>
                    <a:cxnLst>
                      <a:cxn ang="0">
                        <a:pos x="2" y="2"/>
                      </a:cxn>
                      <a:cxn ang="0">
                        <a:pos x="0" y="2"/>
                      </a:cxn>
                      <a:cxn ang="0">
                        <a:pos x="2" y="2"/>
                      </a:cxn>
                    </a:cxnLst>
                    <a:rect l="0" t="0" r="r" b="b"/>
                    <a:pathLst>
                      <a:path w="3" h="2">
                        <a:moveTo>
                          <a:pt x="2" y="2"/>
                        </a:moveTo>
                        <a:cubicBezTo>
                          <a:pt x="3" y="0"/>
                          <a:pt x="1" y="1"/>
                          <a:pt x="0" y="2"/>
                        </a:cubicBezTo>
                        <a:cubicBezTo>
                          <a:pt x="1" y="2"/>
                          <a:pt x="1" y="2"/>
                          <a:pt x="2"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64" name="Freeform 159">
                    <a:extLst>
                      <a:ext uri="{FF2B5EF4-FFF2-40B4-BE49-F238E27FC236}">
                        <a16:creationId xmlns:a16="http://schemas.microsoft.com/office/drawing/2014/main" id="{39CEA25B-4919-4303-8503-56BB1E37E530}"/>
                      </a:ext>
                    </a:extLst>
                  </p:cNvPr>
                  <p:cNvSpPr>
                    <a:spLocks/>
                  </p:cNvSpPr>
                  <p:nvPr/>
                </p:nvSpPr>
                <p:spPr bwMode="auto">
                  <a:xfrm>
                    <a:off x="7685088" y="1916113"/>
                    <a:ext cx="3175" cy="1588"/>
                  </a:xfrm>
                  <a:custGeom>
                    <a:avLst/>
                    <a:gdLst/>
                    <a:ahLst/>
                    <a:cxnLst>
                      <a:cxn ang="0">
                        <a:pos x="1" y="0"/>
                      </a:cxn>
                      <a:cxn ang="0">
                        <a:pos x="0" y="0"/>
                      </a:cxn>
                      <a:cxn ang="0">
                        <a:pos x="1" y="0"/>
                      </a:cxn>
                    </a:cxnLst>
                    <a:rect l="0" t="0" r="r" b="b"/>
                    <a:pathLst>
                      <a:path w="1">
                        <a:moveTo>
                          <a:pt x="1" y="0"/>
                        </a:moveTo>
                        <a:cubicBezTo>
                          <a:pt x="0" y="0"/>
                          <a:pt x="0" y="0"/>
                          <a:pt x="0"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65" name="Freeform 160">
                    <a:extLst>
                      <a:ext uri="{FF2B5EF4-FFF2-40B4-BE49-F238E27FC236}">
                        <a16:creationId xmlns:a16="http://schemas.microsoft.com/office/drawing/2014/main" id="{699DC785-C5EE-41DA-86BB-088501F42E40}"/>
                      </a:ext>
                    </a:extLst>
                  </p:cNvPr>
                  <p:cNvSpPr>
                    <a:spLocks/>
                  </p:cNvSpPr>
                  <p:nvPr/>
                </p:nvSpPr>
                <p:spPr bwMode="auto">
                  <a:xfrm>
                    <a:off x="8167688" y="17176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66" name="Freeform 161">
                    <a:extLst>
                      <a:ext uri="{FF2B5EF4-FFF2-40B4-BE49-F238E27FC236}">
                        <a16:creationId xmlns:a16="http://schemas.microsoft.com/office/drawing/2014/main" id="{E99CD161-99C0-4B5C-8D23-C1C36854E761}"/>
                      </a:ext>
                    </a:extLst>
                  </p:cNvPr>
                  <p:cNvSpPr>
                    <a:spLocks/>
                  </p:cNvSpPr>
                  <p:nvPr/>
                </p:nvSpPr>
                <p:spPr bwMode="auto">
                  <a:xfrm>
                    <a:off x="8132763" y="1720850"/>
                    <a:ext cx="6350" cy="1588"/>
                  </a:xfrm>
                  <a:custGeom>
                    <a:avLst/>
                    <a:gdLst/>
                    <a:ahLst/>
                    <a:cxnLst>
                      <a:cxn ang="0">
                        <a:pos x="3" y="0"/>
                      </a:cxn>
                      <a:cxn ang="0">
                        <a:pos x="0" y="1"/>
                      </a:cxn>
                      <a:cxn ang="0">
                        <a:pos x="3" y="0"/>
                      </a:cxn>
                    </a:cxnLst>
                    <a:rect l="0" t="0" r="r" b="b"/>
                    <a:pathLst>
                      <a:path w="3" h="1">
                        <a:moveTo>
                          <a:pt x="3" y="0"/>
                        </a:moveTo>
                        <a:cubicBezTo>
                          <a:pt x="2" y="0"/>
                          <a:pt x="1" y="1"/>
                          <a:pt x="0" y="1"/>
                        </a:cubicBezTo>
                        <a:cubicBezTo>
                          <a:pt x="1" y="1"/>
                          <a:pt x="2" y="1"/>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67" name="Freeform 162">
                    <a:extLst>
                      <a:ext uri="{FF2B5EF4-FFF2-40B4-BE49-F238E27FC236}">
                        <a16:creationId xmlns:a16="http://schemas.microsoft.com/office/drawing/2014/main" id="{84B02530-1217-4CBF-B615-3FB8F480D037}"/>
                      </a:ext>
                    </a:extLst>
                  </p:cNvPr>
                  <p:cNvSpPr>
                    <a:spLocks/>
                  </p:cNvSpPr>
                  <p:nvPr/>
                </p:nvSpPr>
                <p:spPr bwMode="auto">
                  <a:xfrm>
                    <a:off x="7577138" y="1984375"/>
                    <a:ext cx="4762" cy="4763"/>
                  </a:xfrm>
                  <a:custGeom>
                    <a:avLst/>
                    <a:gdLst/>
                    <a:ahLst/>
                    <a:cxnLst>
                      <a:cxn ang="0">
                        <a:pos x="2" y="0"/>
                      </a:cxn>
                      <a:cxn ang="0">
                        <a:pos x="0" y="2"/>
                      </a:cxn>
                      <a:cxn ang="0">
                        <a:pos x="2" y="0"/>
                      </a:cxn>
                    </a:cxnLst>
                    <a:rect l="0" t="0" r="r" b="b"/>
                    <a:pathLst>
                      <a:path w="2" h="2">
                        <a:moveTo>
                          <a:pt x="2" y="0"/>
                        </a:moveTo>
                        <a:cubicBezTo>
                          <a:pt x="1" y="1"/>
                          <a:pt x="1" y="1"/>
                          <a:pt x="0" y="2"/>
                        </a:cubicBezTo>
                        <a:cubicBezTo>
                          <a:pt x="1" y="1"/>
                          <a:pt x="2"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68" name="Freeform 163">
                    <a:extLst>
                      <a:ext uri="{FF2B5EF4-FFF2-40B4-BE49-F238E27FC236}">
                        <a16:creationId xmlns:a16="http://schemas.microsoft.com/office/drawing/2014/main" id="{948C3DD7-9819-43C2-8AD2-E7984ACA2919}"/>
                      </a:ext>
                    </a:extLst>
                  </p:cNvPr>
                  <p:cNvSpPr>
                    <a:spLocks/>
                  </p:cNvSpPr>
                  <p:nvPr/>
                </p:nvSpPr>
                <p:spPr bwMode="auto">
                  <a:xfrm>
                    <a:off x="8120063" y="1725613"/>
                    <a:ext cx="7937" cy="3175"/>
                  </a:xfrm>
                  <a:custGeom>
                    <a:avLst/>
                    <a:gdLst/>
                    <a:ahLst/>
                    <a:cxnLst>
                      <a:cxn ang="0">
                        <a:pos x="3" y="0"/>
                      </a:cxn>
                      <a:cxn ang="0">
                        <a:pos x="0" y="1"/>
                      </a:cxn>
                      <a:cxn ang="0">
                        <a:pos x="0" y="1"/>
                      </a:cxn>
                      <a:cxn ang="0">
                        <a:pos x="3" y="0"/>
                      </a:cxn>
                    </a:cxnLst>
                    <a:rect l="0" t="0" r="r" b="b"/>
                    <a:pathLst>
                      <a:path w="3" h="1">
                        <a:moveTo>
                          <a:pt x="3" y="0"/>
                        </a:moveTo>
                        <a:cubicBezTo>
                          <a:pt x="0" y="1"/>
                          <a:pt x="0" y="1"/>
                          <a:pt x="0" y="1"/>
                        </a:cubicBezTo>
                        <a:cubicBezTo>
                          <a:pt x="0" y="1"/>
                          <a:pt x="0" y="1"/>
                          <a:pt x="0" y="1"/>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69" name="Freeform 164">
                    <a:extLst>
                      <a:ext uri="{FF2B5EF4-FFF2-40B4-BE49-F238E27FC236}">
                        <a16:creationId xmlns:a16="http://schemas.microsoft.com/office/drawing/2014/main" id="{926577A8-4C54-4133-9755-245BA3728335}"/>
                      </a:ext>
                    </a:extLst>
                  </p:cNvPr>
                  <p:cNvSpPr>
                    <a:spLocks/>
                  </p:cNvSpPr>
                  <p:nvPr/>
                </p:nvSpPr>
                <p:spPr bwMode="auto">
                  <a:xfrm>
                    <a:off x="8167688" y="1716088"/>
                    <a:ext cx="9525" cy="1588"/>
                  </a:xfrm>
                  <a:custGeom>
                    <a:avLst/>
                    <a:gdLst/>
                    <a:ahLst/>
                    <a:cxnLst>
                      <a:cxn ang="0">
                        <a:pos x="4" y="0"/>
                      </a:cxn>
                      <a:cxn ang="0">
                        <a:pos x="0" y="1"/>
                      </a:cxn>
                      <a:cxn ang="0">
                        <a:pos x="4" y="0"/>
                      </a:cxn>
                    </a:cxnLst>
                    <a:rect l="0" t="0" r="r" b="b"/>
                    <a:pathLst>
                      <a:path w="4" h="1">
                        <a:moveTo>
                          <a:pt x="4" y="0"/>
                        </a:moveTo>
                        <a:cubicBezTo>
                          <a:pt x="3" y="1"/>
                          <a:pt x="1" y="1"/>
                          <a:pt x="0" y="1"/>
                        </a:cubicBezTo>
                        <a:cubicBezTo>
                          <a:pt x="2" y="1"/>
                          <a:pt x="3" y="1"/>
                          <a:pt x="4"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70" name="Freeform 165">
                    <a:extLst>
                      <a:ext uri="{FF2B5EF4-FFF2-40B4-BE49-F238E27FC236}">
                        <a16:creationId xmlns:a16="http://schemas.microsoft.com/office/drawing/2014/main" id="{0CB1DFE4-8D6A-491B-82D1-BCE5A461BEFF}"/>
                      </a:ext>
                    </a:extLst>
                  </p:cNvPr>
                  <p:cNvSpPr>
                    <a:spLocks/>
                  </p:cNvSpPr>
                  <p:nvPr/>
                </p:nvSpPr>
                <p:spPr bwMode="auto">
                  <a:xfrm>
                    <a:off x="7850188" y="1822450"/>
                    <a:ext cx="4762" cy="4763"/>
                  </a:xfrm>
                  <a:custGeom>
                    <a:avLst/>
                    <a:gdLst/>
                    <a:ahLst/>
                    <a:cxnLst>
                      <a:cxn ang="0">
                        <a:pos x="2" y="0"/>
                      </a:cxn>
                      <a:cxn ang="0">
                        <a:pos x="2" y="1"/>
                      </a:cxn>
                      <a:cxn ang="0">
                        <a:pos x="2" y="0"/>
                      </a:cxn>
                    </a:cxnLst>
                    <a:rect l="0" t="0" r="r" b="b"/>
                    <a:pathLst>
                      <a:path w="2" h="2">
                        <a:moveTo>
                          <a:pt x="2" y="0"/>
                        </a:moveTo>
                        <a:cubicBezTo>
                          <a:pt x="2" y="1"/>
                          <a:pt x="2" y="1"/>
                          <a:pt x="2" y="1"/>
                        </a:cubicBezTo>
                        <a:cubicBezTo>
                          <a:pt x="0" y="2"/>
                          <a:pt x="1"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71" name="Freeform 166">
                    <a:extLst>
                      <a:ext uri="{FF2B5EF4-FFF2-40B4-BE49-F238E27FC236}">
                        <a16:creationId xmlns:a16="http://schemas.microsoft.com/office/drawing/2014/main" id="{07A6BE8F-F15C-48E9-BB6D-C6A7E3EB5628}"/>
                      </a:ext>
                    </a:extLst>
                  </p:cNvPr>
                  <p:cNvSpPr>
                    <a:spLocks/>
                  </p:cNvSpPr>
                  <p:nvPr/>
                </p:nvSpPr>
                <p:spPr bwMode="auto">
                  <a:xfrm>
                    <a:off x="8094663" y="1738313"/>
                    <a:ext cx="3175" cy="1588"/>
                  </a:xfrm>
                  <a:custGeom>
                    <a:avLst/>
                    <a:gdLst/>
                    <a:ahLst/>
                    <a:cxnLst>
                      <a:cxn ang="0">
                        <a:pos x="2" y="0"/>
                      </a:cxn>
                      <a:cxn ang="0">
                        <a:pos x="2" y="0"/>
                      </a:cxn>
                      <a:cxn ang="0">
                        <a:pos x="0" y="1"/>
                      </a:cxn>
                      <a:cxn ang="0">
                        <a:pos x="2" y="0"/>
                      </a:cxn>
                    </a:cxnLst>
                    <a:rect l="0" t="0" r="r" b="b"/>
                    <a:pathLst>
                      <a:path w="2" h="1">
                        <a:moveTo>
                          <a:pt x="2" y="0"/>
                        </a:moveTo>
                        <a:lnTo>
                          <a:pt x="2" y="0"/>
                        </a:lnTo>
                        <a:lnTo>
                          <a:pt x="0" y="1"/>
                        </a:lnTo>
                        <a:lnTo>
                          <a:pt x="2"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72" name="Freeform 167">
                    <a:extLst>
                      <a:ext uri="{FF2B5EF4-FFF2-40B4-BE49-F238E27FC236}">
                        <a16:creationId xmlns:a16="http://schemas.microsoft.com/office/drawing/2014/main" id="{7EB47CDD-252C-4689-8C6E-8974221BBA74}"/>
                      </a:ext>
                    </a:extLst>
                  </p:cNvPr>
                  <p:cNvSpPr>
                    <a:spLocks/>
                  </p:cNvSpPr>
                  <p:nvPr/>
                </p:nvSpPr>
                <p:spPr bwMode="auto">
                  <a:xfrm>
                    <a:off x="8204200" y="1711325"/>
                    <a:ext cx="4762" cy="1588"/>
                  </a:xfrm>
                  <a:custGeom>
                    <a:avLst/>
                    <a:gdLst/>
                    <a:ahLst/>
                    <a:cxnLst>
                      <a:cxn ang="0">
                        <a:pos x="1" y="0"/>
                      </a:cxn>
                      <a:cxn ang="0">
                        <a:pos x="0" y="0"/>
                      </a:cxn>
                      <a:cxn ang="0">
                        <a:pos x="2" y="0"/>
                      </a:cxn>
                      <a:cxn ang="0">
                        <a:pos x="1" y="0"/>
                      </a:cxn>
                    </a:cxnLst>
                    <a:rect l="0" t="0" r="r" b="b"/>
                    <a:pathLst>
                      <a:path w="2">
                        <a:moveTo>
                          <a:pt x="1" y="0"/>
                        </a:moveTo>
                        <a:cubicBezTo>
                          <a:pt x="1" y="0"/>
                          <a:pt x="0" y="0"/>
                          <a:pt x="0" y="0"/>
                        </a:cubicBezTo>
                        <a:cubicBezTo>
                          <a:pt x="2" y="0"/>
                          <a:pt x="2" y="0"/>
                          <a:pt x="2"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73" name="Freeform 168">
                    <a:extLst>
                      <a:ext uri="{FF2B5EF4-FFF2-40B4-BE49-F238E27FC236}">
                        <a16:creationId xmlns:a16="http://schemas.microsoft.com/office/drawing/2014/main" id="{0F325E5F-B93A-40F2-A853-846B6F773344}"/>
                      </a:ext>
                    </a:extLst>
                  </p:cNvPr>
                  <p:cNvSpPr>
                    <a:spLocks/>
                  </p:cNvSpPr>
                  <p:nvPr/>
                </p:nvSpPr>
                <p:spPr bwMode="auto">
                  <a:xfrm>
                    <a:off x="7956550" y="1779588"/>
                    <a:ext cx="1587" cy="4763"/>
                  </a:xfrm>
                  <a:custGeom>
                    <a:avLst/>
                    <a:gdLst/>
                    <a:ahLst/>
                    <a:cxnLst>
                      <a:cxn ang="0">
                        <a:pos x="1" y="2"/>
                      </a:cxn>
                      <a:cxn ang="0">
                        <a:pos x="1" y="0"/>
                      </a:cxn>
                      <a:cxn ang="0">
                        <a:pos x="1" y="2"/>
                      </a:cxn>
                    </a:cxnLst>
                    <a:rect l="0" t="0" r="r" b="b"/>
                    <a:pathLst>
                      <a:path w="1" h="2">
                        <a:moveTo>
                          <a:pt x="1" y="2"/>
                        </a:moveTo>
                        <a:cubicBezTo>
                          <a:pt x="1" y="1"/>
                          <a:pt x="1" y="1"/>
                          <a:pt x="1" y="0"/>
                        </a:cubicBezTo>
                        <a:cubicBezTo>
                          <a:pt x="0" y="1"/>
                          <a:pt x="0" y="1"/>
                          <a:pt x="1"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grpSp>
              <p:nvGrpSpPr>
                <p:cNvPr id="194" name="Group 485">
                  <a:extLst>
                    <a:ext uri="{FF2B5EF4-FFF2-40B4-BE49-F238E27FC236}">
                      <a16:creationId xmlns:a16="http://schemas.microsoft.com/office/drawing/2014/main" id="{F576A0E3-8383-4BFB-BABE-6E98F9F13F5A}"/>
                    </a:ext>
                  </a:extLst>
                </p:cNvPr>
                <p:cNvGrpSpPr/>
                <p:nvPr/>
              </p:nvGrpSpPr>
              <p:grpSpPr>
                <a:xfrm rot="15155533" flipH="1">
                  <a:off x="1264410" y="1845476"/>
                  <a:ext cx="2259435" cy="2728193"/>
                  <a:chOff x="6224407" y="1520027"/>
                  <a:chExt cx="2294118" cy="3101186"/>
                </a:xfrm>
                <a:solidFill>
                  <a:schemeClr val="bg2">
                    <a:lumMod val="75000"/>
                  </a:schemeClr>
                </a:solidFill>
              </p:grpSpPr>
              <p:sp>
                <p:nvSpPr>
                  <p:cNvPr id="195" name="Freeform 129">
                    <a:extLst>
                      <a:ext uri="{FF2B5EF4-FFF2-40B4-BE49-F238E27FC236}">
                        <a16:creationId xmlns:a16="http://schemas.microsoft.com/office/drawing/2014/main" id="{E14D39CE-E688-4588-8BF9-B6147E6B5420}"/>
                      </a:ext>
                    </a:extLst>
                  </p:cNvPr>
                  <p:cNvSpPr>
                    <a:spLocks/>
                  </p:cNvSpPr>
                  <p:nvPr/>
                </p:nvSpPr>
                <p:spPr bwMode="auto">
                  <a:xfrm>
                    <a:off x="8027988" y="1720850"/>
                    <a:ext cx="3175" cy="1588"/>
                  </a:xfrm>
                  <a:custGeom>
                    <a:avLst/>
                    <a:gdLst/>
                    <a:ahLst/>
                    <a:cxnLst>
                      <a:cxn ang="0">
                        <a:pos x="0" y="0"/>
                      </a:cxn>
                      <a:cxn ang="0">
                        <a:pos x="0" y="0"/>
                      </a:cxn>
                      <a:cxn ang="0">
                        <a:pos x="0" y="0"/>
                      </a:cxn>
                    </a:cxnLst>
                    <a:rect l="0" t="0" r="r" b="b"/>
                    <a:pathLst>
                      <a:path w="1">
                        <a:moveTo>
                          <a:pt x="0" y="0"/>
                        </a:moveTo>
                        <a:cubicBezTo>
                          <a:pt x="0" y="0"/>
                          <a:pt x="1"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96" name="Freeform 130">
                    <a:extLst>
                      <a:ext uri="{FF2B5EF4-FFF2-40B4-BE49-F238E27FC236}">
                        <a16:creationId xmlns:a16="http://schemas.microsoft.com/office/drawing/2014/main" id="{3F8E2580-E282-452B-954A-E0E60C0671EF}"/>
                      </a:ext>
                    </a:extLst>
                  </p:cNvPr>
                  <p:cNvSpPr>
                    <a:spLocks/>
                  </p:cNvSpPr>
                  <p:nvPr/>
                </p:nvSpPr>
                <p:spPr bwMode="auto">
                  <a:xfrm>
                    <a:off x="7724775" y="1841500"/>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0"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97" name="Freeform 131">
                    <a:extLst>
                      <a:ext uri="{FF2B5EF4-FFF2-40B4-BE49-F238E27FC236}">
                        <a16:creationId xmlns:a16="http://schemas.microsoft.com/office/drawing/2014/main" id="{4AAE0CBB-A48F-4835-BAB3-196A9484D4AB}"/>
                      </a:ext>
                    </a:extLst>
                  </p:cNvPr>
                  <p:cNvSpPr>
                    <a:spLocks/>
                  </p:cNvSpPr>
                  <p:nvPr/>
                </p:nvSpPr>
                <p:spPr bwMode="auto">
                  <a:xfrm>
                    <a:off x="8218488" y="1671638"/>
                    <a:ext cx="12700" cy="1588"/>
                  </a:xfrm>
                  <a:custGeom>
                    <a:avLst/>
                    <a:gdLst/>
                    <a:ahLst/>
                    <a:cxnLst>
                      <a:cxn ang="0">
                        <a:pos x="0" y="1"/>
                      </a:cxn>
                      <a:cxn ang="0">
                        <a:pos x="0" y="1"/>
                      </a:cxn>
                      <a:cxn ang="0">
                        <a:pos x="5" y="0"/>
                      </a:cxn>
                      <a:cxn ang="0">
                        <a:pos x="0" y="1"/>
                      </a:cxn>
                    </a:cxnLst>
                    <a:rect l="0" t="0" r="r" b="b"/>
                    <a:pathLst>
                      <a:path w="5" h="1">
                        <a:moveTo>
                          <a:pt x="0" y="1"/>
                        </a:moveTo>
                        <a:cubicBezTo>
                          <a:pt x="0" y="1"/>
                          <a:pt x="0" y="1"/>
                          <a:pt x="0" y="1"/>
                        </a:cubicBezTo>
                        <a:cubicBezTo>
                          <a:pt x="5" y="0"/>
                          <a:pt x="5" y="0"/>
                          <a:pt x="5" y="0"/>
                        </a:cubicBezTo>
                        <a:lnTo>
                          <a:pt x="0" y="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98" name="Freeform 132">
                    <a:extLst>
                      <a:ext uri="{FF2B5EF4-FFF2-40B4-BE49-F238E27FC236}">
                        <a16:creationId xmlns:a16="http://schemas.microsoft.com/office/drawing/2014/main" id="{2AA1DF35-610C-4D07-96A3-9733B660DCF7}"/>
                      </a:ext>
                    </a:extLst>
                  </p:cNvPr>
                  <p:cNvSpPr>
                    <a:spLocks/>
                  </p:cNvSpPr>
                  <p:nvPr/>
                </p:nvSpPr>
                <p:spPr bwMode="auto">
                  <a:xfrm>
                    <a:off x="7169150" y="2263775"/>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1"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99" name="Freeform 133">
                    <a:extLst>
                      <a:ext uri="{FF2B5EF4-FFF2-40B4-BE49-F238E27FC236}">
                        <a16:creationId xmlns:a16="http://schemas.microsoft.com/office/drawing/2014/main" id="{FC190DC3-038E-4226-AC49-1C9637AA0AD5}"/>
                      </a:ext>
                    </a:extLst>
                  </p:cNvPr>
                  <p:cNvSpPr>
                    <a:spLocks/>
                  </p:cNvSpPr>
                  <p:nvPr/>
                </p:nvSpPr>
                <p:spPr bwMode="auto">
                  <a:xfrm>
                    <a:off x="7480300" y="1995488"/>
                    <a:ext cx="4762" cy="4763"/>
                  </a:xfrm>
                  <a:custGeom>
                    <a:avLst/>
                    <a:gdLst/>
                    <a:ahLst/>
                    <a:cxnLst>
                      <a:cxn ang="0">
                        <a:pos x="2" y="0"/>
                      </a:cxn>
                      <a:cxn ang="0">
                        <a:pos x="0" y="2"/>
                      </a:cxn>
                      <a:cxn ang="0">
                        <a:pos x="2" y="0"/>
                      </a:cxn>
                    </a:cxnLst>
                    <a:rect l="0" t="0" r="r" b="b"/>
                    <a:pathLst>
                      <a:path w="2" h="2">
                        <a:moveTo>
                          <a:pt x="2" y="0"/>
                        </a:moveTo>
                        <a:cubicBezTo>
                          <a:pt x="1" y="0"/>
                          <a:pt x="1" y="1"/>
                          <a:pt x="0" y="2"/>
                        </a:cubicBezTo>
                        <a:cubicBezTo>
                          <a:pt x="1" y="1"/>
                          <a:pt x="2" y="0"/>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00" name="Freeform 134">
                    <a:extLst>
                      <a:ext uri="{FF2B5EF4-FFF2-40B4-BE49-F238E27FC236}">
                        <a16:creationId xmlns:a16="http://schemas.microsoft.com/office/drawing/2014/main" id="{11B81008-4FAD-4103-83F0-D94090F72725}"/>
                      </a:ext>
                    </a:extLst>
                  </p:cNvPr>
                  <p:cNvSpPr>
                    <a:spLocks/>
                  </p:cNvSpPr>
                  <p:nvPr/>
                </p:nvSpPr>
                <p:spPr bwMode="auto">
                  <a:xfrm>
                    <a:off x="8318500" y="1681163"/>
                    <a:ext cx="7937" cy="1588"/>
                  </a:xfrm>
                  <a:custGeom>
                    <a:avLst/>
                    <a:gdLst/>
                    <a:ahLst/>
                    <a:cxnLst>
                      <a:cxn ang="0">
                        <a:pos x="3" y="0"/>
                      </a:cxn>
                      <a:cxn ang="0">
                        <a:pos x="0" y="0"/>
                      </a:cxn>
                      <a:cxn ang="0">
                        <a:pos x="3" y="0"/>
                      </a:cxn>
                    </a:cxnLst>
                    <a:rect l="0" t="0" r="r" b="b"/>
                    <a:pathLst>
                      <a:path w="3">
                        <a:moveTo>
                          <a:pt x="3" y="0"/>
                        </a:moveTo>
                        <a:cubicBezTo>
                          <a:pt x="0" y="0"/>
                          <a:pt x="0" y="0"/>
                          <a:pt x="0" y="0"/>
                        </a:cubicBezTo>
                        <a:cubicBezTo>
                          <a:pt x="0" y="0"/>
                          <a:pt x="1"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01" name="Freeform 135">
                    <a:extLst>
                      <a:ext uri="{FF2B5EF4-FFF2-40B4-BE49-F238E27FC236}">
                        <a16:creationId xmlns:a16="http://schemas.microsoft.com/office/drawing/2014/main" id="{3AD86C82-EE86-4DD5-925C-6488925B5769}"/>
                      </a:ext>
                    </a:extLst>
                  </p:cNvPr>
                  <p:cNvSpPr>
                    <a:spLocks/>
                  </p:cNvSpPr>
                  <p:nvPr/>
                </p:nvSpPr>
                <p:spPr bwMode="auto">
                  <a:xfrm>
                    <a:off x="8516938" y="1655763"/>
                    <a:ext cx="1587" cy="1588"/>
                  </a:xfrm>
                  <a:custGeom>
                    <a:avLst/>
                    <a:gdLst/>
                    <a:ahLst/>
                    <a:cxnLst>
                      <a:cxn ang="0">
                        <a:pos x="1" y="0"/>
                      </a:cxn>
                      <a:cxn ang="0">
                        <a:pos x="1" y="0"/>
                      </a:cxn>
                      <a:cxn ang="0">
                        <a:pos x="1" y="0"/>
                      </a:cxn>
                    </a:cxnLst>
                    <a:rect l="0" t="0" r="r" b="b"/>
                    <a:pathLst>
                      <a:path w="1">
                        <a:moveTo>
                          <a:pt x="1" y="0"/>
                        </a:moveTo>
                        <a:cubicBezTo>
                          <a:pt x="1" y="0"/>
                          <a:pt x="1" y="0"/>
                          <a:pt x="1"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02" name="Freeform 136">
                    <a:extLst>
                      <a:ext uri="{FF2B5EF4-FFF2-40B4-BE49-F238E27FC236}">
                        <a16:creationId xmlns:a16="http://schemas.microsoft.com/office/drawing/2014/main" id="{B2C65D64-04AE-48E6-9B0F-23B097D0BE29}"/>
                      </a:ext>
                    </a:extLst>
                  </p:cNvPr>
                  <p:cNvSpPr>
                    <a:spLocks/>
                  </p:cNvSpPr>
                  <p:nvPr/>
                </p:nvSpPr>
                <p:spPr bwMode="auto">
                  <a:xfrm>
                    <a:off x="8434388" y="1654175"/>
                    <a:ext cx="7937" cy="1588"/>
                  </a:xfrm>
                  <a:custGeom>
                    <a:avLst/>
                    <a:gdLst/>
                    <a:ahLst/>
                    <a:cxnLst>
                      <a:cxn ang="0">
                        <a:pos x="3" y="0"/>
                      </a:cxn>
                      <a:cxn ang="0">
                        <a:pos x="0" y="0"/>
                      </a:cxn>
                      <a:cxn ang="0">
                        <a:pos x="3" y="0"/>
                      </a:cxn>
                    </a:cxnLst>
                    <a:rect l="0" t="0" r="r" b="b"/>
                    <a:pathLst>
                      <a:path w="3">
                        <a:moveTo>
                          <a:pt x="3" y="0"/>
                        </a:moveTo>
                        <a:cubicBezTo>
                          <a:pt x="2" y="0"/>
                          <a:pt x="1" y="0"/>
                          <a:pt x="0" y="0"/>
                        </a:cubicBezTo>
                        <a:cubicBezTo>
                          <a:pt x="1" y="0"/>
                          <a:pt x="3"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03" name="Freeform 137">
                    <a:extLst>
                      <a:ext uri="{FF2B5EF4-FFF2-40B4-BE49-F238E27FC236}">
                        <a16:creationId xmlns:a16="http://schemas.microsoft.com/office/drawing/2014/main" id="{28FFF572-D8BA-4F7F-A7CB-1424B01AEC45}"/>
                      </a:ext>
                    </a:extLst>
                  </p:cNvPr>
                  <p:cNvSpPr>
                    <a:spLocks/>
                  </p:cNvSpPr>
                  <p:nvPr/>
                </p:nvSpPr>
                <p:spPr bwMode="auto">
                  <a:xfrm>
                    <a:off x="8432800" y="1654175"/>
                    <a:ext cx="1587" cy="1588"/>
                  </a:xfrm>
                  <a:custGeom>
                    <a:avLst/>
                    <a:gdLst/>
                    <a:ahLst/>
                    <a:cxnLst>
                      <a:cxn ang="0">
                        <a:pos x="0" y="0"/>
                      </a:cxn>
                      <a:cxn ang="0">
                        <a:pos x="1" y="0"/>
                      </a:cxn>
                      <a:cxn ang="0">
                        <a:pos x="0" y="0"/>
                      </a:cxn>
                    </a:cxnLst>
                    <a:rect l="0" t="0" r="r" b="b"/>
                    <a:pathLst>
                      <a:path w="1">
                        <a:moveTo>
                          <a:pt x="0" y="0"/>
                        </a:moveTo>
                        <a:cubicBezTo>
                          <a:pt x="1" y="0"/>
                          <a:pt x="1" y="0"/>
                          <a:pt x="1" y="0"/>
                        </a:cubicBezTo>
                        <a:cubicBezTo>
                          <a:pt x="1"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04" name="Freeform 138">
                    <a:extLst>
                      <a:ext uri="{FF2B5EF4-FFF2-40B4-BE49-F238E27FC236}">
                        <a16:creationId xmlns:a16="http://schemas.microsoft.com/office/drawing/2014/main" id="{2D3B9B04-5B22-4453-A0B9-86A4E4E01829}"/>
                      </a:ext>
                    </a:extLst>
                  </p:cNvPr>
                  <p:cNvSpPr>
                    <a:spLocks/>
                  </p:cNvSpPr>
                  <p:nvPr/>
                </p:nvSpPr>
                <p:spPr bwMode="auto">
                  <a:xfrm>
                    <a:off x="6326188" y="4597400"/>
                    <a:ext cx="3175" cy="17463"/>
                  </a:xfrm>
                  <a:custGeom>
                    <a:avLst/>
                    <a:gdLst/>
                    <a:ahLst/>
                    <a:cxnLst>
                      <a:cxn ang="0">
                        <a:pos x="0" y="0"/>
                      </a:cxn>
                      <a:cxn ang="0">
                        <a:pos x="1" y="7"/>
                      </a:cxn>
                      <a:cxn ang="0">
                        <a:pos x="0" y="0"/>
                      </a:cxn>
                    </a:cxnLst>
                    <a:rect l="0" t="0" r="r" b="b"/>
                    <a:pathLst>
                      <a:path w="1" h="7">
                        <a:moveTo>
                          <a:pt x="0" y="0"/>
                        </a:moveTo>
                        <a:cubicBezTo>
                          <a:pt x="0" y="3"/>
                          <a:pt x="0" y="5"/>
                          <a:pt x="1" y="7"/>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05" name="Freeform 139">
                    <a:extLst>
                      <a:ext uri="{FF2B5EF4-FFF2-40B4-BE49-F238E27FC236}">
                        <a16:creationId xmlns:a16="http://schemas.microsoft.com/office/drawing/2014/main" id="{ABBB0F7C-F75C-49D6-B4B3-7E0CCD2B64E8}"/>
                      </a:ext>
                    </a:extLst>
                  </p:cNvPr>
                  <p:cNvSpPr>
                    <a:spLocks/>
                  </p:cNvSpPr>
                  <p:nvPr/>
                </p:nvSpPr>
                <p:spPr bwMode="auto">
                  <a:xfrm>
                    <a:off x="6789738" y="2773363"/>
                    <a:ext cx="3175" cy="1588"/>
                  </a:xfrm>
                  <a:custGeom>
                    <a:avLst/>
                    <a:gdLst/>
                    <a:ahLst/>
                    <a:cxnLst>
                      <a:cxn ang="0">
                        <a:pos x="1" y="1"/>
                      </a:cxn>
                      <a:cxn ang="0">
                        <a:pos x="1" y="0"/>
                      </a:cxn>
                      <a:cxn ang="0">
                        <a:pos x="1" y="1"/>
                      </a:cxn>
                    </a:cxnLst>
                    <a:rect l="0" t="0" r="r" b="b"/>
                    <a:pathLst>
                      <a:path w="1" h="1">
                        <a:moveTo>
                          <a:pt x="1" y="1"/>
                        </a:moveTo>
                        <a:cubicBezTo>
                          <a:pt x="1" y="0"/>
                          <a:pt x="1" y="0"/>
                          <a:pt x="1" y="0"/>
                        </a:cubicBezTo>
                        <a:cubicBezTo>
                          <a:pt x="0" y="1"/>
                          <a:pt x="0" y="1"/>
                          <a:pt x="1"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06" name="Freeform 140">
                    <a:extLst>
                      <a:ext uri="{FF2B5EF4-FFF2-40B4-BE49-F238E27FC236}">
                        <a16:creationId xmlns:a16="http://schemas.microsoft.com/office/drawing/2014/main" id="{AF3E1B13-8F80-4AB4-BD28-15485A1CC745}"/>
                      </a:ext>
                    </a:extLst>
                  </p:cNvPr>
                  <p:cNvSpPr>
                    <a:spLocks/>
                  </p:cNvSpPr>
                  <p:nvPr/>
                </p:nvSpPr>
                <p:spPr bwMode="auto">
                  <a:xfrm>
                    <a:off x="6342063" y="4603750"/>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07" name="Freeform 141">
                    <a:extLst>
                      <a:ext uri="{FF2B5EF4-FFF2-40B4-BE49-F238E27FC236}">
                        <a16:creationId xmlns:a16="http://schemas.microsoft.com/office/drawing/2014/main" id="{57DA7F93-10FE-4877-A5DD-9F550B54BFB4}"/>
                      </a:ext>
                    </a:extLst>
                  </p:cNvPr>
                  <p:cNvSpPr>
                    <a:spLocks/>
                  </p:cNvSpPr>
                  <p:nvPr/>
                </p:nvSpPr>
                <p:spPr bwMode="auto">
                  <a:xfrm>
                    <a:off x="8207375" y="1704975"/>
                    <a:ext cx="17462" cy="6350"/>
                  </a:xfrm>
                  <a:custGeom>
                    <a:avLst/>
                    <a:gdLst/>
                    <a:ahLst/>
                    <a:cxnLst>
                      <a:cxn ang="0">
                        <a:pos x="7" y="0"/>
                      </a:cxn>
                      <a:cxn ang="0">
                        <a:pos x="0" y="2"/>
                      </a:cxn>
                      <a:cxn ang="0">
                        <a:pos x="7" y="0"/>
                      </a:cxn>
                    </a:cxnLst>
                    <a:rect l="0" t="0" r="r" b="b"/>
                    <a:pathLst>
                      <a:path w="7" h="2">
                        <a:moveTo>
                          <a:pt x="7" y="0"/>
                        </a:moveTo>
                        <a:cubicBezTo>
                          <a:pt x="5" y="1"/>
                          <a:pt x="0" y="1"/>
                          <a:pt x="0" y="2"/>
                        </a:cubicBezTo>
                        <a:cubicBezTo>
                          <a:pt x="3" y="1"/>
                          <a:pt x="6" y="1"/>
                          <a:pt x="7"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08" name="Freeform 142">
                    <a:extLst>
                      <a:ext uri="{FF2B5EF4-FFF2-40B4-BE49-F238E27FC236}">
                        <a16:creationId xmlns:a16="http://schemas.microsoft.com/office/drawing/2014/main" id="{CF486FEB-8E5F-417C-A1C2-4342C649367A}"/>
                      </a:ext>
                    </a:extLst>
                  </p:cNvPr>
                  <p:cNvSpPr>
                    <a:spLocks/>
                  </p:cNvSpPr>
                  <p:nvPr/>
                </p:nvSpPr>
                <p:spPr bwMode="auto">
                  <a:xfrm>
                    <a:off x="6788150" y="2924175"/>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09" name="Freeform 143">
                    <a:extLst>
                      <a:ext uri="{FF2B5EF4-FFF2-40B4-BE49-F238E27FC236}">
                        <a16:creationId xmlns:a16="http://schemas.microsoft.com/office/drawing/2014/main" id="{6C82306D-5BDB-4B6B-9DC8-3B1F6C1C9A94}"/>
                      </a:ext>
                    </a:extLst>
                  </p:cNvPr>
                  <p:cNvSpPr>
                    <a:spLocks/>
                  </p:cNvSpPr>
                  <p:nvPr/>
                </p:nvSpPr>
                <p:spPr bwMode="auto">
                  <a:xfrm>
                    <a:off x="6342063" y="4602163"/>
                    <a:ext cx="1587" cy="1588"/>
                  </a:xfrm>
                  <a:custGeom>
                    <a:avLst/>
                    <a:gdLst/>
                    <a:ahLst/>
                    <a:cxnLst>
                      <a:cxn ang="0">
                        <a:pos x="0" y="1"/>
                      </a:cxn>
                      <a:cxn ang="0">
                        <a:pos x="0" y="0"/>
                      </a:cxn>
                      <a:cxn ang="0">
                        <a:pos x="0" y="0"/>
                      </a:cxn>
                      <a:cxn ang="0">
                        <a:pos x="0" y="1"/>
                      </a:cxn>
                    </a:cxnLst>
                    <a:rect l="0" t="0" r="r" b="b"/>
                    <a:pathLst>
                      <a:path h="1">
                        <a:moveTo>
                          <a:pt x="0" y="1"/>
                        </a:moveTo>
                        <a:cubicBezTo>
                          <a:pt x="0" y="0"/>
                          <a:pt x="0" y="0"/>
                          <a:pt x="0" y="0"/>
                        </a:cubicBez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10" name="Rectangle 144">
                    <a:extLst>
                      <a:ext uri="{FF2B5EF4-FFF2-40B4-BE49-F238E27FC236}">
                        <a16:creationId xmlns:a16="http://schemas.microsoft.com/office/drawing/2014/main" id="{78F2449B-B74F-47E3-863A-912DE5CDDBF6}"/>
                      </a:ext>
                    </a:extLst>
                  </p:cNvPr>
                  <p:cNvSpPr>
                    <a:spLocks noChangeArrowheads="1"/>
                  </p:cNvSpPr>
                  <p:nvPr/>
                </p:nvSpPr>
                <p:spPr bwMode="auto">
                  <a:xfrm>
                    <a:off x="6518275" y="3373438"/>
                    <a:ext cx="1587" cy="158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11" name="Freeform 145">
                    <a:extLst>
                      <a:ext uri="{FF2B5EF4-FFF2-40B4-BE49-F238E27FC236}">
                        <a16:creationId xmlns:a16="http://schemas.microsoft.com/office/drawing/2014/main" id="{CC859C6E-B7EF-4C0C-B781-5DC2204D86F2}"/>
                      </a:ext>
                    </a:extLst>
                  </p:cNvPr>
                  <p:cNvSpPr>
                    <a:spLocks/>
                  </p:cNvSpPr>
                  <p:nvPr/>
                </p:nvSpPr>
                <p:spPr bwMode="auto">
                  <a:xfrm>
                    <a:off x="6505575" y="3398838"/>
                    <a:ext cx="1587" cy="6350"/>
                  </a:xfrm>
                  <a:custGeom>
                    <a:avLst/>
                    <a:gdLst/>
                    <a:ahLst/>
                    <a:cxnLst>
                      <a:cxn ang="0">
                        <a:pos x="0" y="3"/>
                      </a:cxn>
                      <a:cxn ang="0">
                        <a:pos x="0" y="0"/>
                      </a:cxn>
                      <a:cxn ang="0">
                        <a:pos x="0" y="3"/>
                      </a:cxn>
                    </a:cxnLst>
                    <a:rect l="0" t="0" r="r" b="b"/>
                    <a:pathLst>
                      <a:path h="3">
                        <a:moveTo>
                          <a:pt x="0" y="3"/>
                        </a:moveTo>
                        <a:cubicBezTo>
                          <a:pt x="0" y="0"/>
                          <a:pt x="0" y="0"/>
                          <a:pt x="0" y="0"/>
                        </a:cubicBezTo>
                        <a:cubicBezTo>
                          <a:pt x="0" y="2"/>
                          <a:pt x="0" y="3"/>
                          <a:pt x="0" y="3"/>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12" name="Freeform 146">
                    <a:extLst>
                      <a:ext uri="{FF2B5EF4-FFF2-40B4-BE49-F238E27FC236}">
                        <a16:creationId xmlns:a16="http://schemas.microsoft.com/office/drawing/2014/main" id="{8AD5C36B-31DF-41DD-8DAE-2B97761B7FEA}"/>
                      </a:ext>
                    </a:extLst>
                  </p:cNvPr>
                  <p:cNvSpPr>
                    <a:spLocks/>
                  </p:cNvSpPr>
                  <p:nvPr/>
                </p:nvSpPr>
                <p:spPr bwMode="auto">
                  <a:xfrm>
                    <a:off x="6329363" y="4614863"/>
                    <a:ext cx="1587" cy="6350"/>
                  </a:xfrm>
                  <a:custGeom>
                    <a:avLst/>
                    <a:gdLst/>
                    <a:ahLst/>
                    <a:cxnLst>
                      <a:cxn ang="0">
                        <a:pos x="0" y="0"/>
                      </a:cxn>
                      <a:cxn ang="0">
                        <a:pos x="0" y="3"/>
                      </a:cxn>
                      <a:cxn ang="0">
                        <a:pos x="0" y="0"/>
                      </a:cxn>
                    </a:cxnLst>
                    <a:rect l="0" t="0" r="r" b="b"/>
                    <a:pathLst>
                      <a:path h="3">
                        <a:moveTo>
                          <a:pt x="0" y="0"/>
                        </a:moveTo>
                        <a:cubicBezTo>
                          <a:pt x="0" y="3"/>
                          <a:pt x="0" y="3"/>
                          <a:pt x="0" y="3"/>
                        </a:cubicBezTo>
                        <a:cubicBezTo>
                          <a:pt x="0" y="2"/>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13" name="Freeform 147">
                    <a:extLst>
                      <a:ext uri="{FF2B5EF4-FFF2-40B4-BE49-F238E27FC236}">
                        <a16:creationId xmlns:a16="http://schemas.microsoft.com/office/drawing/2014/main" id="{0A8CADC4-4F36-4EAF-BC75-08CDFE2B6EB6}"/>
                      </a:ext>
                    </a:extLst>
                  </p:cNvPr>
                  <p:cNvSpPr>
                    <a:spLocks/>
                  </p:cNvSpPr>
                  <p:nvPr/>
                </p:nvSpPr>
                <p:spPr bwMode="auto">
                  <a:xfrm>
                    <a:off x="6405563" y="3765550"/>
                    <a:ext cx="3175" cy="4763"/>
                  </a:xfrm>
                  <a:custGeom>
                    <a:avLst/>
                    <a:gdLst/>
                    <a:ahLst/>
                    <a:cxnLst>
                      <a:cxn ang="0">
                        <a:pos x="0" y="2"/>
                      </a:cxn>
                      <a:cxn ang="0">
                        <a:pos x="1" y="0"/>
                      </a:cxn>
                      <a:cxn ang="0">
                        <a:pos x="0" y="2"/>
                      </a:cxn>
                    </a:cxnLst>
                    <a:rect l="0" t="0" r="r" b="b"/>
                    <a:pathLst>
                      <a:path w="1" h="2">
                        <a:moveTo>
                          <a:pt x="0" y="2"/>
                        </a:moveTo>
                        <a:cubicBezTo>
                          <a:pt x="1" y="0"/>
                          <a:pt x="1" y="0"/>
                          <a:pt x="1" y="0"/>
                        </a:cubicBezTo>
                        <a:cubicBezTo>
                          <a:pt x="0" y="1"/>
                          <a:pt x="0" y="2"/>
                          <a:pt x="0"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14" name="Freeform 148">
                    <a:extLst>
                      <a:ext uri="{FF2B5EF4-FFF2-40B4-BE49-F238E27FC236}">
                        <a16:creationId xmlns:a16="http://schemas.microsoft.com/office/drawing/2014/main" id="{0A0E57CD-9193-4BB6-8A77-E74B1684BFDB}"/>
                      </a:ext>
                    </a:extLst>
                  </p:cNvPr>
                  <p:cNvSpPr>
                    <a:spLocks/>
                  </p:cNvSpPr>
                  <p:nvPr/>
                </p:nvSpPr>
                <p:spPr bwMode="auto">
                  <a:xfrm>
                    <a:off x="7507288" y="1978025"/>
                    <a:ext cx="3175" cy="3175"/>
                  </a:xfrm>
                  <a:custGeom>
                    <a:avLst/>
                    <a:gdLst/>
                    <a:ahLst/>
                    <a:cxnLst>
                      <a:cxn ang="0">
                        <a:pos x="0" y="1"/>
                      </a:cxn>
                      <a:cxn ang="0">
                        <a:pos x="1" y="0"/>
                      </a:cxn>
                      <a:cxn ang="0">
                        <a:pos x="0" y="1"/>
                      </a:cxn>
                    </a:cxnLst>
                    <a:rect l="0" t="0" r="r" b="b"/>
                    <a:pathLst>
                      <a:path w="1" h="1">
                        <a:moveTo>
                          <a:pt x="0" y="1"/>
                        </a:moveTo>
                        <a:cubicBezTo>
                          <a:pt x="0" y="1"/>
                          <a:pt x="0" y="1"/>
                          <a:pt x="1" y="0"/>
                        </a:cubicBezTo>
                        <a:cubicBezTo>
                          <a:pt x="1" y="0"/>
                          <a:pt x="1" y="0"/>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15" name="Freeform 149">
                    <a:extLst>
                      <a:ext uri="{FF2B5EF4-FFF2-40B4-BE49-F238E27FC236}">
                        <a16:creationId xmlns:a16="http://schemas.microsoft.com/office/drawing/2014/main" id="{9465FFF2-A268-4244-9F0E-072C12342D84}"/>
                      </a:ext>
                    </a:extLst>
                  </p:cNvPr>
                  <p:cNvSpPr>
                    <a:spLocks/>
                  </p:cNvSpPr>
                  <p:nvPr/>
                </p:nvSpPr>
                <p:spPr bwMode="auto">
                  <a:xfrm>
                    <a:off x="7335838" y="2182813"/>
                    <a:ext cx="3175" cy="1588"/>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16" name="Freeform 150">
                    <a:extLst>
                      <a:ext uri="{FF2B5EF4-FFF2-40B4-BE49-F238E27FC236}">
                        <a16:creationId xmlns:a16="http://schemas.microsoft.com/office/drawing/2014/main" id="{F09FCB1A-23C8-49E9-AE4D-C0AB1C62378B}"/>
                      </a:ext>
                    </a:extLst>
                  </p:cNvPr>
                  <p:cNvSpPr>
                    <a:spLocks/>
                  </p:cNvSpPr>
                  <p:nvPr/>
                </p:nvSpPr>
                <p:spPr bwMode="auto">
                  <a:xfrm>
                    <a:off x="7339013" y="2171700"/>
                    <a:ext cx="6350" cy="11113"/>
                  </a:xfrm>
                  <a:custGeom>
                    <a:avLst/>
                    <a:gdLst/>
                    <a:ahLst/>
                    <a:cxnLst>
                      <a:cxn ang="0">
                        <a:pos x="3" y="0"/>
                      </a:cxn>
                      <a:cxn ang="0">
                        <a:pos x="0" y="4"/>
                      </a:cxn>
                      <a:cxn ang="0">
                        <a:pos x="3" y="0"/>
                      </a:cxn>
                    </a:cxnLst>
                    <a:rect l="0" t="0" r="r" b="b"/>
                    <a:pathLst>
                      <a:path w="3" h="4">
                        <a:moveTo>
                          <a:pt x="3" y="0"/>
                        </a:moveTo>
                        <a:cubicBezTo>
                          <a:pt x="2" y="1"/>
                          <a:pt x="0" y="3"/>
                          <a:pt x="0" y="4"/>
                        </a:cubicBezTo>
                        <a:cubicBezTo>
                          <a:pt x="1" y="3"/>
                          <a:pt x="2" y="2"/>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17" name="Freeform 151">
                    <a:extLst>
                      <a:ext uri="{FF2B5EF4-FFF2-40B4-BE49-F238E27FC236}">
                        <a16:creationId xmlns:a16="http://schemas.microsoft.com/office/drawing/2014/main" id="{8C299C25-D0CD-4BDF-8C1E-F6E6997C69E7}"/>
                      </a:ext>
                    </a:extLst>
                  </p:cNvPr>
                  <p:cNvSpPr>
                    <a:spLocks/>
                  </p:cNvSpPr>
                  <p:nvPr/>
                </p:nvSpPr>
                <p:spPr bwMode="auto">
                  <a:xfrm>
                    <a:off x="7316788" y="2200275"/>
                    <a:ext cx="1587" cy="1588"/>
                  </a:xfrm>
                  <a:custGeom>
                    <a:avLst/>
                    <a:gdLst/>
                    <a:ahLst/>
                    <a:cxnLst>
                      <a:cxn ang="0">
                        <a:pos x="0" y="1"/>
                      </a:cxn>
                      <a:cxn ang="0">
                        <a:pos x="0" y="0"/>
                      </a:cxn>
                      <a:cxn ang="0">
                        <a:pos x="0" y="1"/>
                      </a:cxn>
                    </a:cxnLst>
                    <a:rect l="0" t="0" r="r" b="b"/>
                    <a:pathLst>
                      <a:path h="1">
                        <a:moveTo>
                          <a:pt x="0" y="1"/>
                        </a:move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18" name="Freeform 152">
                    <a:extLst>
                      <a:ext uri="{FF2B5EF4-FFF2-40B4-BE49-F238E27FC236}">
                        <a16:creationId xmlns:a16="http://schemas.microsoft.com/office/drawing/2014/main" id="{DB6562A4-57F6-482F-BBC0-2D506E32B777}"/>
                      </a:ext>
                    </a:extLst>
                  </p:cNvPr>
                  <p:cNvSpPr>
                    <a:spLocks/>
                  </p:cNvSpPr>
                  <p:nvPr/>
                </p:nvSpPr>
                <p:spPr bwMode="auto">
                  <a:xfrm>
                    <a:off x="7526338" y="202882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19" name="Freeform 153">
                    <a:extLst>
                      <a:ext uri="{FF2B5EF4-FFF2-40B4-BE49-F238E27FC236}">
                        <a16:creationId xmlns:a16="http://schemas.microsoft.com/office/drawing/2014/main" id="{27BFDE85-A747-4081-AB6A-8D7A95278CB8}"/>
                      </a:ext>
                    </a:extLst>
                  </p:cNvPr>
                  <p:cNvSpPr>
                    <a:spLocks/>
                  </p:cNvSpPr>
                  <p:nvPr/>
                </p:nvSpPr>
                <p:spPr bwMode="auto">
                  <a:xfrm>
                    <a:off x="7481888" y="2063750"/>
                    <a:ext cx="3175" cy="1588"/>
                  </a:xfrm>
                  <a:custGeom>
                    <a:avLst/>
                    <a:gdLst/>
                    <a:ahLst/>
                    <a:cxnLst>
                      <a:cxn ang="0">
                        <a:pos x="1" y="0"/>
                      </a:cxn>
                      <a:cxn ang="0">
                        <a:pos x="0" y="0"/>
                      </a:cxn>
                      <a:cxn ang="0">
                        <a:pos x="1" y="0"/>
                      </a:cxn>
                    </a:cxnLst>
                    <a:rect l="0" t="0" r="r" b="b"/>
                    <a:pathLst>
                      <a:path w="1">
                        <a:moveTo>
                          <a:pt x="1" y="0"/>
                        </a:moveTo>
                        <a:cubicBezTo>
                          <a:pt x="1"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20" name="Freeform 154">
                    <a:extLst>
                      <a:ext uri="{FF2B5EF4-FFF2-40B4-BE49-F238E27FC236}">
                        <a16:creationId xmlns:a16="http://schemas.microsoft.com/office/drawing/2014/main" id="{F3FDDCC6-7AB6-431E-97A1-3C5753AE4F25}"/>
                      </a:ext>
                    </a:extLst>
                  </p:cNvPr>
                  <p:cNvSpPr>
                    <a:spLocks/>
                  </p:cNvSpPr>
                  <p:nvPr/>
                </p:nvSpPr>
                <p:spPr bwMode="auto">
                  <a:xfrm>
                    <a:off x="7221538" y="23018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21" name="Freeform 155">
                    <a:extLst>
                      <a:ext uri="{FF2B5EF4-FFF2-40B4-BE49-F238E27FC236}">
                        <a16:creationId xmlns:a16="http://schemas.microsoft.com/office/drawing/2014/main" id="{DE3F02DE-E727-411B-A7C4-4CF553E65B43}"/>
                      </a:ext>
                    </a:extLst>
                  </p:cNvPr>
                  <p:cNvSpPr>
                    <a:spLocks/>
                  </p:cNvSpPr>
                  <p:nvPr/>
                </p:nvSpPr>
                <p:spPr bwMode="auto">
                  <a:xfrm>
                    <a:off x="6224407" y="1520027"/>
                    <a:ext cx="2265362" cy="2987675"/>
                  </a:xfrm>
                  <a:custGeom>
                    <a:avLst/>
                    <a:gdLst/>
                    <a:ahLst/>
                    <a:cxnLst>
                      <a:cxn ang="0">
                        <a:pos x="295" y="351"/>
                      </a:cxn>
                      <a:cxn ang="0">
                        <a:pos x="339" y="296"/>
                      </a:cxn>
                      <a:cxn ang="0">
                        <a:pos x="362" y="265"/>
                      </a:cxn>
                      <a:cxn ang="0">
                        <a:pos x="377" y="249"/>
                      </a:cxn>
                      <a:cxn ang="0">
                        <a:pos x="403" y="224"/>
                      </a:cxn>
                      <a:cxn ang="0">
                        <a:pos x="411" y="216"/>
                      </a:cxn>
                      <a:cxn ang="0">
                        <a:pos x="427" y="202"/>
                      </a:cxn>
                      <a:cxn ang="0">
                        <a:pos x="458" y="180"/>
                      </a:cxn>
                      <a:cxn ang="0">
                        <a:pos x="477" y="162"/>
                      </a:cxn>
                      <a:cxn ang="0">
                        <a:pos x="512" y="134"/>
                      </a:cxn>
                      <a:cxn ang="0">
                        <a:pos x="530" y="124"/>
                      </a:cxn>
                      <a:cxn ang="0">
                        <a:pos x="558" y="106"/>
                      </a:cxn>
                      <a:cxn ang="0">
                        <a:pos x="583" y="94"/>
                      </a:cxn>
                      <a:cxn ang="0">
                        <a:pos x="620" y="71"/>
                      </a:cxn>
                      <a:cxn ang="0">
                        <a:pos x="662" y="54"/>
                      </a:cxn>
                      <a:cxn ang="0">
                        <a:pos x="704" y="40"/>
                      </a:cxn>
                      <a:cxn ang="0">
                        <a:pos x="735" y="30"/>
                      </a:cxn>
                      <a:cxn ang="0">
                        <a:pos x="758" y="25"/>
                      </a:cxn>
                      <a:cxn ang="0">
                        <a:pos x="759" y="26"/>
                      </a:cxn>
                      <a:cxn ang="0">
                        <a:pos x="785" y="19"/>
                      </a:cxn>
                      <a:cxn ang="0">
                        <a:pos x="800" y="15"/>
                      </a:cxn>
                      <a:cxn ang="0">
                        <a:pos x="820" y="12"/>
                      </a:cxn>
                      <a:cxn ang="0">
                        <a:pos x="870" y="10"/>
                      </a:cxn>
                      <a:cxn ang="0">
                        <a:pos x="906" y="8"/>
                      </a:cxn>
                      <a:cxn ang="0">
                        <a:pos x="880" y="2"/>
                      </a:cxn>
                      <a:cxn ang="0">
                        <a:pos x="860" y="3"/>
                      </a:cxn>
                      <a:cxn ang="0">
                        <a:pos x="836" y="3"/>
                      </a:cxn>
                      <a:cxn ang="0">
                        <a:pos x="793" y="6"/>
                      </a:cxn>
                      <a:cxn ang="0">
                        <a:pos x="772" y="11"/>
                      </a:cxn>
                      <a:cxn ang="0">
                        <a:pos x="753" y="14"/>
                      </a:cxn>
                      <a:cxn ang="0">
                        <a:pos x="685" y="33"/>
                      </a:cxn>
                      <a:cxn ang="0">
                        <a:pos x="652" y="43"/>
                      </a:cxn>
                      <a:cxn ang="0">
                        <a:pos x="635" y="50"/>
                      </a:cxn>
                      <a:cxn ang="0">
                        <a:pos x="605" y="64"/>
                      </a:cxn>
                      <a:cxn ang="0">
                        <a:pos x="569" y="81"/>
                      </a:cxn>
                      <a:cxn ang="0">
                        <a:pos x="547" y="90"/>
                      </a:cxn>
                      <a:cxn ang="0">
                        <a:pos x="500" y="120"/>
                      </a:cxn>
                      <a:cxn ang="0">
                        <a:pos x="454" y="152"/>
                      </a:cxn>
                      <a:cxn ang="0">
                        <a:pos x="418" y="183"/>
                      </a:cxn>
                      <a:cxn ang="0">
                        <a:pos x="399" y="199"/>
                      </a:cxn>
                      <a:cxn ang="0">
                        <a:pos x="372" y="223"/>
                      </a:cxn>
                      <a:cxn ang="0">
                        <a:pos x="333" y="260"/>
                      </a:cxn>
                      <a:cxn ang="0">
                        <a:pos x="303" y="297"/>
                      </a:cxn>
                      <a:cxn ang="0">
                        <a:pos x="252" y="360"/>
                      </a:cxn>
                      <a:cxn ang="0">
                        <a:pos x="200" y="442"/>
                      </a:cxn>
                      <a:cxn ang="0">
                        <a:pos x="184" y="468"/>
                      </a:cxn>
                      <a:cxn ang="0">
                        <a:pos x="168" y="498"/>
                      </a:cxn>
                      <a:cxn ang="0">
                        <a:pos x="143" y="549"/>
                      </a:cxn>
                      <a:cxn ang="0">
                        <a:pos x="99" y="648"/>
                      </a:cxn>
                      <a:cxn ang="0">
                        <a:pos x="68" y="741"/>
                      </a:cxn>
                      <a:cxn ang="0">
                        <a:pos x="38" y="844"/>
                      </a:cxn>
                      <a:cxn ang="0">
                        <a:pos x="0" y="1116"/>
                      </a:cxn>
                      <a:cxn ang="0">
                        <a:pos x="9" y="1197"/>
                      </a:cxn>
                      <a:cxn ang="0">
                        <a:pos x="11" y="1180"/>
                      </a:cxn>
                      <a:cxn ang="0">
                        <a:pos x="15" y="1154"/>
                      </a:cxn>
                      <a:cxn ang="0">
                        <a:pos x="18" y="1114"/>
                      </a:cxn>
                      <a:cxn ang="0">
                        <a:pos x="40" y="988"/>
                      </a:cxn>
                      <a:cxn ang="0">
                        <a:pos x="89" y="767"/>
                      </a:cxn>
                      <a:cxn ang="0">
                        <a:pos x="117" y="681"/>
                      </a:cxn>
                      <a:cxn ang="0">
                        <a:pos x="157" y="582"/>
                      </a:cxn>
                      <a:cxn ang="0">
                        <a:pos x="164" y="564"/>
                      </a:cxn>
                      <a:cxn ang="0">
                        <a:pos x="193" y="510"/>
                      </a:cxn>
                      <a:cxn ang="0">
                        <a:pos x="216" y="471"/>
                      </a:cxn>
                    </a:cxnLst>
                    <a:rect l="0" t="0" r="r" b="b"/>
                    <a:pathLst>
                      <a:path w="913" h="1204">
                        <a:moveTo>
                          <a:pt x="243" y="429"/>
                        </a:moveTo>
                        <a:cubicBezTo>
                          <a:pt x="254" y="411"/>
                          <a:pt x="268" y="388"/>
                          <a:pt x="280" y="372"/>
                        </a:cubicBezTo>
                        <a:cubicBezTo>
                          <a:pt x="282" y="368"/>
                          <a:pt x="286" y="362"/>
                          <a:pt x="289" y="357"/>
                        </a:cubicBezTo>
                        <a:cubicBezTo>
                          <a:pt x="291" y="358"/>
                          <a:pt x="291" y="358"/>
                          <a:pt x="291" y="358"/>
                        </a:cubicBezTo>
                        <a:cubicBezTo>
                          <a:pt x="294" y="353"/>
                          <a:pt x="294" y="353"/>
                          <a:pt x="294" y="353"/>
                        </a:cubicBezTo>
                        <a:cubicBezTo>
                          <a:pt x="296" y="351"/>
                          <a:pt x="292" y="356"/>
                          <a:pt x="295" y="354"/>
                        </a:cubicBezTo>
                        <a:cubicBezTo>
                          <a:pt x="295" y="351"/>
                          <a:pt x="295" y="351"/>
                          <a:pt x="295" y="351"/>
                        </a:cubicBezTo>
                        <a:cubicBezTo>
                          <a:pt x="296" y="351"/>
                          <a:pt x="304" y="341"/>
                          <a:pt x="299" y="349"/>
                        </a:cubicBezTo>
                        <a:cubicBezTo>
                          <a:pt x="304" y="343"/>
                          <a:pt x="308" y="338"/>
                          <a:pt x="313" y="332"/>
                        </a:cubicBezTo>
                        <a:cubicBezTo>
                          <a:pt x="316" y="329"/>
                          <a:pt x="313" y="329"/>
                          <a:pt x="317" y="325"/>
                        </a:cubicBezTo>
                        <a:cubicBezTo>
                          <a:pt x="318" y="325"/>
                          <a:pt x="316" y="327"/>
                          <a:pt x="317" y="327"/>
                        </a:cubicBezTo>
                        <a:cubicBezTo>
                          <a:pt x="328" y="316"/>
                          <a:pt x="325" y="311"/>
                          <a:pt x="335" y="300"/>
                        </a:cubicBezTo>
                        <a:cubicBezTo>
                          <a:pt x="334" y="301"/>
                          <a:pt x="334" y="301"/>
                          <a:pt x="334" y="301"/>
                        </a:cubicBezTo>
                        <a:cubicBezTo>
                          <a:pt x="336" y="299"/>
                          <a:pt x="339" y="296"/>
                          <a:pt x="339" y="296"/>
                        </a:cubicBezTo>
                        <a:cubicBezTo>
                          <a:pt x="336" y="296"/>
                          <a:pt x="338" y="298"/>
                          <a:pt x="334" y="301"/>
                        </a:cubicBezTo>
                        <a:cubicBezTo>
                          <a:pt x="333" y="299"/>
                          <a:pt x="337" y="296"/>
                          <a:pt x="336" y="295"/>
                        </a:cubicBezTo>
                        <a:cubicBezTo>
                          <a:pt x="338" y="293"/>
                          <a:pt x="339" y="291"/>
                          <a:pt x="341" y="289"/>
                        </a:cubicBezTo>
                        <a:cubicBezTo>
                          <a:pt x="345" y="286"/>
                          <a:pt x="349" y="280"/>
                          <a:pt x="353" y="278"/>
                        </a:cubicBezTo>
                        <a:cubicBezTo>
                          <a:pt x="354" y="276"/>
                          <a:pt x="355" y="273"/>
                          <a:pt x="358" y="269"/>
                        </a:cubicBezTo>
                        <a:cubicBezTo>
                          <a:pt x="362" y="267"/>
                          <a:pt x="359" y="270"/>
                          <a:pt x="363" y="267"/>
                        </a:cubicBezTo>
                        <a:cubicBezTo>
                          <a:pt x="362" y="265"/>
                          <a:pt x="362" y="265"/>
                          <a:pt x="362" y="265"/>
                        </a:cubicBezTo>
                        <a:cubicBezTo>
                          <a:pt x="365" y="262"/>
                          <a:pt x="365" y="263"/>
                          <a:pt x="365" y="264"/>
                        </a:cubicBezTo>
                        <a:cubicBezTo>
                          <a:pt x="369" y="260"/>
                          <a:pt x="367" y="260"/>
                          <a:pt x="371" y="256"/>
                        </a:cubicBezTo>
                        <a:cubicBezTo>
                          <a:pt x="370" y="259"/>
                          <a:pt x="370" y="259"/>
                          <a:pt x="370" y="259"/>
                        </a:cubicBezTo>
                        <a:cubicBezTo>
                          <a:pt x="373" y="256"/>
                          <a:pt x="374" y="255"/>
                          <a:pt x="378" y="251"/>
                        </a:cubicBezTo>
                        <a:cubicBezTo>
                          <a:pt x="378" y="251"/>
                          <a:pt x="377" y="253"/>
                          <a:pt x="375" y="254"/>
                        </a:cubicBezTo>
                        <a:cubicBezTo>
                          <a:pt x="379" y="253"/>
                          <a:pt x="379" y="250"/>
                          <a:pt x="380" y="248"/>
                        </a:cubicBezTo>
                        <a:cubicBezTo>
                          <a:pt x="379" y="249"/>
                          <a:pt x="376" y="251"/>
                          <a:pt x="377" y="249"/>
                        </a:cubicBezTo>
                        <a:cubicBezTo>
                          <a:pt x="379" y="247"/>
                          <a:pt x="381" y="244"/>
                          <a:pt x="383" y="243"/>
                        </a:cubicBezTo>
                        <a:cubicBezTo>
                          <a:pt x="381" y="246"/>
                          <a:pt x="381" y="246"/>
                          <a:pt x="381" y="246"/>
                        </a:cubicBezTo>
                        <a:cubicBezTo>
                          <a:pt x="385" y="241"/>
                          <a:pt x="383" y="243"/>
                          <a:pt x="388" y="238"/>
                        </a:cubicBezTo>
                        <a:cubicBezTo>
                          <a:pt x="388" y="239"/>
                          <a:pt x="388" y="239"/>
                          <a:pt x="388" y="239"/>
                        </a:cubicBezTo>
                        <a:cubicBezTo>
                          <a:pt x="390" y="235"/>
                          <a:pt x="395" y="232"/>
                          <a:pt x="400" y="227"/>
                        </a:cubicBezTo>
                        <a:cubicBezTo>
                          <a:pt x="399" y="228"/>
                          <a:pt x="399" y="228"/>
                          <a:pt x="399" y="228"/>
                        </a:cubicBezTo>
                        <a:cubicBezTo>
                          <a:pt x="401" y="226"/>
                          <a:pt x="402" y="225"/>
                          <a:pt x="403" y="224"/>
                        </a:cubicBezTo>
                        <a:cubicBezTo>
                          <a:pt x="399" y="226"/>
                          <a:pt x="400" y="225"/>
                          <a:pt x="399" y="224"/>
                        </a:cubicBezTo>
                        <a:cubicBezTo>
                          <a:pt x="404" y="222"/>
                          <a:pt x="403" y="218"/>
                          <a:pt x="410" y="213"/>
                        </a:cubicBezTo>
                        <a:cubicBezTo>
                          <a:pt x="410" y="214"/>
                          <a:pt x="409" y="216"/>
                          <a:pt x="407" y="217"/>
                        </a:cubicBezTo>
                        <a:cubicBezTo>
                          <a:pt x="406" y="220"/>
                          <a:pt x="407" y="221"/>
                          <a:pt x="404" y="225"/>
                        </a:cubicBezTo>
                        <a:cubicBezTo>
                          <a:pt x="406" y="223"/>
                          <a:pt x="408" y="220"/>
                          <a:pt x="408" y="221"/>
                        </a:cubicBezTo>
                        <a:cubicBezTo>
                          <a:pt x="408" y="219"/>
                          <a:pt x="408" y="219"/>
                          <a:pt x="408" y="219"/>
                        </a:cubicBezTo>
                        <a:cubicBezTo>
                          <a:pt x="409" y="218"/>
                          <a:pt x="410" y="217"/>
                          <a:pt x="411" y="216"/>
                        </a:cubicBezTo>
                        <a:cubicBezTo>
                          <a:pt x="411" y="215"/>
                          <a:pt x="408" y="217"/>
                          <a:pt x="410" y="214"/>
                        </a:cubicBezTo>
                        <a:cubicBezTo>
                          <a:pt x="414" y="210"/>
                          <a:pt x="413" y="213"/>
                          <a:pt x="413" y="212"/>
                        </a:cubicBezTo>
                        <a:cubicBezTo>
                          <a:pt x="418" y="208"/>
                          <a:pt x="414" y="209"/>
                          <a:pt x="419" y="205"/>
                        </a:cubicBezTo>
                        <a:cubicBezTo>
                          <a:pt x="419" y="206"/>
                          <a:pt x="418" y="207"/>
                          <a:pt x="418" y="207"/>
                        </a:cubicBezTo>
                        <a:cubicBezTo>
                          <a:pt x="422" y="205"/>
                          <a:pt x="426" y="200"/>
                          <a:pt x="428" y="200"/>
                        </a:cubicBezTo>
                        <a:cubicBezTo>
                          <a:pt x="428" y="201"/>
                          <a:pt x="428" y="201"/>
                          <a:pt x="427" y="202"/>
                        </a:cubicBezTo>
                        <a:cubicBezTo>
                          <a:pt x="427" y="202"/>
                          <a:pt x="427" y="202"/>
                          <a:pt x="427" y="202"/>
                        </a:cubicBezTo>
                        <a:cubicBezTo>
                          <a:pt x="424" y="207"/>
                          <a:pt x="430" y="199"/>
                          <a:pt x="430" y="201"/>
                        </a:cubicBezTo>
                        <a:cubicBezTo>
                          <a:pt x="429" y="201"/>
                          <a:pt x="434" y="197"/>
                          <a:pt x="436" y="195"/>
                        </a:cubicBezTo>
                        <a:cubicBezTo>
                          <a:pt x="435" y="195"/>
                          <a:pt x="435" y="195"/>
                          <a:pt x="435" y="195"/>
                        </a:cubicBezTo>
                        <a:cubicBezTo>
                          <a:pt x="440" y="186"/>
                          <a:pt x="436" y="197"/>
                          <a:pt x="443" y="190"/>
                        </a:cubicBezTo>
                        <a:cubicBezTo>
                          <a:pt x="447" y="186"/>
                          <a:pt x="441" y="192"/>
                          <a:pt x="443" y="189"/>
                        </a:cubicBezTo>
                        <a:cubicBezTo>
                          <a:pt x="446" y="186"/>
                          <a:pt x="448" y="186"/>
                          <a:pt x="452" y="182"/>
                        </a:cubicBezTo>
                        <a:cubicBezTo>
                          <a:pt x="454" y="181"/>
                          <a:pt x="457" y="180"/>
                          <a:pt x="458" y="180"/>
                        </a:cubicBezTo>
                        <a:cubicBezTo>
                          <a:pt x="461" y="178"/>
                          <a:pt x="467" y="174"/>
                          <a:pt x="468" y="172"/>
                        </a:cubicBezTo>
                        <a:cubicBezTo>
                          <a:pt x="462" y="175"/>
                          <a:pt x="464" y="177"/>
                          <a:pt x="457" y="180"/>
                        </a:cubicBezTo>
                        <a:cubicBezTo>
                          <a:pt x="458" y="178"/>
                          <a:pt x="458" y="178"/>
                          <a:pt x="458" y="178"/>
                        </a:cubicBezTo>
                        <a:cubicBezTo>
                          <a:pt x="462" y="174"/>
                          <a:pt x="467" y="170"/>
                          <a:pt x="470" y="168"/>
                        </a:cubicBezTo>
                        <a:cubicBezTo>
                          <a:pt x="469" y="168"/>
                          <a:pt x="469" y="168"/>
                          <a:pt x="469" y="168"/>
                        </a:cubicBezTo>
                        <a:cubicBezTo>
                          <a:pt x="474" y="163"/>
                          <a:pt x="475" y="161"/>
                          <a:pt x="481" y="157"/>
                        </a:cubicBezTo>
                        <a:cubicBezTo>
                          <a:pt x="482" y="157"/>
                          <a:pt x="479" y="160"/>
                          <a:pt x="477" y="162"/>
                        </a:cubicBezTo>
                        <a:cubicBezTo>
                          <a:pt x="481" y="160"/>
                          <a:pt x="480" y="159"/>
                          <a:pt x="486" y="155"/>
                        </a:cubicBezTo>
                        <a:cubicBezTo>
                          <a:pt x="487" y="156"/>
                          <a:pt x="482" y="158"/>
                          <a:pt x="482" y="159"/>
                        </a:cubicBezTo>
                        <a:cubicBezTo>
                          <a:pt x="488" y="154"/>
                          <a:pt x="488" y="154"/>
                          <a:pt x="488" y="154"/>
                        </a:cubicBezTo>
                        <a:cubicBezTo>
                          <a:pt x="488" y="154"/>
                          <a:pt x="488" y="154"/>
                          <a:pt x="488" y="154"/>
                        </a:cubicBezTo>
                        <a:cubicBezTo>
                          <a:pt x="488" y="152"/>
                          <a:pt x="493" y="151"/>
                          <a:pt x="497" y="148"/>
                        </a:cubicBezTo>
                        <a:cubicBezTo>
                          <a:pt x="506" y="141"/>
                          <a:pt x="506" y="139"/>
                          <a:pt x="510" y="134"/>
                        </a:cubicBezTo>
                        <a:cubicBezTo>
                          <a:pt x="512" y="133"/>
                          <a:pt x="513" y="134"/>
                          <a:pt x="512" y="134"/>
                        </a:cubicBezTo>
                        <a:cubicBezTo>
                          <a:pt x="510" y="135"/>
                          <a:pt x="510" y="135"/>
                          <a:pt x="510" y="136"/>
                        </a:cubicBezTo>
                        <a:cubicBezTo>
                          <a:pt x="513" y="134"/>
                          <a:pt x="518" y="133"/>
                          <a:pt x="516" y="135"/>
                        </a:cubicBezTo>
                        <a:cubicBezTo>
                          <a:pt x="521" y="131"/>
                          <a:pt x="514" y="135"/>
                          <a:pt x="517" y="133"/>
                        </a:cubicBezTo>
                        <a:cubicBezTo>
                          <a:pt x="524" y="128"/>
                          <a:pt x="524" y="128"/>
                          <a:pt x="524" y="128"/>
                        </a:cubicBezTo>
                        <a:cubicBezTo>
                          <a:pt x="522" y="128"/>
                          <a:pt x="520" y="130"/>
                          <a:pt x="523" y="127"/>
                        </a:cubicBezTo>
                        <a:cubicBezTo>
                          <a:pt x="526" y="125"/>
                          <a:pt x="527" y="124"/>
                          <a:pt x="531" y="121"/>
                        </a:cubicBezTo>
                        <a:cubicBezTo>
                          <a:pt x="531" y="122"/>
                          <a:pt x="533" y="122"/>
                          <a:pt x="530" y="124"/>
                        </a:cubicBezTo>
                        <a:cubicBezTo>
                          <a:pt x="533" y="123"/>
                          <a:pt x="536" y="121"/>
                          <a:pt x="536" y="119"/>
                        </a:cubicBezTo>
                        <a:cubicBezTo>
                          <a:pt x="531" y="121"/>
                          <a:pt x="543" y="114"/>
                          <a:pt x="539" y="115"/>
                        </a:cubicBezTo>
                        <a:cubicBezTo>
                          <a:pt x="544" y="113"/>
                          <a:pt x="544" y="113"/>
                          <a:pt x="544" y="113"/>
                        </a:cubicBezTo>
                        <a:cubicBezTo>
                          <a:pt x="543" y="114"/>
                          <a:pt x="543" y="114"/>
                          <a:pt x="541" y="115"/>
                        </a:cubicBezTo>
                        <a:cubicBezTo>
                          <a:pt x="543" y="115"/>
                          <a:pt x="545" y="112"/>
                          <a:pt x="546" y="111"/>
                        </a:cubicBezTo>
                        <a:cubicBezTo>
                          <a:pt x="548" y="111"/>
                          <a:pt x="552" y="108"/>
                          <a:pt x="553" y="109"/>
                        </a:cubicBezTo>
                        <a:cubicBezTo>
                          <a:pt x="554" y="108"/>
                          <a:pt x="557" y="106"/>
                          <a:pt x="558" y="106"/>
                        </a:cubicBezTo>
                        <a:cubicBezTo>
                          <a:pt x="560" y="105"/>
                          <a:pt x="558" y="105"/>
                          <a:pt x="559" y="104"/>
                        </a:cubicBezTo>
                        <a:cubicBezTo>
                          <a:pt x="566" y="100"/>
                          <a:pt x="566" y="100"/>
                          <a:pt x="566" y="100"/>
                        </a:cubicBezTo>
                        <a:cubicBezTo>
                          <a:pt x="567" y="101"/>
                          <a:pt x="568" y="102"/>
                          <a:pt x="567" y="103"/>
                        </a:cubicBezTo>
                        <a:cubicBezTo>
                          <a:pt x="570" y="101"/>
                          <a:pt x="567" y="101"/>
                          <a:pt x="571" y="98"/>
                        </a:cubicBezTo>
                        <a:cubicBezTo>
                          <a:pt x="570" y="101"/>
                          <a:pt x="577" y="96"/>
                          <a:pt x="575" y="100"/>
                        </a:cubicBezTo>
                        <a:cubicBezTo>
                          <a:pt x="577" y="99"/>
                          <a:pt x="584" y="96"/>
                          <a:pt x="588" y="93"/>
                        </a:cubicBezTo>
                        <a:cubicBezTo>
                          <a:pt x="589" y="91"/>
                          <a:pt x="583" y="95"/>
                          <a:pt x="583" y="94"/>
                        </a:cubicBezTo>
                        <a:cubicBezTo>
                          <a:pt x="593" y="88"/>
                          <a:pt x="592" y="85"/>
                          <a:pt x="601" y="81"/>
                        </a:cubicBezTo>
                        <a:cubicBezTo>
                          <a:pt x="598" y="82"/>
                          <a:pt x="598" y="82"/>
                          <a:pt x="598" y="82"/>
                        </a:cubicBezTo>
                        <a:cubicBezTo>
                          <a:pt x="603" y="79"/>
                          <a:pt x="602" y="80"/>
                          <a:pt x="605" y="77"/>
                        </a:cubicBezTo>
                        <a:cubicBezTo>
                          <a:pt x="604" y="79"/>
                          <a:pt x="612" y="78"/>
                          <a:pt x="620" y="74"/>
                        </a:cubicBezTo>
                        <a:cubicBezTo>
                          <a:pt x="620" y="73"/>
                          <a:pt x="615" y="75"/>
                          <a:pt x="616" y="73"/>
                        </a:cubicBezTo>
                        <a:cubicBezTo>
                          <a:pt x="621" y="70"/>
                          <a:pt x="621" y="70"/>
                          <a:pt x="621" y="70"/>
                        </a:cubicBezTo>
                        <a:cubicBezTo>
                          <a:pt x="622" y="70"/>
                          <a:pt x="621" y="71"/>
                          <a:pt x="620" y="71"/>
                        </a:cubicBezTo>
                        <a:cubicBezTo>
                          <a:pt x="625" y="69"/>
                          <a:pt x="630" y="69"/>
                          <a:pt x="631" y="67"/>
                        </a:cubicBezTo>
                        <a:cubicBezTo>
                          <a:pt x="637" y="67"/>
                          <a:pt x="637" y="67"/>
                          <a:pt x="637" y="67"/>
                        </a:cubicBezTo>
                        <a:cubicBezTo>
                          <a:pt x="634" y="67"/>
                          <a:pt x="634" y="67"/>
                          <a:pt x="634" y="67"/>
                        </a:cubicBezTo>
                        <a:cubicBezTo>
                          <a:pt x="635" y="66"/>
                          <a:pt x="640" y="63"/>
                          <a:pt x="641" y="62"/>
                        </a:cubicBezTo>
                        <a:cubicBezTo>
                          <a:pt x="646" y="59"/>
                          <a:pt x="649" y="59"/>
                          <a:pt x="652" y="59"/>
                        </a:cubicBezTo>
                        <a:cubicBezTo>
                          <a:pt x="651" y="58"/>
                          <a:pt x="648" y="58"/>
                          <a:pt x="652" y="56"/>
                        </a:cubicBezTo>
                        <a:cubicBezTo>
                          <a:pt x="653" y="58"/>
                          <a:pt x="662" y="53"/>
                          <a:pt x="662" y="54"/>
                        </a:cubicBezTo>
                        <a:cubicBezTo>
                          <a:pt x="664" y="54"/>
                          <a:pt x="668" y="53"/>
                          <a:pt x="667" y="52"/>
                        </a:cubicBezTo>
                        <a:cubicBezTo>
                          <a:pt x="668" y="54"/>
                          <a:pt x="668" y="54"/>
                          <a:pt x="668" y="54"/>
                        </a:cubicBezTo>
                        <a:cubicBezTo>
                          <a:pt x="667" y="52"/>
                          <a:pt x="674" y="49"/>
                          <a:pt x="679" y="47"/>
                        </a:cubicBezTo>
                        <a:cubicBezTo>
                          <a:pt x="679" y="50"/>
                          <a:pt x="684" y="45"/>
                          <a:pt x="688" y="46"/>
                        </a:cubicBezTo>
                        <a:cubicBezTo>
                          <a:pt x="688" y="44"/>
                          <a:pt x="696" y="43"/>
                          <a:pt x="697" y="41"/>
                        </a:cubicBezTo>
                        <a:cubicBezTo>
                          <a:pt x="701" y="39"/>
                          <a:pt x="701" y="41"/>
                          <a:pt x="702" y="41"/>
                        </a:cubicBezTo>
                        <a:cubicBezTo>
                          <a:pt x="704" y="40"/>
                          <a:pt x="704" y="40"/>
                          <a:pt x="704" y="40"/>
                        </a:cubicBezTo>
                        <a:cubicBezTo>
                          <a:pt x="706" y="40"/>
                          <a:pt x="713" y="38"/>
                          <a:pt x="718" y="37"/>
                        </a:cubicBezTo>
                        <a:cubicBezTo>
                          <a:pt x="722" y="35"/>
                          <a:pt x="722" y="35"/>
                          <a:pt x="722" y="35"/>
                        </a:cubicBezTo>
                        <a:cubicBezTo>
                          <a:pt x="723" y="35"/>
                          <a:pt x="723" y="35"/>
                          <a:pt x="723" y="35"/>
                        </a:cubicBezTo>
                        <a:cubicBezTo>
                          <a:pt x="724" y="34"/>
                          <a:pt x="727" y="33"/>
                          <a:pt x="725" y="33"/>
                        </a:cubicBezTo>
                        <a:cubicBezTo>
                          <a:pt x="727" y="33"/>
                          <a:pt x="727" y="33"/>
                          <a:pt x="727" y="33"/>
                        </a:cubicBezTo>
                        <a:cubicBezTo>
                          <a:pt x="727" y="31"/>
                          <a:pt x="730" y="31"/>
                          <a:pt x="735" y="29"/>
                        </a:cubicBezTo>
                        <a:cubicBezTo>
                          <a:pt x="736" y="29"/>
                          <a:pt x="736" y="30"/>
                          <a:pt x="735" y="30"/>
                        </a:cubicBezTo>
                        <a:cubicBezTo>
                          <a:pt x="737" y="30"/>
                          <a:pt x="736" y="31"/>
                          <a:pt x="738" y="31"/>
                        </a:cubicBezTo>
                        <a:cubicBezTo>
                          <a:pt x="736" y="31"/>
                          <a:pt x="745" y="26"/>
                          <a:pt x="739" y="27"/>
                        </a:cubicBezTo>
                        <a:cubicBezTo>
                          <a:pt x="738" y="26"/>
                          <a:pt x="741" y="25"/>
                          <a:pt x="744" y="24"/>
                        </a:cubicBezTo>
                        <a:cubicBezTo>
                          <a:pt x="745" y="26"/>
                          <a:pt x="745" y="26"/>
                          <a:pt x="745" y="26"/>
                        </a:cubicBezTo>
                        <a:cubicBezTo>
                          <a:pt x="748" y="23"/>
                          <a:pt x="748" y="23"/>
                          <a:pt x="748" y="23"/>
                        </a:cubicBezTo>
                        <a:cubicBezTo>
                          <a:pt x="751" y="22"/>
                          <a:pt x="753" y="23"/>
                          <a:pt x="756" y="22"/>
                        </a:cubicBezTo>
                        <a:cubicBezTo>
                          <a:pt x="753" y="23"/>
                          <a:pt x="750" y="27"/>
                          <a:pt x="758" y="25"/>
                        </a:cubicBezTo>
                        <a:cubicBezTo>
                          <a:pt x="754" y="26"/>
                          <a:pt x="752" y="28"/>
                          <a:pt x="750" y="28"/>
                        </a:cubicBezTo>
                        <a:cubicBezTo>
                          <a:pt x="752" y="28"/>
                          <a:pt x="752" y="28"/>
                          <a:pt x="750" y="29"/>
                        </a:cubicBezTo>
                        <a:cubicBezTo>
                          <a:pt x="756" y="27"/>
                          <a:pt x="752" y="28"/>
                          <a:pt x="758" y="26"/>
                        </a:cubicBezTo>
                        <a:cubicBezTo>
                          <a:pt x="758" y="28"/>
                          <a:pt x="759" y="28"/>
                          <a:pt x="764" y="27"/>
                        </a:cubicBezTo>
                        <a:cubicBezTo>
                          <a:pt x="760" y="27"/>
                          <a:pt x="760" y="27"/>
                          <a:pt x="760" y="27"/>
                        </a:cubicBezTo>
                        <a:cubicBezTo>
                          <a:pt x="761" y="27"/>
                          <a:pt x="761" y="27"/>
                          <a:pt x="761" y="26"/>
                        </a:cubicBezTo>
                        <a:cubicBezTo>
                          <a:pt x="760" y="27"/>
                          <a:pt x="759" y="26"/>
                          <a:pt x="759" y="26"/>
                        </a:cubicBezTo>
                        <a:cubicBezTo>
                          <a:pt x="760" y="26"/>
                          <a:pt x="765" y="23"/>
                          <a:pt x="766" y="23"/>
                        </a:cubicBezTo>
                        <a:cubicBezTo>
                          <a:pt x="760" y="22"/>
                          <a:pt x="776" y="19"/>
                          <a:pt x="772" y="19"/>
                        </a:cubicBezTo>
                        <a:cubicBezTo>
                          <a:pt x="773" y="18"/>
                          <a:pt x="777" y="17"/>
                          <a:pt x="777" y="18"/>
                        </a:cubicBezTo>
                        <a:cubicBezTo>
                          <a:pt x="772" y="20"/>
                          <a:pt x="781" y="19"/>
                          <a:pt x="781" y="20"/>
                        </a:cubicBezTo>
                        <a:cubicBezTo>
                          <a:pt x="782" y="19"/>
                          <a:pt x="777" y="20"/>
                          <a:pt x="779" y="19"/>
                        </a:cubicBezTo>
                        <a:cubicBezTo>
                          <a:pt x="782" y="18"/>
                          <a:pt x="784" y="19"/>
                          <a:pt x="786" y="19"/>
                        </a:cubicBezTo>
                        <a:cubicBezTo>
                          <a:pt x="785" y="19"/>
                          <a:pt x="785" y="19"/>
                          <a:pt x="785" y="19"/>
                        </a:cubicBezTo>
                        <a:cubicBezTo>
                          <a:pt x="789" y="19"/>
                          <a:pt x="789" y="19"/>
                          <a:pt x="789" y="19"/>
                        </a:cubicBezTo>
                        <a:cubicBezTo>
                          <a:pt x="790" y="18"/>
                          <a:pt x="785" y="19"/>
                          <a:pt x="789" y="17"/>
                        </a:cubicBezTo>
                        <a:cubicBezTo>
                          <a:pt x="790" y="18"/>
                          <a:pt x="794" y="16"/>
                          <a:pt x="794" y="17"/>
                        </a:cubicBezTo>
                        <a:cubicBezTo>
                          <a:pt x="792" y="18"/>
                          <a:pt x="794" y="19"/>
                          <a:pt x="790" y="20"/>
                        </a:cubicBezTo>
                        <a:cubicBezTo>
                          <a:pt x="793" y="20"/>
                          <a:pt x="802" y="18"/>
                          <a:pt x="798" y="17"/>
                        </a:cubicBezTo>
                        <a:cubicBezTo>
                          <a:pt x="802" y="17"/>
                          <a:pt x="802" y="17"/>
                          <a:pt x="802" y="17"/>
                        </a:cubicBezTo>
                        <a:cubicBezTo>
                          <a:pt x="800" y="16"/>
                          <a:pt x="793" y="16"/>
                          <a:pt x="800" y="15"/>
                        </a:cubicBezTo>
                        <a:cubicBezTo>
                          <a:pt x="800" y="15"/>
                          <a:pt x="800" y="15"/>
                          <a:pt x="800" y="15"/>
                        </a:cubicBezTo>
                        <a:cubicBezTo>
                          <a:pt x="805" y="13"/>
                          <a:pt x="805" y="13"/>
                          <a:pt x="805" y="13"/>
                        </a:cubicBezTo>
                        <a:cubicBezTo>
                          <a:pt x="807" y="14"/>
                          <a:pt x="807" y="14"/>
                          <a:pt x="807" y="14"/>
                        </a:cubicBezTo>
                        <a:cubicBezTo>
                          <a:pt x="807" y="13"/>
                          <a:pt x="808" y="13"/>
                          <a:pt x="810" y="13"/>
                        </a:cubicBezTo>
                        <a:cubicBezTo>
                          <a:pt x="810" y="13"/>
                          <a:pt x="812" y="13"/>
                          <a:pt x="812" y="14"/>
                        </a:cubicBezTo>
                        <a:cubicBezTo>
                          <a:pt x="817" y="13"/>
                          <a:pt x="817" y="12"/>
                          <a:pt x="817" y="12"/>
                        </a:cubicBezTo>
                        <a:cubicBezTo>
                          <a:pt x="820" y="11"/>
                          <a:pt x="821" y="11"/>
                          <a:pt x="820" y="12"/>
                        </a:cubicBezTo>
                        <a:cubicBezTo>
                          <a:pt x="824" y="12"/>
                          <a:pt x="831" y="11"/>
                          <a:pt x="834" y="11"/>
                        </a:cubicBezTo>
                        <a:cubicBezTo>
                          <a:pt x="839" y="10"/>
                          <a:pt x="833" y="11"/>
                          <a:pt x="836" y="10"/>
                        </a:cubicBezTo>
                        <a:cubicBezTo>
                          <a:pt x="841" y="12"/>
                          <a:pt x="854" y="9"/>
                          <a:pt x="863" y="8"/>
                        </a:cubicBezTo>
                        <a:cubicBezTo>
                          <a:pt x="860" y="6"/>
                          <a:pt x="865" y="7"/>
                          <a:pt x="867" y="5"/>
                        </a:cubicBezTo>
                        <a:cubicBezTo>
                          <a:pt x="865" y="6"/>
                          <a:pt x="875" y="7"/>
                          <a:pt x="868" y="8"/>
                        </a:cubicBezTo>
                        <a:cubicBezTo>
                          <a:pt x="872" y="7"/>
                          <a:pt x="872" y="7"/>
                          <a:pt x="872" y="7"/>
                        </a:cubicBezTo>
                        <a:cubicBezTo>
                          <a:pt x="876" y="8"/>
                          <a:pt x="865" y="9"/>
                          <a:pt x="870" y="10"/>
                        </a:cubicBezTo>
                        <a:cubicBezTo>
                          <a:pt x="875" y="9"/>
                          <a:pt x="878" y="7"/>
                          <a:pt x="884" y="7"/>
                        </a:cubicBezTo>
                        <a:cubicBezTo>
                          <a:pt x="882" y="9"/>
                          <a:pt x="889" y="7"/>
                          <a:pt x="888" y="9"/>
                        </a:cubicBezTo>
                        <a:cubicBezTo>
                          <a:pt x="887" y="9"/>
                          <a:pt x="885" y="9"/>
                          <a:pt x="883" y="9"/>
                        </a:cubicBezTo>
                        <a:cubicBezTo>
                          <a:pt x="884" y="9"/>
                          <a:pt x="884" y="9"/>
                          <a:pt x="884" y="9"/>
                        </a:cubicBezTo>
                        <a:cubicBezTo>
                          <a:pt x="896" y="9"/>
                          <a:pt x="887" y="7"/>
                          <a:pt x="894" y="6"/>
                        </a:cubicBezTo>
                        <a:cubicBezTo>
                          <a:pt x="901" y="6"/>
                          <a:pt x="899" y="7"/>
                          <a:pt x="900" y="8"/>
                        </a:cubicBezTo>
                        <a:cubicBezTo>
                          <a:pt x="901" y="8"/>
                          <a:pt x="904" y="8"/>
                          <a:pt x="906" y="8"/>
                        </a:cubicBezTo>
                        <a:cubicBezTo>
                          <a:pt x="902" y="9"/>
                          <a:pt x="898" y="7"/>
                          <a:pt x="900" y="6"/>
                        </a:cubicBezTo>
                        <a:cubicBezTo>
                          <a:pt x="903" y="7"/>
                          <a:pt x="911" y="6"/>
                          <a:pt x="913" y="5"/>
                        </a:cubicBezTo>
                        <a:cubicBezTo>
                          <a:pt x="902" y="3"/>
                          <a:pt x="906" y="5"/>
                          <a:pt x="896" y="3"/>
                        </a:cubicBezTo>
                        <a:cubicBezTo>
                          <a:pt x="895" y="4"/>
                          <a:pt x="895" y="5"/>
                          <a:pt x="889" y="5"/>
                        </a:cubicBezTo>
                        <a:cubicBezTo>
                          <a:pt x="893" y="4"/>
                          <a:pt x="889" y="4"/>
                          <a:pt x="888" y="4"/>
                        </a:cubicBezTo>
                        <a:cubicBezTo>
                          <a:pt x="889" y="5"/>
                          <a:pt x="884" y="4"/>
                          <a:pt x="882" y="5"/>
                        </a:cubicBezTo>
                        <a:cubicBezTo>
                          <a:pt x="880" y="4"/>
                          <a:pt x="885" y="2"/>
                          <a:pt x="880" y="2"/>
                        </a:cubicBezTo>
                        <a:cubicBezTo>
                          <a:pt x="879" y="5"/>
                          <a:pt x="879" y="5"/>
                          <a:pt x="879" y="5"/>
                        </a:cubicBezTo>
                        <a:cubicBezTo>
                          <a:pt x="876" y="4"/>
                          <a:pt x="879" y="3"/>
                          <a:pt x="875" y="4"/>
                        </a:cubicBezTo>
                        <a:cubicBezTo>
                          <a:pt x="877" y="2"/>
                          <a:pt x="874" y="2"/>
                          <a:pt x="880" y="1"/>
                        </a:cubicBezTo>
                        <a:cubicBezTo>
                          <a:pt x="872" y="0"/>
                          <a:pt x="868" y="3"/>
                          <a:pt x="862" y="4"/>
                        </a:cubicBezTo>
                        <a:cubicBezTo>
                          <a:pt x="863" y="4"/>
                          <a:pt x="863" y="4"/>
                          <a:pt x="864" y="4"/>
                        </a:cubicBezTo>
                        <a:cubicBezTo>
                          <a:pt x="862" y="4"/>
                          <a:pt x="860" y="4"/>
                          <a:pt x="858" y="5"/>
                        </a:cubicBezTo>
                        <a:cubicBezTo>
                          <a:pt x="854" y="4"/>
                          <a:pt x="861" y="3"/>
                          <a:pt x="860" y="3"/>
                        </a:cubicBezTo>
                        <a:cubicBezTo>
                          <a:pt x="854" y="3"/>
                          <a:pt x="854" y="3"/>
                          <a:pt x="854" y="3"/>
                        </a:cubicBezTo>
                        <a:cubicBezTo>
                          <a:pt x="853" y="3"/>
                          <a:pt x="853" y="3"/>
                          <a:pt x="853" y="3"/>
                        </a:cubicBezTo>
                        <a:cubicBezTo>
                          <a:pt x="852" y="4"/>
                          <a:pt x="850" y="4"/>
                          <a:pt x="850" y="4"/>
                        </a:cubicBezTo>
                        <a:cubicBezTo>
                          <a:pt x="851" y="3"/>
                          <a:pt x="852" y="2"/>
                          <a:pt x="853" y="1"/>
                        </a:cubicBezTo>
                        <a:cubicBezTo>
                          <a:pt x="847" y="3"/>
                          <a:pt x="847" y="3"/>
                          <a:pt x="847" y="3"/>
                        </a:cubicBezTo>
                        <a:cubicBezTo>
                          <a:pt x="847" y="3"/>
                          <a:pt x="841" y="3"/>
                          <a:pt x="846" y="2"/>
                        </a:cubicBezTo>
                        <a:cubicBezTo>
                          <a:pt x="836" y="3"/>
                          <a:pt x="836" y="3"/>
                          <a:pt x="836" y="3"/>
                        </a:cubicBezTo>
                        <a:cubicBezTo>
                          <a:pt x="835" y="2"/>
                          <a:pt x="835" y="2"/>
                          <a:pt x="835" y="2"/>
                        </a:cubicBezTo>
                        <a:cubicBezTo>
                          <a:pt x="832" y="2"/>
                          <a:pt x="832" y="3"/>
                          <a:pt x="835" y="2"/>
                        </a:cubicBezTo>
                        <a:cubicBezTo>
                          <a:pt x="832" y="2"/>
                          <a:pt x="820" y="7"/>
                          <a:pt x="821" y="4"/>
                        </a:cubicBezTo>
                        <a:cubicBezTo>
                          <a:pt x="814" y="6"/>
                          <a:pt x="811" y="6"/>
                          <a:pt x="801" y="8"/>
                        </a:cubicBezTo>
                        <a:cubicBezTo>
                          <a:pt x="808" y="6"/>
                          <a:pt x="793" y="8"/>
                          <a:pt x="800" y="6"/>
                        </a:cubicBezTo>
                        <a:cubicBezTo>
                          <a:pt x="796" y="6"/>
                          <a:pt x="795" y="8"/>
                          <a:pt x="791" y="9"/>
                        </a:cubicBezTo>
                        <a:cubicBezTo>
                          <a:pt x="788" y="9"/>
                          <a:pt x="789" y="7"/>
                          <a:pt x="793" y="6"/>
                        </a:cubicBezTo>
                        <a:cubicBezTo>
                          <a:pt x="789" y="7"/>
                          <a:pt x="789" y="7"/>
                          <a:pt x="789" y="7"/>
                        </a:cubicBezTo>
                        <a:cubicBezTo>
                          <a:pt x="789" y="7"/>
                          <a:pt x="789" y="7"/>
                          <a:pt x="789" y="7"/>
                        </a:cubicBezTo>
                        <a:cubicBezTo>
                          <a:pt x="785" y="9"/>
                          <a:pt x="785" y="9"/>
                          <a:pt x="785" y="9"/>
                        </a:cubicBezTo>
                        <a:cubicBezTo>
                          <a:pt x="781" y="9"/>
                          <a:pt x="784" y="7"/>
                          <a:pt x="780" y="8"/>
                        </a:cubicBezTo>
                        <a:cubicBezTo>
                          <a:pt x="779" y="9"/>
                          <a:pt x="779" y="9"/>
                          <a:pt x="779" y="9"/>
                        </a:cubicBezTo>
                        <a:cubicBezTo>
                          <a:pt x="776" y="9"/>
                          <a:pt x="776" y="9"/>
                          <a:pt x="776" y="9"/>
                        </a:cubicBezTo>
                        <a:cubicBezTo>
                          <a:pt x="777" y="9"/>
                          <a:pt x="775" y="10"/>
                          <a:pt x="772" y="11"/>
                        </a:cubicBezTo>
                        <a:cubicBezTo>
                          <a:pt x="772" y="11"/>
                          <a:pt x="772" y="11"/>
                          <a:pt x="772" y="11"/>
                        </a:cubicBezTo>
                        <a:cubicBezTo>
                          <a:pt x="769" y="12"/>
                          <a:pt x="769" y="12"/>
                          <a:pt x="769" y="12"/>
                        </a:cubicBezTo>
                        <a:cubicBezTo>
                          <a:pt x="772" y="10"/>
                          <a:pt x="765" y="12"/>
                          <a:pt x="767" y="11"/>
                        </a:cubicBezTo>
                        <a:cubicBezTo>
                          <a:pt x="764" y="11"/>
                          <a:pt x="764" y="11"/>
                          <a:pt x="758" y="13"/>
                        </a:cubicBezTo>
                        <a:cubicBezTo>
                          <a:pt x="759" y="14"/>
                          <a:pt x="759" y="14"/>
                          <a:pt x="759" y="14"/>
                        </a:cubicBezTo>
                        <a:cubicBezTo>
                          <a:pt x="752" y="16"/>
                          <a:pt x="759" y="12"/>
                          <a:pt x="753" y="14"/>
                        </a:cubicBezTo>
                        <a:cubicBezTo>
                          <a:pt x="753" y="14"/>
                          <a:pt x="753" y="14"/>
                          <a:pt x="753" y="14"/>
                        </a:cubicBezTo>
                        <a:cubicBezTo>
                          <a:pt x="745" y="15"/>
                          <a:pt x="740" y="19"/>
                          <a:pt x="733" y="19"/>
                        </a:cubicBezTo>
                        <a:cubicBezTo>
                          <a:pt x="737" y="18"/>
                          <a:pt x="735" y="17"/>
                          <a:pt x="735" y="18"/>
                        </a:cubicBezTo>
                        <a:cubicBezTo>
                          <a:pt x="730" y="19"/>
                          <a:pt x="722" y="22"/>
                          <a:pt x="716" y="24"/>
                        </a:cubicBezTo>
                        <a:cubicBezTo>
                          <a:pt x="714" y="24"/>
                          <a:pt x="713" y="23"/>
                          <a:pt x="708" y="24"/>
                        </a:cubicBezTo>
                        <a:cubicBezTo>
                          <a:pt x="704" y="26"/>
                          <a:pt x="703" y="26"/>
                          <a:pt x="702" y="27"/>
                        </a:cubicBezTo>
                        <a:cubicBezTo>
                          <a:pt x="698" y="28"/>
                          <a:pt x="691" y="31"/>
                          <a:pt x="690" y="30"/>
                        </a:cubicBezTo>
                        <a:cubicBezTo>
                          <a:pt x="690" y="31"/>
                          <a:pt x="687" y="31"/>
                          <a:pt x="685" y="33"/>
                        </a:cubicBezTo>
                        <a:cubicBezTo>
                          <a:pt x="684" y="32"/>
                          <a:pt x="684" y="32"/>
                          <a:pt x="684" y="32"/>
                        </a:cubicBezTo>
                        <a:cubicBezTo>
                          <a:pt x="685" y="33"/>
                          <a:pt x="685" y="33"/>
                          <a:pt x="685" y="33"/>
                        </a:cubicBezTo>
                        <a:cubicBezTo>
                          <a:pt x="677" y="33"/>
                          <a:pt x="674" y="38"/>
                          <a:pt x="666" y="39"/>
                        </a:cubicBezTo>
                        <a:cubicBezTo>
                          <a:pt x="667" y="39"/>
                          <a:pt x="667" y="39"/>
                          <a:pt x="667" y="39"/>
                        </a:cubicBezTo>
                        <a:cubicBezTo>
                          <a:pt x="665" y="40"/>
                          <a:pt x="665" y="40"/>
                          <a:pt x="665" y="40"/>
                        </a:cubicBezTo>
                        <a:cubicBezTo>
                          <a:pt x="664" y="40"/>
                          <a:pt x="665" y="39"/>
                          <a:pt x="665" y="38"/>
                        </a:cubicBezTo>
                        <a:cubicBezTo>
                          <a:pt x="661" y="40"/>
                          <a:pt x="656" y="42"/>
                          <a:pt x="652" y="43"/>
                        </a:cubicBezTo>
                        <a:cubicBezTo>
                          <a:pt x="654" y="43"/>
                          <a:pt x="654" y="43"/>
                          <a:pt x="654" y="43"/>
                        </a:cubicBezTo>
                        <a:cubicBezTo>
                          <a:pt x="652" y="44"/>
                          <a:pt x="650" y="46"/>
                          <a:pt x="647" y="47"/>
                        </a:cubicBezTo>
                        <a:cubicBezTo>
                          <a:pt x="651" y="43"/>
                          <a:pt x="642" y="48"/>
                          <a:pt x="641" y="48"/>
                        </a:cubicBezTo>
                        <a:cubicBezTo>
                          <a:pt x="644" y="46"/>
                          <a:pt x="644" y="46"/>
                          <a:pt x="644" y="46"/>
                        </a:cubicBezTo>
                        <a:cubicBezTo>
                          <a:pt x="640" y="48"/>
                          <a:pt x="640" y="48"/>
                          <a:pt x="641" y="49"/>
                        </a:cubicBezTo>
                        <a:cubicBezTo>
                          <a:pt x="636" y="51"/>
                          <a:pt x="636" y="48"/>
                          <a:pt x="632" y="51"/>
                        </a:cubicBezTo>
                        <a:cubicBezTo>
                          <a:pt x="635" y="50"/>
                          <a:pt x="635" y="50"/>
                          <a:pt x="635" y="50"/>
                        </a:cubicBezTo>
                        <a:cubicBezTo>
                          <a:pt x="637" y="50"/>
                          <a:pt x="635" y="52"/>
                          <a:pt x="632" y="53"/>
                        </a:cubicBezTo>
                        <a:cubicBezTo>
                          <a:pt x="632" y="53"/>
                          <a:pt x="630" y="53"/>
                          <a:pt x="632" y="52"/>
                        </a:cubicBezTo>
                        <a:cubicBezTo>
                          <a:pt x="628" y="54"/>
                          <a:pt x="622" y="57"/>
                          <a:pt x="620" y="58"/>
                        </a:cubicBezTo>
                        <a:cubicBezTo>
                          <a:pt x="618" y="58"/>
                          <a:pt x="618" y="57"/>
                          <a:pt x="619" y="57"/>
                        </a:cubicBezTo>
                        <a:cubicBezTo>
                          <a:pt x="611" y="61"/>
                          <a:pt x="616" y="58"/>
                          <a:pt x="608" y="63"/>
                        </a:cubicBezTo>
                        <a:cubicBezTo>
                          <a:pt x="607" y="62"/>
                          <a:pt x="607" y="62"/>
                          <a:pt x="607" y="62"/>
                        </a:cubicBezTo>
                        <a:cubicBezTo>
                          <a:pt x="605" y="64"/>
                          <a:pt x="605" y="64"/>
                          <a:pt x="605" y="64"/>
                        </a:cubicBezTo>
                        <a:cubicBezTo>
                          <a:pt x="600" y="65"/>
                          <a:pt x="600" y="65"/>
                          <a:pt x="600" y="65"/>
                        </a:cubicBezTo>
                        <a:cubicBezTo>
                          <a:pt x="602" y="65"/>
                          <a:pt x="602" y="65"/>
                          <a:pt x="602" y="65"/>
                        </a:cubicBezTo>
                        <a:cubicBezTo>
                          <a:pt x="599" y="67"/>
                          <a:pt x="598" y="68"/>
                          <a:pt x="595" y="69"/>
                        </a:cubicBezTo>
                        <a:cubicBezTo>
                          <a:pt x="595" y="68"/>
                          <a:pt x="595" y="68"/>
                          <a:pt x="595" y="68"/>
                        </a:cubicBezTo>
                        <a:cubicBezTo>
                          <a:pt x="588" y="72"/>
                          <a:pt x="586" y="71"/>
                          <a:pt x="579" y="76"/>
                        </a:cubicBezTo>
                        <a:cubicBezTo>
                          <a:pt x="579" y="76"/>
                          <a:pt x="580" y="75"/>
                          <a:pt x="580" y="74"/>
                        </a:cubicBezTo>
                        <a:cubicBezTo>
                          <a:pt x="574" y="79"/>
                          <a:pt x="575" y="76"/>
                          <a:pt x="569" y="81"/>
                        </a:cubicBezTo>
                        <a:cubicBezTo>
                          <a:pt x="569" y="80"/>
                          <a:pt x="568" y="80"/>
                          <a:pt x="568" y="80"/>
                        </a:cubicBezTo>
                        <a:cubicBezTo>
                          <a:pt x="565" y="82"/>
                          <a:pt x="565" y="82"/>
                          <a:pt x="565" y="82"/>
                        </a:cubicBezTo>
                        <a:cubicBezTo>
                          <a:pt x="565" y="81"/>
                          <a:pt x="565" y="81"/>
                          <a:pt x="565" y="81"/>
                        </a:cubicBezTo>
                        <a:cubicBezTo>
                          <a:pt x="563" y="84"/>
                          <a:pt x="563" y="84"/>
                          <a:pt x="563" y="84"/>
                        </a:cubicBezTo>
                        <a:cubicBezTo>
                          <a:pt x="561" y="84"/>
                          <a:pt x="561" y="84"/>
                          <a:pt x="561" y="84"/>
                        </a:cubicBezTo>
                        <a:cubicBezTo>
                          <a:pt x="560" y="85"/>
                          <a:pt x="560" y="85"/>
                          <a:pt x="560" y="85"/>
                        </a:cubicBezTo>
                        <a:cubicBezTo>
                          <a:pt x="556" y="85"/>
                          <a:pt x="552" y="89"/>
                          <a:pt x="547" y="90"/>
                        </a:cubicBezTo>
                        <a:cubicBezTo>
                          <a:pt x="548" y="91"/>
                          <a:pt x="548" y="91"/>
                          <a:pt x="548" y="91"/>
                        </a:cubicBezTo>
                        <a:cubicBezTo>
                          <a:pt x="539" y="100"/>
                          <a:pt x="522" y="104"/>
                          <a:pt x="510" y="114"/>
                        </a:cubicBezTo>
                        <a:cubicBezTo>
                          <a:pt x="510" y="113"/>
                          <a:pt x="510" y="113"/>
                          <a:pt x="510" y="113"/>
                        </a:cubicBezTo>
                        <a:cubicBezTo>
                          <a:pt x="505" y="118"/>
                          <a:pt x="505" y="118"/>
                          <a:pt x="505" y="118"/>
                        </a:cubicBezTo>
                        <a:cubicBezTo>
                          <a:pt x="502" y="119"/>
                          <a:pt x="507" y="116"/>
                          <a:pt x="505" y="116"/>
                        </a:cubicBezTo>
                        <a:cubicBezTo>
                          <a:pt x="500" y="120"/>
                          <a:pt x="504" y="119"/>
                          <a:pt x="498" y="123"/>
                        </a:cubicBezTo>
                        <a:cubicBezTo>
                          <a:pt x="494" y="125"/>
                          <a:pt x="498" y="122"/>
                          <a:pt x="500" y="120"/>
                        </a:cubicBezTo>
                        <a:cubicBezTo>
                          <a:pt x="494" y="125"/>
                          <a:pt x="485" y="132"/>
                          <a:pt x="481" y="134"/>
                        </a:cubicBezTo>
                        <a:cubicBezTo>
                          <a:pt x="481" y="135"/>
                          <a:pt x="480" y="135"/>
                          <a:pt x="481" y="135"/>
                        </a:cubicBezTo>
                        <a:cubicBezTo>
                          <a:pt x="477" y="138"/>
                          <a:pt x="472" y="142"/>
                          <a:pt x="467" y="145"/>
                        </a:cubicBezTo>
                        <a:cubicBezTo>
                          <a:pt x="467" y="144"/>
                          <a:pt x="468" y="143"/>
                          <a:pt x="469" y="143"/>
                        </a:cubicBezTo>
                        <a:cubicBezTo>
                          <a:pt x="467" y="144"/>
                          <a:pt x="465" y="145"/>
                          <a:pt x="464" y="146"/>
                        </a:cubicBezTo>
                        <a:cubicBezTo>
                          <a:pt x="465" y="144"/>
                          <a:pt x="465" y="144"/>
                          <a:pt x="465" y="144"/>
                        </a:cubicBezTo>
                        <a:cubicBezTo>
                          <a:pt x="462" y="147"/>
                          <a:pt x="456" y="152"/>
                          <a:pt x="454" y="152"/>
                        </a:cubicBezTo>
                        <a:cubicBezTo>
                          <a:pt x="455" y="152"/>
                          <a:pt x="455" y="153"/>
                          <a:pt x="453" y="155"/>
                        </a:cubicBezTo>
                        <a:cubicBezTo>
                          <a:pt x="450" y="155"/>
                          <a:pt x="445" y="162"/>
                          <a:pt x="440" y="165"/>
                        </a:cubicBezTo>
                        <a:cubicBezTo>
                          <a:pt x="440" y="164"/>
                          <a:pt x="444" y="161"/>
                          <a:pt x="443" y="162"/>
                        </a:cubicBezTo>
                        <a:cubicBezTo>
                          <a:pt x="440" y="163"/>
                          <a:pt x="439" y="166"/>
                          <a:pt x="437" y="168"/>
                        </a:cubicBezTo>
                        <a:cubicBezTo>
                          <a:pt x="437" y="167"/>
                          <a:pt x="437" y="167"/>
                          <a:pt x="437" y="167"/>
                        </a:cubicBezTo>
                        <a:cubicBezTo>
                          <a:pt x="427" y="176"/>
                          <a:pt x="427" y="176"/>
                          <a:pt x="427" y="176"/>
                        </a:cubicBezTo>
                        <a:cubicBezTo>
                          <a:pt x="425" y="176"/>
                          <a:pt x="418" y="184"/>
                          <a:pt x="418" y="183"/>
                        </a:cubicBezTo>
                        <a:cubicBezTo>
                          <a:pt x="414" y="186"/>
                          <a:pt x="421" y="181"/>
                          <a:pt x="417" y="185"/>
                        </a:cubicBezTo>
                        <a:cubicBezTo>
                          <a:pt x="415" y="185"/>
                          <a:pt x="413" y="189"/>
                          <a:pt x="412" y="188"/>
                        </a:cubicBezTo>
                        <a:cubicBezTo>
                          <a:pt x="413" y="187"/>
                          <a:pt x="413" y="187"/>
                          <a:pt x="413" y="187"/>
                        </a:cubicBezTo>
                        <a:cubicBezTo>
                          <a:pt x="410" y="190"/>
                          <a:pt x="410" y="190"/>
                          <a:pt x="410" y="190"/>
                        </a:cubicBezTo>
                        <a:cubicBezTo>
                          <a:pt x="411" y="187"/>
                          <a:pt x="411" y="187"/>
                          <a:pt x="411" y="187"/>
                        </a:cubicBezTo>
                        <a:cubicBezTo>
                          <a:pt x="408" y="190"/>
                          <a:pt x="407" y="193"/>
                          <a:pt x="408" y="193"/>
                        </a:cubicBezTo>
                        <a:cubicBezTo>
                          <a:pt x="405" y="195"/>
                          <a:pt x="401" y="199"/>
                          <a:pt x="399" y="199"/>
                        </a:cubicBezTo>
                        <a:cubicBezTo>
                          <a:pt x="400" y="198"/>
                          <a:pt x="400" y="198"/>
                          <a:pt x="400" y="198"/>
                        </a:cubicBezTo>
                        <a:cubicBezTo>
                          <a:pt x="393" y="205"/>
                          <a:pt x="386" y="207"/>
                          <a:pt x="382" y="214"/>
                        </a:cubicBezTo>
                        <a:cubicBezTo>
                          <a:pt x="381" y="214"/>
                          <a:pt x="381" y="214"/>
                          <a:pt x="382" y="213"/>
                        </a:cubicBezTo>
                        <a:cubicBezTo>
                          <a:pt x="378" y="217"/>
                          <a:pt x="378" y="217"/>
                          <a:pt x="378" y="217"/>
                        </a:cubicBezTo>
                        <a:cubicBezTo>
                          <a:pt x="378" y="215"/>
                          <a:pt x="378" y="215"/>
                          <a:pt x="378" y="215"/>
                        </a:cubicBezTo>
                        <a:cubicBezTo>
                          <a:pt x="372" y="223"/>
                          <a:pt x="372" y="223"/>
                          <a:pt x="372" y="223"/>
                        </a:cubicBezTo>
                        <a:cubicBezTo>
                          <a:pt x="372" y="223"/>
                          <a:pt x="372" y="223"/>
                          <a:pt x="372" y="223"/>
                        </a:cubicBezTo>
                        <a:cubicBezTo>
                          <a:pt x="367" y="227"/>
                          <a:pt x="360" y="235"/>
                          <a:pt x="354" y="241"/>
                        </a:cubicBezTo>
                        <a:cubicBezTo>
                          <a:pt x="355" y="240"/>
                          <a:pt x="355" y="240"/>
                          <a:pt x="355" y="240"/>
                        </a:cubicBezTo>
                        <a:cubicBezTo>
                          <a:pt x="349" y="247"/>
                          <a:pt x="348" y="246"/>
                          <a:pt x="344" y="251"/>
                        </a:cubicBezTo>
                        <a:cubicBezTo>
                          <a:pt x="344" y="251"/>
                          <a:pt x="344" y="251"/>
                          <a:pt x="344" y="250"/>
                        </a:cubicBezTo>
                        <a:cubicBezTo>
                          <a:pt x="340" y="255"/>
                          <a:pt x="340" y="255"/>
                          <a:pt x="340" y="255"/>
                        </a:cubicBezTo>
                        <a:cubicBezTo>
                          <a:pt x="340" y="253"/>
                          <a:pt x="340" y="253"/>
                          <a:pt x="340" y="253"/>
                        </a:cubicBezTo>
                        <a:cubicBezTo>
                          <a:pt x="338" y="258"/>
                          <a:pt x="331" y="262"/>
                          <a:pt x="333" y="260"/>
                        </a:cubicBezTo>
                        <a:cubicBezTo>
                          <a:pt x="332" y="263"/>
                          <a:pt x="329" y="266"/>
                          <a:pt x="329" y="267"/>
                        </a:cubicBezTo>
                        <a:cubicBezTo>
                          <a:pt x="325" y="272"/>
                          <a:pt x="328" y="268"/>
                          <a:pt x="325" y="271"/>
                        </a:cubicBezTo>
                        <a:cubicBezTo>
                          <a:pt x="321" y="274"/>
                          <a:pt x="322" y="276"/>
                          <a:pt x="317" y="280"/>
                        </a:cubicBezTo>
                        <a:cubicBezTo>
                          <a:pt x="317" y="280"/>
                          <a:pt x="317" y="280"/>
                          <a:pt x="317" y="280"/>
                        </a:cubicBezTo>
                        <a:cubicBezTo>
                          <a:pt x="315" y="282"/>
                          <a:pt x="314" y="284"/>
                          <a:pt x="311" y="287"/>
                        </a:cubicBezTo>
                        <a:cubicBezTo>
                          <a:pt x="312" y="286"/>
                          <a:pt x="312" y="286"/>
                          <a:pt x="312" y="286"/>
                        </a:cubicBezTo>
                        <a:cubicBezTo>
                          <a:pt x="308" y="292"/>
                          <a:pt x="305" y="291"/>
                          <a:pt x="303" y="297"/>
                        </a:cubicBezTo>
                        <a:cubicBezTo>
                          <a:pt x="301" y="299"/>
                          <a:pt x="298" y="304"/>
                          <a:pt x="297" y="303"/>
                        </a:cubicBezTo>
                        <a:cubicBezTo>
                          <a:pt x="283" y="322"/>
                          <a:pt x="283" y="322"/>
                          <a:pt x="283" y="322"/>
                        </a:cubicBezTo>
                        <a:cubicBezTo>
                          <a:pt x="281" y="322"/>
                          <a:pt x="282" y="324"/>
                          <a:pt x="278" y="327"/>
                        </a:cubicBezTo>
                        <a:cubicBezTo>
                          <a:pt x="279" y="328"/>
                          <a:pt x="279" y="328"/>
                          <a:pt x="279" y="328"/>
                        </a:cubicBezTo>
                        <a:cubicBezTo>
                          <a:pt x="272" y="337"/>
                          <a:pt x="262" y="347"/>
                          <a:pt x="254" y="358"/>
                        </a:cubicBezTo>
                        <a:cubicBezTo>
                          <a:pt x="253" y="357"/>
                          <a:pt x="253" y="357"/>
                          <a:pt x="253" y="357"/>
                        </a:cubicBezTo>
                        <a:cubicBezTo>
                          <a:pt x="252" y="360"/>
                          <a:pt x="252" y="360"/>
                          <a:pt x="252" y="360"/>
                        </a:cubicBezTo>
                        <a:cubicBezTo>
                          <a:pt x="244" y="372"/>
                          <a:pt x="233" y="387"/>
                          <a:pt x="226" y="396"/>
                        </a:cubicBezTo>
                        <a:cubicBezTo>
                          <a:pt x="225" y="400"/>
                          <a:pt x="223" y="405"/>
                          <a:pt x="219" y="410"/>
                        </a:cubicBezTo>
                        <a:cubicBezTo>
                          <a:pt x="219" y="409"/>
                          <a:pt x="219" y="409"/>
                          <a:pt x="219" y="409"/>
                        </a:cubicBezTo>
                        <a:cubicBezTo>
                          <a:pt x="214" y="418"/>
                          <a:pt x="209" y="428"/>
                          <a:pt x="202" y="437"/>
                        </a:cubicBezTo>
                        <a:cubicBezTo>
                          <a:pt x="202" y="436"/>
                          <a:pt x="202" y="437"/>
                          <a:pt x="202" y="436"/>
                        </a:cubicBezTo>
                        <a:cubicBezTo>
                          <a:pt x="202" y="439"/>
                          <a:pt x="199" y="442"/>
                          <a:pt x="197" y="444"/>
                        </a:cubicBezTo>
                        <a:cubicBezTo>
                          <a:pt x="200" y="442"/>
                          <a:pt x="200" y="442"/>
                          <a:pt x="200" y="442"/>
                        </a:cubicBezTo>
                        <a:cubicBezTo>
                          <a:pt x="199" y="445"/>
                          <a:pt x="196" y="448"/>
                          <a:pt x="194" y="449"/>
                        </a:cubicBezTo>
                        <a:cubicBezTo>
                          <a:pt x="192" y="454"/>
                          <a:pt x="192" y="454"/>
                          <a:pt x="192" y="454"/>
                        </a:cubicBezTo>
                        <a:cubicBezTo>
                          <a:pt x="192" y="455"/>
                          <a:pt x="192" y="455"/>
                          <a:pt x="192" y="455"/>
                        </a:cubicBezTo>
                        <a:cubicBezTo>
                          <a:pt x="192" y="456"/>
                          <a:pt x="192" y="456"/>
                          <a:pt x="192" y="456"/>
                        </a:cubicBezTo>
                        <a:cubicBezTo>
                          <a:pt x="189" y="458"/>
                          <a:pt x="189" y="458"/>
                          <a:pt x="189" y="458"/>
                        </a:cubicBezTo>
                        <a:cubicBezTo>
                          <a:pt x="189" y="459"/>
                          <a:pt x="186" y="465"/>
                          <a:pt x="186" y="467"/>
                        </a:cubicBezTo>
                        <a:cubicBezTo>
                          <a:pt x="185" y="467"/>
                          <a:pt x="182" y="471"/>
                          <a:pt x="184" y="468"/>
                        </a:cubicBezTo>
                        <a:cubicBezTo>
                          <a:pt x="175" y="484"/>
                          <a:pt x="175" y="484"/>
                          <a:pt x="175" y="484"/>
                        </a:cubicBezTo>
                        <a:cubicBezTo>
                          <a:pt x="176" y="482"/>
                          <a:pt x="176" y="482"/>
                          <a:pt x="176" y="482"/>
                        </a:cubicBezTo>
                        <a:cubicBezTo>
                          <a:pt x="178" y="482"/>
                          <a:pt x="175" y="487"/>
                          <a:pt x="174" y="489"/>
                        </a:cubicBezTo>
                        <a:cubicBezTo>
                          <a:pt x="175" y="486"/>
                          <a:pt x="172" y="488"/>
                          <a:pt x="171" y="490"/>
                        </a:cubicBezTo>
                        <a:cubicBezTo>
                          <a:pt x="170" y="492"/>
                          <a:pt x="173" y="488"/>
                          <a:pt x="173" y="489"/>
                        </a:cubicBezTo>
                        <a:cubicBezTo>
                          <a:pt x="172" y="493"/>
                          <a:pt x="169" y="499"/>
                          <a:pt x="168" y="500"/>
                        </a:cubicBezTo>
                        <a:cubicBezTo>
                          <a:pt x="168" y="498"/>
                          <a:pt x="168" y="498"/>
                          <a:pt x="168" y="498"/>
                        </a:cubicBezTo>
                        <a:cubicBezTo>
                          <a:pt x="167" y="502"/>
                          <a:pt x="164" y="503"/>
                          <a:pt x="162" y="507"/>
                        </a:cubicBezTo>
                        <a:cubicBezTo>
                          <a:pt x="161" y="511"/>
                          <a:pt x="159" y="513"/>
                          <a:pt x="161" y="513"/>
                        </a:cubicBezTo>
                        <a:cubicBezTo>
                          <a:pt x="159" y="518"/>
                          <a:pt x="159" y="514"/>
                          <a:pt x="158" y="516"/>
                        </a:cubicBezTo>
                        <a:cubicBezTo>
                          <a:pt x="158" y="518"/>
                          <a:pt x="154" y="525"/>
                          <a:pt x="153" y="525"/>
                        </a:cubicBezTo>
                        <a:cubicBezTo>
                          <a:pt x="153" y="529"/>
                          <a:pt x="145" y="538"/>
                          <a:pt x="147" y="540"/>
                        </a:cubicBezTo>
                        <a:cubicBezTo>
                          <a:pt x="143" y="544"/>
                          <a:pt x="143" y="544"/>
                          <a:pt x="143" y="544"/>
                        </a:cubicBezTo>
                        <a:cubicBezTo>
                          <a:pt x="144" y="544"/>
                          <a:pt x="145" y="545"/>
                          <a:pt x="143" y="549"/>
                        </a:cubicBezTo>
                        <a:cubicBezTo>
                          <a:pt x="141" y="552"/>
                          <a:pt x="141" y="551"/>
                          <a:pt x="140" y="551"/>
                        </a:cubicBezTo>
                        <a:cubicBezTo>
                          <a:pt x="141" y="554"/>
                          <a:pt x="141" y="554"/>
                          <a:pt x="141" y="554"/>
                        </a:cubicBezTo>
                        <a:cubicBezTo>
                          <a:pt x="130" y="571"/>
                          <a:pt x="121" y="596"/>
                          <a:pt x="111" y="615"/>
                        </a:cubicBezTo>
                        <a:cubicBezTo>
                          <a:pt x="107" y="624"/>
                          <a:pt x="104" y="636"/>
                          <a:pt x="99" y="647"/>
                        </a:cubicBezTo>
                        <a:cubicBezTo>
                          <a:pt x="100" y="645"/>
                          <a:pt x="100" y="645"/>
                          <a:pt x="100" y="645"/>
                        </a:cubicBezTo>
                        <a:cubicBezTo>
                          <a:pt x="95" y="656"/>
                          <a:pt x="95" y="656"/>
                          <a:pt x="95" y="656"/>
                        </a:cubicBezTo>
                        <a:cubicBezTo>
                          <a:pt x="99" y="648"/>
                          <a:pt x="99" y="648"/>
                          <a:pt x="99" y="648"/>
                        </a:cubicBezTo>
                        <a:cubicBezTo>
                          <a:pt x="98" y="651"/>
                          <a:pt x="98" y="653"/>
                          <a:pt x="97" y="655"/>
                        </a:cubicBezTo>
                        <a:cubicBezTo>
                          <a:pt x="92" y="666"/>
                          <a:pt x="85" y="681"/>
                          <a:pt x="81" y="696"/>
                        </a:cubicBezTo>
                        <a:cubicBezTo>
                          <a:pt x="80" y="706"/>
                          <a:pt x="77" y="702"/>
                          <a:pt x="76" y="711"/>
                        </a:cubicBezTo>
                        <a:cubicBezTo>
                          <a:pt x="76" y="710"/>
                          <a:pt x="76" y="710"/>
                          <a:pt x="76" y="709"/>
                        </a:cubicBezTo>
                        <a:cubicBezTo>
                          <a:pt x="73" y="719"/>
                          <a:pt x="72" y="725"/>
                          <a:pt x="70" y="735"/>
                        </a:cubicBezTo>
                        <a:cubicBezTo>
                          <a:pt x="68" y="733"/>
                          <a:pt x="68" y="741"/>
                          <a:pt x="67" y="740"/>
                        </a:cubicBezTo>
                        <a:cubicBezTo>
                          <a:pt x="68" y="741"/>
                          <a:pt x="68" y="741"/>
                          <a:pt x="68" y="741"/>
                        </a:cubicBezTo>
                        <a:cubicBezTo>
                          <a:pt x="67" y="743"/>
                          <a:pt x="65" y="748"/>
                          <a:pt x="65" y="747"/>
                        </a:cubicBezTo>
                        <a:cubicBezTo>
                          <a:pt x="64" y="752"/>
                          <a:pt x="64" y="752"/>
                          <a:pt x="64" y="752"/>
                        </a:cubicBezTo>
                        <a:cubicBezTo>
                          <a:pt x="63" y="752"/>
                          <a:pt x="63" y="752"/>
                          <a:pt x="63" y="752"/>
                        </a:cubicBezTo>
                        <a:cubicBezTo>
                          <a:pt x="62" y="757"/>
                          <a:pt x="59" y="770"/>
                          <a:pt x="56" y="772"/>
                        </a:cubicBezTo>
                        <a:cubicBezTo>
                          <a:pt x="53" y="787"/>
                          <a:pt x="47" y="809"/>
                          <a:pt x="42" y="827"/>
                        </a:cubicBezTo>
                        <a:cubicBezTo>
                          <a:pt x="43" y="830"/>
                          <a:pt x="41" y="835"/>
                          <a:pt x="40" y="839"/>
                        </a:cubicBezTo>
                        <a:cubicBezTo>
                          <a:pt x="38" y="844"/>
                          <a:pt x="38" y="844"/>
                          <a:pt x="38" y="844"/>
                        </a:cubicBezTo>
                        <a:cubicBezTo>
                          <a:pt x="38" y="848"/>
                          <a:pt x="38" y="853"/>
                          <a:pt x="36" y="856"/>
                        </a:cubicBezTo>
                        <a:cubicBezTo>
                          <a:pt x="36" y="856"/>
                          <a:pt x="36" y="856"/>
                          <a:pt x="36" y="856"/>
                        </a:cubicBezTo>
                        <a:cubicBezTo>
                          <a:pt x="36" y="860"/>
                          <a:pt x="34" y="864"/>
                          <a:pt x="34" y="868"/>
                        </a:cubicBezTo>
                        <a:cubicBezTo>
                          <a:pt x="33" y="873"/>
                          <a:pt x="32" y="877"/>
                          <a:pt x="31" y="876"/>
                        </a:cubicBezTo>
                        <a:cubicBezTo>
                          <a:pt x="33" y="877"/>
                          <a:pt x="29" y="886"/>
                          <a:pt x="29" y="886"/>
                        </a:cubicBezTo>
                        <a:cubicBezTo>
                          <a:pt x="29" y="886"/>
                          <a:pt x="15" y="946"/>
                          <a:pt x="7" y="1014"/>
                        </a:cubicBezTo>
                        <a:cubicBezTo>
                          <a:pt x="3" y="1049"/>
                          <a:pt x="1" y="1085"/>
                          <a:pt x="0" y="1116"/>
                        </a:cubicBezTo>
                        <a:cubicBezTo>
                          <a:pt x="0" y="1148"/>
                          <a:pt x="1" y="1175"/>
                          <a:pt x="4" y="1189"/>
                        </a:cubicBezTo>
                        <a:cubicBezTo>
                          <a:pt x="5" y="1191"/>
                          <a:pt x="5" y="1197"/>
                          <a:pt x="6" y="1195"/>
                        </a:cubicBezTo>
                        <a:cubicBezTo>
                          <a:pt x="7" y="1199"/>
                          <a:pt x="5" y="1201"/>
                          <a:pt x="6" y="1202"/>
                        </a:cubicBezTo>
                        <a:cubicBezTo>
                          <a:pt x="7" y="1196"/>
                          <a:pt x="9" y="1204"/>
                          <a:pt x="10" y="1198"/>
                        </a:cubicBezTo>
                        <a:cubicBezTo>
                          <a:pt x="10" y="1202"/>
                          <a:pt x="10" y="1202"/>
                          <a:pt x="10" y="1202"/>
                        </a:cubicBezTo>
                        <a:cubicBezTo>
                          <a:pt x="11" y="1203"/>
                          <a:pt x="9" y="1197"/>
                          <a:pt x="11" y="1198"/>
                        </a:cubicBezTo>
                        <a:cubicBezTo>
                          <a:pt x="9" y="1197"/>
                          <a:pt x="9" y="1197"/>
                          <a:pt x="9" y="1197"/>
                        </a:cubicBezTo>
                        <a:cubicBezTo>
                          <a:pt x="9" y="1194"/>
                          <a:pt x="9" y="1192"/>
                          <a:pt x="10" y="1191"/>
                        </a:cubicBezTo>
                        <a:cubicBezTo>
                          <a:pt x="9" y="1188"/>
                          <a:pt x="7" y="1186"/>
                          <a:pt x="8" y="1180"/>
                        </a:cubicBezTo>
                        <a:cubicBezTo>
                          <a:pt x="8" y="1182"/>
                          <a:pt x="8" y="1182"/>
                          <a:pt x="8" y="1182"/>
                        </a:cubicBezTo>
                        <a:cubicBezTo>
                          <a:pt x="8" y="1176"/>
                          <a:pt x="9" y="1178"/>
                          <a:pt x="10" y="1177"/>
                        </a:cubicBezTo>
                        <a:cubicBezTo>
                          <a:pt x="10" y="1178"/>
                          <a:pt x="10" y="1178"/>
                          <a:pt x="10" y="1178"/>
                        </a:cubicBezTo>
                        <a:cubicBezTo>
                          <a:pt x="11" y="1174"/>
                          <a:pt x="11" y="1174"/>
                          <a:pt x="11" y="1174"/>
                        </a:cubicBezTo>
                        <a:cubicBezTo>
                          <a:pt x="10" y="1177"/>
                          <a:pt x="11" y="1183"/>
                          <a:pt x="11" y="1180"/>
                        </a:cubicBezTo>
                        <a:cubicBezTo>
                          <a:pt x="12" y="1174"/>
                          <a:pt x="11" y="1182"/>
                          <a:pt x="11" y="1177"/>
                        </a:cubicBezTo>
                        <a:cubicBezTo>
                          <a:pt x="11" y="1174"/>
                          <a:pt x="12" y="1175"/>
                          <a:pt x="12" y="1175"/>
                        </a:cubicBezTo>
                        <a:cubicBezTo>
                          <a:pt x="12" y="1170"/>
                          <a:pt x="12" y="1170"/>
                          <a:pt x="12" y="1170"/>
                        </a:cubicBezTo>
                        <a:cubicBezTo>
                          <a:pt x="13" y="1170"/>
                          <a:pt x="12" y="1173"/>
                          <a:pt x="13" y="1171"/>
                        </a:cubicBezTo>
                        <a:cubicBezTo>
                          <a:pt x="12" y="1164"/>
                          <a:pt x="12" y="1164"/>
                          <a:pt x="12" y="1164"/>
                        </a:cubicBezTo>
                        <a:cubicBezTo>
                          <a:pt x="14" y="1163"/>
                          <a:pt x="11" y="1157"/>
                          <a:pt x="13" y="1154"/>
                        </a:cubicBezTo>
                        <a:cubicBezTo>
                          <a:pt x="14" y="1159"/>
                          <a:pt x="14" y="1153"/>
                          <a:pt x="15" y="1154"/>
                        </a:cubicBezTo>
                        <a:cubicBezTo>
                          <a:pt x="15" y="1142"/>
                          <a:pt x="15" y="1142"/>
                          <a:pt x="15" y="1142"/>
                        </a:cubicBezTo>
                        <a:cubicBezTo>
                          <a:pt x="16" y="1141"/>
                          <a:pt x="16" y="1145"/>
                          <a:pt x="16" y="1144"/>
                        </a:cubicBezTo>
                        <a:cubicBezTo>
                          <a:pt x="16" y="1141"/>
                          <a:pt x="15" y="1140"/>
                          <a:pt x="15" y="1139"/>
                        </a:cubicBezTo>
                        <a:cubicBezTo>
                          <a:pt x="16" y="1138"/>
                          <a:pt x="16" y="1130"/>
                          <a:pt x="17" y="1130"/>
                        </a:cubicBezTo>
                        <a:cubicBezTo>
                          <a:pt x="19" y="1122"/>
                          <a:pt x="15" y="1127"/>
                          <a:pt x="17" y="1119"/>
                        </a:cubicBezTo>
                        <a:cubicBezTo>
                          <a:pt x="18" y="1118"/>
                          <a:pt x="17" y="1125"/>
                          <a:pt x="18" y="1122"/>
                        </a:cubicBezTo>
                        <a:cubicBezTo>
                          <a:pt x="18" y="1114"/>
                          <a:pt x="18" y="1114"/>
                          <a:pt x="18" y="1114"/>
                        </a:cubicBezTo>
                        <a:cubicBezTo>
                          <a:pt x="18" y="1115"/>
                          <a:pt x="19" y="1116"/>
                          <a:pt x="19" y="1119"/>
                        </a:cubicBezTo>
                        <a:cubicBezTo>
                          <a:pt x="21" y="1098"/>
                          <a:pt x="26" y="1087"/>
                          <a:pt x="27" y="1067"/>
                        </a:cubicBezTo>
                        <a:cubicBezTo>
                          <a:pt x="28" y="1065"/>
                          <a:pt x="27" y="1069"/>
                          <a:pt x="28" y="1071"/>
                        </a:cubicBezTo>
                        <a:cubicBezTo>
                          <a:pt x="28" y="1057"/>
                          <a:pt x="32" y="1052"/>
                          <a:pt x="33" y="1040"/>
                        </a:cubicBezTo>
                        <a:cubicBezTo>
                          <a:pt x="32" y="1040"/>
                          <a:pt x="32" y="1040"/>
                          <a:pt x="32" y="1040"/>
                        </a:cubicBezTo>
                        <a:cubicBezTo>
                          <a:pt x="36" y="1024"/>
                          <a:pt x="37" y="1004"/>
                          <a:pt x="41" y="986"/>
                        </a:cubicBezTo>
                        <a:cubicBezTo>
                          <a:pt x="40" y="988"/>
                          <a:pt x="40" y="988"/>
                          <a:pt x="40" y="988"/>
                        </a:cubicBezTo>
                        <a:cubicBezTo>
                          <a:pt x="39" y="985"/>
                          <a:pt x="40" y="981"/>
                          <a:pt x="40" y="978"/>
                        </a:cubicBezTo>
                        <a:cubicBezTo>
                          <a:pt x="40" y="977"/>
                          <a:pt x="41" y="980"/>
                          <a:pt x="42" y="975"/>
                        </a:cubicBezTo>
                        <a:cubicBezTo>
                          <a:pt x="41" y="976"/>
                          <a:pt x="41" y="978"/>
                          <a:pt x="40" y="977"/>
                        </a:cubicBezTo>
                        <a:cubicBezTo>
                          <a:pt x="45" y="962"/>
                          <a:pt x="50" y="928"/>
                          <a:pt x="56" y="903"/>
                        </a:cubicBezTo>
                        <a:cubicBezTo>
                          <a:pt x="62" y="868"/>
                          <a:pt x="72" y="831"/>
                          <a:pt x="81" y="797"/>
                        </a:cubicBezTo>
                        <a:cubicBezTo>
                          <a:pt x="79" y="802"/>
                          <a:pt x="78" y="799"/>
                          <a:pt x="79" y="796"/>
                        </a:cubicBezTo>
                        <a:cubicBezTo>
                          <a:pt x="86" y="786"/>
                          <a:pt x="84" y="777"/>
                          <a:pt x="89" y="767"/>
                        </a:cubicBezTo>
                        <a:cubicBezTo>
                          <a:pt x="94" y="747"/>
                          <a:pt x="103" y="731"/>
                          <a:pt x="106" y="712"/>
                        </a:cubicBezTo>
                        <a:cubicBezTo>
                          <a:pt x="107" y="712"/>
                          <a:pt x="107" y="712"/>
                          <a:pt x="107" y="712"/>
                        </a:cubicBezTo>
                        <a:cubicBezTo>
                          <a:pt x="108" y="710"/>
                          <a:pt x="108" y="709"/>
                          <a:pt x="109" y="706"/>
                        </a:cubicBezTo>
                        <a:cubicBezTo>
                          <a:pt x="109" y="706"/>
                          <a:pt x="109" y="706"/>
                          <a:pt x="109" y="706"/>
                        </a:cubicBezTo>
                        <a:cubicBezTo>
                          <a:pt x="112" y="700"/>
                          <a:pt x="113" y="691"/>
                          <a:pt x="115" y="688"/>
                        </a:cubicBezTo>
                        <a:cubicBezTo>
                          <a:pt x="114" y="687"/>
                          <a:pt x="114" y="687"/>
                          <a:pt x="114" y="687"/>
                        </a:cubicBezTo>
                        <a:cubicBezTo>
                          <a:pt x="116" y="683"/>
                          <a:pt x="116" y="685"/>
                          <a:pt x="117" y="681"/>
                        </a:cubicBezTo>
                        <a:cubicBezTo>
                          <a:pt x="117" y="681"/>
                          <a:pt x="117" y="681"/>
                          <a:pt x="117" y="681"/>
                        </a:cubicBezTo>
                        <a:cubicBezTo>
                          <a:pt x="118" y="676"/>
                          <a:pt x="118" y="676"/>
                          <a:pt x="118" y="676"/>
                        </a:cubicBezTo>
                        <a:cubicBezTo>
                          <a:pt x="120" y="677"/>
                          <a:pt x="122" y="665"/>
                          <a:pt x="124" y="663"/>
                        </a:cubicBezTo>
                        <a:cubicBezTo>
                          <a:pt x="126" y="657"/>
                          <a:pt x="129" y="648"/>
                          <a:pt x="132" y="640"/>
                        </a:cubicBezTo>
                        <a:cubicBezTo>
                          <a:pt x="134" y="639"/>
                          <a:pt x="137" y="630"/>
                          <a:pt x="140" y="624"/>
                        </a:cubicBezTo>
                        <a:cubicBezTo>
                          <a:pt x="145" y="613"/>
                          <a:pt x="151" y="596"/>
                          <a:pt x="158" y="582"/>
                        </a:cubicBezTo>
                        <a:cubicBezTo>
                          <a:pt x="157" y="582"/>
                          <a:pt x="157" y="582"/>
                          <a:pt x="157" y="582"/>
                        </a:cubicBezTo>
                        <a:cubicBezTo>
                          <a:pt x="159" y="578"/>
                          <a:pt x="159" y="578"/>
                          <a:pt x="159" y="578"/>
                        </a:cubicBezTo>
                        <a:cubicBezTo>
                          <a:pt x="159" y="578"/>
                          <a:pt x="159" y="578"/>
                          <a:pt x="159" y="578"/>
                        </a:cubicBezTo>
                        <a:cubicBezTo>
                          <a:pt x="162" y="576"/>
                          <a:pt x="163" y="569"/>
                          <a:pt x="165" y="567"/>
                        </a:cubicBezTo>
                        <a:cubicBezTo>
                          <a:pt x="163" y="568"/>
                          <a:pt x="164" y="569"/>
                          <a:pt x="163" y="572"/>
                        </a:cubicBezTo>
                        <a:cubicBezTo>
                          <a:pt x="161" y="574"/>
                          <a:pt x="161" y="571"/>
                          <a:pt x="163" y="567"/>
                        </a:cubicBezTo>
                        <a:cubicBezTo>
                          <a:pt x="164" y="567"/>
                          <a:pt x="164" y="567"/>
                          <a:pt x="164" y="567"/>
                        </a:cubicBezTo>
                        <a:cubicBezTo>
                          <a:pt x="164" y="564"/>
                          <a:pt x="164" y="564"/>
                          <a:pt x="164" y="564"/>
                        </a:cubicBezTo>
                        <a:cubicBezTo>
                          <a:pt x="165" y="564"/>
                          <a:pt x="167" y="562"/>
                          <a:pt x="168" y="562"/>
                        </a:cubicBezTo>
                        <a:cubicBezTo>
                          <a:pt x="174" y="550"/>
                          <a:pt x="176" y="541"/>
                          <a:pt x="183" y="528"/>
                        </a:cubicBezTo>
                        <a:cubicBezTo>
                          <a:pt x="183" y="530"/>
                          <a:pt x="187" y="519"/>
                          <a:pt x="188" y="523"/>
                        </a:cubicBezTo>
                        <a:cubicBezTo>
                          <a:pt x="191" y="515"/>
                          <a:pt x="186" y="523"/>
                          <a:pt x="186" y="519"/>
                        </a:cubicBezTo>
                        <a:cubicBezTo>
                          <a:pt x="188" y="517"/>
                          <a:pt x="188" y="515"/>
                          <a:pt x="189" y="515"/>
                        </a:cubicBezTo>
                        <a:cubicBezTo>
                          <a:pt x="189" y="516"/>
                          <a:pt x="191" y="513"/>
                          <a:pt x="190" y="515"/>
                        </a:cubicBezTo>
                        <a:cubicBezTo>
                          <a:pt x="193" y="510"/>
                          <a:pt x="193" y="510"/>
                          <a:pt x="193" y="510"/>
                        </a:cubicBezTo>
                        <a:cubicBezTo>
                          <a:pt x="193" y="510"/>
                          <a:pt x="193" y="511"/>
                          <a:pt x="193" y="512"/>
                        </a:cubicBezTo>
                        <a:cubicBezTo>
                          <a:pt x="197" y="501"/>
                          <a:pt x="203" y="494"/>
                          <a:pt x="207" y="485"/>
                        </a:cubicBezTo>
                        <a:cubicBezTo>
                          <a:pt x="207" y="484"/>
                          <a:pt x="205" y="488"/>
                          <a:pt x="205" y="487"/>
                        </a:cubicBezTo>
                        <a:cubicBezTo>
                          <a:pt x="209" y="478"/>
                          <a:pt x="211" y="480"/>
                          <a:pt x="215" y="471"/>
                        </a:cubicBezTo>
                        <a:cubicBezTo>
                          <a:pt x="214" y="473"/>
                          <a:pt x="214" y="473"/>
                          <a:pt x="214" y="473"/>
                        </a:cubicBezTo>
                        <a:cubicBezTo>
                          <a:pt x="215" y="470"/>
                          <a:pt x="215" y="469"/>
                          <a:pt x="219" y="465"/>
                        </a:cubicBezTo>
                        <a:cubicBezTo>
                          <a:pt x="220" y="465"/>
                          <a:pt x="217" y="469"/>
                          <a:pt x="216" y="471"/>
                        </a:cubicBezTo>
                        <a:cubicBezTo>
                          <a:pt x="218" y="468"/>
                          <a:pt x="223" y="461"/>
                          <a:pt x="220" y="462"/>
                        </a:cubicBezTo>
                        <a:cubicBezTo>
                          <a:pt x="222" y="459"/>
                          <a:pt x="224" y="458"/>
                          <a:pt x="225" y="456"/>
                        </a:cubicBezTo>
                        <a:cubicBezTo>
                          <a:pt x="225" y="456"/>
                          <a:pt x="223" y="459"/>
                          <a:pt x="223" y="457"/>
                        </a:cubicBezTo>
                        <a:cubicBezTo>
                          <a:pt x="227" y="452"/>
                          <a:pt x="231" y="444"/>
                          <a:pt x="235" y="439"/>
                        </a:cubicBezTo>
                        <a:cubicBezTo>
                          <a:pt x="235" y="439"/>
                          <a:pt x="236" y="439"/>
                          <a:pt x="236" y="439"/>
                        </a:cubicBezTo>
                        <a:cubicBezTo>
                          <a:pt x="238" y="434"/>
                          <a:pt x="239" y="436"/>
                          <a:pt x="243" y="429"/>
                        </a:cubicBezTo>
                        <a:close/>
                      </a:path>
                    </a:pathLst>
                  </a:custGeom>
                  <a:solidFill>
                    <a:schemeClr val="bg1">
                      <a:lumMod val="85000"/>
                    </a:schemeClr>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22" name="Freeform 156">
                    <a:extLst>
                      <a:ext uri="{FF2B5EF4-FFF2-40B4-BE49-F238E27FC236}">
                        <a16:creationId xmlns:a16="http://schemas.microsoft.com/office/drawing/2014/main" id="{8CDC665D-F232-410B-99CA-2E1A1297FC64}"/>
                      </a:ext>
                    </a:extLst>
                  </p:cNvPr>
                  <p:cNvSpPr>
                    <a:spLocks/>
                  </p:cNvSpPr>
                  <p:nvPr/>
                </p:nvSpPr>
                <p:spPr bwMode="auto">
                  <a:xfrm>
                    <a:off x="7526338" y="2025650"/>
                    <a:ext cx="7937" cy="7938"/>
                  </a:xfrm>
                  <a:custGeom>
                    <a:avLst/>
                    <a:gdLst/>
                    <a:ahLst/>
                    <a:cxnLst>
                      <a:cxn ang="0">
                        <a:pos x="3" y="0"/>
                      </a:cxn>
                      <a:cxn ang="0">
                        <a:pos x="0" y="1"/>
                      </a:cxn>
                      <a:cxn ang="0">
                        <a:pos x="0" y="3"/>
                      </a:cxn>
                      <a:cxn ang="0">
                        <a:pos x="3" y="0"/>
                      </a:cxn>
                    </a:cxnLst>
                    <a:rect l="0" t="0" r="r" b="b"/>
                    <a:pathLst>
                      <a:path w="3" h="3">
                        <a:moveTo>
                          <a:pt x="3" y="0"/>
                        </a:moveTo>
                        <a:cubicBezTo>
                          <a:pt x="0" y="1"/>
                          <a:pt x="0" y="1"/>
                          <a:pt x="0" y="1"/>
                        </a:cubicBezTo>
                        <a:cubicBezTo>
                          <a:pt x="1" y="2"/>
                          <a:pt x="1" y="2"/>
                          <a:pt x="0" y="3"/>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23" name="Freeform 157">
                    <a:extLst>
                      <a:ext uri="{FF2B5EF4-FFF2-40B4-BE49-F238E27FC236}">
                        <a16:creationId xmlns:a16="http://schemas.microsoft.com/office/drawing/2014/main" id="{8906F182-3785-48E7-AA68-4DBA5B439275}"/>
                      </a:ext>
                    </a:extLst>
                  </p:cNvPr>
                  <p:cNvSpPr>
                    <a:spLocks/>
                  </p:cNvSpPr>
                  <p:nvPr/>
                </p:nvSpPr>
                <p:spPr bwMode="auto">
                  <a:xfrm>
                    <a:off x="7278688" y="2239963"/>
                    <a:ext cx="1587" cy="1588"/>
                  </a:xfrm>
                  <a:custGeom>
                    <a:avLst/>
                    <a:gdLst/>
                    <a:ahLst/>
                    <a:cxnLst>
                      <a:cxn ang="0">
                        <a:pos x="0" y="0"/>
                      </a:cxn>
                      <a:cxn ang="0">
                        <a:pos x="0" y="1"/>
                      </a:cxn>
                      <a:cxn ang="0">
                        <a:pos x="0" y="0"/>
                      </a:cxn>
                    </a:cxnLst>
                    <a:rect l="0" t="0" r="r" b="b"/>
                    <a:pathLst>
                      <a:path h="1">
                        <a:moveTo>
                          <a:pt x="0" y="0"/>
                        </a:moveTo>
                        <a:cubicBezTo>
                          <a:pt x="0" y="0"/>
                          <a:pt x="0" y="1"/>
                          <a:pt x="0" y="1"/>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24" name="Freeform 158">
                    <a:extLst>
                      <a:ext uri="{FF2B5EF4-FFF2-40B4-BE49-F238E27FC236}">
                        <a16:creationId xmlns:a16="http://schemas.microsoft.com/office/drawing/2014/main" id="{5FAAEA85-6DDC-4D90-9284-57966D2DF7DD}"/>
                      </a:ext>
                    </a:extLst>
                  </p:cNvPr>
                  <p:cNvSpPr>
                    <a:spLocks/>
                  </p:cNvSpPr>
                  <p:nvPr/>
                </p:nvSpPr>
                <p:spPr bwMode="auto">
                  <a:xfrm>
                    <a:off x="7221538" y="2297113"/>
                    <a:ext cx="7937" cy="4763"/>
                  </a:xfrm>
                  <a:custGeom>
                    <a:avLst/>
                    <a:gdLst/>
                    <a:ahLst/>
                    <a:cxnLst>
                      <a:cxn ang="0">
                        <a:pos x="2" y="2"/>
                      </a:cxn>
                      <a:cxn ang="0">
                        <a:pos x="0" y="2"/>
                      </a:cxn>
                      <a:cxn ang="0">
                        <a:pos x="2" y="2"/>
                      </a:cxn>
                    </a:cxnLst>
                    <a:rect l="0" t="0" r="r" b="b"/>
                    <a:pathLst>
                      <a:path w="3" h="2">
                        <a:moveTo>
                          <a:pt x="2" y="2"/>
                        </a:moveTo>
                        <a:cubicBezTo>
                          <a:pt x="3" y="0"/>
                          <a:pt x="1" y="1"/>
                          <a:pt x="0" y="2"/>
                        </a:cubicBezTo>
                        <a:cubicBezTo>
                          <a:pt x="1" y="2"/>
                          <a:pt x="1" y="2"/>
                          <a:pt x="2"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25" name="Freeform 159">
                    <a:extLst>
                      <a:ext uri="{FF2B5EF4-FFF2-40B4-BE49-F238E27FC236}">
                        <a16:creationId xmlns:a16="http://schemas.microsoft.com/office/drawing/2014/main" id="{B0FF12C2-E771-473A-93A5-CBA0E6EAEDB0}"/>
                      </a:ext>
                    </a:extLst>
                  </p:cNvPr>
                  <p:cNvSpPr>
                    <a:spLocks/>
                  </p:cNvSpPr>
                  <p:nvPr/>
                </p:nvSpPr>
                <p:spPr bwMode="auto">
                  <a:xfrm>
                    <a:off x="7685088" y="1916113"/>
                    <a:ext cx="3175" cy="1588"/>
                  </a:xfrm>
                  <a:custGeom>
                    <a:avLst/>
                    <a:gdLst/>
                    <a:ahLst/>
                    <a:cxnLst>
                      <a:cxn ang="0">
                        <a:pos x="1" y="0"/>
                      </a:cxn>
                      <a:cxn ang="0">
                        <a:pos x="0" y="0"/>
                      </a:cxn>
                      <a:cxn ang="0">
                        <a:pos x="1" y="0"/>
                      </a:cxn>
                    </a:cxnLst>
                    <a:rect l="0" t="0" r="r" b="b"/>
                    <a:pathLst>
                      <a:path w="1">
                        <a:moveTo>
                          <a:pt x="1" y="0"/>
                        </a:moveTo>
                        <a:cubicBezTo>
                          <a:pt x="0" y="0"/>
                          <a:pt x="0" y="0"/>
                          <a:pt x="0"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26" name="Freeform 160">
                    <a:extLst>
                      <a:ext uri="{FF2B5EF4-FFF2-40B4-BE49-F238E27FC236}">
                        <a16:creationId xmlns:a16="http://schemas.microsoft.com/office/drawing/2014/main" id="{557ED958-90E1-4501-8277-EEE88AE47AFC}"/>
                      </a:ext>
                    </a:extLst>
                  </p:cNvPr>
                  <p:cNvSpPr>
                    <a:spLocks/>
                  </p:cNvSpPr>
                  <p:nvPr/>
                </p:nvSpPr>
                <p:spPr bwMode="auto">
                  <a:xfrm>
                    <a:off x="8167688" y="17176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27" name="Freeform 161">
                    <a:extLst>
                      <a:ext uri="{FF2B5EF4-FFF2-40B4-BE49-F238E27FC236}">
                        <a16:creationId xmlns:a16="http://schemas.microsoft.com/office/drawing/2014/main" id="{62B03A57-08AA-4158-A3F6-C88E2ACC4E56}"/>
                      </a:ext>
                    </a:extLst>
                  </p:cNvPr>
                  <p:cNvSpPr>
                    <a:spLocks/>
                  </p:cNvSpPr>
                  <p:nvPr/>
                </p:nvSpPr>
                <p:spPr bwMode="auto">
                  <a:xfrm>
                    <a:off x="8132763" y="1720850"/>
                    <a:ext cx="6350" cy="1588"/>
                  </a:xfrm>
                  <a:custGeom>
                    <a:avLst/>
                    <a:gdLst/>
                    <a:ahLst/>
                    <a:cxnLst>
                      <a:cxn ang="0">
                        <a:pos x="3" y="0"/>
                      </a:cxn>
                      <a:cxn ang="0">
                        <a:pos x="0" y="1"/>
                      </a:cxn>
                      <a:cxn ang="0">
                        <a:pos x="3" y="0"/>
                      </a:cxn>
                    </a:cxnLst>
                    <a:rect l="0" t="0" r="r" b="b"/>
                    <a:pathLst>
                      <a:path w="3" h="1">
                        <a:moveTo>
                          <a:pt x="3" y="0"/>
                        </a:moveTo>
                        <a:cubicBezTo>
                          <a:pt x="2" y="0"/>
                          <a:pt x="1" y="1"/>
                          <a:pt x="0" y="1"/>
                        </a:cubicBezTo>
                        <a:cubicBezTo>
                          <a:pt x="1" y="1"/>
                          <a:pt x="2" y="1"/>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28" name="Freeform 162">
                    <a:extLst>
                      <a:ext uri="{FF2B5EF4-FFF2-40B4-BE49-F238E27FC236}">
                        <a16:creationId xmlns:a16="http://schemas.microsoft.com/office/drawing/2014/main" id="{AE3CFD5D-5398-4C5E-B2FC-2F7F8C114AD1}"/>
                      </a:ext>
                    </a:extLst>
                  </p:cNvPr>
                  <p:cNvSpPr>
                    <a:spLocks/>
                  </p:cNvSpPr>
                  <p:nvPr/>
                </p:nvSpPr>
                <p:spPr bwMode="auto">
                  <a:xfrm>
                    <a:off x="7577138" y="1984375"/>
                    <a:ext cx="4762" cy="4763"/>
                  </a:xfrm>
                  <a:custGeom>
                    <a:avLst/>
                    <a:gdLst/>
                    <a:ahLst/>
                    <a:cxnLst>
                      <a:cxn ang="0">
                        <a:pos x="2" y="0"/>
                      </a:cxn>
                      <a:cxn ang="0">
                        <a:pos x="0" y="2"/>
                      </a:cxn>
                      <a:cxn ang="0">
                        <a:pos x="2" y="0"/>
                      </a:cxn>
                    </a:cxnLst>
                    <a:rect l="0" t="0" r="r" b="b"/>
                    <a:pathLst>
                      <a:path w="2" h="2">
                        <a:moveTo>
                          <a:pt x="2" y="0"/>
                        </a:moveTo>
                        <a:cubicBezTo>
                          <a:pt x="1" y="1"/>
                          <a:pt x="1" y="1"/>
                          <a:pt x="0" y="2"/>
                        </a:cubicBezTo>
                        <a:cubicBezTo>
                          <a:pt x="1" y="1"/>
                          <a:pt x="2"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29" name="Freeform 163">
                    <a:extLst>
                      <a:ext uri="{FF2B5EF4-FFF2-40B4-BE49-F238E27FC236}">
                        <a16:creationId xmlns:a16="http://schemas.microsoft.com/office/drawing/2014/main" id="{CCA13261-9D4E-4EA6-B43D-D8830254F243}"/>
                      </a:ext>
                    </a:extLst>
                  </p:cNvPr>
                  <p:cNvSpPr>
                    <a:spLocks/>
                  </p:cNvSpPr>
                  <p:nvPr/>
                </p:nvSpPr>
                <p:spPr bwMode="auto">
                  <a:xfrm>
                    <a:off x="8120063" y="1725613"/>
                    <a:ext cx="7937" cy="3175"/>
                  </a:xfrm>
                  <a:custGeom>
                    <a:avLst/>
                    <a:gdLst/>
                    <a:ahLst/>
                    <a:cxnLst>
                      <a:cxn ang="0">
                        <a:pos x="3" y="0"/>
                      </a:cxn>
                      <a:cxn ang="0">
                        <a:pos x="0" y="1"/>
                      </a:cxn>
                      <a:cxn ang="0">
                        <a:pos x="0" y="1"/>
                      </a:cxn>
                      <a:cxn ang="0">
                        <a:pos x="3" y="0"/>
                      </a:cxn>
                    </a:cxnLst>
                    <a:rect l="0" t="0" r="r" b="b"/>
                    <a:pathLst>
                      <a:path w="3" h="1">
                        <a:moveTo>
                          <a:pt x="3" y="0"/>
                        </a:moveTo>
                        <a:cubicBezTo>
                          <a:pt x="0" y="1"/>
                          <a:pt x="0" y="1"/>
                          <a:pt x="0" y="1"/>
                        </a:cubicBezTo>
                        <a:cubicBezTo>
                          <a:pt x="0" y="1"/>
                          <a:pt x="0" y="1"/>
                          <a:pt x="0" y="1"/>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30" name="Freeform 164">
                    <a:extLst>
                      <a:ext uri="{FF2B5EF4-FFF2-40B4-BE49-F238E27FC236}">
                        <a16:creationId xmlns:a16="http://schemas.microsoft.com/office/drawing/2014/main" id="{60BCBB29-1764-472A-BF47-D50508644FDD}"/>
                      </a:ext>
                    </a:extLst>
                  </p:cNvPr>
                  <p:cNvSpPr>
                    <a:spLocks/>
                  </p:cNvSpPr>
                  <p:nvPr/>
                </p:nvSpPr>
                <p:spPr bwMode="auto">
                  <a:xfrm>
                    <a:off x="8167688" y="1716088"/>
                    <a:ext cx="9525" cy="1588"/>
                  </a:xfrm>
                  <a:custGeom>
                    <a:avLst/>
                    <a:gdLst/>
                    <a:ahLst/>
                    <a:cxnLst>
                      <a:cxn ang="0">
                        <a:pos x="4" y="0"/>
                      </a:cxn>
                      <a:cxn ang="0">
                        <a:pos x="0" y="1"/>
                      </a:cxn>
                      <a:cxn ang="0">
                        <a:pos x="4" y="0"/>
                      </a:cxn>
                    </a:cxnLst>
                    <a:rect l="0" t="0" r="r" b="b"/>
                    <a:pathLst>
                      <a:path w="4" h="1">
                        <a:moveTo>
                          <a:pt x="4" y="0"/>
                        </a:moveTo>
                        <a:cubicBezTo>
                          <a:pt x="3" y="1"/>
                          <a:pt x="1" y="1"/>
                          <a:pt x="0" y="1"/>
                        </a:cubicBezTo>
                        <a:cubicBezTo>
                          <a:pt x="2" y="1"/>
                          <a:pt x="3" y="1"/>
                          <a:pt x="4"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31" name="Freeform 165">
                    <a:extLst>
                      <a:ext uri="{FF2B5EF4-FFF2-40B4-BE49-F238E27FC236}">
                        <a16:creationId xmlns:a16="http://schemas.microsoft.com/office/drawing/2014/main" id="{4AC3079E-354B-4185-8D4C-070BB4B9CA1E}"/>
                      </a:ext>
                    </a:extLst>
                  </p:cNvPr>
                  <p:cNvSpPr>
                    <a:spLocks/>
                  </p:cNvSpPr>
                  <p:nvPr/>
                </p:nvSpPr>
                <p:spPr bwMode="auto">
                  <a:xfrm>
                    <a:off x="7850188" y="1822450"/>
                    <a:ext cx="4762" cy="4763"/>
                  </a:xfrm>
                  <a:custGeom>
                    <a:avLst/>
                    <a:gdLst/>
                    <a:ahLst/>
                    <a:cxnLst>
                      <a:cxn ang="0">
                        <a:pos x="2" y="0"/>
                      </a:cxn>
                      <a:cxn ang="0">
                        <a:pos x="2" y="1"/>
                      </a:cxn>
                      <a:cxn ang="0">
                        <a:pos x="2" y="0"/>
                      </a:cxn>
                    </a:cxnLst>
                    <a:rect l="0" t="0" r="r" b="b"/>
                    <a:pathLst>
                      <a:path w="2" h="2">
                        <a:moveTo>
                          <a:pt x="2" y="0"/>
                        </a:moveTo>
                        <a:cubicBezTo>
                          <a:pt x="2" y="1"/>
                          <a:pt x="2" y="1"/>
                          <a:pt x="2" y="1"/>
                        </a:cubicBezTo>
                        <a:cubicBezTo>
                          <a:pt x="0" y="2"/>
                          <a:pt x="1"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32" name="Freeform 166">
                    <a:extLst>
                      <a:ext uri="{FF2B5EF4-FFF2-40B4-BE49-F238E27FC236}">
                        <a16:creationId xmlns:a16="http://schemas.microsoft.com/office/drawing/2014/main" id="{7A0ACEF9-FECD-46B8-A1C8-8AF1F5BF6459}"/>
                      </a:ext>
                    </a:extLst>
                  </p:cNvPr>
                  <p:cNvSpPr>
                    <a:spLocks/>
                  </p:cNvSpPr>
                  <p:nvPr/>
                </p:nvSpPr>
                <p:spPr bwMode="auto">
                  <a:xfrm>
                    <a:off x="8094663" y="1738313"/>
                    <a:ext cx="3175" cy="1588"/>
                  </a:xfrm>
                  <a:custGeom>
                    <a:avLst/>
                    <a:gdLst/>
                    <a:ahLst/>
                    <a:cxnLst>
                      <a:cxn ang="0">
                        <a:pos x="2" y="0"/>
                      </a:cxn>
                      <a:cxn ang="0">
                        <a:pos x="2" y="0"/>
                      </a:cxn>
                      <a:cxn ang="0">
                        <a:pos x="0" y="1"/>
                      </a:cxn>
                      <a:cxn ang="0">
                        <a:pos x="2" y="0"/>
                      </a:cxn>
                    </a:cxnLst>
                    <a:rect l="0" t="0" r="r" b="b"/>
                    <a:pathLst>
                      <a:path w="2" h="1">
                        <a:moveTo>
                          <a:pt x="2" y="0"/>
                        </a:moveTo>
                        <a:lnTo>
                          <a:pt x="2" y="0"/>
                        </a:lnTo>
                        <a:lnTo>
                          <a:pt x="0" y="1"/>
                        </a:lnTo>
                        <a:lnTo>
                          <a:pt x="2"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33" name="Freeform 167">
                    <a:extLst>
                      <a:ext uri="{FF2B5EF4-FFF2-40B4-BE49-F238E27FC236}">
                        <a16:creationId xmlns:a16="http://schemas.microsoft.com/office/drawing/2014/main" id="{5B63E252-2432-4F6C-AAE6-9A0E9F218B06}"/>
                      </a:ext>
                    </a:extLst>
                  </p:cNvPr>
                  <p:cNvSpPr>
                    <a:spLocks/>
                  </p:cNvSpPr>
                  <p:nvPr/>
                </p:nvSpPr>
                <p:spPr bwMode="auto">
                  <a:xfrm>
                    <a:off x="8204200" y="1711325"/>
                    <a:ext cx="4762" cy="1588"/>
                  </a:xfrm>
                  <a:custGeom>
                    <a:avLst/>
                    <a:gdLst/>
                    <a:ahLst/>
                    <a:cxnLst>
                      <a:cxn ang="0">
                        <a:pos x="1" y="0"/>
                      </a:cxn>
                      <a:cxn ang="0">
                        <a:pos x="0" y="0"/>
                      </a:cxn>
                      <a:cxn ang="0">
                        <a:pos x="2" y="0"/>
                      </a:cxn>
                      <a:cxn ang="0">
                        <a:pos x="1" y="0"/>
                      </a:cxn>
                    </a:cxnLst>
                    <a:rect l="0" t="0" r="r" b="b"/>
                    <a:pathLst>
                      <a:path w="2">
                        <a:moveTo>
                          <a:pt x="1" y="0"/>
                        </a:moveTo>
                        <a:cubicBezTo>
                          <a:pt x="1" y="0"/>
                          <a:pt x="0" y="0"/>
                          <a:pt x="0" y="0"/>
                        </a:cubicBezTo>
                        <a:cubicBezTo>
                          <a:pt x="2" y="0"/>
                          <a:pt x="2" y="0"/>
                          <a:pt x="2"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34" name="Freeform 168">
                    <a:extLst>
                      <a:ext uri="{FF2B5EF4-FFF2-40B4-BE49-F238E27FC236}">
                        <a16:creationId xmlns:a16="http://schemas.microsoft.com/office/drawing/2014/main" id="{AD2A36A2-ADA1-46CE-94C3-F009CDF9ECB5}"/>
                      </a:ext>
                    </a:extLst>
                  </p:cNvPr>
                  <p:cNvSpPr>
                    <a:spLocks/>
                  </p:cNvSpPr>
                  <p:nvPr/>
                </p:nvSpPr>
                <p:spPr bwMode="auto">
                  <a:xfrm>
                    <a:off x="7956550" y="1779588"/>
                    <a:ext cx="1587" cy="4763"/>
                  </a:xfrm>
                  <a:custGeom>
                    <a:avLst/>
                    <a:gdLst/>
                    <a:ahLst/>
                    <a:cxnLst>
                      <a:cxn ang="0">
                        <a:pos x="1" y="2"/>
                      </a:cxn>
                      <a:cxn ang="0">
                        <a:pos x="1" y="0"/>
                      </a:cxn>
                      <a:cxn ang="0">
                        <a:pos x="1" y="2"/>
                      </a:cxn>
                    </a:cxnLst>
                    <a:rect l="0" t="0" r="r" b="b"/>
                    <a:pathLst>
                      <a:path w="1" h="2">
                        <a:moveTo>
                          <a:pt x="1" y="2"/>
                        </a:moveTo>
                        <a:cubicBezTo>
                          <a:pt x="1" y="1"/>
                          <a:pt x="1" y="1"/>
                          <a:pt x="1" y="0"/>
                        </a:cubicBezTo>
                        <a:cubicBezTo>
                          <a:pt x="0" y="1"/>
                          <a:pt x="0" y="1"/>
                          <a:pt x="1"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grpSp>
          <p:grpSp>
            <p:nvGrpSpPr>
              <p:cNvPr id="172" name="Group 462">
                <a:extLst>
                  <a:ext uri="{FF2B5EF4-FFF2-40B4-BE49-F238E27FC236}">
                    <a16:creationId xmlns:a16="http://schemas.microsoft.com/office/drawing/2014/main" id="{644D7333-4397-470C-8ECD-221647A6D197}"/>
                  </a:ext>
                </a:extLst>
              </p:cNvPr>
              <p:cNvGrpSpPr/>
              <p:nvPr/>
            </p:nvGrpSpPr>
            <p:grpSpPr>
              <a:xfrm rot="806963">
                <a:off x="2008129" y="1047000"/>
                <a:ext cx="1683483" cy="1691701"/>
                <a:chOff x="4391025" y="1189038"/>
                <a:chExt cx="1952625" cy="1962150"/>
              </a:xfrm>
            </p:grpSpPr>
            <p:sp>
              <p:nvSpPr>
                <p:cNvPr id="173" name="Freeform 6">
                  <a:extLst>
                    <a:ext uri="{FF2B5EF4-FFF2-40B4-BE49-F238E27FC236}">
                      <a16:creationId xmlns:a16="http://schemas.microsoft.com/office/drawing/2014/main" id="{2A1BC76E-030E-4EF9-B4AC-7D3F192A2A65}"/>
                    </a:ext>
                  </a:extLst>
                </p:cNvPr>
                <p:cNvSpPr>
                  <a:spLocks/>
                </p:cNvSpPr>
                <p:nvPr/>
              </p:nvSpPr>
              <p:spPr bwMode="auto">
                <a:xfrm>
                  <a:off x="4856162" y="2362200"/>
                  <a:ext cx="342900" cy="342900"/>
                </a:xfrm>
                <a:custGeom>
                  <a:avLst/>
                  <a:gdLst/>
                  <a:ahLst/>
                  <a:cxnLst>
                    <a:cxn ang="0">
                      <a:pos x="0" y="54"/>
                    </a:cxn>
                    <a:cxn ang="0">
                      <a:pos x="164" y="216"/>
                    </a:cxn>
                    <a:cxn ang="0">
                      <a:pos x="216" y="163"/>
                    </a:cxn>
                    <a:cxn ang="0">
                      <a:pos x="52" y="0"/>
                    </a:cxn>
                    <a:cxn ang="0">
                      <a:pos x="0" y="54"/>
                    </a:cxn>
                  </a:cxnLst>
                  <a:rect l="0" t="0" r="r" b="b"/>
                  <a:pathLst>
                    <a:path w="216" h="216">
                      <a:moveTo>
                        <a:pt x="0" y="54"/>
                      </a:moveTo>
                      <a:lnTo>
                        <a:pt x="164" y="216"/>
                      </a:lnTo>
                      <a:lnTo>
                        <a:pt x="216" y="163"/>
                      </a:lnTo>
                      <a:lnTo>
                        <a:pt x="52" y="0"/>
                      </a:lnTo>
                      <a:lnTo>
                        <a:pt x="0" y="54"/>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74" name="Freeform 7">
                  <a:extLst>
                    <a:ext uri="{FF2B5EF4-FFF2-40B4-BE49-F238E27FC236}">
                      <a16:creationId xmlns:a16="http://schemas.microsoft.com/office/drawing/2014/main" id="{E07F4492-B0B9-4C5D-B1BF-59E661D6DB9E}"/>
                    </a:ext>
                  </a:extLst>
                </p:cNvPr>
                <p:cNvSpPr>
                  <a:spLocks/>
                </p:cNvSpPr>
                <p:nvPr/>
              </p:nvSpPr>
              <p:spPr bwMode="auto">
                <a:xfrm>
                  <a:off x="4856162" y="2362200"/>
                  <a:ext cx="342900" cy="342900"/>
                </a:xfrm>
                <a:custGeom>
                  <a:avLst/>
                  <a:gdLst/>
                  <a:ahLst/>
                  <a:cxnLst>
                    <a:cxn ang="0">
                      <a:pos x="0" y="54"/>
                    </a:cxn>
                    <a:cxn ang="0">
                      <a:pos x="164" y="216"/>
                    </a:cxn>
                    <a:cxn ang="0">
                      <a:pos x="216" y="163"/>
                    </a:cxn>
                    <a:cxn ang="0">
                      <a:pos x="52" y="0"/>
                    </a:cxn>
                    <a:cxn ang="0">
                      <a:pos x="0" y="54"/>
                    </a:cxn>
                  </a:cxnLst>
                  <a:rect l="0" t="0" r="r" b="b"/>
                  <a:pathLst>
                    <a:path w="216" h="216">
                      <a:moveTo>
                        <a:pt x="0" y="54"/>
                      </a:moveTo>
                      <a:lnTo>
                        <a:pt x="164" y="216"/>
                      </a:lnTo>
                      <a:lnTo>
                        <a:pt x="216" y="163"/>
                      </a:lnTo>
                      <a:lnTo>
                        <a:pt x="52" y="0"/>
                      </a:lnTo>
                      <a:lnTo>
                        <a:pt x="0" y="54"/>
                      </a:lnTo>
                    </a:path>
                  </a:pathLst>
                </a:custGeom>
                <a:no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75" name="Freeform 8">
                  <a:extLst>
                    <a:ext uri="{FF2B5EF4-FFF2-40B4-BE49-F238E27FC236}">
                      <a16:creationId xmlns:a16="http://schemas.microsoft.com/office/drawing/2014/main" id="{4DF8DFCB-2972-4AC8-8423-8F0417A98F78}"/>
                    </a:ext>
                  </a:extLst>
                </p:cNvPr>
                <p:cNvSpPr>
                  <a:spLocks/>
                </p:cNvSpPr>
                <p:nvPr/>
              </p:nvSpPr>
              <p:spPr bwMode="auto">
                <a:xfrm>
                  <a:off x="4391025" y="1874838"/>
                  <a:ext cx="1284288" cy="1276350"/>
                </a:xfrm>
                <a:custGeom>
                  <a:avLst/>
                  <a:gdLst/>
                  <a:ahLst/>
                  <a:cxnLst>
                    <a:cxn ang="0">
                      <a:pos x="1114" y="270"/>
                    </a:cxn>
                    <a:cxn ang="0">
                      <a:pos x="140" y="268"/>
                    </a:cxn>
                    <a:cxn ang="0">
                      <a:pos x="0" y="479"/>
                    </a:cxn>
                    <a:cxn ang="0">
                      <a:pos x="766" y="624"/>
                    </a:cxn>
                    <a:cxn ang="0">
                      <a:pos x="922" y="1388"/>
                    </a:cxn>
                    <a:cxn ang="0">
                      <a:pos x="1130" y="1245"/>
                    </a:cxn>
                    <a:cxn ang="0">
                      <a:pos x="1114" y="270"/>
                    </a:cxn>
                  </a:cxnLst>
                  <a:rect l="0" t="0" r="r" b="b"/>
                  <a:pathLst>
                    <a:path w="1395" h="1388">
                      <a:moveTo>
                        <a:pt x="1114" y="270"/>
                      </a:moveTo>
                      <a:cubicBezTo>
                        <a:pt x="841" y="1"/>
                        <a:pt x="405" y="0"/>
                        <a:pt x="140" y="268"/>
                      </a:cubicBezTo>
                      <a:cubicBezTo>
                        <a:pt x="79" y="331"/>
                        <a:pt x="32" y="402"/>
                        <a:pt x="0" y="479"/>
                      </a:cubicBezTo>
                      <a:cubicBezTo>
                        <a:pt x="251" y="369"/>
                        <a:pt x="556" y="417"/>
                        <a:pt x="766" y="624"/>
                      </a:cubicBezTo>
                      <a:cubicBezTo>
                        <a:pt x="976" y="831"/>
                        <a:pt x="1028" y="1136"/>
                        <a:pt x="922" y="1388"/>
                      </a:cubicBezTo>
                      <a:cubicBezTo>
                        <a:pt x="998" y="1355"/>
                        <a:pt x="1069" y="1307"/>
                        <a:pt x="1130" y="1245"/>
                      </a:cubicBezTo>
                      <a:cubicBezTo>
                        <a:pt x="1395" y="976"/>
                        <a:pt x="1388" y="540"/>
                        <a:pt x="1114" y="270"/>
                      </a:cubicBezTo>
                    </a:path>
                  </a:pathLst>
                </a:custGeom>
                <a:solidFill>
                  <a:srgbClr val="0170BD"/>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76" name="Freeform 10">
                  <a:extLst>
                    <a:ext uri="{FF2B5EF4-FFF2-40B4-BE49-F238E27FC236}">
                      <a16:creationId xmlns:a16="http://schemas.microsoft.com/office/drawing/2014/main" id="{6F544F81-0E86-43C8-875A-AB58600AD0C7}"/>
                    </a:ext>
                  </a:extLst>
                </p:cNvPr>
                <p:cNvSpPr>
                  <a:spLocks/>
                </p:cNvSpPr>
                <p:nvPr/>
              </p:nvSpPr>
              <p:spPr bwMode="auto">
                <a:xfrm>
                  <a:off x="4854575" y="1189038"/>
                  <a:ext cx="1489075" cy="1501775"/>
                </a:xfrm>
                <a:custGeom>
                  <a:avLst/>
                  <a:gdLst/>
                  <a:ahLst/>
                  <a:cxnLst>
                    <a:cxn ang="0">
                      <a:pos x="462" y="557"/>
                    </a:cxn>
                    <a:cxn ang="0">
                      <a:pos x="0" y="1288"/>
                    </a:cxn>
                    <a:cxn ang="0">
                      <a:pos x="201" y="1433"/>
                    </a:cxn>
                    <a:cxn ang="0">
                      <a:pos x="349" y="1632"/>
                    </a:cxn>
                    <a:cxn ang="0">
                      <a:pos x="1073" y="1160"/>
                    </a:cxn>
                    <a:cxn ang="0">
                      <a:pos x="1589" y="24"/>
                    </a:cxn>
                    <a:cxn ang="0">
                      <a:pos x="462" y="557"/>
                    </a:cxn>
                  </a:cxnLst>
                  <a:rect l="0" t="0" r="r" b="b"/>
                  <a:pathLst>
                    <a:path w="1618" h="1632">
                      <a:moveTo>
                        <a:pt x="462" y="557"/>
                      </a:moveTo>
                      <a:cubicBezTo>
                        <a:pt x="236" y="786"/>
                        <a:pt x="78" y="1044"/>
                        <a:pt x="0" y="1288"/>
                      </a:cubicBezTo>
                      <a:cubicBezTo>
                        <a:pt x="72" y="1325"/>
                        <a:pt x="140" y="1373"/>
                        <a:pt x="201" y="1433"/>
                      </a:cubicBezTo>
                      <a:cubicBezTo>
                        <a:pt x="262" y="1493"/>
                        <a:pt x="311" y="1560"/>
                        <a:pt x="349" y="1632"/>
                      </a:cubicBezTo>
                      <a:cubicBezTo>
                        <a:pt x="591" y="1550"/>
                        <a:pt x="847" y="1389"/>
                        <a:pt x="1073" y="1160"/>
                      </a:cubicBezTo>
                      <a:cubicBezTo>
                        <a:pt x="1432" y="796"/>
                        <a:pt x="1618" y="358"/>
                        <a:pt x="1589" y="24"/>
                      </a:cubicBezTo>
                      <a:cubicBezTo>
                        <a:pt x="1255" y="0"/>
                        <a:pt x="820" y="193"/>
                        <a:pt x="462" y="557"/>
                      </a:cubicBezTo>
                    </a:path>
                  </a:pathLst>
                </a:custGeom>
                <a:solidFill>
                  <a:schemeClr val="tx1">
                    <a:lumMod val="10000"/>
                    <a:lumOff val="90000"/>
                  </a:schemeClr>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77" name="Freeform 11">
                  <a:extLst>
                    <a:ext uri="{FF2B5EF4-FFF2-40B4-BE49-F238E27FC236}">
                      <a16:creationId xmlns:a16="http://schemas.microsoft.com/office/drawing/2014/main" id="{9F0B9E5A-B3A2-4453-AA32-B2C9F4FFB886}"/>
                    </a:ext>
                  </a:extLst>
                </p:cNvPr>
                <p:cNvSpPr>
                  <a:spLocks/>
                </p:cNvSpPr>
                <p:nvPr/>
              </p:nvSpPr>
              <p:spPr bwMode="auto">
                <a:xfrm>
                  <a:off x="5029200" y="1208088"/>
                  <a:ext cx="1314450" cy="1482725"/>
                </a:xfrm>
                <a:custGeom>
                  <a:avLst/>
                  <a:gdLst/>
                  <a:ahLst/>
                  <a:cxnLst>
                    <a:cxn ang="0">
                      <a:pos x="1399" y="2"/>
                    </a:cxn>
                    <a:cxn ang="0">
                      <a:pos x="0" y="1401"/>
                    </a:cxn>
                    <a:cxn ang="0">
                      <a:pos x="11" y="1411"/>
                    </a:cxn>
                    <a:cxn ang="0">
                      <a:pos x="159" y="1610"/>
                    </a:cxn>
                    <a:cxn ang="0">
                      <a:pos x="883" y="1138"/>
                    </a:cxn>
                    <a:cxn ang="0">
                      <a:pos x="1399" y="2"/>
                    </a:cxn>
                  </a:cxnLst>
                  <a:rect l="0" t="0" r="r" b="b"/>
                  <a:pathLst>
                    <a:path w="1428" h="1610">
                      <a:moveTo>
                        <a:pt x="1399" y="2"/>
                      </a:moveTo>
                      <a:cubicBezTo>
                        <a:pt x="1361" y="0"/>
                        <a:pt x="0" y="1401"/>
                        <a:pt x="0" y="1401"/>
                      </a:cubicBezTo>
                      <a:cubicBezTo>
                        <a:pt x="4" y="1405"/>
                        <a:pt x="7" y="1408"/>
                        <a:pt x="11" y="1411"/>
                      </a:cubicBezTo>
                      <a:cubicBezTo>
                        <a:pt x="72" y="1471"/>
                        <a:pt x="121" y="1538"/>
                        <a:pt x="159" y="1610"/>
                      </a:cubicBezTo>
                      <a:cubicBezTo>
                        <a:pt x="401" y="1528"/>
                        <a:pt x="657" y="1367"/>
                        <a:pt x="883" y="1138"/>
                      </a:cubicBezTo>
                      <a:cubicBezTo>
                        <a:pt x="1242" y="774"/>
                        <a:pt x="1428" y="336"/>
                        <a:pt x="1399" y="2"/>
                      </a:cubicBezTo>
                    </a:path>
                  </a:pathLst>
                </a:custGeom>
                <a:solidFill>
                  <a:srgbClr val="CFCFCF"/>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78" name="Freeform 12">
                  <a:extLst>
                    <a:ext uri="{FF2B5EF4-FFF2-40B4-BE49-F238E27FC236}">
                      <a16:creationId xmlns:a16="http://schemas.microsoft.com/office/drawing/2014/main" id="{660D0331-6A7D-499D-975F-B1C3B93D5EB0}"/>
                    </a:ext>
                  </a:extLst>
                </p:cNvPr>
                <p:cNvSpPr>
                  <a:spLocks/>
                </p:cNvSpPr>
                <p:nvPr/>
              </p:nvSpPr>
              <p:spPr bwMode="auto">
                <a:xfrm>
                  <a:off x="4814887" y="2097088"/>
                  <a:ext cx="630238" cy="638175"/>
                </a:xfrm>
                <a:custGeom>
                  <a:avLst/>
                  <a:gdLst/>
                  <a:ahLst/>
                  <a:cxnLst>
                    <a:cxn ang="0">
                      <a:pos x="276" y="282"/>
                    </a:cxn>
                    <a:cxn ang="0">
                      <a:pos x="0" y="694"/>
                    </a:cxn>
                    <a:cxn ang="0">
                      <a:pos x="407" y="411"/>
                    </a:cxn>
                    <a:cxn ang="0">
                      <a:pos x="684" y="0"/>
                    </a:cxn>
                    <a:cxn ang="0">
                      <a:pos x="276" y="282"/>
                    </a:cxn>
                  </a:cxnLst>
                  <a:rect l="0" t="0" r="r" b="b"/>
                  <a:pathLst>
                    <a:path w="684" h="694">
                      <a:moveTo>
                        <a:pt x="276" y="282"/>
                      </a:moveTo>
                      <a:cubicBezTo>
                        <a:pt x="127" y="433"/>
                        <a:pt x="24" y="591"/>
                        <a:pt x="0" y="694"/>
                      </a:cubicBezTo>
                      <a:cubicBezTo>
                        <a:pt x="102" y="668"/>
                        <a:pt x="258" y="563"/>
                        <a:pt x="407" y="411"/>
                      </a:cubicBezTo>
                      <a:cubicBezTo>
                        <a:pt x="556" y="260"/>
                        <a:pt x="659" y="103"/>
                        <a:pt x="684" y="0"/>
                      </a:cubicBezTo>
                      <a:cubicBezTo>
                        <a:pt x="581" y="26"/>
                        <a:pt x="425" y="131"/>
                        <a:pt x="276" y="282"/>
                      </a:cubicBezTo>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79" name="Freeform 23">
                  <a:extLst>
                    <a:ext uri="{FF2B5EF4-FFF2-40B4-BE49-F238E27FC236}">
                      <a16:creationId xmlns:a16="http://schemas.microsoft.com/office/drawing/2014/main" id="{3F2F2925-B7B1-4D8C-8464-C07A2B59D0C8}"/>
                    </a:ext>
                  </a:extLst>
                </p:cNvPr>
                <p:cNvSpPr>
                  <a:spLocks/>
                </p:cNvSpPr>
                <p:nvPr/>
              </p:nvSpPr>
              <p:spPr bwMode="auto">
                <a:xfrm>
                  <a:off x="5737225" y="1328738"/>
                  <a:ext cx="468312" cy="468313"/>
                </a:xfrm>
                <a:custGeom>
                  <a:avLst/>
                  <a:gdLst/>
                  <a:ahLst/>
                  <a:cxnLst>
                    <a:cxn ang="0">
                      <a:pos x="57" y="0"/>
                    </a:cxn>
                    <a:cxn ang="0">
                      <a:pos x="2" y="28"/>
                    </a:cxn>
                    <a:cxn ang="0">
                      <a:pos x="479" y="509"/>
                    </a:cxn>
                    <a:cxn ang="0">
                      <a:pos x="509" y="446"/>
                    </a:cxn>
                    <a:cxn ang="0">
                      <a:pos x="57" y="0"/>
                    </a:cxn>
                  </a:cxnLst>
                  <a:rect l="0" t="0" r="r" b="b"/>
                  <a:pathLst>
                    <a:path w="509" h="509">
                      <a:moveTo>
                        <a:pt x="57" y="0"/>
                      </a:moveTo>
                      <a:cubicBezTo>
                        <a:pt x="24" y="15"/>
                        <a:pt x="2" y="28"/>
                        <a:pt x="2" y="28"/>
                      </a:cubicBezTo>
                      <a:cubicBezTo>
                        <a:pt x="0" y="28"/>
                        <a:pt x="288" y="254"/>
                        <a:pt x="479" y="509"/>
                      </a:cubicBezTo>
                      <a:cubicBezTo>
                        <a:pt x="479" y="509"/>
                        <a:pt x="503" y="462"/>
                        <a:pt x="509" y="446"/>
                      </a:cubicBezTo>
                      <a:cubicBezTo>
                        <a:pt x="505" y="287"/>
                        <a:pt x="274" y="7"/>
                        <a:pt x="57" y="0"/>
                      </a:cubicBezTo>
                    </a:path>
                  </a:pathLst>
                </a:custGeom>
                <a:solidFill>
                  <a:schemeClr val="accent1">
                    <a:lumMod val="60000"/>
                    <a:lumOff val="40000"/>
                  </a:schemeClr>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dirty="0">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80" name="Freeform 31">
                  <a:extLst>
                    <a:ext uri="{FF2B5EF4-FFF2-40B4-BE49-F238E27FC236}">
                      <a16:creationId xmlns:a16="http://schemas.microsoft.com/office/drawing/2014/main" id="{21178599-D52E-4ED3-BEDA-250CEB0E426C}"/>
                    </a:ext>
                  </a:extLst>
                </p:cNvPr>
                <p:cNvSpPr>
                  <a:spLocks/>
                </p:cNvSpPr>
                <p:nvPr/>
              </p:nvSpPr>
              <p:spPr bwMode="auto">
                <a:xfrm>
                  <a:off x="6318250" y="1219200"/>
                  <a:ext cx="1588"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C6C6C6"/>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81" name="Oval 32">
                  <a:extLst>
                    <a:ext uri="{FF2B5EF4-FFF2-40B4-BE49-F238E27FC236}">
                      <a16:creationId xmlns:a16="http://schemas.microsoft.com/office/drawing/2014/main" id="{4F96A733-BC92-4EF3-B127-E64BE6B4099B}"/>
                    </a:ext>
                  </a:extLst>
                </p:cNvPr>
                <p:cNvSpPr>
                  <a:spLocks noChangeArrowheads="1"/>
                </p:cNvSpPr>
                <p:nvPr/>
              </p:nvSpPr>
              <p:spPr bwMode="auto">
                <a:xfrm>
                  <a:off x="6318250" y="1220788"/>
                  <a:ext cx="1588" cy="1588"/>
                </a:xfrm>
                <a:prstGeom prst="ellipse">
                  <a:avLst/>
                </a:prstGeom>
                <a:solidFill>
                  <a:srgbClr val="C6C6C6"/>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82" name="Freeform 33">
                  <a:extLst>
                    <a:ext uri="{FF2B5EF4-FFF2-40B4-BE49-F238E27FC236}">
                      <a16:creationId xmlns:a16="http://schemas.microsoft.com/office/drawing/2014/main" id="{9A84B83C-DC49-4039-8579-5338D31923BF}"/>
                    </a:ext>
                  </a:extLst>
                </p:cNvPr>
                <p:cNvSpPr>
                  <a:spLocks/>
                </p:cNvSpPr>
                <p:nvPr/>
              </p:nvSpPr>
              <p:spPr bwMode="auto">
                <a:xfrm>
                  <a:off x="6318250" y="1220788"/>
                  <a:ext cx="1588"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F2F2F2"/>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83" name="Oval 34">
                  <a:extLst>
                    <a:ext uri="{FF2B5EF4-FFF2-40B4-BE49-F238E27FC236}">
                      <a16:creationId xmlns:a16="http://schemas.microsoft.com/office/drawing/2014/main" id="{69953F2B-6FCF-4151-A304-B87ED0BA70E8}"/>
                    </a:ext>
                  </a:extLst>
                </p:cNvPr>
                <p:cNvSpPr>
                  <a:spLocks noChangeArrowheads="1"/>
                </p:cNvSpPr>
                <p:nvPr/>
              </p:nvSpPr>
              <p:spPr bwMode="auto">
                <a:xfrm>
                  <a:off x="6318250" y="1220788"/>
                  <a:ext cx="1588" cy="1588"/>
                </a:xfrm>
                <a:prstGeom prst="ellipse">
                  <a:avLst/>
                </a:prstGeom>
                <a:solidFill>
                  <a:srgbClr val="C6C6C6"/>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84" name="Freeform 35">
                  <a:extLst>
                    <a:ext uri="{FF2B5EF4-FFF2-40B4-BE49-F238E27FC236}">
                      <a16:creationId xmlns:a16="http://schemas.microsoft.com/office/drawing/2014/main" id="{02551554-E9F3-4C54-A627-335A83AAF8C0}"/>
                    </a:ext>
                  </a:extLst>
                </p:cNvPr>
                <p:cNvSpPr>
                  <a:spLocks/>
                </p:cNvSpPr>
                <p:nvPr/>
              </p:nvSpPr>
              <p:spPr bwMode="auto">
                <a:xfrm>
                  <a:off x="6318250" y="1220788"/>
                  <a:ext cx="1588"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F2F2F2"/>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85" name="Freeform 36">
                  <a:extLst>
                    <a:ext uri="{FF2B5EF4-FFF2-40B4-BE49-F238E27FC236}">
                      <a16:creationId xmlns:a16="http://schemas.microsoft.com/office/drawing/2014/main" id="{7B1B6688-D6EC-45A2-861B-52F860F74326}"/>
                    </a:ext>
                  </a:extLst>
                </p:cNvPr>
                <p:cNvSpPr>
                  <a:spLocks/>
                </p:cNvSpPr>
                <p:nvPr/>
              </p:nvSpPr>
              <p:spPr bwMode="auto">
                <a:xfrm>
                  <a:off x="6318250" y="1222375"/>
                  <a:ext cx="1588" cy="1588"/>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C6C6C6"/>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86" name="Freeform 37">
                  <a:extLst>
                    <a:ext uri="{FF2B5EF4-FFF2-40B4-BE49-F238E27FC236}">
                      <a16:creationId xmlns:a16="http://schemas.microsoft.com/office/drawing/2014/main" id="{E7AC781A-B7C2-46F5-BCB8-E11DAEA100D4}"/>
                    </a:ext>
                  </a:extLst>
                </p:cNvPr>
                <p:cNvSpPr>
                  <a:spLocks noEditPoints="1"/>
                </p:cNvSpPr>
                <p:nvPr/>
              </p:nvSpPr>
              <p:spPr bwMode="auto">
                <a:xfrm>
                  <a:off x="6316662" y="1222375"/>
                  <a:ext cx="4763" cy="115888"/>
                </a:xfrm>
                <a:custGeom>
                  <a:avLst/>
                  <a:gdLst/>
                  <a:ahLst/>
                  <a:cxnLst>
                    <a:cxn ang="0">
                      <a:pos x="1" y="0"/>
                    </a:cxn>
                    <a:cxn ang="0">
                      <a:pos x="3" y="62"/>
                    </a:cxn>
                    <a:cxn ang="0">
                      <a:pos x="0" y="126"/>
                    </a:cxn>
                    <a:cxn ang="0">
                      <a:pos x="1" y="0"/>
                    </a:cxn>
                    <a:cxn ang="0">
                      <a:pos x="1" y="0"/>
                    </a:cxn>
                    <a:cxn ang="0">
                      <a:pos x="1" y="0"/>
                    </a:cxn>
                    <a:cxn ang="0">
                      <a:pos x="1" y="0"/>
                    </a:cxn>
                    <a:cxn ang="0">
                      <a:pos x="1" y="0"/>
                    </a:cxn>
                    <a:cxn ang="0">
                      <a:pos x="1" y="0"/>
                    </a:cxn>
                  </a:cxnLst>
                  <a:rect l="0" t="0" r="r" b="b"/>
                  <a:pathLst>
                    <a:path w="4" h="126">
                      <a:moveTo>
                        <a:pt x="1" y="0"/>
                      </a:moveTo>
                      <a:cubicBezTo>
                        <a:pt x="2" y="20"/>
                        <a:pt x="3" y="41"/>
                        <a:pt x="3" y="62"/>
                      </a:cubicBezTo>
                      <a:cubicBezTo>
                        <a:pt x="3" y="83"/>
                        <a:pt x="2" y="104"/>
                        <a:pt x="0" y="126"/>
                      </a:cubicBezTo>
                      <a:cubicBezTo>
                        <a:pt x="4" y="83"/>
                        <a:pt x="4" y="41"/>
                        <a:pt x="1" y="0"/>
                      </a:cubicBezTo>
                      <a:moveTo>
                        <a:pt x="1" y="0"/>
                      </a:moveTo>
                      <a:cubicBezTo>
                        <a:pt x="1" y="0"/>
                        <a:pt x="1" y="0"/>
                        <a:pt x="1" y="0"/>
                      </a:cubicBezTo>
                      <a:cubicBezTo>
                        <a:pt x="1" y="0"/>
                        <a:pt x="1" y="0"/>
                        <a:pt x="1" y="0"/>
                      </a:cubicBezTo>
                      <a:cubicBezTo>
                        <a:pt x="1" y="0"/>
                        <a:pt x="1" y="0"/>
                        <a:pt x="1" y="0"/>
                      </a:cubicBezTo>
                      <a:cubicBezTo>
                        <a:pt x="1" y="0"/>
                        <a:pt x="1" y="0"/>
                        <a:pt x="1" y="0"/>
                      </a:cubicBezTo>
                    </a:path>
                  </a:pathLst>
                </a:custGeom>
                <a:solidFill>
                  <a:srgbClr val="F2F2F2"/>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87" name="Freeform 38">
                  <a:extLst>
                    <a:ext uri="{FF2B5EF4-FFF2-40B4-BE49-F238E27FC236}">
                      <a16:creationId xmlns:a16="http://schemas.microsoft.com/office/drawing/2014/main" id="{875DD2FC-2CB1-472E-8818-A9937145FE13}"/>
                    </a:ext>
                  </a:extLst>
                </p:cNvPr>
                <p:cNvSpPr>
                  <a:spLocks/>
                </p:cNvSpPr>
                <p:nvPr/>
              </p:nvSpPr>
              <p:spPr bwMode="auto">
                <a:xfrm>
                  <a:off x="6316662" y="1211263"/>
                  <a:ext cx="3175" cy="68263"/>
                </a:xfrm>
                <a:custGeom>
                  <a:avLst/>
                  <a:gdLst/>
                  <a:ahLst/>
                  <a:cxnLst>
                    <a:cxn ang="0">
                      <a:pos x="1" y="0"/>
                    </a:cxn>
                    <a:cxn ang="0">
                      <a:pos x="0" y="0"/>
                    </a:cxn>
                    <a:cxn ang="0">
                      <a:pos x="1" y="1"/>
                    </a:cxn>
                    <a:cxn ang="0">
                      <a:pos x="4" y="74"/>
                    </a:cxn>
                    <a:cxn ang="0">
                      <a:pos x="2" y="12"/>
                    </a:cxn>
                    <a:cxn ang="0">
                      <a:pos x="2" y="12"/>
                    </a:cxn>
                    <a:cxn ang="0">
                      <a:pos x="2" y="12"/>
                    </a:cxn>
                    <a:cxn ang="0">
                      <a:pos x="2" y="12"/>
                    </a:cxn>
                    <a:cxn ang="0">
                      <a:pos x="2" y="12"/>
                    </a:cxn>
                    <a:cxn ang="0">
                      <a:pos x="2" y="11"/>
                    </a:cxn>
                    <a:cxn ang="0">
                      <a:pos x="2" y="11"/>
                    </a:cxn>
                    <a:cxn ang="0">
                      <a:pos x="2" y="11"/>
                    </a:cxn>
                    <a:cxn ang="0">
                      <a:pos x="2" y="11"/>
                    </a:cxn>
                    <a:cxn ang="0">
                      <a:pos x="2" y="11"/>
                    </a:cxn>
                    <a:cxn ang="0">
                      <a:pos x="2" y="11"/>
                    </a:cxn>
                    <a:cxn ang="0">
                      <a:pos x="2" y="11"/>
                    </a:cxn>
                    <a:cxn ang="0">
                      <a:pos x="2" y="11"/>
                    </a:cxn>
                    <a:cxn ang="0">
                      <a:pos x="2" y="11"/>
                    </a:cxn>
                    <a:cxn ang="0">
                      <a:pos x="2" y="11"/>
                    </a:cxn>
                    <a:cxn ang="0">
                      <a:pos x="2" y="11"/>
                    </a:cxn>
                    <a:cxn ang="0">
                      <a:pos x="2" y="11"/>
                    </a:cxn>
                    <a:cxn ang="0">
                      <a:pos x="2" y="10"/>
                    </a:cxn>
                    <a:cxn ang="0">
                      <a:pos x="2" y="10"/>
                    </a:cxn>
                    <a:cxn ang="0">
                      <a:pos x="2" y="10"/>
                    </a:cxn>
                    <a:cxn ang="0">
                      <a:pos x="2" y="10"/>
                    </a:cxn>
                    <a:cxn ang="0">
                      <a:pos x="1" y="0"/>
                    </a:cxn>
                    <a:cxn ang="0">
                      <a:pos x="1" y="0"/>
                    </a:cxn>
                  </a:cxnLst>
                  <a:rect l="0" t="0" r="r" b="b"/>
                  <a:pathLst>
                    <a:path w="4" h="74">
                      <a:moveTo>
                        <a:pt x="1" y="0"/>
                      </a:moveTo>
                      <a:cubicBezTo>
                        <a:pt x="1" y="0"/>
                        <a:pt x="0" y="0"/>
                        <a:pt x="0" y="0"/>
                      </a:cubicBezTo>
                      <a:cubicBezTo>
                        <a:pt x="0" y="0"/>
                        <a:pt x="1" y="1"/>
                        <a:pt x="1" y="1"/>
                      </a:cubicBezTo>
                      <a:cubicBezTo>
                        <a:pt x="3" y="25"/>
                        <a:pt x="4" y="49"/>
                        <a:pt x="4" y="74"/>
                      </a:cubicBezTo>
                      <a:cubicBezTo>
                        <a:pt x="4" y="53"/>
                        <a:pt x="3" y="32"/>
                        <a:pt x="2" y="12"/>
                      </a:cubicBezTo>
                      <a:cubicBezTo>
                        <a:pt x="2" y="12"/>
                        <a:pt x="2" y="12"/>
                        <a:pt x="2" y="12"/>
                      </a:cubicBezTo>
                      <a:cubicBezTo>
                        <a:pt x="2" y="12"/>
                        <a:pt x="2" y="12"/>
                        <a:pt x="2" y="12"/>
                      </a:cubicBezTo>
                      <a:cubicBezTo>
                        <a:pt x="2" y="12"/>
                        <a:pt x="2" y="12"/>
                        <a:pt x="2" y="12"/>
                      </a:cubicBezTo>
                      <a:cubicBezTo>
                        <a:pt x="2" y="12"/>
                        <a:pt x="2" y="12"/>
                        <a:pt x="2" y="12"/>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0"/>
                        <a:pt x="2" y="10"/>
                        <a:pt x="2" y="10"/>
                      </a:cubicBezTo>
                      <a:cubicBezTo>
                        <a:pt x="2" y="10"/>
                        <a:pt x="2" y="10"/>
                        <a:pt x="2" y="10"/>
                      </a:cubicBezTo>
                      <a:cubicBezTo>
                        <a:pt x="2" y="10"/>
                        <a:pt x="2" y="10"/>
                        <a:pt x="2" y="10"/>
                      </a:cubicBezTo>
                      <a:cubicBezTo>
                        <a:pt x="2" y="10"/>
                        <a:pt x="2" y="10"/>
                        <a:pt x="2" y="10"/>
                      </a:cubicBezTo>
                      <a:cubicBezTo>
                        <a:pt x="2" y="7"/>
                        <a:pt x="1" y="4"/>
                        <a:pt x="1" y="0"/>
                      </a:cubicBezTo>
                      <a:cubicBezTo>
                        <a:pt x="1" y="0"/>
                        <a:pt x="1" y="0"/>
                        <a:pt x="1" y="0"/>
                      </a:cubicBezTo>
                    </a:path>
                  </a:pathLst>
                </a:custGeom>
                <a:solidFill>
                  <a:srgbClr val="B7352B"/>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88" name="Freeform 40">
                  <a:extLst>
                    <a:ext uri="{FF2B5EF4-FFF2-40B4-BE49-F238E27FC236}">
                      <a16:creationId xmlns:a16="http://schemas.microsoft.com/office/drawing/2014/main" id="{8B108133-B813-4F4F-A361-CA465CD20929}"/>
                    </a:ext>
                  </a:extLst>
                </p:cNvPr>
                <p:cNvSpPr>
                  <a:spLocks/>
                </p:cNvSpPr>
                <p:nvPr/>
              </p:nvSpPr>
              <p:spPr bwMode="auto">
                <a:xfrm>
                  <a:off x="6316662" y="1338263"/>
                  <a:ext cx="1588"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F2F2F2"/>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89" name="Freeform 41">
                  <a:extLst>
                    <a:ext uri="{FF2B5EF4-FFF2-40B4-BE49-F238E27FC236}">
                      <a16:creationId xmlns:a16="http://schemas.microsoft.com/office/drawing/2014/main" id="{40B72CAE-76D0-4851-87C1-48304510D6D1}"/>
                    </a:ext>
                  </a:extLst>
                </p:cNvPr>
                <p:cNvSpPr>
                  <a:spLocks noEditPoints="1"/>
                </p:cNvSpPr>
                <p:nvPr/>
              </p:nvSpPr>
              <p:spPr bwMode="auto">
                <a:xfrm>
                  <a:off x="5175250" y="1797050"/>
                  <a:ext cx="1001713" cy="893763"/>
                </a:xfrm>
                <a:custGeom>
                  <a:avLst/>
                  <a:gdLst/>
                  <a:ahLst/>
                  <a:cxnLst>
                    <a:cxn ang="0">
                      <a:pos x="72" y="943"/>
                    </a:cxn>
                    <a:cxn ang="0">
                      <a:pos x="0" y="970"/>
                    </a:cxn>
                    <a:cxn ang="0">
                      <a:pos x="0" y="970"/>
                    </a:cxn>
                    <a:cxn ang="0">
                      <a:pos x="72" y="943"/>
                    </a:cxn>
                    <a:cxn ang="0">
                      <a:pos x="72" y="943"/>
                    </a:cxn>
                    <a:cxn ang="0">
                      <a:pos x="1088" y="0"/>
                    </a:cxn>
                    <a:cxn ang="0">
                      <a:pos x="724" y="498"/>
                    </a:cxn>
                    <a:cxn ang="0">
                      <a:pos x="1088" y="0"/>
                    </a:cxn>
                    <a:cxn ang="0">
                      <a:pos x="1088" y="0"/>
                    </a:cxn>
                  </a:cxnLst>
                  <a:rect l="0" t="0" r="r" b="b"/>
                  <a:pathLst>
                    <a:path w="1088" h="970">
                      <a:moveTo>
                        <a:pt x="72" y="943"/>
                      </a:moveTo>
                      <a:cubicBezTo>
                        <a:pt x="48" y="953"/>
                        <a:pt x="24" y="962"/>
                        <a:pt x="0" y="970"/>
                      </a:cubicBezTo>
                      <a:cubicBezTo>
                        <a:pt x="0" y="970"/>
                        <a:pt x="0" y="970"/>
                        <a:pt x="0" y="970"/>
                      </a:cubicBezTo>
                      <a:cubicBezTo>
                        <a:pt x="24" y="962"/>
                        <a:pt x="48" y="953"/>
                        <a:pt x="72" y="943"/>
                      </a:cubicBezTo>
                      <a:cubicBezTo>
                        <a:pt x="72" y="943"/>
                        <a:pt x="72" y="943"/>
                        <a:pt x="72" y="943"/>
                      </a:cubicBezTo>
                      <a:moveTo>
                        <a:pt x="1088" y="0"/>
                      </a:moveTo>
                      <a:cubicBezTo>
                        <a:pt x="1001" y="170"/>
                        <a:pt x="879" y="341"/>
                        <a:pt x="724" y="498"/>
                      </a:cubicBezTo>
                      <a:cubicBezTo>
                        <a:pt x="879" y="341"/>
                        <a:pt x="1001" y="170"/>
                        <a:pt x="1088" y="0"/>
                      </a:cubicBezTo>
                      <a:cubicBezTo>
                        <a:pt x="1088" y="0"/>
                        <a:pt x="1088" y="0"/>
                        <a:pt x="1088" y="0"/>
                      </a:cubicBezTo>
                    </a:path>
                  </a:pathLst>
                </a:custGeom>
                <a:solidFill>
                  <a:srgbClr val="C6C6C6"/>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90" name="Freeform 42">
                  <a:extLst>
                    <a:ext uri="{FF2B5EF4-FFF2-40B4-BE49-F238E27FC236}">
                      <a16:creationId xmlns:a16="http://schemas.microsoft.com/office/drawing/2014/main" id="{CBDCBD13-8F97-43D1-A782-14535228F181}"/>
                    </a:ext>
                  </a:extLst>
                </p:cNvPr>
                <p:cNvSpPr>
                  <a:spLocks/>
                </p:cNvSpPr>
                <p:nvPr/>
              </p:nvSpPr>
              <p:spPr bwMode="auto">
                <a:xfrm>
                  <a:off x="5241925" y="2493963"/>
                  <a:ext cx="317500" cy="171450"/>
                </a:xfrm>
                <a:custGeom>
                  <a:avLst/>
                  <a:gdLst/>
                  <a:ahLst/>
                  <a:cxnLst>
                    <a:cxn ang="0">
                      <a:pos x="344" y="0"/>
                    </a:cxn>
                    <a:cxn ang="0">
                      <a:pos x="0" y="186"/>
                    </a:cxn>
                    <a:cxn ang="0">
                      <a:pos x="0" y="186"/>
                    </a:cxn>
                    <a:cxn ang="0">
                      <a:pos x="344" y="0"/>
                    </a:cxn>
                  </a:cxnLst>
                  <a:rect l="0" t="0" r="r" b="b"/>
                  <a:pathLst>
                    <a:path w="344" h="186">
                      <a:moveTo>
                        <a:pt x="344" y="0"/>
                      </a:moveTo>
                      <a:cubicBezTo>
                        <a:pt x="230" y="79"/>
                        <a:pt x="114" y="141"/>
                        <a:pt x="0" y="186"/>
                      </a:cubicBezTo>
                      <a:cubicBezTo>
                        <a:pt x="0" y="186"/>
                        <a:pt x="0" y="186"/>
                        <a:pt x="0" y="186"/>
                      </a:cubicBezTo>
                      <a:cubicBezTo>
                        <a:pt x="114" y="141"/>
                        <a:pt x="230" y="79"/>
                        <a:pt x="344" y="0"/>
                      </a:cubicBezTo>
                    </a:path>
                  </a:pathLst>
                </a:custGeom>
                <a:solidFill>
                  <a:srgbClr val="264561"/>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91" name="Freeform 14">
                  <a:extLst>
                    <a:ext uri="{FF2B5EF4-FFF2-40B4-BE49-F238E27FC236}">
                      <a16:creationId xmlns:a16="http://schemas.microsoft.com/office/drawing/2014/main" id="{482DF303-673A-4F61-A37D-97DFC6708063}"/>
                    </a:ext>
                  </a:extLst>
                </p:cNvPr>
                <p:cNvSpPr>
                  <a:spLocks/>
                </p:cNvSpPr>
                <p:nvPr/>
              </p:nvSpPr>
              <p:spPr bwMode="auto">
                <a:xfrm>
                  <a:off x="5788023" y="1203327"/>
                  <a:ext cx="541338" cy="539750"/>
                </a:xfrm>
                <a:custGeom>
                  <a:avLst/>
                  <a:gdLst/>
                  <a:ahLst/>
                  <a:cxnLst>
                    <a:cxn ang="0">
                      <a:pos x="0" y="142"/>
                    </a:cxn>
                    <a:cxn ang="0">
                      <a:pos x="233" y="357"/>
                    </a:cxn>
                    <a:cxn ang="0">
                      <a:pos x="452" y="587"/>
                    </a:cxn>
                    <a:cxn ang="0">
                      <a:pos x="573" y="12"/>
                    </a:cxn>
                    <a:cxn ang="0">
                      <a:pos x="0" y="142"/>
                    </a:cxn>
                  </a:cxnLst>
                  <a:rect l="0" t="0" r="r" b="b"/>
                  <a:pathLst>
                    <a:path w="588" h="587">
                      <a:moveTo>
                        <a:pt x="0" y="142"/>
                      </a:moveTo>
                      <a:cubicBezTo>
                        <a:pt x="79" y="210"/>
                        <a:pt x="157" y="281"/>
                        <a:pt x="233" y="357"/>
                      </a:cubicBezTo>
                      <a:cubicBezTo>
                        <a:pt x="310" y="433"/>
                        <a:pt x="383" y="510"/>
                        <a:pt x="452" y="587"/>
                      </a:cubicBezTo>
                      <a:cubicBezTo>
                        <a:pt x="546" y="384"/>
                        <a:pt x="588" y="184"/>
                        <a:pt x="573" y="12"/>
                      </a:cubicBezTo>
                      <a:cubicBezTo>
                        <a:pt x="401" y="0"/>
                        <a:pt x="202" y="45"/>
                        <a:pt x="0" y="142"/>
                      </a:cubicBezTo>
                    </a:path>
                  </a:pathLst>
                </a:custGeom>
                <a:solidFill>
                  <a:srgbClr val="0170BD"/>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grpSp>
        <p:grpSp>
          <p:nvGrpSpPr>
            <p:cNvPr id="20" name="Group 605">
              <a:extLst>
                <a:ext uri="{FF2B5EF4-FFF2-40B4-BE49-F238E27FC236}">
                  <a16:creationId xmlns:a16="http://schemas.microsoft.com/office/drawing/2014/main" id="{C9BBF695-CE0E-4A27-A2F0-4B56AA241E7E}"/>
                </a:ext>
              </a:extLst>
            </p:cNvPr>
            <p:cNvGrpSpPr/>
            <p:nvPr/>
          </p:nvGrpSpPr>
          <p:grpSpPr>
            <a:xfrm>
              <a:off x="7456057" y="2515711"/>
              <a:ext cx="1496171" cy="1630379"/>
              <a:chOff x="654280" y="1047000"/>
              <a:chExt cx="3037332" cy="3309787"/>
            </a:xfrm>
          </p:grpSpPr>
          <p:grpSp>
            <p:nvGrpSpPr>
              <p:cNvPr id="24" name="Group 606">
                <a:extLst>
                  <a:ext uri="{FF2B5EF4-FFF2-40B4-BE49-F238E27FC236}">
                    <a16:creationId xmlns:a16="http://schemas.microsoft.com/office/drawing/2014/main" id="{1D5B1F12-E5A7-41DF-B497-D0F0A7FDEA88}"/>
                  </a:ext>
                </a:extLst>
              </p:cNvPr>
              <p:cNvGrpSpPr/>
              <p:nvPr/>
            </p:nvGrpSpPr>
            <p:grpSpPr>
              <a:xfrm>
                <a:off x="654280" y="2079826"/>
                <a:ext cx="3024555" cy="2276961"/>
                <a:chOff x="604505" y="1981058"/>
                <a:chExt cx="3153719" cy="2374200"/>
              </a:xfrm>
            </p:grpSpPr>
            <p:grpSp>
              <p:nvGrpSpPr>
                <p:cNvPr id="49" name="Group 628">
                  <a:extLst>
                    <a:ext uri="{FF2B5EF4-FFF2-40B4-BE49-F238E27FC236}">
                      <a16:creationId xmlns:a16="http://schemas.microsoft.com/office/drawing/2014/main" id="{B1ECD48D-84D7-4DCD-9B96-BB501C1A8E02}"/>
                    </a:ext>
                  </a:extLst>
                </p:cNvPr>
                <p:cNvGrpSpPr/>
                <p:nvPr/>
              </p:nvGrpSpPr>
              <p:grpSpPr>
                <a:xfrm rot="15155533" flipH="1">
                  <a:off x="773232" y="1812331"/>
                  <a:ext cx="2374200" cy="2711653"/>
                  <a:chOff x="6326188" y="1654175"/>
                  <a:chExt cx="2410644" cy="3082384"/>
                </a:xfrm>
                <a:solidFill>
                  <a:schemeClr val="bg2">
                    <a:lumMod val="75000"/>
                  </a:schemeClr>
                </a:solidFill>
              </p:grpSpPr>
              <p:sp>
                <p:nvSpPr>
                  <p:cNvPr id="131" name="Freeform 129">
                    <a:extLst>
                      <a:ext uri="{FF2B5EF4-FFF2-40B4-BE49-F238E27FC236}">
                        <a16:creationId xmlns:a16="http://schemas.microsoft.com/office/drawing/2014/main" id="{C1CD4EFA-BD62-42C1-88A8-4DFC729C77BF}"/>
                      </a:ext>
                    </a:extLst>
                  </p:cNvPr>
                  <p:cNvSpPr>
                    <a:spLocks/>
                  </p:cNvSpPr>
                  <p:nvPr/>
                </p:nvSpPr>
                <p:spPr bwMode="auto">
                  <a:xfrm>
                    <a:off x="8027988" y="1720850"/>
                    <a:ext cx="3175" cy="1588"/>
                  </a:xfrm>
                  <a:custGeom>
                    <a:avLst/>
                    <a:gdLst/>
                    <a:ahLst/>
                    <a:cxnLst>
                      <a:cxn ang="0">
                        <a:pos x="0" y="0"/>
                      </a:cxn>
                      <a:cxn ang="0">
                        <a:pos x="0" y="0"/>
                      </a:cxn>
                      <a:cxn ang="0">
                        <a:pos x="0" y="0"/>
                      </a:cxn>
                    </a:cxnLst>
                    <a:rect l="0" t="0" r="r" b="b"/>
                    <a:pathLst>
                      <a:path w="1">
                        <a:moveTo>
                          <a:pt x="0" y="0"/>
                        </a:moveTo>
                        <a:cubicBezTo>
                          <a:pt x="0" y="0"/>
                          <a:pt x="1"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32" name="Freeform 130">
                    <a:extLst>
                      <a:ext uri="{FF2B5EF4-FFF2-40B4-BE49-F238E27FC236}">
                        <a16:creationId xmlns:a16="http://schemas.microsoft.com/office/drawing/2014/main" id="{4CD90D9A-73C1-45D1-85FE-605A2EE268DF}"/>
                      </a:ext>
                    </a:extLst>
                  </p:cNvPr>
                  <p:cNvSpPr>
                    <a:spLocks/>
                  </p:cNvSpPr>
                  <p:nvPr/>
                </p:nvSpPr>
                <p:spPr bwMode="auto">
                  <a:xfrm>
                    <a:off x="7724775" y="1841500"/>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0"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33" name="Freeform 131">
                    <a:extLst>
                      <a:ext uri="{FF2B5EF4-FFF2-40B4-BE49-F238E27FC236}">
                        <a16:creationId xmlns:a16="http://schemas.microsoft.com/office/drawing/2014/main" id="{9B663A11-F950-40CA-BDCF-E668FC8144C7}"/>
                      </a:ext>
                    </a:extLst>
                  </p:cNvPr>
                  <p:cNvSpPr>
                    <a:spLocks/>
                  </p:cNvSpPr>
                  <p:nvPr/>
                </p:nvSpPr>
                <p:spPr bwMode="auto">
                  <a:xfrm>
                    <a:off x="8218488" y="1671638"/>
                    <a:ext cx="12700" cy="1588"/>
                  </a:xfrm>
                  <a:custGeom>
                    <a:avLst/>
                    <a:gdLst/>
                    <a:ahLst/>
                    <a:cxnLst>
                      <a:cxn ang="0">
                        <a:pos x="0" y="1"/>
                      </a:cxn>
                      <a:cxn ang="0">
                        <a:pos x="0" y="1"/>
                      </a:cxn>
                      <a:cxn ang="0">
                        <a:pos x="5" y="0"/>
                      </a:cxn>
                      <a:cxn ang="0">
                        <a:pos x="0" y="1"/>
                      </a:cxn>
                    </a:cxnLst>
                    <a:rect l="0" t="0" r="r" b="b"/>
                    <a:pathLst>
                      <a:path w="5" h="1">
                        <a:moveTo>
                          <a:pt x="0" y="1"/>
                        </a:moveTo>
                        <a:cubicBezTo>
                          <a:pt x="0" y="1"/>
                          <a:pt x="0" y="1"/>
                          <a:pt x="0" y="1"/>
                        </a:cubicBezTo>
                        <a:cubicBezTo>
                          <a:pt x="5" y="0"/>
                          <a:pt x="5" y="0"/>
                          <a:pt x="5" y="0"/>
                        </a:cubicBezTo>
                        <a:lnTo>
                          <a:pt x="0" y="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34" name="Freeform 132">
                    <a:extLst>
                      <a:ext uri="{FF2B5EF4-FFF2-40B4-BE49-F238E27FC236}">
                        <a16:creationId xmlns:a16="http://schemas.microsoft.com/office/drawing/2014/main" id="{3E2F04A6-2EBF-4855-99ED-BD98BBD6A97C}"/>
                      </a:ext>
                    </a:extLst>
                  </p:cNvPr>
                  <p:cNvSpPr>
                    <a:spLocks/>
                  </p:cNvSpPr>
                  <p:nvPr/>
                </p:nvSpPr>
                <p:spPr bwMode="auto">
                  <a:xfrm>
                    <a:off x="7169150" y="2263775"/>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1"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35" name="Freeform 133">
                    <a:extLst>
                      <a:ext uri="{FF2B5EF4-FFF2-40B4-BE49-F238E27FC236}">
                        <a16:creationId xmlns:a16="http://schemas.microsoft.com/office/drawing/2014/main" id="{3528FD3C-6ACD-4549-8D59-1D11A8C2CDA0}"/>
                      </a:ext>
                    </a:extLst>
                  </p:cNvPr>
                  <p:cNvSpPr>
                    <a:spLocks/>
                  </p:cNvSpPr>
                  <p:nvPr/>
                </p:nvSpPr>
                <p:spPr bwMode="auto">
                  <a:xfrm>
                    <a:off x="7480300" y="1995488"/>
                    <a:ext cx="4762" cy="4763"/>
                  </a:xfrm>
                  <a:custGeom>
                    <a:avLst/>
                    <a:gdLst/>
                    <a:ahLst/>
                    <a:cxnLst>
                      <a:cxn ang="0">
                        <a:pos x="2" y="0"/>
                      </a:cxn>
                      <a:cxn ang="0">
                        <a:pos x="0" y="2"/>
                      </a:cxn>
                      <a:cxn ang="0">
                        <a:pos x="2" y="0"/>
                      </a:cxn>
                    </a:cxnLst>
                    <a:rect l="0" t="0" r="r" b="b"/>
                    <a:pathLst>
                      <a:path w="2" h="2">
                        <a:moveTo>
                          <a:pt x="2" y="0"/>
                        </a:moveTo>
                        <a:cubicBezTo>
                          <a:pt x="1" y="0"/>
                          <a:pt x="1" y="1"/>
                          <a:pt x="0" y="2"/>
                        </a:cubicBezTo>
                        <a:cubicBezTo>
                          <a:pt x="1" y="1"/>
                          <a:pt x="2" y="0"/>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36" name="Freeform 134">
                    <a:extLst>
                      <a:ext uri="{FF2B5EF4-FFF2-40B4-BE49-F238E27FC236}">
                        <a16:creationId xmlns:a16="http://schemas.microsoft.com/office/drawing/2014/main" id="{71B260F4-07A8-4643-AE6F-108149403E13}"/>
                      </a:ext>
                    </a:extLst>
                  </p:cNvPr>
                  <p:cNvSpPr>
                    <a:spLocks/>
                  </p:cNvSpPr>
                  <p:nvPr/>
                </p:nvSpPr>
                <p:spPr bwMode="auto">
                  <a:xfrm>
                    <a:off x="8318500" y="1681163"/>
                    <a:ext cx="7937" cy="1588"/>
                  </a:xfrm>
                  <a:custGeom>
                    <a:avLst/>
                    <a:gdLst/>
                    <a:ahLst/>
                    <a:cxnLst>
                      <a:cxn ang="0">
                        <a:pos x="3" y="0"/>
                      </a:cxn>
                      <a:cxn ang="0">
                        <a:pos x="0" y="0"/>
                      </a:cxn>
                      <a:cxn ang="0">
                        <a:pos x="3" y="0"/>
                      </a:cxn>
                    </a:cxnLst>
                    <a:rect l="0" t="0" r="r" b="b"/>
                    <a:pathLst>
                      <a:path w="3">
                        <a:moveTo>
                          <a:pt x="3" y="0"/>
                        </a:moveTo>
                        <a:cubicBezTo>
                          <a:pt x="0" y="0"/>
                          <a:pt x="0" y="0"/>
                          <a:pt x="0" y="0"/>
                        </a:cubicBezTo>
                        <a:cubicBezTo>
                          <a:pt x="0" y="0"/>
                          <a:pt x="1"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37" name="Freeform 135">
                    <a:extLst>
                      <a:ext uri="{FF2B5EF4-FFF2-40B4-BE49-F238E27FC236}">
                        <a16:creationId xmlns:a16="http://schemas.microsoft.com/office/drawing/2014/main" id="{9774CE20-10AF-4541-8843-F5608D769E02}"/>
                      </a:ext>
                    </a:extLst>
                  </p:cNvPr>
                  <p:cNvSpPr>
                    <a:spLocks/>
                  </p:cNvSpPr>
                  <p:nvPr/>
                </p:nvSpPr>
                <p:spPr bwMode="auto">
                  <a:xfrm>
                    <a:off x="8516938" y="1655763"/>
                    <a:ext cx="1587" cy="1588"/>
                  </a:xfrm>
                  <a:custGeom>
                    <a:avLst/>
                    <a:gdLst/>
                    <a:ahLst/>
                    <a:cxnLst>
                      <a:cxn ang="0">
                        <a:pos x="1" y="0"/>
                      </a:cxn>
                      <a:cxn ang="0">
                        <a:pos x="1" y="0"/>
                      </a:cxn>
                      <a:cxn ang="0">
                        <a:pos x="1" y="0"/>
                      </a:cxn>
                    </a:cxnLst>
                    <a:rect l="0" t="0" r="r" b="b"/>
                    <a:pathLst>
                      <a:path w="1">
                        <a:moveTo>
                          <a:pt x="1" y="0"/>
                        </a:moveTo>
                        <a:cubicBezTo>
                          <a:pt x="1" y="0"/>
                          <a:pt x="1" y="0"/>
                          <a:pt x="1"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38" name="Freeform 136">
                    <a:extLst>
                      <a:ext uri="{FF2B5EF4-FFF2-40B4-BE49-F238E27FC236}">
                        <a16:creationId xmlns:a16="http://schemas.microsoft.com/office/drawing/2014/main" id="{BB66A65D-A4DD-4689-8931-1D3B98F1D642}"/>
                      </a:ext>
                    </a:extLst>
                  </p:cNvPr>
                  <p:cNvSpPr>
                    <a:spLocks/>
                  </p:cNvSpPr>
                  <p:nvPr/>
                </p:nvSpPr>
                <p:spPr bwMode="auto">
                  <a:xfrm>
                    <a:off x="8434388" y="1654175"/>
                    <a:ext cx="7937" cy="1588"/>
                  </a:xfrm>
                  <a:custGeom>
                    <a:avLst/>
                    <a:gdLst/>
                    <a:ahLst/>
                    <a:cxnLst>
                      <a:cxn ang="0">
                        <a:pos x="3" y="0"/>
                      </a:cxn>
                      <a:cxn ang="0">
                        <a:pos x="0" y="0"/>
                      </a:cxn>
                      <a:cxn ang="0">
                        <a:pos x="3" y="0"/>
                      </a:cxn>
                    </a:cxnLst>
                    <a:rect l="0" t="0" r="r" b="b"/>
                    <a:pathLst>
                      <a:path w="3">
                        <a:moveTo>
                          <a:pt x="3" y="0"/>
                        </a:moveTo>
                        <a:cubicBezTo>
                          <a:pt x="2" y="0"/>
                          <a:pt x="1" y="0"/>
                          <a:pt x="0" y="0"/>
                        </a:cubicBezTo>
                        <a:cubicBezTo>
                          <a:pt x="1" y="0"/>
                          <a:pt x="3"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39" name="Freeform 137">
                    <a:extLst>
                      <a:ext uri="{FF2B5EF4-FFF2-40B4-BE49-F238E27FC236}">
                        <a16:creationId xmlns:a16="http://schemas.microsoft.com/office/drawing/2014/main" id="{DCEC230D-D160-46D8-B0C2-73CBB3F3673C}"/>
                      </a:ext>
                    </a:extLst>
                  </p:cNvPr>
                  <p:cNvSpPr>
                    <a:spLocks/>
                  </p:cNvSpPr>
                  <p:nvPr/>
                </p:nvSpPr>
                <p:spPr bwMode="auto">
                  <a:xfrm>
                    <a:off x="8432800" y="1654175"/>
                    <a:ext cx="1587" cy="1588"/>
                  </a:xfrm>
                  <a:custGeom>
                    <a:avLst/>
                    <a:gdLst/>
                    <a:ahLst/>
                    <a:cxnLst>
                      <a:cxn ang="0">
                        <a:pos x="0" y="0"/>
                      </a:cxn>
                      <a:cxn ang="0">
                        <a:pos x="1" y="0"/>
                      </a:cxn>
                      <a:cxn ang="0">
                        <a:pos x="0" y="0"/>
                      </a:cxn>
                    </a:cxnLst>
                    <a:rect l="0" t="0" r="r" b="b"/>
                    <a:pathLst>
                      <a:path w="1">
                        <a:moveTo>
                          <a:pt x="0" y="0"/>
                        </a:moveTo>
                        <a:cubicBezTo>
                          <a:pt x="1" y="0"/>
                          <a:pt x="1" y="0"/>
                          <a:pt x="1" y="0"/>
                        </a:cubicBezTo>
                        <a:cubicBezTo>
                          <a:pt x="1"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40" name="Freeform 138">
                    <a:extLst>
                      <a:ext uri="{FF2B5EF4-FFF2-40B4-BE49-F238E27FC236}">
                        <a16:creationId xmlns:a16="http://schemas.microsoft.com/office/drawing/2014/main" id="{50552C79-EB53-41DE-9797-07B889716F8D}"/>
                      </a:ext>
                    </a:extLst>
                  </p:cNvPr>
                  <p:cNvSpPr>
                    <a:spLocks/>
                  </p:cNvSpPr>
                  <p:nvPr/>
                </p:nvSpPr>
                <p:spPr bwMode="auto">
                  <a:xfrm>
                    <a:off x="6326188" y="4597400"/>
                    <a:ext cx="3175" cy="17463"/>
                  </a:xfrm>
                  <a:custGeom>
                    <a:avLst/>
                    <a:gdLst/>
                    <a:ahLst/>
                    <a:cxnLst>
                      <a:cxn ang="0">
                        <a:pos x="0" y="0"/>
                      </a:cxn>
                      <a:cxn ang="0">
                        <a:pos x="1" y="7"/>
                      </a:cxn>
                      <a:cxn ang="0">
                        <a:pos x="0" y="0"/>
                      </a:cxn>
                    </a:cxnLst>
                    <a:rect l="0" t="0" r="r" b="b"/>
                    <a:pathLst>
                      <a:path w="1" h="7">
                        <a:moveTo>
                          <a:pt x="0" y="0"/>
                        </a:moveTo>
                        <a:cubicBezTo>
                          <a:pt x="0" y="3"/>
                          <a:pt x="0" y="5"/>
                          <a:pt x="1" y="7"/>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41" name="Freeform 139">
                    <a:extLst>
                      <a:ext uri="{FF2B5EF4-FFF2-40B4-BE49-F238E27FC236}">
                        <a16:creationId xmlns:a16="http://schemas.microsoft.com/office/drawing/2014/main" id="{270CC9E9-AE63-45D9-A6FA-B6B3F104FBA1}"/>
                      </a:ext>
                    </a:extLst>
                  </p:cNvPr>
                  <p:cNvSpPr>
                    <a:spLocks/>
                  </p:cNvSpPr>
                  <p:nvPr/>
                </p:nvSpPr>
                <p:spPr bwMode="auto">
                  <a:xfrm>
                    <a:off x="6789738" y="2773363"/>
                    <a:ext cx="3175" cy="1588"/>
                  </a:xfrm>
                  <a:custGeom>
                    <a:avLst/>
                    <a:gdLst/>
                    <a:ahLst/>
                    <a:cxnLst>
                      <a:cxn ang="0">
                        <a:pos x="1" y="1"/>
                      </a:cxn>
                      <a:cxn ang="0">
                        <a:pos x="1" y="0"/>
                      </a:cxn>
                      <a:cxn ang="0">
                        <a:pos x="1" y="1"/>
                      </a:cxn>
                    </a:cxnLst>
                    <a:rect l="0" t="0" r="r" b="b"/>
                    <a:pathLst>
                      <a:path w="1" h="1">
                        <a:moveTo>
                          <a:pt x="1" y="1"/>
                        </a:moveTo>
                        <a:cubicBezTo>
                          <a:pt x="1" y="0"/>
                          <a:pt x="1" y="0"/>
                          <a:pt x="1" y="0"/>
                        </a:cubicBezTo>
                        <a:cubicBezTo>
                          <a:pt x="0" y="1"/>
                          <a:pt x="0" y="1"/>
                          <a:pt x="1"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42" name="Freeform 140">
                    <a:extLst>
                      <a:ext uri="{FF2B5EF4-FFF2-40B4-BE49-F238E27FC236}">
                        <a16:creationId xmlns:a16="http://schemas.microsoft.com/office/drawing/2014/main" id="{041E7242-33D6-41D6-963D-D0C9D645B182}"/>
                      </a:ext>
                    </a:extLst>
                  </p:cNvPr>
                  <p:cNvSpPr>
                    <a:spLocks/>
                  </p:cNvSpPr>
                  <p:nvPr/>
                </p:nvSpPr>
                <p:spPr bwMode="auto">
                  <a:xfrm>
                    <a:off x="6342063" y="4603750"/>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43" name="Freeform 141">
                    <a:extLst>
                      <a:ext uri="{FF2B5EF4-FFF2-40B4-BE49-F238E27FC236}">
                        <a16:creationId xmlns:a16="http://schemas.microsoft.com/office/drawing/2014/main" id="{5CC0B174-B725-4BD6-9A49-42FD01B4BD7B}"/>
                      </a:ext>
                    </a:extLst>
                  </p:cNvPr>
                  <p:cNvSpPr>
                    <a:spLocks/>
                  </p:cNvSpPr>
                  <p:nvPr/>
                </p:nvSpPr>
                <p:spPr bwMode="auto">
                  <a:xfrm>
                    <a:off x="8207375" y="1704975"/>
                    <a:ext cx="17462" cy="6350"/>
                  </a:xfrm>
                  <a:custGeom>
                    <a:avLst/>
                    <a:gdLst/>
                    <a:ahLst/>
                    <a:cxnLst>
                      <a:cxn ang="0">
                        <a:pos x="7" y="0"/>
                      </a:cxn>
                      <a:cxn ang="0">
                        <a:pos x="0" y="2"/>
                      </a:cxn>
                      <a:cxn ang="0">
                        <a:pos x="7" y="0"/>
                      </a:cxn>
                    </a:cxnLst>
                    <a:rect l="0" t="0" r="r" b="b"/>
                    <a:pathLst>
                      <a:path w="7" h="2">
                        <a:moveTo>
                          <a:pt x="7" y="0"/>
                        </a:moveTo>
                        <a:cubicBezTo>
                          <a:pt x="5" y="1"/>
                          <a:pt x="0" y="1"/>
                          <a:pt x="0" y="2"/>
                        </a:cubicBezTo>
                        <a:cubicBezTo>
                          <a:pt x="3" y="1"/>
                          <a:pt x="6" y="1"/>
                          <a:pt x="7"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44" name="Freeform 142">
                    <a:extLst>
                      <a:ext uri="{FF2B5EF4-FFF2-40B4-BE49-F238E27FC236}">
                        <a16:creationId xmlns:a16="http://schemas.microsoft.com/office/drawing/2014/main" id="{A7261CF5-AC04-410D-A64D-044158B5FC0D}"/>
                      </a:ext>
                    </a:extLst>
                  </p:cNvPr>
                  <p:cNvSpPr>
                    <a:spLocks/>
                  </p:cNvSpPr>
                  <p:nvPr/>
                </p:nvSpPr>
                <p:spPr bwMode="auto">
                  <a:xfrm>
                    <a:off x="6788150" y="2924175"/>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45" name="Freeform 143">
                    <a:extLst>
                      <a:ext uri="{FF2B5EF4-FFF2-40B4-BE49-F238E27FC236}">
                        <a16:creationId xmlns:a16="http://schemas.microsoft.com/office/drawing/2014/main" id="{15970122-B1E1-4247-9E63-20904B8F8B23}"/>
                      </a:ext>
                    </a:extLst>
                  </p:cNvPr>
                  <p:cNvSpPr>
                    <a:spLocks/>
                  </p:cNvSpPr>
                  <p:nvPr/>
                </p:nvSpPr>
                <p:spPr bwMode="auto">
                  <a:xfrm>
                    <a:off x="6342063" y="4602163"/>
                    <a:ext cx="1587" cy="1588"/>
                  </a:xfrm>
                  <a:custGeom>
                    <a:avLst/>
                    <a:gdLst/>
                    <a:ahLst/>
                    <a:cxnLst>
                      <a:cxn ang="0">
                        <a:pos x="0" y="1"/>
                      </a:cxn>
                      <a:cxn ang="0">
                        <a:pos x="0" y="0"/>
                      </a:cxn>
                      <a:cxn ang="0">
                        <a:pos x="0" y="0"/>
                      </a:cxn>
                      <a:cxn ang="0">
                        <a:pos x="0" y="1"/>
                      </a:cxn>
                    </a:cxnLst>
                    <a:rect l="0" t="0" r="r" b="b"/>
                    <a:pathLst>
                      <a:path h="1">
                        <a:moveTo>
                          <a:pt x="0" y="1"/>
                        </a:moveTo>
                        <a:cubicBezTo>
                          <a:pt x="0" y="0"/>
                          <a:pt x="0" y="0"/>
                          <a:pt x="0" y="0"/>
                        </a:cubicBez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46" name="Rectangle 144">
                    <a:extLst>
                      <a:ext uri="{FF2B5EF4-FFF2-40B4-BE49-F238E27FC236}">
                        <a16:creationId xmlns:a16="http://schemas.microsoft.com/office/drawing/2014/main" id="{765EF514-6550-4200-B04F-166E5DFED2E3}"/>
                      </a:ext>
                    </a:extLst>
                  </p:cNvPr>
                  <p:cNvSpPr>
                    <a:spLocks noChangeArrowheads="1"/>
                  </p:cNvSpPr>
                  <p:nvPr/>
                </p:nvSpPr>
                <p:spPr bwMode="auto">
                  <a:xfrm>
                    <a:off x="6518275" y="3373438"/>
                    <a:ext cx="1587" cy="158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47" name="Freeform 145">
                    <a:extLst>
                      <a:ext uri="{FF2B5EF4-FFF2-40B4-BE49-F238E27FC236}">
                        <a16:creationId xmlns:a16="http://schemas.microsoft.com/office/drawing/2014/main" id="{86227183-1E0A-49AE-90F7-CFA307AE9185}"/>
                      </a:ext>
                    </a:extLst>
                  </p:cNvPr>
                  <p:cNvSpPr>
                    <a:spLocks/>
                  </p:cNvSpPr>
                  <p:nvPr/>
                </p:nvSpPr>
                <p:spPr bwMode="auto">
                  <a:xfrm>
                    <a:off x="6505575" y="3398838"/>
                    <a:ext cx="1587" cy="6350"/>
                  </a:xfrm>
                  <a:custGeom>
                    <a:avLst/>
                    <a:gdLst/>
                    <a:ahLst/>
                    <a:cxnLst>
                      <a:cxn ang="0">
                        <a:pos x="0" y="3"/>
                      </a:cxn>
                      <a:cxn ang="0">
                        <a:pos x="0" y="0"/>
                      </a:cxn>
                      <a:cxn ang="0">
                        <a:pos x="0" y="3"/>
                      </a:cxn>
                    </a:cxnLst>
                    <a:rect l="0" t="0" r="r" b="b"/>
                    <a:pathLst>
                      <a:path h="3">
                        <a:moveTo>
                          <a:pt x="0" y="3"/>
                        </a:moveTo>
                        <a:cubicBezTo>
                          <a:pt x="0" y="0"/>
                          <a:pt x="0" y="0"/>
                          <a:pt x="0" y="0"/>
                        </a:cubicBezTo>
                        <a:cubicBezTo>
                          <a:pt x="0" y="2"/>
                          <a:pt x="0" y="3"/>
                          <a:pt x="0" y="3"/>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48" name="Freeform 146">
                    <a:extLst>
                      <a:ext uri="{FF2B5EF4-FFF2-40B4-BE49-F238E27FC236}">
                        <a16:creationId xmlns:a16="http://schemas.microsoft.com/office/drawing/2014/main" id="{F14B3E33-D7B0-4541-AE39-E84FA7525B48}"/>
                      </a:ext>
                    </a:extLst>
                  </p:cNvPr>
                  <p:cNvSpPr>
                    <a:spLocks/>
                  </p:cNvSpPr>
                  <p:nvPr/>
                </p:nvSpPr>
                <p:spPr bwMode="auto">
                  <a:xfrm>
                    <a:off x="6329363" y="4614863"/>
                    <a:ext cx="1587" cy="6350"/>
                  </a:xfrm>
                  <a:custGeom>
                    <a:avLst/>
                    <a:gdLst/>
                    <a:ahLst/>
                    <a:cxnLst>
                      <a:cxn ang="0">
                        <a:pos x="0" y="0"/>
                      </a:cxn>
                      <a:cxn ang="0">
                        <a:pos x="0" y="3"/>
                      </a:cxn>
                      <a:cxn ang="0">
                        <a:pos x="0" y="0"/>
                      </a:cxn>
                    </a:cxnLst>
                    <a:rect l="0" t="0" r="r" b="b"/>
                    <a:pathLst>
                      <a:path h="3">
                        <a:moveTo>
                          <a:pt x="0" y="0"/>
                        </a:moveTo>
                        <a:cubicBezTo>
                          <a:pt x="0" y="3"/>
                          <a:pt x="0" y="3"/>
                          <a:pt x="0" y="3"/>
                        </a:cubicBezTo>
                        <a:cubicBezTo>
                          <a:pt x="0" y="2"/>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49" name="Freeform 147">
                    <a:extLst>
                      <a:ext uri="{FF2B5EF4-FFF2-40B4-BE49-F238E27FC236}">
                        <a16:creationId xmlns:a16="http://schemas.microsoft.com/office/drawing/2014/main" id="{5A29F36C-9494-46ED-ABD6-E1DC8328D5B5}"/>
                      </a:ext>
                    </a:extLst>
                  </p:cNvPr>
                  <p:cNvSpPr>
                    <a:spLocks/>
                  </p:cNvSpPr>
                  <p:nvPr/>
                </p:nvSpPr>
                <p:spPr bwMode="auto">
                  <a:xfrm>
                    <a:off x="6405563" y="3765550"/>
                    <a:ext cx="3175" cy="4763"/>
                  </a:xfrm>
                  <a:custGeom>
                    <a:avLst/>
                    <a:gdLst/>
                    <a:ahLst/>
                    <a:cxnLst>
                      <a:cxn ang="0">
                        <a:pos x="0" y="2"/>
                      </a:cxn>
                      <a:cxn ang="0">
                        <a:pos x="1" y="0"/>
                      </a:cxn>
                      <a:cxn ang="0">
                        <a:pos x="0" y="2"/>
                      </a:cxn>
                    </a:cxnLst>
                    <a:rect l="0" t="0" r="r" b="b"/>
                    <a:pathLst>
                      <a:path w="1" h="2">
                        <a:moveTo>
                          <a:pt x="0" y="2"/>
                        </a:moveTo>
                        <a:cubicBezTo>
                          <a:pt x="1" y="0"/>
                          <a:pt x="1" y="0"/>
                          <a:pt x="1" y="0"/>
                        </a:cubicBezTo>
                        <a:cubicBezTo>
                          <a:pt x="0" y="1"/>
                          <a:pt x="0" y="2"/>
                          <a:pt x="0"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50" name="Freeform 148">
                    <a:extLst>
                      <a:ext uri="{FF2B5EF4-FFF2-40B4-BE49-F238E27FC236}">
                        <a16:creationId xmlns:a16="http://schemas.microsoft.com/office/drawing/2014/main" id="{AFBC07FC-084E-4B67-AC7C-007B1CB1674F}"/>
                      </a:ext>
                    </a:extLst>
                  </p:cNvPr>
                  <p:cNvSpPr>
                    <a:spLocks/>
                  </p:cNvSpPr>
                  <p:nvPr/>
                </p:nvSpPr>
                <p:spPr bwMode="auto">
                  <a:xfrm>
                    <a:off x="7507288" y="1978025"/>
                    <a:ext cx="3175" cy="3175"/>
                  </a:xfrm>
                  <a:custGeom>
                    <a:avLst/>
                    <a:gdLst/>
                    <a:ahLst/>
                    <a:cxnLst>
                      <a:cxn ang="0">
                        <a:pos x="0" y="1"/>
                      </a:cxn>
                      <a:cxn ang="0">
                        <a:pos x="1" y="0"/>
                      </a:cxn>
                      <a:cxn ang="0">
                        <a:pos x="0" y="1"/>
                      </a:cxn>
                    </a:cxnLst>
                    <a:rect l="0" t="0" r="r" b="b"/>
                    <a:pathLst>
                      <a:path w="1" h="1">
                        <a:moveTo>
                          <a:pt x="0" y="1"/>
                        </a:moveTo>
                        <a:cubicBezTo>
                          <a:pt x="0" y="1"/>
                          <a:pt x="0" y="1"/>
                          <a:pt x="1" y="0"/>
                        </a:cubicBezTo>
                        <a:cubicBezTo>
                          <a:pt x="1" y="0"/>
                          <a:pt x="1" y="0"/>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51" name="Freeform 149">
                    <a:extLst>
                      <a:ext uri="{FF2B5EF4-FFF2-40B4-BE49-F238E27FC236}">
                        <a16:creationId xmlns:a16="http://schemas.microsoft.com/office/drawing/2014/main" id="{F5D29F04-EF29-4AB2-A31B-135CF00E55D9}"/>
                      </a:ext>
                    </a:extLst>
                  </p:cNvPr>
                  <p:cNvSpPr>
                    <a:spLocks/>
                  </p:cNvSpPr>
                  <p:nvPr/>
                </p:nvSpPr>
                <p:spPr bwMode="auto">
                  <a:xfrm>
                    <a:off x="7335838" y="2182813"/>
                    <a:ext cx="3175" cy="1588"/>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52" name="Freeform 150">
                    <a:extLst>
                      <a:ext uri="{FF2B5EF4-FFF2-40B4-BE49-F238E27FC236}">
                        <a16:creationId xmlns:a16="http://schemas.microsoft.com/office/drawing/2014/main" id="{803296FC-7B65-4918-8AAC-9FD85D111E7B}"/>
                      </a:ext>
                    </a:extLst>
                  </p:cNvPr>
                  <p:cNvSpPr>
                    <a:spLocks/>
                  </p:cNvSpPr>
                  <p:nvPr/>
                </p:nvSpPr>
                <p:spPr bwMode="auto">
                  <a:xfrm>
                    <a:off x="7339013" y="2171700"/>
                    <a:ext cx="6350" cy="11113"/>
                  </a:xfrm>
                  <a:custGeom>
                    <a:avLst/>
                    <a:gdLst/>
                    <a:ahLst/>
                    <a:cxnLst>
                      <a:cxn ang="0">
                        <a:pos x="3" y="0"/>
                      </a:cxn>
                      <a:cxn ang="0">
                        <a:pos x="0" y="4"/>
                      </a:cxn>
                      <a:cxn ang="0">
                        <a:pos x="3" y="0"/>
                      </a:cxn>
                    </a:cxnLst>
                    <a:rect l="0" t="0" r="r" b="b"/>
                    <a:pathLst>
                      <a:path w="3" h="4">
                        <a:moveTo>
                          <a:pt x="3" y="0"/>
                        </a:moveTo>
                        <a:cubicBezTo>
                          <a:pt x="2" y="1"/>
                          <a:pt x="0" y="3"/>
                          <a:pt x="0" y="4"/>
                        </a:cubicBezTo>
                        <a:cubicBezTo>
                          <a:pt x="1" y="3"/>
                          <a:pt x="2" y="2"/>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53" name="Freeform 151">
                    <a:extLst>
                      <a:ext uri="{FF2B5EF4-FFF2-40B4-BE49-F238E27FC236}">
                        <a16:creationId xmlns:a16="http://schemas.microsoft.com/office/drawing/2014/main" id="{18DB0258-D1E0-405E-8DEB-64A2E33142B4}"/>
                      </a:ext>
                    </a:extLst>
                  </p:cNvPr>
                  <p:cNvSpPr>
                    <a:spLocks/>
                  </p:cNvSpPr>
                  <p:nvPr/>
                </p:nvSpPr>
                <p:spPr bwMode="auto">
                  <a:xfrm>
                    <a:off x="7316788" y="2200275"/>
                    <a:ext cx="1587" cy="1588"/>
                  </a:xfrm>
                  <a:custGeom>
                    <a:avLst/>
                    <a:gdLst/>
                    <a:ahLst/>
                    <a:cxnLst>
                      <a:cxn ang="0">
                        <a:pos x="0" y="1"/>
                      </a:cxn>
                      <a:cxn ang="0">
                        <a:pos x="0" y="0"/>
                      </a:cxn>
                      <a:cxn ang="0">
                        <a:pos x="0" y="1"/>
                      </a:cxn>
                    </a:cxnLst>
                    <a:rect l="0" t="0" r="r" b="b"/>
                    <a:pathLst>
                      <a:path h="1">
                        <a:moveTo>
                          <a:pt x="0" y="1"/>
                        </a:move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54" name="Freeform 152">
                    <a:extLst>
                      <a:ext uri="{FF2B5EF4-FFF2-40B4-BE49-F238E27FC236}">
                        <a16:creationId xmlns:a16="http://schemas.microsoft.com/office/drawing/2014/main" id="{7BA9EBC3-C433-46EA-8F11-4884164C0C77}"/>
                      </a:ext>
                    </a:extLst>
                  </p:cNvPr>
                  <p:cNvSpPr>
                    <a:spLocks/>
                  </p:cNvSpPr>
                  <p:nvPr/>
                </p:nvSpPr>
                <p:spPr bwMode="auto">
                  <a:xfrm>
                    <a:off x="7526338" y="202882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55" name="Freeform 153">
                    <a:extLst>
                      <a:ext uri="{FF2B5EF4-FFF2-40B4-BE49-F238E27FC236}">
                        <a16:creationId xmlns:a16="http://schemas.microsoft.com/office/drawing/2014/main" id="{B0B13642-A2F8-4D0E-8AE3-215FB083D2E2}"/>
                      </a:ext>
                    </a:extLst>
                  </p:cNvPr>
                  <p:cNvSpPr>
                    <a:spLocks/>
                  </p:cNvSpPr>
                  <p:nvPr/>
                </p:nvSpPr>
                <p:spPr bwMode="auto">
                  <a:xfrm>
                    <a:off x="7481888" y="2063750"/>
                    <a:ext cx="3175" cy="1588"/>
                  </a:xfrm>
                  <a:custGeom>
                    <a:avLst/>
                    <a:gdLst/>
                    <a:ahLst/>
                    <a:cxnLst>
                      <a:cxn ang="0">
                        <a:pos x="1" y="0"/>
                      </a:cxn>
                      <a:cxn ang="0">
                        <a:pos x="0" y="0"/>
                      </a:cxn>
                      <a:cxn ang="0">
                        <a:pos x="1" y="0"/>
                      </a:cxn>
                    </a:cxnLst>
                    <a:rect l="0" t="0" r="r" b="b"/>
                    <a:pathLst>
                      <a:path w="1">
                        <a:moveTo>
                          <a:pt x="1" y="0"/>
                        </a:moveTo>
                        <a:cubicBezTo>
                          <a:pt x="1"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56" name="Freeform 154">
                    <a:extLst>
                      <a:ext uri="{FF2B5EF4-FFF2-40B4-BE49-F238E27FC236}">
                        <a16:creationId xmlns:a16="http://schemas.microsoft.com/office/drawing/2014/main" id="{77412845-25D8-4778-B13E-F14137A1294A}"/>
                      </a:ext>
                    </a:extLst>
                  </p:cNvPr>
                  <p:cNvSpPr>
                    <a:spLocks/>
                  </p:cNvSpPr>
                  <p:nvPr/>
                </p:nvSpPr>
                <p:spPr bwMode="auto">
                  <a:xfrm>
                    <a:off x="7221538" y="23018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57" name="Freeform 155">
                    <a:extLst>
                      <a:ext uri="{FF2B5EF4-FFF2-40B4-BE49-F238E27FC236}">
                        <a16:creationId xmlns:a16="http://schemas.microsoft.com/office/drawing/2014/main" id="{01EFA1E3-4876-42B9-A711-5201B850C695}"/>
                      </a:ext>
                    </a:extLst>
                  </p:cNvPr>
                  <p:cNvSpPr>
                    <a:spLocks/>
                  </p:cNvSpPr>
                  <p:nvPr/>
                </p:nvSpPr>
                <p:spPr bwMode="auto">
                  <a:xfrm>
                    <a:off x="6471470" y="1748884"/>
                    <a:ext cx="2265362" cy="2987675"/>
                  </a:xfrm>
                  <a:custGeom>
                    <a:avLst/>
                    <a:gdLst/>
                    <a:ahLst/>
                    <a:cxnLst>
                      <a:cxn ang="0">
                        <a:pos x="295" y="351"/>
                      </a:cxn>
                      <a:cxn ang="0">
                        <a:pos x="339" y="296"/>
                      </a:cxn>
                      <a:cxn ang="0">
                        <a:pos x="362" y="265"/>
                      </a:cxn>
                      <a:cxn ang="0">
                        <a:pos x="377" y="249"/>
                      </a:cxn>
                      <a:cxn ang="0">
                        <a:pos x="403" y="224"/>
                      </a:cxn>
                      <a:cxn ang="0">
                        <a:pos x="411" y="216"/>
                      </a:cxn>
                      <a:cxn ang="0">
                        <a:pos x="427" y="202"/>
                      </a:cxn>
                      <a:cxn ang="0">
                        <a:pos x="458" y="180"/>
                      </a:cxn>
                      <a:cxn ang="0">
                        <a:pos x="477" y="162"/>
                      </a:cxn>
                      <a:cxn ang="0">
                        <a:pos x="512" y="134"/>
                      </a:cxn>
                      <a:cxn ang="0">
                        <a:pos x="530" y="124"/>
                      </a:cxn>
                      <a:cxn ang="0">
                        <a:pos x="558" y="106"/>
                      </a:cxn>
                      <a:cxn ang="0">
                        <a:pos x="583" y="94"/>
                      </a:cxn>
                      <a:cxn ang="0">
                        <a:pos x="620" y="71"/>
                      </a:cxn>
                      <a:cxn ang="0">
                        <a:pos x="662" y="54"/>
                      </a:cxn>
                      <a:cxn ang="0">
                        <a:pos x="704" y="40"/>
                      </a:cxn>
                      <a:cxn ang="0">
                        <a:pos x="735" y="30"/>
                      </a:cxn>
                      <a:cxn ang="0">
                        <a:pos x="758" y="25"/>
                      </a:cxn>
                      <a:cxn ang="0">
                        <a:pos x="759" y="26"/>
                      </a:cxn>
                      <a:cxn ang="0">
                        <a:pos x="785" y="19"/>
                      </a:cxn>
                      <a:cxn ang="0">
                        <a:pos x="800" y="15"/>
                      </a:cxn>
                      <a:cxn ang="0">
                        <a:pos x="820" y="12"/>
                      </a:cxn>
                      <a:cxn ang="0">
                        <a:pos x="870" y="10"/>
                      </a:cxn>
                      <a:cxn ang="0">
                        <a:pos x="906" y="8"/>
                      </a:cxn>
                      <a:cxn ang="0">
                        <a:pos x="880" y="2"/>
                      </a:cxn>
                      <a:cxn ang="0">
                        <a:pos x="860" y="3"/>
                      </a:cxn>
                      <a:cxn ang="0">
                        <a:pos x="836" y="3"/>
                      </a:cxn>
                      <a:cxn ang="0">
                        <a:pos x="793" y="6"/>
                      </a:cxn>
                      <a:cxn ang="0">
                        <a:pos x="772" y="11"/>
                      </a:cxn>
                      <a:cxn ang="0">
                        <a:pos x="753" y="14"/>
                      </a:cxn>
                      <a:cxn ang="0">
                        <a:pos x="685" y="33"/>
                      </a:cxn>
                      <a:cxn ang="0">
                        <a:pos x="652" y="43"/>
                      </a:cxn>
                      <a:cxn ang="0">
                        <a:pos x="635" y="50"/>
                      </a:cxn>
                      <a:cxn ang="0">
                        <a:pos x="605" y="64"/>
                      </a:cxn>
                      <a:cxn ang="0">
                        <a:pos x="569" y="81"/>
                      </a:cxn>
                      <a:cxn ang="0">
                        <a:pos x="547" y="90"/>
                      </a:cxn>
                      <a:cxn ang="0">
                        <a:pos x="500" y="120"/>
                      </a:cxn>
                      <a:cxn ang="0">
                        <a:pos x="454" y="152"/>
                      </a:cxn>
                      <a:cxn ang="0">
                        <a:pos x="418" y="183"/>
                      </a:cxn>
                      <a:cxn ang="0">
                        <a:pos x="399" y="199"/>
                      </a:cxn>
                      <a:cxn ang="0">
                        <a:pos x="372" y="223"/>
                      </a:cxn>
                      <a:cxn ang="0">
                        <a:pos x="333" y="260"/>
                      </a:cxn>
                      <a:cxn ang="0">
                        <a:pos x="303" y="297"/>
                      </a:cxn>
                      <a:cxn ang="0">
                        <a:pos x="252" y="360"/>
                      </a:cxn>
                      <a:cxn ang="0">
                        <a:pos x="200" y="442"/>
                      </a:cxn>
                      <a:cxn ang="0">
                        <a:pos x="184" y="468"/>
                      </a:cxn>
                      <a:cxn ang="0">
                        <a:pos x="168" y="498"/>
                      </a:cxn>
                      <a:cxn ang="0">
                        <a:pos x="143" y="549"/>
                      </a:cxn>
                      <a:cxn ang="0">
                        <a:pos x="99" y="648"/>
                      </a:cxn>
                      <a:cxn ang="0">
                        <a:pos x="68" y="741"/>
                      </a:cxn>
                      <a:cxn ang="0">
                        <a:pos x="38" y="844"/>
                      </a:cxn>
                      <a:cxn ang="0">
                        <a:pos x="0" y="1116"/>
                      </a:cxn>
                      <a:cxn ang="0">
                        <a:pos x="9" y="1197"/>
                      </a:cxn>
                      <a:cxn ang="0">
                        <a:pos x="11" y="1180"/>
                      </a:cxn>
                      <a:cxn ang="0">
                        <a:pos x="15" y="1154"/>
                      </a:cxn>
                      <a:cxn ang="0">
                        <a:pos x="18" y="1114"/>
                      </a:cxn>
                      <a:cxn ang="0">
                        <a:pos x="40" y="988"/>
                      </a:cxn>
                      <a:cxn ang="0">
                        <a:pos x="89" y="767"/>
                      </a:cxn>
                      <a:cxn ang="0">
                        <a:pos x="117" y="681"/>
                      </a:cxn>
                      <a:cxn ang="0">
                        <a:pos x="157" y="582"/>
                      </a:cxn>
                      <a:cxn ang="0">
                        <a:pos x="164" y="564"/>
                      </a:cxn>
                      <a:cxn ang="0">
                        <a:pos x="193" y="510"/>
                      </a:cxn>
                      <a:cxn ang="0">
                        <a:pos x="216" y="471"/>
                      </a:cxn>
                    </a:cxnLst>
                    <a:rect l="0" t="0" r="r" b="b"/>
                    <a:pathLst>
                      <a:path w="913" h="1204">
                        <a:moveTo>
                          <a:pt x="243" y="429"/>
                        </a:moveTo>
                        <a:cubicBezTo>
                          <a:pt x="254" y="411"/>
                          <a:pt x="268" y="388"/>
                          <a:pt x="280" y="372"/>
                        </a:cubicBezTo>
                        <a:cubicBezTo>
                          <a:pt x="282" y="368"/>
                          <a:pt x="286" y="362"/>
                          <a:pt x="289" y="357"/>
                        </a:cubicBezTo>
                        <a:cubicBezTo>
                          <a:pt x="291" y="358"/>
                          <a:pt x="291" y="358"/>
                          <a:pt x="291" y="358"/>
                        </a:cubicBezTo>
                        <a:cubicBezTo>
                          <a:pt x="294" y="353"/>
                          <a:pt x="294" y="353"/>
                          <a:pt x="294" y="353"/>
                        </a:cubicBezTo>
                        <a:cubicBezTo>
                          <a:pt x="296" y="351"/>
                          <a:pt x="292" y="356"/>
                          <a:pt x="295" y="354"/>
                        </a:cubicBezTo>
                        <a:cubicBezTo>
                          <a:pt x="295" y="351"/>
                          <a:pt x="295" y="351"/>
                          <a:pt x="295" y="351"/>
                        </a:cubicBezTo>
                        <a:cubicBezTo>
                          <a:pt x="296" y="351"/>
                          <a:pt x="304" y="341"/>
                          <a:pt x="299" y="349"/>
                        </a:cubicBezTo>
                        <a:cubicBezTo>
                          <a:pt x="304" y="343"/>
                          <a:pt x="308" y="338"/>
                          <a:pt x="313" y="332"/>
                        </a:cubicBezTo>
                        <a:cubicBezTo>
                          <a:pt x="316" y="329"/>
                          <a:pt x="313" y="329"/>
                          <a:pt x="317" y="325"/>
                        </a:cubicBezTo>
                        <a:cubicBezTo>
                          <a:pt x="318" y="325"/>
                          <a:pt x="316" y="327"/>
                          <a:pt x="317" y="327"/>
                        </a:cubicBezTo>
                        <a:cubicBezTo>
                          <a:pt x="328" y="316"/>
                          <a:pt x="325" y="311"/>
                          <a:pt x="335" y="300"/>
                        </a:cubicBezTo>
                        <a:cubicBezTo>
                          <a:pt x="334" y="301"/>
                          <a:pt x="334" y="301"/>
                          <a:pt x="334" y="301"/>
                        </a:cubicBezTo>
                        <a:cubicBezTo>
                          <a:pt x="336" y="299"/>
                          <a:pt x="339" y="296"/>
                          <a:pt x="339" y="296"/>
                        </a:cubicBezTo>
                        <a:cubicBezTo>
                          <a:pt x="336" y="296"/>
                          <a:pt x="338" y="298"/>
                          <a:pt x="334" y="301"/>
                        </a:cubicBezTo>
                        <a:cubicBezTo>
                          <a:pt x="333" y="299"/>
                          <a:pt x="337" y="296"/>
                          <a:pt x="336" y="295"/>
                        </a:cubicBezTo>
                        <a:cubicBezTo>
                          <a:pt x="338" y="293"/>
                          <a:pt x="339" y="291"/>
                          <a:pt x="341" y="289"/>
                        </a:cubicBezTo>
                        <a:cubicBezTo>
                          <a:pt x="345" y="286"/>
                          <a:pt x="349" y="280"/>
                          <a:pt x="353" y="278"/>
                        </a:cubicBezTo>
                        <a:cubicBezTo>
                          <a:pt x="354" y="276"/>
                          <a:pt x="355" y="273"/>
                          <a:pt x="358" y="269"/>
                        </a:cubicBezTo>
                        <a:cubicBezTo>
                          <a:pt x="362" y="267"/>
                          <a:pt x="359" y="270"/>
                          <a:pt x="363" y="267"/>
                        </a:cubicBezTo>
                        <a:cubicBezTo>
                          <a:pt x="362" y="265"/>
                          <a:pt x="362" y="265"/>
                          <a:pt x="362" y="265"/>
                        </a:cubicBezTo>
                        <a:cubicBezTo>
                          <a:pt x="365" y="262"/>
                          <a:pt x="365" y="263"/>
                          <a:pt x="365" y="264"/>
                        </a:cubicBezTo>
                        <a:cubicBezTo>
                          <a:pt x="369" y="260"/>
                          <a:pt x="367" y="260"/>
                          <a:pt x="371" y="256"/>
                        </a:cubicBezTo>
                        <a:cubicBezTo>
                          <a:pt x="370" y="259"/>
                          <a:pt x="370" y="259"/>
                          <a:pt x="370" y="259"/>
                        </a:cubicBezTo>
                        <a:cubicBezTo>
                          <a:pt x="373" y="256"/>
                          <a:pt x="374" y="255"/>
                          <a:pt x="378" y="251"/>
                        </a:cubicBezTo>
                        <a:cubicBezTo>
                          <a:pt x="378" y="251"/>
                          <a:pt x="377" y="253"/>
                          <a:pt x="375" y="254"/>
                        </a:cubicBezTo>
                        <a:cubicBezTo>
                          <a:pt x="379" y="253"/>
                          <a:pt x="379" y="250"/>
                          <a:pt x="380" y="248"/>
                        </a:cubicBezTo>
                        <a:cubicBezTo>
                          <a:pt x="379" y="249"/>
                          <a:pt x="376" y="251"/>
                          <a:pt x="377" y="249"/>
                        </a:cubicBezTo>
                        <a:cubicBezTo>
                          <a:pt x="379" y="247"/>
                          <a:pt x="381" y="244"/>
                          <a:pt x="383" y="243"/>
                        </a:cubicBezTo>
                        <a:cubicBezTo>
                          <a:pt x="381" y="246"/>
                          <a:pt x="381" y="246"/>
                          <a:pt x="381" y="246"/>
                        </a:cubicBezTo>
                        <a:cubicBezTo>
                          <a:pt x="385" y="241"/>
                          <a:pt x="383" y="243"/>
                          <a:pt x="388" y="238"/>
                        </a:cubicBezTo>
                        <a:cubicBezTo>
                          <a:pt x="388" y="239"/>
                          <a:pt x="388" y="239"/>
                          <a:pt x="388" y="239"/>
                        </a:cubicBezTo>
                        <a:cubicBezTo>
                          <a:pt x="390" y="235"/>
                          <a:pt x="395" y="232"/>
                          <a:pt x="400" y="227"/>
                        </a:cubicBezTo>
                        <a:cubicBezTo>
                          <a:pt x="399" y="228"/>
                          <a:pt x="399" y="228"/>
                          <a:pt x="399" y="228"/>
                        </a:cubicBezTo>
                        <a:cubicBezTo>
                          <a:pt x="401" y="226"/>
                          <a:pt x="402" y="225"/>
                          <a:pt x="403" y="224"/>
                        </a:cubicBezTo>
                        <a:cubicBezTo>
                          <a:pt x="399" y="226"/>
                          <a:pt x="400" y="225"/>
                          <a:pt x="399" y="224"/>
                        </a:cubicBezTo>
                        <a:cubicBezTo>
                          <a:pt x="404" y="222"/>
                          <a:pt x="403" y="218"/>
                          <a:pt x="410" y="213"/>
                        </a:cubicBezTo>
                        <a:cubicBezTo>
                          <a:pt x="410" y="214"/>
                          <a:pt x="409" y="216"/>
                          <a:pt x="407" y="217"/>
                        </a:cubicBezTo>
                        <a:cubicBezTo>
                          <a:pt x="406" y="220"/>
                          <a:pt x="407" y="221"/>
                          <a:pt x="404" y="225"/>
                        </a:cubicBezTo>
                        <a:cubicBezTo>
                          <a:pt x="406" y="223"/>
                          <a:pt x="408" y="220"/>
                          <a:pt x="408" y="221"/>
                        </a:cubicBezTo>
                        <a:cubicBezTo>
                          <a:pt x="408" y="219"/>
                          <a:pt x="408" y="219"/>
                          <a:pt x="408" y="219"/>
                        </a:cubicBezTo>
                        <a:cubicBezTo>
                          <a:pt x="409" y="218"/>
                          <a:pt x="410" y="217"/>
                          <a:pt x="411" y="216"/>
                        </a:cubicBezTo>
                        <a:cubicBezTo>
                          <a:pt x="411" y="215"/>
                          <a:pt x="408" y="217"/>
                          <a:pt x="410" y="214"/>
                        </a:cubicBezTo>
                        <a:cubicBezTo>
                          <a:pt x="414" y="210"/>
                          <a:pt x="413" y="213"/>
                          <a:pt x="413" y="212"/>
                        </a:cubicBezTo>
                        <a:cubicBezTo>
                          <a:pt x="418" y="208"/>
                          <a:pt x="414" y="209"/>
                          <a:pt x="419" y="205"/>
                        </a:cubicBezTo>
                        <a:cubicBezTo>
                          <a:pt x="419" y="206"/>
                          <a:pt x="418" y="207"/>
                          <a:pt x="418" y="207"/>
                        </a:cubicBezTo>
                        <a:cubicBezTo>
                          <a:pt x="422" y="205"/>
                          <a:pt x="426" y="200"/>
                          <a:pt x="428" y="200"/>
                        </a:cubicBezTo>
                        <a:cubicBezTo>
                          <a:pt x="428" y="201"/>
                          <a:pt x="428" y="201"/>
                          <a:pt x="427" y="202"/>
                        </a:cubicBezTo>
                        <a:cubicBezTo>
                          <a:pt x="427" y="202"/>
                          <a:pt x="427" y="202"/>
                          <a:pt x="427" y="202"/>
                        </a:cubicBezTo>
                        <a:cubicBezTo>
                          <a:pt x="424" y="207"/>
                          <a:pt x="430" y="199"/>
                          <a:pt x="430" y="201"/>
                        </a:cubicBezTo>
                        <a:cubicBezTo>
                          <a:pt x="429" y="201"/>
                          <a:pt x="434" y="197"/>
                          <a:pt x="436" y="195"/>
                        </a:cubicBezTo>
                        <a:cubicBezTo>
                          <a:pt x="435" y="195"/>
                          <a:pt x="435" y="195"/>
                          <a:pt x="435" y="195"/>
                        </a:cubicBezTo>
                        <a:cubicBezTo>
                          <a:pt x="440" y="186"/>
                          <a:pt x="436" y="197"/>
                          <a:pt x="443" y="190"/>
                        </a:cubicBezTo>
                        <a:cubicBezTo>
                          <a:pt x="447" y="186"/>
                          <a:pt x="441" y="192"/>
                          <a:pt x="443" y="189"/>
                        </a:cubicBezTo>
                        <a:cubicBezTo>
                          <a:pt x="446" y="186"/>
                          <a:pt x="448" y="186"/>
                          <a:pt x="452" y="182"/>
                        </a:cubicBezTo>
                        <a:cubicBezTo>
                          <a:pt x="454" y="181"/>
                          <a:pt x="457" y="180"/>
                          <a:pt x="458" y="180"/>
                        </a:cubicBezTo>
                        <a:cubicBezTo>
                          <a:pt x="461" y="178"/>
                          <a:pt x="467" y="174"/>
                          <a:pt x="468" y="172"/>
                        </a:cubicBezTo>
                        <a:cubicBezTo>
                          <a:pt x="462" y="175"/>
                          <a:pt x="464" y="177"/>
                          <a:pt x="457" y="180"/>
                        </a:cubicBezTo>
                        <a:cubicBezTo>
                          <a:pt x="458" y="178"/>
                          <a:pt x="458" y="178"/>
                          <a:pt x="458" y="178"/>
                        </a:cubicBezTo>
                        <a:cubicBezTo>
                          <a:pt x="462" y="174"/>
                          <a:pt x="467" y="170"/>
                          <a:pt x="470" y="168"/>
                        </a:cubicBezTo>
                        <a:cubicBezTo>
                          <a:pt x="469" y="168"/>
                          <a:pt x="469" y="168"/>
                          <a:pt x="469" y="168"/>
                        </a:cubicBezTo>
                        <a:cubicBezTo>
                          <a:pt x="474" y="163"/>
                          <a:pt x="475" y="161"/>
                          <a:pt x="481" y="157"/>
                        </a:cubicBezTo>
                        <a:cubicBezTo>
                          <a:pt x="482" y="157"/>
                          <a:pt x="479" y="160"/>
                          <a:pt x="477" y="162"/>
                        </a:cubicBezTo>
                        <a:cubicBezTo>
                          <a:pt x="481" y="160"/>
                          <a:pt x="480" y="159"/>
                          <a:pt x="486" y="155"/>
                        </a:cubicBezTo>
                        <a:cubicBezTo>
                          <a:pt x="487" y="156"/>
                          <a:pt x="482" y="158"/>
                          <a:pt x="482" y="159"/>
                        </a:cubicBezTo>
                        <a:cubicBezTo>
                          <a:pt x="488" y="154"/>
                          <a:pt x="488" y="154"/>
                          <a:pt x="488" y="154"/>
                        </a:cubicBezTo>
                        <a:cubicBezTo>
                          <a:pt x="488" y="154"/>
                          <a:pt x="488" y="154"/>
                          <a:pt x="488" y="154"/>
                        </a:cubicBezTo>
                        <a:cubicBezTo>
                          <a:pt x="488" y="152"/>
                          <a:pt x="493" y="151"/>
                          <a:pt x="497" y="148"/>
                        </a:cubicBezTo>
                        <a:cubicBezTo>
                          <a:pt x="506" y="141"/>
                          <a:pt x="506" y="139"/>
                          <a:pt x="510" y="134"/>
                        </a:cubicBezTo>
                        <a:cubicBezTo>
                          <a:pt x="512" y="133"/>
                          <a:pt x="513" y="134"/>
                          <a:pt x="512" y="134"/>
                        </a:cubicBezTo>
                        <a:cubicBezTo>
                          <a:pt x="510" y="135"/>
                          <a:pt x="510" y="135"/>
                          <a:pt x="510" y="136"/>
                        </a:cubicBezTo>
                        <a:cubicBezTo>
                          <a:pt x="513" y="134"/>
                          <a:pt x="518" y="133"/>
                          <a:pt x="516" y="135"/>
                        </a:cubicBezTo>
                        <a:cubicBezTo>
                          <a:pt x="521" y="131"/>
                          <a:pt x="514" y="135"/>
                          <a:pt x="517" y="133"/>
                        </a:cubicBezTo>
                        <a:cubicBezTo>
                          <a:pt x="524" y="128"/>
                          <a:pt x="524" y="128"/>
                          <a:pt x="524" y="128"/>
                        </a:cubicBezTo>
                        <a:cubicBezTo>
                          <a:pt x="522" y="128"/>
                          <a:pt x="520" y="130"/>
                          <a:pt x="523" y="127"/>
                        </a:cubicBezTo>
                        <a:cubicBezTo>
                          <a:pt x="526" y="125"/>
                          <a:pt x="527" y="124"/>
                          <a:pt x="531" y="121"/>
                        </a:cubicBezTo>
                        <a:cubicBezTo>
                          <a:pt x="531" y="122"/>
                          <a:pt x="533" y="122"/>
                          <a:pt x="530" y="124"/>
                        </a:cubicBezTo>
                        <a:cubicBezTo>
                          <a:pt x="533" y="123"/>
                          <a:pt x="536" y="121"/>
                          <a:pt x="536" y="119"/>
                        </a:cubicBezTo>
                        <a:cubicBezTo>
                          <a:pt x="531" y="121"/>
                          <a:pt x="543" y="114"/>
                          <a:pt x="539" y="115"/>
                        </a:cubicBezTo>
                        <a:cubicBezTo>
                          <a:pt x="544" y="113"/>
                          <a:pt x="544" y="113"/>
                          <a:pt x="544" y="113"/>
                        </a:cubicBezTo>
                        <a:cubicBezTo>
                          <a:pt x="543" y="114"/>
                          <a:pt x="543" y="114"/>
                          <a:pt x="541" y="115"/>
                        </a:cubicBezTo>
                        <a:cubicBezTo>
                          <a:pt x="543" y="115"/>
                          <a:pt x="545" y="112"/>
                          <a:pt x="546" y="111"/>
                        </a:cubicBezTo>
                        <a:cubicBezTo>
                          <a:pt x="548" y="111"/>
                          <a:pt x="552" y="108"/>
                          <a:pt x="553" y="109"/>
                        </a:cubicBezTo>
                        <a:cubicBezTo>
                          <a:pt x="554" y="108"/>
                          <a:pt x="557" y="106"/>
                          <a:pt x="558" y="106"/>
                        </a:cubicBezTo>
                        <a:cubicBezTo>
                          <a:pt x="560" y="105"/>
                          <a:pt x="558" y="105"/>
                          <a:pt x="559" y="104"/>
                        </a:cubicBezTo>
                        <a:cubicBezTo>
                          <a:pt x="566" y="100"/>
                          <a:pt x="566" y="100"/>
                          <a:pt x="566" y="100"/>
                        </a:cubicBezTo>
                        <a:cubicBezTo>
                          <a:pt x="567" y="101"/>
                          <a:pt x="568" y="102"/>
                          <a:pt x="567" y="103"/>
                        </a:cubicBezTo>
                        <a:cubicBezTo>
                          <a:pt x="570" y="101"/>
                          <a:pt x="567" y="101"/>
                          <a:pt x="571" y="98"/>
                        </a:cubicBezTo>
                        <a:cubicBezTo>
                          <a:pt x="570" y="101"/>
                          <a:pt x="577" y="96"/>
                          <a:pt x="575" y="100"/>
                        </a:cubicBezTo>
                        <a:cubicBezTo>
                          <a:pt x="577" y="99"/>
                          <a:pt x="584" y="96"/>
                          <a:pt x="588" y="93"/>
                        </a:cubicBezTo>
                        <a:cubicBezTo>
                          <a:pt x="589" y="91"/>
                          <a:pt x="583" y="95"/>
                          <a:pt x="583" y="94"/>
                        </a:cubicBezTo>
                        <a:cubicBezTo>
                          <a:pt x="593" y="88"/>
                          <a:pt x="592" y="85"/>
                          <a:pt x="601" y="81"/>
                        </a:cubicBezTo>
                        <a:cubicBezTo>
                          <a:pt x="598" y="82"/>
                          <a:pt x="598" y="82"/>
                          <a:pt x="598" y="82"/>
                        </a:cubicBezTo>
                        <a:cubicBezTo>
                          <a:pt x="603" y="79"/>
                          <a:pt x="602" y="80"/>
                          <a:pt x="605" y="77"/>
                        </a:cubicBezTo>
                        <a:cubicBezTo>
                          <a:pt x="604" y="79"/>
                          <a:pt x="612" y="78"/>
                          <a:pt x="620" y="74"/>
                        </a:cubicBezTo>
                        <a:cubicBezTo>
                          <a:pt x="620" y="73"/>
                          <a:pt x="615" y="75"/>
                          <a:pt x="616" y="73"/>
                        </a:cubicBezTo>
                        <a:cubicBezTo>
                          <a:pt x="621" y="70"/>
                          <a:pt x="621" y="70"/>
                          <a:pt x="621" y="70"/>
                        </a:cubicBezTo>
                        <a:cubicBezTo>
                          <a:pt x="622" y="70"/>
                          <a:pt x="621" y="71"/>
                          <a:pt x="620" y="71"/>
                        </a:cubicBezTo>
                        <a:cubicBezTo>
                          <a:pt x="625" y="69"/>
                          <a:pt x="630" y="69"/>
                          <a:pt x="631" y="67"/>
                        </a:cubicBezTo>
                        <a:cubicBezTo>
                          <a:pt x="637" y="67"/>
                          <a:pt x="637" y="67"/>
                          <a:pt x="637" y="67"/>
                        </a:cubicBezTo>
                        <a:cubicBezTo>
                          <a:pt x="634" y="67"/>
                          <a:pt x="634" y="67"/>
                          <a:pt x="634" y="67"/>
                        </a:cubicBezTo>
                        <a:cubicBezTo>
                          <a:pt x="635" y="66"/>
                          <a:pt x="640" y="63"/>
                          <a:pt x="641" y="62"/>
                        </a:cubicBezTo>
                        <a:cubicBezTo>
                          <a:pt x="646" y="59"/>
                          <a:pt x="649" y="59"/>
                          <a:pt x="652" y="59"/>
                        </a:cubicBezTo>
                        <a:cubicBezTo>
                          <a:pt x="651" y="58"/>
                          <a:pt x="648" y="58"/>
                          <a:pt x="652" y="56"/>
                        </a:cubicBezTo>
                        <a:cubicBezTo>
                          <a:pt x="653" y="58"/>
                          <a:pt x="662" y="53"/>
                          <a:pt x="662" y="54"/>
                        </a:cubicBezTo>
                        <a:cubicBezTo>
                          <a:pt x="664" y="54"/>
                          <a:pt x="668" y="53"/>
                          <a:pt x="667" y="52"/>
                        </a:cubicBezTo>
                        <a:cubicBezTo>
                          <a:pt x="668" y="54"/>
                          <a:pt x="668" y="54"/>
                          <a:pt x="668" y="54"/>
                        </a:cubicBezTo>
                        <a:cubicBezTo>
                          <a:pt x="667" y="52"/>
                          <a:pt x="674" y="49"/>
                          <a:pt x="679" y="47"/>
                        </a:cubicBezTo>
                        <a:cubicBezTo>
                          <a:pt x="679" y="50"/>
                          <a:pt x="684" y="45"/>
                          <a:pt x="688" y="46"/>
                        </a:cubicBezTo>
                        <a:cubicBezTo>
                          <a:pt x="688" y="44"/>
                          <a:pt x="696" y="43"/>
                          <a:pt x="697" y="41"/>
                        </a:cubicBezTo>
                        <a:cubicBezTo>
                          <a:pt x="701" y="39"/>
                          <a:pt x="701" y="41"/>
                          <a:pt x="702" y="41"/>
                        </a:cubicBezTo>
                        <a:cubicBezTo>
                          <a:pt x="704" y="40"/>
                          <a:pt x="704" y="40"/>
                          <a:pt x="704" y="40"/>
                        </a:cubicBezTo>
                        <a:cubicBezTo>
                          <a:pt x="706" y="40"/>
                          <a:pt x="713" y="38"/>
                          <a:pt x="718" y="37"/>
                        </a:cubicBezTo>
                        <a:cubicBezTo>
                          <a:pt x="722" y="35"/>
                          <a:pt x="722" y="35"/>
                          <a:pt x="722" y="35"/>
                        </a:cubicBezTo>
                        <a:cubicBezTo>
                          <a:pt x="723" y="35"/>
                          <a:pt x="723" y="35"/>
                          <a:pt x="723" y="35"/>
                        </a:cubicBezTo>
                        <a:cubicBezTo>
                          <a:pt x="724" y="34"/>
                          <a:pt x="727" y="33"/>
                          <a:pt x="725" y="33"/>
                        </a:cubicBezTo>
                        <a:cubicBezTo>
                          <a:pt x="727" y="33"/>
                          <a:pt x="727" y="33"/>
                          <a:pt x="727" y="33"/>
                        </a:cubicBezTo>
                        <a:cubicBezTo>
                          <a:pt x="727" y="31"/>
                          <a:pt x="730" y="31"/>
                          <a:pt x="735" y="29"/>
                        </a:cubicBezTo>
                        <a:cubicBezTo>
                          <a:pt x="736" y="29"/>
                          <a:pt x="736" y="30"/>
                          <a:pt x="735" y="30"/>
                        </a:cubicBezTo>
                        <a:cubicBezTo>
                          <a:pt x="737" y="30"/>
                          <a:pt x="736" y="31"/>
                          <a:pt x="738" y="31"/>
                        </a:cubicBezTo>
                        <a:cubicBezTo>
                          <a:pt x="736" y="31"/>
                          <a:pt x="745" y="26"/>
                          <a:pt x="739" y="27"/>
                        </a:cubicBezTo>
                        <a:cubicBezTo>
                          <a:pt x="738" y="26"/>
                          <a:pt x="741" y="25"/>
                          <a:pt x="744" y="24"/>
                        </a:cubicBezTo>
                        <a:cubicBezTo>
                          <a:pt x="745" y="26"/>
                          <a:pt x="745" y="26"/>
                          <a:pt x="745" y="26"/>
                        </a:cubicBezTo>
                        <a:cubicBezTo>
                          <a:pt x="748" y="23"/>
                          <a:pt x="748" y="23"/>
                          <a:pt x="748" y="23"/>
                        </a:cubicBezTo>
                        <a:cubicBezTo>
                          <a:pt x="751" y="22"/>
                          <a:pt x="753" y="23"/>
                          <a:pt x="756" y="22"/>
                        </a:cubicBezTo>
                        <a:cubicBezTo>
                          <a:pt x="753" y="23"/>
                          <a:pt x="750" y="27"/>
                          <a:pt x="758" y="25"/>
                        </a:cubicBezTo>
                        <a:cubicBezTo>
                          <a:pt x="754" y="26"/>
                          <a:pt x="752" y="28"/>
                          <a:pt x="750" y="28"/>
                        </a:cubicBezTo>
                        <a:cubicBezTo>
                          <a:pt x="752" y="28"/>
                          <a:pt x="752" y="28"/>
                          <a:pt x="750" y="29"/>
                        </a:cubicBezTo>
                        <a:cubicBezTo>
                          <a:pt x="756" y="27"/>
                          <a:pt x="752" y="28"/>
                          <a:pt x="758" y="26"/>
                        </a:cubicBezTo>
                        <a:cubicBezTo>
                          <a:pt x="758" y="28"/>
                          <a:pt x="759" y="28"/>
                          <a:pt x="764" y="27"/>
                        </a:cubicBezTo>
                        <a:cubicBezTo>
                          <a:pt x="760" y="27"/>
                          <a:pt x="760" y="27"/>
                          <a:pt x="760" y="27"/>
                        </a:cubicBezTo>
                        <a:cubicBezTo>
                          <a:pt x="761" y="27"/>
                          <a:pt x="761" y="27"/>
                          <a:pt x="761" y="26"/>
                        </a:cubicBezTo>
                        <a:cubicBezTo>
                          <a:pt x="760" y="27"/>
                          <a:pt x="759" y="26"/>
                          <a:pt x="759" y="26"/>
                        </a:cubicBezTo>
                        <a:cubicBezTo>
                          <a:pt x="760" y="26"/>
                          <a:pt x="765" y="23"/>
                          <a:pt x="766" y="23"/>
                        </a:cubicBezTo>
                        <a:cubicBezTo>
                          <a:pt x="760" y="22"/>
                          <a:pt x="776" y="19"/>
                          <a:pt x="772" y="19"/>
                        </a:cubicBezTo>
                        <a:cubicBezTo>
                          <a:pt x="773" y="18"/>
                          <a:pt x="777" y="17"/>
                          <a:pt x="777" y="18"/>
                        </a:cubicBezTo>
                        <a:cubicBezTo>
                          <a:pt x="772" y="20"/>
                          <a:pt x="781" y="19"/>
                          <a:pt x="781" y="20"/>
                        </a:cubicBezTo>
                        <a:cubicBezTo>
                          <a:pt x="782" y="19"/>
                          <a:pt x="777" y="20"/>
                          <a:pt x="779" y="19"/>
                        </a:cubicBezTo>
                        <a:cubicBezTo>
                          <a:pt x="782" y="18"/>
                          <a:pt x="784" y="19"/>
                          <a:pt x="786" y="19"/>
                        </a:cubicBezTo>
                        <a:cubicBezTo>
                          <a:pt x="785" y="19"/>
                          <a:pt x="785" y="19"/>
                          <a:pt x="785" y="19"/>
                        </a:cubicBezTo>
                        <a:cubicBezTo>
                          <a:pt x="789" y="19"/>
                          <a:pt x="789" y="19"/>
                          <a:pt x="789" y="19"/>
                        </a:cubicBezTo>
                        <a:cubicBezTo>
                          <a:pt x="790" y="18"/>
                          <a:pt x="785" y="19"/>
                          <a:pt x="789" y="17"/>
                        </a:cubicBezTo>
                        <a:cubicBezTo>
                          <a:pt x="790" y="18"/>
                          <a:pt x="794" y="16"/>
                          <a:pt x="794" y="17"/>
                        </a:cubicBezTo>
                        <a:cubicBezTo>
                          <a:pt x="792" y="18"/>
                          <a:pt x="794" y="19"/>
                          <a:pt x="790" y="20"/>
                        </a:cubicBezTo>
                        <a:cubicBezTo>
                          <a:pt x="793" y="20"/>
                          <a:pt x="802" y="18"/>
                          <a:pt x="798" y="17"/>
                        </a:cubicBezTo>
                        <a:cubicBezTo>
                          <a:pt x="802" y="17"/>
                          <a:pt x="802" y="17"/>
                          <a:pt x="802" y="17"/>
                        </a:cubicBezTo>
                        <a:cubicBezTo>
                          <a:pt x="800" y="16"/>
                          <a:pt x="793" y="16"/>
                          <a:pt x="800" y="15"/>
                        </a:cubicBezTo>
                        <a:cubicBezTo>
                          <a:pt x="800" y="15"/>
                          <a:pt x="800" y="15"/>
                          <a:pt x="800" y="15"/>
                        </a:cubicBezTo>
                        <a:cubicBezTo>
                          <a:pt x="805" y="13"/>
                          <a:pt x="805" y="13"/>
                          <a:pt x="805" y="13"/>
                        </a:cubicBezTo>
                        <a:cubicBezTo>
                          <a:pt x="807" y="14"/>
                          <a:pt x="807" y="14"/>
                          <a:pt x="807" y="14"/>
                        </a:cubicBezTo>
                        <a:cubicBezTo>
                          <a:pt x="807" y="13"/>
                          <a:pt x="808" y="13"/>
                          <a:pt x="810" y="13"/>
                        </a:cubicBezTo>
                        <a:cubicBezTo>
                          <a:pt x="810" y="13"/>
                          <a:pt x="812" y="13"/>
                          <a:pt x="812" y="14"/>
                        </a:cubicBezTo>
                        <a:cubicBezTo>
                          <a:pt x="817" y="13"/>
                          <a:pt x="817" y="12"/>
                          <a:pt x="817" y="12"/>
                        </a:cubicBezTo>
                        <a:cubicBezTo>
                          <a:pt x="820" y="11"/>
                          <a:pt x="821" y="11"/>
                          <a:pt x="820" y="12"/>
                        </a:cubicBezTo>
                        <a:cubicBezTo>
                          <a:pt x="824" y="12"/>
                          <a:pt x="831" y="11"/>
                          <a:pt x="834" y="11"/>
                        </a:cubicBezTo>
                        <a:cubicBezTo>
                          <a:pt x="839" y="10"/>
                          <a:pt x="833" y="11"/>
                          <a:pt x="836" y="10"/>
                        </a:cubicBezTo>
                        <a:cubicBezTo>
                          <a:pt x="841" y="12"/>
                          <a:pt x="854" y="9"/>
                          <a:pt x="863" y="8"/>
                        </a:cubicBezTo>
                        <a:cubicBezTo>
                          <a:pt x="860" y="6"/>
                          <a:pt x="865" y="7"/>
                          <a:pt x="867" y="5"/>
                        </a:cubicBezTo>
                        <a:cubicBezTo>
                          <a:pt x="865" y="6"/>
                          <a:pt x="875" y="7"/>
                          <a:pt x="868" y="8"/>
                        </a:cubicBezTo>
                        <a:cubicBezTo>
                          <a:pt x="872" y="7"/>
                          <a:pt x="872" y="7"/>
                          <a:pt x="872" y="7"/>
                        </a:cubicBezTo>
                        <a:cubicBezTo>
                          <a:pt x="876" y="8"/>
                          <a:pt x="865" y="9"/>
                          <a:pt x="870" y="10"/>
                        </a:cubicBezTo>
                        <a:cubicBezTo>
                          <a:pt x="875" y="9"/>
                          <a:pt x="878" y="7"/>
                          <a:pt x="884" y="7"/>
                        </a:cubicBezTo>
                        <a:cubicBezTo>
                          <a:pt x="882" y="9"/>
                          <a:pt x="889" y="7"/>
                          <a:pt x="888" y="9"/>
                        </a:cubicBezTo>
                        <a:cubicBezTo>
                          <a:pt x="887" y="9"/>
                          <a:pt x="885" y="9"/>
                          <a:pt x="883" y="9"/>
                        </a:cubicBezTo>
                        <a:cubicBezTo>
                          <a:pt x="884" y="9"/>
                          <a:pt x="884" y="9"/>
                          <a:pt x="884" y="9"/>
                        </a:cubicBezTo>
                        <a:cubicBezTo>
                          <a:pt x="896" y="9"/>
                          <a:pt x="887" y="7"/>
                          <a:pt x="894" y="6"/>
                        </a:cubicBezTo>
                        <a:cubicBezTo>
                          <a:pt x="901" y="6"/>
                          <a:pt x="899" y="7"/>
                          <a:pt x="900" y="8"/>
                        </a:cubicBezTo>
                        <a:cubicBezTo>
                          <a:pt x="901" y="8"/>
                          <a:pt x="904" y="8"/>
                          <a:pt x="906" y="8"/>
                        </a:cubicBezTo>
                        <a:cubicBezTo>
                          <a:pt x="902" y="9"/>
                          <a:pt x="898" y="7"/>
                          <a:pt x="900" y="6"/>
                        </a:cubicBezTo>
                        <a:cubicBezTo>
                          <a:pt x="903" y="7"/>
                          <a:pt x="911" y="6"/>
                          <a:pt x="913" y="5"/>
                        </a:cubicBezTo>
                        <a:cubicBezTo>
                          <a:pt x="902" y="3"/>
                          <a:pt x="906" y="5"/>
                          <a:pt x="896" y="3"/>
                        </a:cubicBezTo>
                        <a:cubicBezTo>
                          <a:pt x="895" y="4"/>
                          <a:pt x="895" y="5"/>
                          <a:pt x="889" y="5"/>
                        </a:cubicBezTo>
                        <a:cubicBezTo>
                          <a:pt x="893" y="4"/>
                          <a:pt x="889" y="4"/>
                          <a:pt x="888" y="4"/>
                        </a:cubicBezTo>
                        <a:cubicBezTo>
                          <a:pt x="889" y="5"/>
                          <a:pt x="884" y="4"/>
                          <a:pt x="882" y="5"/>
                        </a:cubicBezTo>
                        <a:cubicBezTo>
                          <a:pt x="880" y="4"/>
                          <a:pt x="885" y="2"/>
                          <a:pt x="880" y="2"/>
                        </a:cubicBezTo>
                        <a:cubicBezTo>
                          <a:pt x="879" y="5"/>
                          <a:pt x="879" y="5"/>
                          <a:pt x="879" y="5"/>
                        </a:cubicBezTo>
                        <a:cubicBezTo>
                          <a:pt x="876" y="4"/>
                          <a:pt x="879" y="3"/>
                          <a:pt x="875" y="4"/>
                        </a:cubicBezTo>
                        <a:cubicBezTo>
                          <a:pt x="877" y="2"/>
                          <a:pt x="874" y="2"/>
                          <a:pt x="880" y="1"/>
                        </a:cubicBezTo>
                        <a:cubicBezTo>
                          <a:pt x="872" y="0"/>
                          <a:pt x="868" y="3"/>
                          <a:pt x="862" y="4"/>
                        </a:cubicBezTo>
                        <a:cubicBezTo>
                          <a:pt x="863" y="4"/>
                          <a:pt x="863" y="4"/>
                          <a:pt x="864" y="4"/>
                        </a:cubicBezTo>
                        <a:cubicBezTo>
                          <a:pt x="862" y="4"/>
                          <a:pt x="860" y="4"/>
                          <a:pt x="858" y="5"/>
                        </a:cubicBezTo>
                        <a:cubicBezTo>
                          <a:pt x="854" y="4"/>
                          <a:pt x="861" y="3"/>
                          <a:pt x="860" y="3"/>
                        </a:cubicBezTo>
                        <a:cubicBezTo>
                          <a:pt x="854" y="3"/>
                          <a:pt x="854" y="3"/>
                          <a:pt x="854" y="3"/>
                        </a:cubicBezTo>
                        <a:cubicBezTo>
                          <a:pt x="853" y="3"/>
                          <a:pt x="853" y="3"/>
                          <a:pt x="853" y="3"/>
                        </a:cubicBezTo>
                        <a:cubicBezTo>
                          <a:pt x="852" y="4"/>
                          <a:pt x="850" y="4"/>
                          <a:pt x="850" y="4"/>
                        </a:cubicBezTo>
                        <a:cubicBezTo>
                          <a:pt x="851" y="3"/>
                          <a:pt x="852" y="2"/>
                          <a:pt x="853" y="1"/>
                        </a:cubicBezTo>
                        <a:cubicBezTo>
                          <a:pt x="847" y="3"/>
                          <a:pt x="847" y="3"/>
                          <a:pt x="847" y="3"/>
                        </a:cubicBezTo>
                        <a:cubicBezTo>
                          <a:pt x="847" y="3"/>
                          <a:pt x="841" y="3"/>
                          <a:pt x="846" y="2"/>
                        </a:cubicBezTo>
                        <a:cubicBezTo>
                          <a:pt x="836" y="3"/>
                          <a:pt x="836" y="3"/>
                          <a:pt x="836" y="3"/>
                        </a:cubicBezTo>
                        <a:cubicBezTo>
                          <a:pt x="835" y="2"/>
                          <a:pt x="835" y="2"/>
                          <a:pt x="835" y="2"/>
                        </a:cubicBezTo>
                        <a:cubicBezTo>
                          <a:pt x="832" y="2"/>
                          <a:pt x="832" y="3"/>
                          <a:pt x="835" y="2"/>
                        </a:cubicBezTo>
                        <a:cubicBezTo>
                          <a:pt x="832" y="2"/>
                          <a:pt x="820" y="7"/>
                          <a:pt x="821" y="4"/>
                        </a:cubicBezTo>
                        <a:cubicBezTo>
                          <a:pt x="814" y="6"/>
                          <a:pt x="811" y="6"/>
                          <a:pt x="801" y="8"/>
                        </a:cubicBezTo>
                        <a:cubicBezTo>
                          <a:pt x="808" y="6"/>
                          <a:pt x="793" y="8"/>
                          <a:pt x="800" y="6"/>
                        </a:cubicBezTo>
                        <a:cubicBezTo>
                          <a:pt x="796" y="6"/>
                          <a:pt x="795" y="8"/>
                          <a:pt x="791" y="9"/>
                        </a:cubicBezTo>
                        <a:cubicBezTo>
                          <a:pt x="788" y="9"/>
                          <a:pt x="789" y="7"/>
                          <a:pt x="793" y="6"/>
                        </a:cubicBezTo>
                        <a:cubicBezTo>
                          <a:pt x="789" y="7"/>
                          <a:pt x="789" y="7"/>
                          <a:pt x="789" y="7"/>
                        </a:cubicBezTo>
                        <a:cubicBezTo>
                          <a:pt x="789" y="7"/>
                          <a:pt x="789" y="7"/>
                          <a:pt x="789" y="7"/>
                        </a:cubicBezTo>
                        <a:cubicBezTo>
                          <a:pt x="785" y="9"/>
                          <a:pt x="785" y="9"/>
                          <a:pt x="785" y="9"/>
                        </a:cubicBezTo>
                        <a:cubicBezTo>
                          <a:pt x="781" y="9"/>
                          <a:pt x="784" y="7"/>
                          <a:pt x="780" y="8"/>
                        </a:cubicBezTo>
                        <a:cubicBezTo>
                          <a:pt x="779" y="9"/>
                          <a:pt x="779" y="9"/>
                          <a:pt x="779" y="9"/>
                        </a:cubicBezTo>
                        <a:cubicBezTo>
                          <a:pt x="776" y="9"/>
                          <a:pt x="776" y="9"/>
                          <a:pt x="776" y="9"/>
                        </a:cubicBezTo>
                        <a:cubicBezTo>
                          <a:pt x="777" y="9"/>
                          <a:pt x="775" y="10"/>
                          <a:pt x="772" y="11"/>
                        </a:cubicBezTo>
                        <a:cubicBezTo>
                          <a:pt x="772" y="11"/>
                          <a:pt x="772" y="11"/>
                          <a:pt x="772" y="11"/>
                        </a:cubicBezTo>
                        <a:cubicBezTo>
                          <a:pt x="769" y="12"/>
                          <a:pt x="769" y="12"/>
                          <a:pt x="769" y="12"/>
                        </a:cubicBezTo>
                        <a:cubicBezTo>
                          <a:pt x="772" y="10"/>
                          <a:pt x="765" y="12"/>
                          <a:pt x="767" y="11"/>
                        </a:cubicBezTo>
                        <a:cubicBezTo>
                          <a:pt x="764" y="11"/>
                          <a:pt x="764" y="11"/>
                          <a:pt x="758" y="13"/>
                        </a:cubicBezTo>
                        <a:cubicBezTo>
                          <a:pt x="759" y="14"/>
                          <a:pt x="759" y="14"/>
                          <a:pt x="759" y="14"/>
                        </a:cubicBezTo>
                        <a:cubicBezTo>
                          <a:pt x="752" y="16"/>
                          <a:pt x="759" y="12"/>
                          <a:pt x="753" y="14"/>
                        </a:cubicBezTo>
                        <a:cubicBezTo>
                          <a:pt x="753" y="14"/>
                          <a:pt x="753" y="14"/>
                          <a:pt x="753" y="14"/>
                        </a:cubicBezTo>
                        <a:cubicBezTo>
                          <a:pt x="745" y="15"/>
                          <a:pt x="740" y="19"/>
                          <a:pt x="733" y="19"/>
                        </a:cubicBezTo>
                        <a:cubicBezTo>
                          <a:pt x="737" y="18"/>
                          <a:pt x="735" y="17"/>
                          <a:pt x="735" y="18"/>
                        </a:cubicBezTo>
                        <a:cubicBezTo>
                          <a:pt x="730" y="19"/>
                          <a:pt x="722" y="22"/>
                          <a:pt x="716" y="24"/>
                        </a:cubicBezTo>
                        <a:cubicBezTo>
                          <a:pt x="714" y="24"/>
                          <a:pt x="713" y="23"/>
                          <a:pt x="708" y="24"/>
                        </a:cubicBezTo>
                        <a:cubicBezTo>
                          <a:pt x="704" y="26"/>
                          <a:pt x="703" y="26"/>
                          <a:pt x="702" y="27"/>
                        </a:cubicBezTo>
                        <a:cubicBezTo>
                          <a:pt x="698" y="28"/>
                          <a:pt x="691" y="31"/>
                          <a:pt x="690" y="30"/>
                        </a:cubicBezTo>
                        <a:cubicBezTo>
                          <a:pt x="690" y="31"/>
                          <a:pt x="687" y="31"/>
                          <a:pt x="685" y="33"/>
                        </a:cubicBezTo>
                        <a:cubicBezTo>
                          <a:pt x="684" y="32"/>
                          <a:pt x="684" y="32"/>
                          <a:pt x="684" y="32"/>
                        </a:cubicBezTo>
                        <a:cubicBezTo>
                          <a:pt x="685" y="33"/>
                          <a:pt x="685" y="33"/>
                          <a:pt x="685" y="33"/>
                        </a:cubicBezTo>
                        <a:cubicBezTo>
                          <a:pt x="677" y="33"/>
                          <a:pt x="674" y="38"/>
                          <a:pt x="666" y="39"/>
                        </a:cubicBezTo>
                        <a:cubicBezTo>
                          <a:pt x="667" y="39"/>
                          <a:pt x="667" y="39"/>
                          <a:pt x="667" y="39"/>
                        </a:cubicBezTo>
                        <a:cubicBezTo>
                          <a:pt x="665" y="40"/>
                          <a:pt x="665" y="40"/>
                          <a:pt x="665" y="40"/>
                        </a:cubicBezTo>
                        <a:cubicBezTo>
                          <a:pt x="664" y="40"/>
                          <a:pt x="665" y="39"/>
                          <a:pt x="665" y="38"/>
                        </a:cubicBezTo>
                        <a:cubicBezTo>
                          <a:pt x="661" y="40"/>
                          <a:pt x="656" y="42"/>
                          <a:pt x="652" y="43"/>
                        </a:cubicBezTo>
                        <a:cubicBezTo>
                          <a:pt x="654" y="43"/>
                          <a:pt x="654" y="43"/>
                          <a:pt x="654" y="43"/>
                        </a:cubicBezTo>
                        <a:cubicBezTo>
                          <a:pt x="652" y="44"/>
                          <a:pt x="650" y="46"/>
                          <a:pt x="647" y="47"/>
                        </a:cubicBezTo>
                        <a:cubicBezTo>
                          <a:pt x="651" y="43"/>
                          <a:pt x="642" y="48"/>
                          <a:pt x="641" y="48"/>
                        </a:cubicBezTo>
                        <a:cubicBezTo>
                          <a:pt x="644" y="46"/>
                          <a:pt x="644" y="46"/>
                          <a:pt x="644" y="46"/>
                        </a:cubicBezTo>
                        <a:cubicBezTo>
                          <a:pt x="640" y="48"/>
                          <a:pt x="640" y="48"/>
                          <a:pt x="641" y="49"/>
                        </a:cubicBezTo>
                        <a:cubicBezTo>
                          <a:pt x="636" y="51"/>
                          <a:pt x="636" y="48"/>
                          <a:pt x="632" y="51"/>
                        </a:cubicBezTo>
                        <a:cubicBezTo>
                          <a:pt x="635" y="50"/>
                          <a:pt x="635" y="50"/>
                          <a:pt x="635" y="50"/>
                        </a:cubicBezTo>
                        <a:cubicBezTo>
                          <a:pt x="637" y="50"/>
                          <a:pt x="635" y="52"/>
                          <a:pt x="632" y="53"/>
                        </a:cubicBezTo>
                        <a:cubicBezTo>
                          <a:pt x="632" y="53"/>
                          <a:pt x="630" y="53"/>
                          <a:pt x="632" y="52"/>
                        </a:cubicBezTo>
                        <a:cubicBezTo>
                          <a:pt x="628" y="54"/>
                          <a:pt x="622" y="57"/>
                          <a:pt x="620" y="58"/>
                        </a:cubicBezTo>
                        <a:cubicBezTo>
                          <a:pt x="618" y="58"/>
                          <a:pt x="618" y="57"/>
                          <a:pt x="619" y="57"/>
                        </a:cubicBezTo>
                        <a:cubicBezTo>
                          <a:pt x="611" y="61"/>
                          <a:pt x="616" y="58"/>
                          <a:pt x="608" y="63"/>
                        </a:cubicBezTo>
                        <a:cubicBezTo>
                          <a:pt x="607" y="62"/>
                          <a:pt x="607" y="62"/>
                          <a:pt x="607" y="62"/>
                        </a:cubicBezTo>
                        <a:cubicBezTo>
                          <a:pt x="605" y="64"/>
                          <a:pt x="605" y="64"/>
                          <a:pt x="605" y="64"/>
                        </a:cubicBezTo>
                        <a:cubicBezTo>
                          <a:pt x="600" y="65"/>
                          <a:pt x="600" y="65"/>
                          <a:pt x="600" y="65"/>
                        </a:cubicBezTo>
                        <a:cubicBezTo>
                          <a:pt x="602" y="65"/>
                          <a:pt x="602" y="65"/>
                          <a:pt x="602" y="65"/>
                        </a:cubicBezTo>
                        <a:cubicBezTo>
                          <a:pt x="599" y="67"/>
                          <a:pt x="598" y="68"/>
                          <a:pt x="595" y="69"/>
                        </a:cubicBezTo>
                        <a:cubicBezTo>
                          <a:pt x="595" y="68"/>
                          <a:pt x="595" y="68"/>
                          <a:pt x="595" y="68"/>
                        </a:cubicBezTo>
                        <a:cubicBezTo>
                          <a:pt x="588" y="72"/>
                          <a:pt x="586" y="71"/>
                          <a:pt x="579" y="76"/>
                        </a:cubicBezTo>
                        <a:cubicBezTo>
                          <a:pt x="579" y="76"/>
                          <a:pt x="580" y="75"/>
                          <a:pt x="580" y="74"/>
                        </a:cubicBezTo>
                        <a:cubicBezTo>
                          <a:pt x="574" y="79"/>
                          <a:pt x="575" y="76"/>
                          <a:pt x="569" y="81"/>
                        </a:cubicBezTo>
                        <a:cubicBezTo>
                          <a:pt x="569" y="80"/>
                          <a:pt x="568" y="80"/>
                          <a:pt x="568" y="80"/>
                        </a:cubicBezTo>
                        <a:cubicBezTo>
                          <a:pt x="565" y="82"/>
                          <a:pt x="565" y="82"/>
                          <a:pt x="565" y="82"/>
                        </a:cubicBezTo>
                        <a:cubicBezTo>
                          <a:pt x="565" y="81"/>
                          <a:pt x="565" y="81"/>
                          <a:pt x="565" y="81"/>
                        </a:cubicBezTo>
                        <a:cubicBezTo>
                          <a:pt x="563" y="84"/>
                          <a:pt x="563" y="84"/>
                          <a:pt x="563" y="84"/>
                        </a:cubicBezTo>
                        <a:cubicBezTo>
                          <a:pt x="561" y="84"/>
                          <a:pt x="561" y="84"/>
                          <a:pt x="561" y="84"/>
                        </a:cubicBezTo>
                        <a:cubicBezTo>
                          <a:pt x="560" y="85"/>
                          <a:pt x="560" y="85"/>
                          <a:pt x="560" y="85"/>
                        </a:cubicBezTo>
                        <a:cubicBezTo>
                          <a:pt x="556" y="85"/>
                          <a:pt x="552" y="89"/>
                          <a:pt x="547" y="90"/>
                        </a:cubicBezTo>
                        <a:cubicBezTo>
                          <a:pt x="548" y="91"/>
                          <a:pt x="548" y="91"/>
                          <a:pt x="548" y="91"/>
                        </a:cubicBezTo>
                        <a:cubicBezTo>
                          <a:pt x="539" y="100"/>
                          <a:pt x="522" y="104"/>
                          <a:pt x="510" y="114"/>
                        </a:cubicBezTo>
                        <a:cubicBezTo>
                          <a:pt x="510" y="113"/>
                          <a:pt x="510" y="113"/>
                          <a:pt x="510" y="113"/>
                        </a:cubicBezTo>
                        <a:cubicBezTo>
                          <a:pt x="505" y="118"/>
                          <a:pt x="505" y="118"/>
                          <a:pt x="505" y="118"/>
                        </a:cubicBezTo>
                        <a:cubicBezTo>
                          <a:pt x="502" y="119"/>
                          <a:pt x="507" y="116"/>
                          <a:pt x="505" y="116"/>
                        </a:cubicBezTo>
                        <a:cubicBezTo>
                          <a:pt x="500" y="120"/>
                          <a:pt x="504" y="119"/>
                          <a:pt x="498" y="123"/>
                        </a:cubicBezTo>
                        <a:cubicBezTo>
                          <a:pt x="494" y="125"/>
                          <a:pt x="498" y="122"/>
                          <a:pt x="500" y="120"/>
                        </a:cubicBezTo>
                        <a:cubicBezTo>
                          <a:pt x="494" y="125"/>
                          <a:pt x="485" y="132"/>
                          <a:pt x="481" y="134"/>
                        </a:cubicBezTo>
                        <a:cubicBezTo>
                          <a:pt x="481" y="135"/>
                          <a:pt x="480" y="135"/>
                          <a:pt x="481" y="135"/>
                        </a:cubicBezTo>
                        <a:cubicBezTo>
                          <a:pt x="477" y="138"/>
                          <a:pt x="472" y="142"/>
                          <a:pt x="467" y="145"/>
                        </a:cubicBezTo>
                        <a:cubicBezTo>
                          <a:pt x="467" y="144"/>
                          <a:pt x="468" y="143"/>
                          <a:pt x="469" y="143"/>
                        </a:cubicBezTo>
                        <a:cubicBezTo>
                          <a:pt x="467" y="144"/>
                          <a:pt x="465" y="145"/>
                          <a:pt x="464" y="146"/>
                        </a:cubicBezTo>
                        <a:cubicBezTo>
                          <a:pt x="465" y="144"/>
                          <a:pt x="465" y="144"/>
                          <a:pt x="465" y="144"/>
                        </a:cubicBezTo>
                        <a:cubicBezTo>
                          <a:pt x="462" y="147"/>
                          <a:pt x="456" y="152"/>
                          <a:pt x="454" y="152"/>
                        </a:cubicBezTo>
                        <a:cubicBezTo>
                          <a:pt x="455" y="152"/>
                          <a:pt x="455" y="153"/>
                          <a:pt x="453" y="155"/>
                        </a:cubicBezTo>
                        <a:cubicBezTo>
                          <a:pt x="450" y="155"/>
                          <a:pt x="445" y="162"/>
                          <a:pt x="440" y="165"/>
                        </a:cubicBezTo>
                        <a:cubicBezTo>
                          <a:pt x="440" y="164"/>
                          <a:pt x="444" y="161"/>
                          <a:pt x="443" y="162"/>
                        </a:cubicBezTo>
                        <a:cubicBezTo>
                          <a:pt x="440" y="163"/>
                          <a:pt x="439" y="166"/>
                          <a:pt x="437" y="168"/>
                        </a:cubicBezTo>
                        <a:cubicBezTo>
                          <a:pt x="437" y="167"/>
                          <a:pt x="437" y="167"/>
                          <a:pt x="437" y="167"/>
                        </a:cubicBezTo>
                        <a:cubicBezTo>
                          <a:pt x="427" y="176"/>
                          <a:pt x="427" y="176"/>
                          <a:pt x="427" y="176"/>
                        </a:cubicBezTo>
                        <a:cubicBezTo>
                          <a:pt x="425" y="176"/>
                          <a:pt x="418" y="184"/>
                          <a:pt x="418" y="183"/>
                        </a:cubicBezTo>
                        <a:cubicBezTo>
                          <a:pt x="414" y="186"/>
                          <a:pt x="421" y="181"/>
                          <a:pt x="417" y="185"/>
                        </a:cubicBezTo>
                        <a:cubicBezTo>
                          <a:pt x="415" y="185"/>
                          <a:pt x="413" y="189"/>
                          <a:pt x="412" y="188"/>
                        </a:cubicBezTo>
                        <a:cubicBezTo>
                          <a:pt x="413" y="187"/>
                          <a:pt x="413" y="187"/>
                          <a:pt x="413" y="187"/>
                        </a:cubicBezTo>
                        <a:cubicBezTo>
                          <a:pt x="410" y="190"/>
                          <a:pt x="410" y="190"/>
                          <a:pt x="410" y="190"/>
                        </a:cubicBezTo>
                        <a:cubicBezTo>
                          <a:pt x="411" y="187"/>
                          <a:pt x="411" y="187"/>
                          <a:pt x="411" y="187"/>
                        </a:cubicBezTo>
                        <a:cubicBezTo>
                          <a:pt x="408" y="190"/>
                          <a:pt x="407" y="193"/>
                          <a:pt x="408" y="193"/>
                        </a:cubicBezTo>
                        <a:cubicBezTo>
                          <a:pt x="405" y="195"/>
                          <a:pt x="401" y="199"/>
                          <a:pt x="399" y="199"/>
                        </a:cubicBezTo>
                        <a:cubicBezTo>
                          <a:pt x="400" y="198"/>
                          <a:pt x="400" y="198"/>
                          <a:pt x="400" y="198"/>
                        </a:cubicBezTo>
                        <a:cubicBezTo>
                          <a:pt x="393" y="205"/>
                          <a:pt x="386" y="207"/>
                          <a:pt x="382" y="214"/>
                        </a:cubicBezTo>
                        <a:cubicBezTo>
                          <a:pt x="381" y="214"/>
                          <a:pt x="381" y="214"/>
                          <a:pt x="382" y="213"/>
                        </a:cubicBezTo>
                        <a:cubicBezTo>
                          <a:pt x="378" y="217"/>
                          <a:pt x="378" y="217"/>
                          <a:pt x="378" y="217"/>
                        </a:cubicBezTo>
                        <a:cubicBezTo>
                          <a:pt x="378" y="215"/>
                          <a:pt x="378" y="215"/>
                          <a:pt x="378" y="215"/>
                        </a:cubicBezTo>
                        <a:cubicBezTo>
                          <a:pt x="372" y="223"/>
                          <a:pt x="372" y="223"/>
                          <a:pt x="372" y="223"/>
                        </a:cubicBezTo>
                        <a:cubicBezTo>
                          <a:pt x="372" y="223"/>
                          <a:pt x="372" y="223"/>
                          <a:pt x="372" y="223"/>
                        </a:cubicBezTo>
                        <a:cubicBezTo>
                          <a:pt x="367" y="227"/>
                          <a:pt x="360" y="235"/>
                          <a:pt x="354" y="241"/>
                        </a:cubicBezTo>
                        <a:cubicBezTo>
                          <a:pt x="355" y="240"/>
                          <a:pt x="355" y="240"/>
                          <a:pt x="355" y="240"/>
                        </a:cubicBezTo>
                        <a:cubicBezTo>
                          <a:pt x="349" y="247"/>
                          <a:pt x="348" y="246"/>
                          <a:pt x="344" y="251"/>
                        </a:cubicBezTo>
                        <a:cubicBezTo>
                          <a:pt x="344" y="251"/>
                          <a:pt x="344" y="251"/>
                          <a:pt x="344" y="250"/>
                        </a:cubicBezTo>
                        <a:cubicBezTo>
                          <a:pt x="340" y="255"/>
                          <a:pt x="340" y="255"/>
                          <a:pt x="340" y="255"/>
                        </a:cubicBezTo>
                        <a:cubicBezTo>
                          <a:pt x="340" y="253"/>
                          <a:pt x="340" y="253"/>
                          <a:pt x="340" y="253"/>
                        </a:cubicBezTo>
                        <a:cubicBezTo>
                          <a:pt x="338" y="258"/>
                          <a:pt x="331" y="262"/>
                          <a:pt x="333" y="260"/>
                        </a:cubicBezTo>
                        <a:cubicBezTo>
                          <a:pt x="332" y="263"/>
                          <a:pt x="329" y="266"/>
                          <a:pt x="329" y="267"/>
                        </a:cubicBezTo>
                        <a:cubicBezTo>
                          <a:pt x="325" y="272"/>
                          <a:pt x="328" y="268"/>
                          <a:pt x="325" y="271"/>
                        </a:cubicBezTo>
                        <a:cubicBezTo>
                          <a:pt x="321" y="274"/>
                          <a:pt x="322" y="276"/>
                          <a:pt x="317" y="280"/>
                        </a:cubicBezTo>
                        <a:cubicBezTo>
                          <a:pt x="317" y="280"/>
                          <a:pt x="317" y="280"/>
                          <a:pt x="317" y="280"/>
                        </a:cubicBezTo>
                        <a:cubicBezTo>
                          <a:pt x="315" y="282"/>
                          <a:pt x="314" y="284"/>
                          <a:pt x="311" y="287"/>
                        </a:cubicBezTo>
                        <a:cubicBezTo>
                          <a:pt x="312" y="286"/>
                          <a:pt x="312" y="286"/>
                          <a:pt x="312" y="286"/>
                        </a:cubicBezTo>
                        <a:cubicBezTo>
                          <a:pt x="308" y="292"/>
                          <a:pt x="305" y="291"/>
                          <a:pt x="303" y="297"/>
                        </a:cubicBezTo>
                        <a:cubicBezTo>
                          <a:pt x="301" y="299"/>
                          <a:pt x="298" y="304"/>
                          <a:pt x="297" y="303"/>
                        </a:cubicBezTo>
                        <a:cubicBezTo>
                          <a:pt x="283" y="322"/>
                          <a:pt x="283" y="322"/>
                          <a:pt x="283" y="322"/>
                        </a:cubicBezTo>
                        <a:cubicBezTo>
                          <a:pt x="281" y="322"/>
                          <a:pt x="282" y="324"/>
                          <a:pt x="278" y="327"/>
                        </a:cubicBezTo>
                        <a:cubicBezTo>
                          <a:pt x="279" y="328"/>
                          <a:pt x="279" y="328"/>
                          <a:pt x="279" y="328"/>
                        </a:cubicBezTo>
                        <a:cubicBezTo>
                          <a:pt x="272" y="337"/>
                          <a:pt x="262" y="347"/>
                          <a:pt x="254" y="358"/>
                        </a:cubicBezTo>
                        <a:cubicBezTo>
                          <a:pt x="253" y="357"/>
                          <a:pt x="253" y="357"/>
                          <a:pt x="253" y="357"/>
                        </a:cubicBezTo>
                        <a:cubicBezTo>
                          <a:pt x="252" y="360"/>
                          <a:pt x="252" y="360"/>
                          <a:pt x="252" y="360"/>
                        </a:cubicBezTo>
                        <a:cubicBezTo>
                          <a:pt x="244" y="372"/>
                          <a:pt x="233" y="387"/>
                          <a:pt x="226" y="396"/>
                        </a:cubicBezTo>
                        <a:cubicBezTo>
                          <a:pt x="225" y="400"/>
                          <a:pt x="223" y="405"/>
                          <a:pt x="219" y="410"/>
                        </a:cubicBezTo>
                        <a:cubicBezTo>
                          <a:pt x="219" y="409"/>
                          <a:pt x="219" y="409"/>
                          <a:pt x="219" y="409"/>
                        </a:cubicBezTo>
                        <a:cubicBezTo>
                          <a:pt x="214" y="418"/>
                          <a:pt x="209" y="428"/>
                          <a:pt x="202" y="437"/>
                        </a:cubicBezTo>
                        <a:cubicBezTo>
                          <a:pt x="202" y="436"/>
                          <a:pt x="202" y="437"/>
                          <a:pt x="202" y="436"/>
                        </a:cubicBezTo>
                        <a:cubicBezTo>
                          <a:pt x="202" y="439"/>
                          <a:pt x="199" y="442"/>
                          <a:pt x="197" y="444"/>
                        </a:cubicBezTo>
                        <a:cubicBezTo>
                          <a:pt x="200" y="442"/>
                          <a:pt x="200" y="442"/>
                          <a:pt x="200" y="442"/>
                        </a:cubicBezTo>
                        <a:cubicBezTo>
                          <a:pt x="199" y="445"/>
                          <a:pt x="196" y="448"/>
                          <a:pt x="194" y="449"/>
                        </a:cubicBezTo>
                        <a:cubicBezTo>
                          <a:pt x="192" y="454"/>
                          <a:pt x="192" y="454"/>
                          <a:pt x="192" y="454"/>
                        </a:cubicBezTo>
                        <a:cubicBezTo>
                          <a:pt x="192" y="455"/>
                          <a:pt x="192" y="455"/>
                          <a:pt x="192" y="455"/>
                        </a:cubicBezTo>
                        <a:cubicBezTo>
                          <a:pt x="192" y="456"/>
                          <a:pt x="192" y="456"/>
                          <a:pt x="192" y="456"/>
                        </a:cubicBezTo>
                        <a:cubicBezTo>
                          <a:pt x="189" y="458"/>
                          <a:pt x="189" y="458"/>
                          <a:pt x="189" y="458"/>
                        </a:cubicBezTo>
                        <a:cubicBezTo>
                          <a:pt x="189" y="459"/>
                          <a:pt x="186" y="465"/>
                          <a:pt x="186" y="467"/>
                        </a:cubicBezTo>
                        <a:cubicBezTo>
                          <a:pt x="185" y="467"/>
                          <a:pt x="182" y="471"/>
                          <a:pt x="184" y="468"/>
                        </a:cubicBezTo>
                        <a:cubicBezTo>
                          <a:pt x="175" y="484"/>
                          <a:pt x="175" y="484"/>
                          <a:pt x="175" y="484"/>
                        </a:cubicBezTo>
                        <a:cubicBezTo>
                          <a:pt x="176" y="482"/>
                          <a:pt x="176" y="482"/>
                          <a:pt x="176" y="482"/>
                        </a:cubicBezTo>
                        <a:cubicBezTo>
                          <a:pt x="178" y="482"/>
                          <a:pt x="175" y="487"/>
                          <a:pt x="174" y="489"/>
                        </a:cubicBezTo>
                        <a:cubicBezTo>
                          <a:pt x="175" y="486"/>
                          <a:pt x="172" y="488"/>
                          <a:pt x="171" y="490"/>
                        </a:cubicBezTo>
                        <a:cubicBezTo>
                          <a:pt x="170" y="492"/>
                          <a:pt x="173" y="488"/>
                          <a:pt x="173" y="489"/>
                        </a:cubicBezTo>
                        <a:cubicBezTo>
                          <a:pt x="172" y="493"/>
                          <a:pt x="169" y="499"/>
                          <a:pt x="168" y="500"/>
                        </a:cubicBezTo>
                        <a:cubicBezTo>
                          <a:pt x="168" y="498"/>
                          <a:pt x="168" y="498"/>
                          <a:pt x="168" y="498"/>
                        </a:cubicBezTo>
                        <a:cubicBezTo>
                          <a:pt x="167" y="502"/>
                          <a:pt x="164" y="503"/>
                          <a:pt x="162" y="507"/>
                        </a:cubicBezTo>
                        <a:cubicBezTo>
                          <a:pt x="161" y="511"/>
                          <a:pt x="159" y="513"/>
                          <a:pt x="161" y="513"/>
                        </a:cubicBezTo>
                        <a:cubicBezTo>
                          <a:pt x="159" y="518"/>
                          <a:pt x="159" y="514"/>
                          <a:pt x="158" y="516"/>
                        </a:cubicBezTo>
                        <a:cubicBezTo>
                          <a:pt x="158" y="518"/>
                          <a:pt x="154" y="525"/>
                          <a:pt x="153" y="525"/>
                        </a:cubicBezTo>
                        <a:cubicBezTo>
                          <a:pt x="153" y="529"/>
                          <a:pt x="145" y="538"/>
                          <a:pt x="147" y="540"/>
                        </a:cubicBezTo>
                        <a:cubicBezTo>
                          <a:pt x="143" y="544"/>
                          <a:pt x="143" y="544"/>
                          <a:pt x="143" y="544"/>
                        </a:cubicBezTo>
                        <a:cubicBezTo>
                          <a:pt x="144" y="544"/>
                          <a:pt x="145" y="545"/>
                          <a:pt x="143" y="549"/>
                        </a:cubicBezTo>
                        <a:cubicBezTo>
                          <a:pt x="141" y="552"/>
                          <a:pt x="141" y="551"/>
                          <a:pt x="140" y="551"/>
                        </a:cubicBezTo>
                        <a:cubicBezTo>
                          <a:pt x="141" y="554"/>
                          <a:pt x="141" y="554"/>
                          <a:pt x="141" y="554"/>
                        </a:cubicBezTo>
                        <a:cubicBezTo>
                          <a:pt x="130" y="571"/>
                          <a:pt x="121" y="596"/>
                          <a:pt x="111" y="615"/>
                        </a:cubicBezTo>
                        <a:cubicBezTo>
                          <a:pt x="107" y="624"/>
                          <a:pt x="104" y="636"/>
                          <a:pt x="99" y="647"/>
                        </a:cubicBezTo>
                        <a:cubicBezTo>
                          <a:pt x="100" y="645"/>
                          <a:pt x="100" y="645"/>
                          <a:pt x="100" y="645"/>
                        </a:cubicBezTo>
                        <a:cubicBezTo>
                          <a:pt x="95" y="656"/>
                          <a:pt x="95" y="656"/>
                          <a:pt x="95" y="656"/>
                        </a:cubicBezTo>
                        <a:cubicBezTo>
                          <a:pt x="99" y="648"/>
                          <a:pt x="99" y="648"/>
                          <a:pt x="99" y="648"/>
                        </a:cubicBezTo>
                        <a:cubicBezTo>
                          <a:pt x="98" y="651"/>
                          <a:pt x="98" y="653"/>
                          <a:pt x="97" y="655"/>
                        </a:cubicBezTo>
                        <a:cubicBezTo>
                          <a:pt x="92" y="666"/>
                          <a:pt x="85" y="681"/>
                          <a:pt x="81" y="696"/>
                        </a:cubicBezTo>
                        <a:cubicBezTo>
                          <a:pt x="80" y="706"/>
                          <a:pt x="77" y="702"/>
                          <a:pt x="76" y="711"/>
                        </a:cubicBezTo>
                        <a:cubicBezTo>
                          <a:pt x="76" y="710"/>
                          <a:pt x="76" y="710"/>
                          <a:pt x="76" y="709"/>
                        </a:cubicBezTo>
                        <a:cubicBezTo>
                          <a:pt x="73" y="719"/>
                          <a:pt x="72" y="725"/>
                          <a:pt x="70" y="735"/>
                        </a:cubicBezTo>
                        <a:cubicBezTo>
                          <a:pt x="68" y="733"/>
                          <a:pt x="68" y="741"/>
                          <a:pt x="67" y="740"/>
                        </a:cubicBezTo>
                        <a:cubicBezTo>
                          <a:pt x="68" y="741"/>
                          <a:pt x="68" y="741"/>
                          <a:pt x="68" y="741"/>
                        </a:cubicBezTo>
                        <a:cubicBezTo>
                          <a:pt x="67" y="743"/>
                          <a:pt x="65" y="748"/>
                          <a:pt x="65" y="747"/>
                        </a:cubicBezTo>
                        <a:cubicBezTo>
                          <a:pt x="64" y="752"/>
                          <a:pt x="64" y="752"/>
                          <a:pt x="64" y="752"/>
                        </a:cubicBezTo>
                        <a:cubicBezTo>
                          <a:pt x="63" y="752"/>
                          <a:pt x="63" y="752"/>
                          <a:pt x="63" y="752"/>
                        </a:cubicBezTo>
                        <a:cubicBezTo>
                          <a:pt x="62" y="757"/>
                          <a:pt x="59" y="770"/>
                          <a:pt x="56" y="772"/>
                        </a:cubicBezTo>
                        <a:cubicBezTo>
                          <a:pt x="53" y="787"/>
                          <a:pt x="47" y="809"/>
                          <a:pt x="42" y="827"/>
                        </a:cubicBezTo>
                        <a:cubicBezTo>
                          <a:pt x="43" y="830"/>
                          <a:pt x="41" y="835"/>
                          <a:pt x="40" y="839"/>
                        </a:cubicBezTo>
                        <a:cubicBezTo>
                          <a:pt x="38" y="844"/>
                          <a:pt x="38" y="844"/>
                          <a:pt x="38" y="844"/>
                        </a:cubicBezTo>
                        <a:cubicBezTo>
                          <a:pt x="38" y="848"/>
                          <a:pt x="38" y="853"/>
                          <a:pt x="36" y="856"/>
                        </a:cubicBezTo>
                        <a:cubicBezTo>
                          <a:pt x="36" y="856"/>
                          <a:pt x="36" y="856"/>
                          <a:pt x="36" y="856"/>
                        </a:cubicBezTo>
                        <a:cubicBezTo>
                          <a:pt x="36" y="860"/>
                          <a:pt x="34" y="864"/>
                          <a:pt x="34" y="868"/>
                        </a:cubicBezTo>
                        <a:cubicBezTo>
                          <a:pt x="33" y="873"/>
                          <a:pt x="32" y="877"/>
                          <a:pt x="31" y="876"/>
                        </a:cubicBezTo>
                        <a:cubicBezTo>
                          <a:pt x="33" y="877"/>
                          <a:pt x="29" y="886"/>
                          <a:pt x="29" y="886"/>
                        </a:cubicBezTo>
                        <a:cubicBezTo>
                          <a:pt x="29" y="886"/>
                          <a:pt x="15" y="946"/>
                          <a:pt x="7" y="1014"/>
                        </a:cubicBezTo>
                        <a:cubicBezTo>
                          <a:pt x="3" y="1049"/>
                          <a:pt x="1" y="1085"/>
                          <a:pt x="0" y="1116"/>
                        </a:cubicBezTo>
                        <a:cubicBezTo>
                          <a:pt x="0" y="1148"/>
                          <a:pt x="1" y="1175"/>
                          <a:pt x="4" y="1189"/>
                        </a:cubicBezTo>
                        <a:cubicBezTo>
                          <a:pt x="5" y="1191"/>
                          <a:pt x="5" y="1197"/>
                          <a:pt x="6" y="1195"/>
                        </a:cubicBezTo>
                        <a:cubicBezTo>
                          <a:pt x="7" y="1199"/>
                          <a:pt x="5" y="1201"/>
                          <a:pt x="6" y="1202"/>
                        </a:cubicBezTo>
                        <a:cubicBezTo>
                          <a:pt x="7" y="1196"/>
                          <a:pt x="9" y="1204"/>
                          <a:pt x="10" y="1198"/>
                        </a:cubicBezTo>
                        <a:cubicBezTo>
                          <a:pt x="10" y="1202"/>
                          <a:pt x="10" y="1202"/>
                          <a:pt x="10" y="1202"/>
                        </a:cubicBezTo>
                        <a:cubicBezTo>
                          <a:pt x="11" y="1203"/>
                          <a:pt x="9" y="1197"/>
                          <a:pt x="11" y="1198"/>
                        </a:cubicBezTo>
                        <a:cubicBezTo>
                          <a:pt x="9" y="1197"/>
                          <a:pt x="9" y="1197"/>
                          <a:pt x="9" y="1197"/>
                        </a:cubicBezTo>
                        <a:cubicBezTo>
                          <a:pt x="9" y="1194"/>
                          <a:pt x="9" y="1192"/>
                          <a:pt x="10" y="1191"/>
                        </a:cubicBezTo>
                        <a:cubicBezTo>
                          <a:pt x="9" y="1188"/>
                          <a:pt x="7" y="1186"/>
                          <a:pt x="8" y="1180"/>
                        </a:cubicBezTo>
                        <a:cubicBezTo>
                          <a:pt x="8" y="1182"/>
                          <a:pt x="8" y="1182"/>
                          <a:pt x="8" y="1182"/>
                        </a:cubicBezTo>
                        <a:cubicBezTo>
                          <a:pt x="8" y="1176"/>
                          <a:pt x="9" y="1178"/>
                          <a:pt x="10" y="1177"/>
                        </a:cubicBezTo>
                        <a:cubicBezTo>
                          <a:pt x="10" y="1178"/>
                          <a:pt x="10" y="1178"/>
                          <a:pt x="10" y="1178"/>
                        </a:cubicBezTo>
                        <a:cubicBezTo>
                          <a:pt x="11" y="1174"/>
                          <a:pt x="11" y="1174"/>
                          <a:pt x="11" y="1174"/>
                        </a:cubicBezTo>
                        <a:cubicBezTo>
                          <a:pt x="10" y="1177"/>
                          <a:pt x="11" y="1183"/>
                          <a:pt x="11" y="1180"/>
                        </a:cubicBezTo>
                        <a:cubicBezTo>
                          <a:pt x="12" y="1174"/>
                          <a:pt x="11" y="1182"/>
                          <a:pt x="11" y="1177"/>
                        </a:cubicBezTo>
                        <a:cubicBezTo>
                          <a:pt x="11" y="1174"/>
                          <a:pt x="12" y="1175"/>
                          <a:pt x="12" y="1175"/>
                        </a:cubicBezTo>
                        <a:cubicBezTo>
                          <a:pt x="12" y="1170"/>
                          <a:pt x="12" y="1170"/>
                          <a:pt x="12" y="1170"/>
                        </a:cubicBezTo>
                        <a:cubicBezTo>
                          <a:pt x="13" y="1170"/>
                          <a:pt x="12" y="1173"/>
                          <a:pt x="13" y="1171"/>
                        </a:cubicBezTo>
                        <a:cubicBezTo>
                          <a:pt x="12" y="1164"/>
                          <a:pt x="12" y="1164"/>
                          <a:pt x="12" y="1164"/>
                        </a:cubicBezTo>
                        <a:cubicBezTo>
                          <a:pt x="14" y="1163"/>
                          <a:pt x="11" y="1157"/>
                          <a:pt x="13" y="1154"/>
                        </a:cubicBezTo>
                        <a:cubicBezTo>
                          <a:pt x="14" y="1159"/>
                          <a:pt x="14" y="1153"/>
                          <a:pt x="15" y="1154"/>
                        </a:cubicBezTo>
                        <a:cubicBezTo>
                          <a:pt x="15" y="1142"/>
                          <a:pt x="15" y="1142"/>
                          <a:pt x="15" y="1142"/>
                        </a:cubicBezTo>
                        <a:cubicBezTo>
                          <a:pt x="16" y="1141"/>
                          <a:pt x="16" y="1145"/>
                          <a:pt x="16" y="1144"/>
                        </a:cubicBezTo>
                        <a:cubicBezTo>
                          <a:pt x="16" y="1141"/>
                          <a:pt x="15" y="1140"/>
                          <a:pt x="15" y="1139"/>
                        </a:cubicBezTo>
                        <a:cubicBezTo>
                          <a:pt x="16" y="1138"/>
                          <a:pt x="16" y="1130"/>
                          <a:pt x="17" y="1130"/>
                        </a:cubicBezTo>
                        <a:cubicBezTo>
                          <a:pt x="19" y="1122"/>
                          <a:pt x="15" y="1127"/>
                          <a:pt x="17" y="1119"/>
                        </a:cubicBezTo>
                        <a:cubicBezTo>
                          <a:pt x="18" y="1118"/>
                          <a:pt x="17" y="1125"/>
                          <a:pt x="18" y="1122"/>
                        </a:cubicBezTo>
                        <a:cubicBezTo>
                          <a:pt x="18" y="1114"/>
                          <a:pt x="18" y="1114"/>
                          <a:pt x="18" y="1114"/>
                        </a:cubicBezTo>
                        <a:cubicBezTo>
                          <a:pt x="18" y="1115"/>
                          <a:pt x="19" y="1116"/>
                          <a:pt x="19" y="1119"/>
                        </a:cubicBezTo>
                        <a:cubicBezTo>
                          <a:pt x="21" y="1098"/>
                          <a:pt x="26" y="1087"/>
                          <a:pt x="27" y="1067"/>
                        </a:cubicBezTo>
                        <a:cubicBezTo>
                          <a:pt x="28" y="1065"/>
                          <a:pt x="27" y="1069"/>
                          <a:pt x="28" y="1071"/>
                        </a:cubicBezTo>
                        <a:cubicBezTo>
                          <a:pt x="28" y="1057"/>
                          <a:pt x="32" y="1052"/>
                          <a:pt x="33" y="1040"/>
                        </a:cubicBezTo>
                        <a:cubicBezTo>
                          <a:pt x="32" y="1040"/>
                          <a:pt x="32" y="1040"/>
                          <a:pt x="32" y="1040"/>
                        </a:cubicBezTo>
                        <a:cubicBezTo>
                          <a:pt x="36" y="1024"/>
                          <a:pt x="37" y="1004"/>
                          <a:pt x="41" y="986"/>
                        </a:cubicBezTo>
                        <a:cubicBezTo>
                          <a:pt x="40" y="988"/>
                          <a:pt x="40" y="988"/>
                          <a:pt x="40" y="988"/>
                        </a:cubicBezTo>
                        <a:cubicBezTo>
                          <a:pt x="39" y="985"/>
                          <a:pt x="40" y="981"/>
                          <a:pt x="40" y="978"/>
                        </a:cubicBezTo>
                        <a:cubicBezTo>
                          <a:pt x="40" y="977"/>
                          <a:pt x="41" y="980"/>
                          <a:pt x="42" y="975"/>
                        </a:cubicBezTo>
                        <a:cubicBezTo>
                          <a:pt x="41" y="976"/>
                          <a:pt x="41" y="978"/>
                          <a:pt x="40" y="977"/>
                        </a:cubicBezTo>
                        <a:cubicBezTo>
                          <a:pt x="45" y="962"/>
                          <a:pt x="50" y="928"/>
                          <a:pt x="56" y="903"/>
                        </a:cubicBezTo>
                        <a:cubicBezTo>
                          <a:pt x="62" y="868"/>
                          <a:pt x="72" y="831"/>
                          <a:pt x="81" y="797"/>
                        </a:cubicBezTo>
                        <a:cubicBezTo>
                          <a:pt x="79" y="802"/>
                          <a:pt x="78" y="799"/>
                          <a:pt x="79" y="796"/>
                        </a:cubicBezTo>
                        <a:cubicBezTo>
                          <a:pt x="86" y="786"/>
                          <a:pt x="84" y="777"/>
                          <a:pt x="89" y="767"/>
                        </a:cubicBezTo>
                        <a:cubicBezTo>
                          <a:pt x="94" y="747"/>
                          <a:pt x="103" y="731"/>
                          <a:pt x="106" y="712"/>
                        </a:cubicBezTo>
                        <a:cubicBezTo>
                          <a:pt x="107" y="712"/>
                          <a:pt x="107" y="712"/>
                          <a:pt x="107" y="712"/>
                        </a:cubicBezTo>
                        <a:cubicBezTo>
                          <a:pt x="108" y="710"/>
                          <a:pt x="108" y="709"/>
                          <a:pt x="109" y="706"/>
                        </a:cubicBezTo>
                        <a:cubicBezTo>
                          <a:pt x="109" y="706"/>
                          <a:pt x="109" y="706"/>
                          <a:pt x="109" y="706"/>
                        </a:cubicBezTo>
                        <a:cubicBezTo>
                          <a:pt x="112" y="700"/>
                          <a:pt x="113" y="691"/>
                          <a:pt x="115" y="688"/>
                        </a:cubicBezTo>
                        <a:cubicBezTo>
                          <a:pt x="114" y="687"/>
                          <a:pt x="114" y="687"/>
                          <a:pt x="114" y="687"/>
                        </a:cubicBezTo>
                        <a:cubicBezTo>
                          <a:pt x="116" y="683"/>
                          <a:pt x="116" y="685"/>
                          <a:pt x="117" y="681"/>
                        </a:cubicBezTo>
                        <a:cubicBezTo>
                          <a:pt x="117" y="681"/>
                          <a:pt x="117" y="681"/>
                          <a:pt x="117" y="681"/>
                        </a:cubicBezTo>
                        <a:cubicBezTo>
                          <a:pt x="118" y="676"/>
                          <a:pt x="118" y="676"/>
                          <a:pt x="118" y="676"/>
                        </a:cubicBezTo>
                        <a:cubicBezTo>
                          <a:pt x="120" y="677"/>
                          <a:pt x="122" y="665"/>
                          <a:pt x="124" y="663"/>
                        </a:cubicBezTo>
                        <a:cubicBezTo>
                          <a:pt x="126" y="657"/>
                          <a:pt x="129" y="648"/>
                          <a:pt x="132" y="640"/>
                        </a:cubicBezTo>
                        <a:cubicBezTo>
                          <a:pt x="134" y="639"/>
                          <a:pt x="137" y="630"/>
                          <a:pt x="140" y="624"/>
                        </a:cubicBezTo>
                        <a:cubicBezTo>
                          <a:pt x="145" y="613"/>
                          <a:pt x="151" y="596"/>
                          <a:pt x="158" y="582"/>
                        </a:cubicBezTo>
                        <a:cubicBezTo>
                          <a:pt x="157" y="582"/>
                          <a:pt x="157" y="582"/>
                          <a:pt x="157" y="582"/>
                        </a:cubicBezTo>
                        <a:cubicBezTo>
                          <a:pt x="159" y="578"/>
                          <a:pt x="159" y="578"/>
                          <a:pt x="159" y="578"/>
                        </a:cubicBezTo>
                        <a:cubicBezTo>
                          <a:pt x="159" y="578"/>
                          <a:pt x="159" y="578"/>
                          <a:pt x="159" y="578"/>
                        </a:cubicBezTo>
                        <a:cubicBezTo>
                          <a:pt x="162" y="576"/>
                          <a:pt x="163" y="569"/>
                          <a:pt x="165" y="567"/>
                        </a:cubicBezTo>
                        <a:cubicBezTo>
                          <a:pt x="163" y="568"/>
                          <a:pt x="164" y="569"/>
                          <a:pt x="163" y="572"/>
                        </a:cubicBezTo>
                        <a:cubicBezTo>
                          <a:pt x="161" y="574"/>
                          <a:pt x="161" y="571"/>
                          <a:pt x="163" y="567"/>
                        </a:cubicBezTo>
                        <a:cubicBezTo>
                          <a:pt x="164" y="567"/>
                          <a:pt x="164" y="567"/>
                          <a:pt x="164" y="567"/>
                        </a:cubicBezTo>
                        <a:cubicBezTo>
                          <a:pt x="164" y="564"/>
                          <a:pt x="164" y="564"/>
                          <a:pt x="164" y="564"/>
                        </a:cubicBezTo>
                        <a:cubicBezTo>
                          <a:pt x="165" y="564"/>
                          <a:pt x="167" y="562"/>
                          <a:pt x="168" y="562"/>
                        </a:cubicBezTo>
                        <a:cubicBezTo>
                          <a:pt x="174" y="550"/>
                          <a:pt x="176" y="541"/>
                          <a:pt x="183" y="528"/>
                        </a:cubicBezTo>
                        <a:cubicBezTo>
                          <a:pt x="183" y="530"/>
                          <a:pt x="187" y="519"/>
                          <a:pt x="188" y="523"/>
                        </a:cubicBezTo>
                        <a:cubicBezTo>
                          <a:pt x="191" y="515"/>
                          <a:pt x="186" y="523"/>
                          <a:pt x="186" y="519"/>
                        </a:cubicBezTo>
                        <a:cubicBezTo>
                          <a:pt x="188" y="517"/>
                          <a:pt x="188" y="515"/>
                          <a:pt x="189" y="515"/>
                        </a:cubicBezTo>
                        <a:cubicBezTo>
                          <a:pt x="189" y="516"/>
                          <a:pt x="191" y="513"/>
                          <a:pt x="190" y="515"/>
                        </a:cubicBezTo>
                        <a:cubicBezTo>
                          <a:pt x="193" y="510"/>
                          <a:pt x="193" y="510"/>
                          <a:pt x="193" y="510"/>
                        </a:cubicBezTo>
                        <a:cubicBezTo>
                          <a:pt x="193" y="510"/>
                          <a:pt x="193" y="511"/>
                          <a:pt x="193" y="512"/>
                        </a:cubicBezTo>
                        <a:cubicBezTo>
                          <a:pt x="197" y="501"/>
                          <a:pt x="203" y="494"/>
                          <a:pt x="207" y="485"/>
                        </a:cubicBezTo>
                        <a:cubicBezTo>
                          <a:pt x="207" y="484"/>
                          <a:pt x="205" y="488"/>
                          <a:pt x="205" y="487"/>
                        </a:cubicBezTo>
                        <a:cubicBezTo>
                          <a:pt x="209" y="478"/>
                          <a:pt x="211" y="480"/>
                          <a:pt x="215" y="471"/>
                        </a:cubicBezTo>
                        <a:cubicBezTo>
                          <a:pt x="214" y="473"/>
                          <a:pt x="214" y="473"/>
                          <a:pt x="214" y="473"/>
                        </a:cubicBezTo>
                        <a:cubicBezTo>
                          <a:pt x="215" y="470"/>
                          <a:pt x="215" y="469"/>
                          <a:pt x="219" y="465"/>
                        </a:cubicBezTo>
                        <a:cubicBezTo>
                          <a:pt x="220" y="465"/>
                          <a:pt x="217" y="469"/>
                          <a:pt x="216" y="471"/>
                        </a:cubicBezTo>
                        <a:cubicBezTo>
                          <a:pt x="218" y="468"/>
                          <a:pt x="223" y="461"/>
                          <a:pt x="220" y="462"/>
                        </a:cubicBezTo>
                        <a:cubicBezTo>
                          <a:pt x="222" y="459"/>
                          <a:pt x="224" y="458"/>
                          <a:pt x="225" y="456"/>
                        </a:cubicBezTo>
                        <a:cubicBezTo>
                          <a:pt x="225" y="456"/>
                          <a:pt x="223" y="459"/>
                          <a:pt x="223" y="457"/>
                        </a:cubicBezTo>
                        <a:cubicBezTo>
                          <a:pt x="227" y="452"/>
                          <a:pt x="231" y="444"/>
                          <a:pt x="235" y="439"/>
                        </a:cubicBezTo>
                        <a:cubicBezTo>
                          <a:pt x="235" y="439"/>
                          <a:pt x="236" y="439"/>
                          <a:pt x="236" y="439"/>
                        </a:cubicBezTo>
                        <a:cubicBezTo>
                          <a:pt x="238" y="434"/>
                          <a:pt x="239" y="436"/>
                          <a:pt x="243" y="429"/>
                        </a:cubicBezTo>
                        <a:close/>
                      </a:path>
                    </a:pathLst>
                  </a:custGeom>
                  <a:solidFill>
                    <a:schemeClr val="bg1">
                      <a:lumMod val="85000"/>
                    </a:schemeClr>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58" name="Freeform 156">
                    <a:extLst>
                      <a:ext uri="{FF2B5EF4-FFF2-40B4-BE49-F238E27FC236}">
                        <a16:creationId xmlns:a16="http://schemas.microsoft.com/office/drawing/2014/main" id="{F2595816-758C-4E0F-9F9C-5ADCF885D2A4}"/>
                      </a:ext>
                    </a:extLst>
                  </p:cNvPr>
                  <p:cNvSpPr>
                    <a:spLocks/>
                  </p:cNvSpPr>
                  <p:nvPr/>
                </p:nvSpPr>
                <p:spPr bwMode="auto">
                  <a:xfrm>
                    <a:off x="7526338" y="2025650"/>
                    <a:ext cx="7937" cy="7938"/>
                  </a:xfrm>
                  <a:custGeom>
                    <a:avLst/>
                    <a:gdLst/>
                    <a:ahLst/>
                    <a:cxnLst>
                      <a:cxn ang="0">
                        <a:pos x="3" y="0"/>
                      </a:cxn>
                      <a:cxn ang="0">
                        <a:pos x="0" y="1"/>
                      </a:cxn>
                      <a:cxn ang="0">
                        <a:pos x="0" y="3"/>
                      </a:cxn>
                      <a:cxn ang="0">
                        <a:pos x="3" y="0"/>
                      </a:cxn>
                    </a:cxnLst>
                    <a:rect l="0" t="0" r="r" b="b"/>
                    <a:pathLst>
                      <a:path w="3" h="3">
                        <a:moveTo>
                          <a:pt x="3" y="0"/>
                        </a:moveTo>
                        <a:cubicBezTo>
                          <a:pt x="0" y="1"/>
                          <a:pt x="0" y="1"/>
                          <a:pt x="0" y="1"/>
                        </a:cubicBezTo>
                        <a:cubicBezTo>
                          <a:pt x="1" y="2"/>
                          <a:pt x="1" y="2"/>
                          <a:pt x="0" y="3"/>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59" name="Freeform 157">
                    <a:extLst>
                      <a:ext uri="{FF2B5EF4-FFF2-40B4-BE49-F238E27FC236}">
                        <a16:creationId xmlns:a16="http://schemas.microsoft.com/office/drawing/2014/main" id="{972CC0DE-0A06-4C86-BE84-975B204B8BA8}"/>
                      </a:ext>
                    </a:extLst>
                  </p:cNvPr>
                  <p:cNvSpPr>
                    <a:spLocks/>
                  </p:cNvSpPr>
                  <p:nvPr/>
                </p:nvSpPr>
                <p:spPr bwMode="auto">
                  <a:xfrm>
                    <a:off x="7278688" y="2239963"/>
                    <a:ext cx="1587" cy="1588"/>
                  </a:xfrm>
                  <a:custGeom>
                    <a:avLst/>
                    <a:gdLst/>
                    <a:ahLst/>
                    <a:cxnLst>
                      <a:cxn ang="0">
                        <a:pos x="0" y="0"/>
                      </a:cxn>
                      <a:cxn ang="0">
                        <a:pos x="0" y="1"/>
                      </a:cxn>
                      <a:cxn ang="0">
                        <a:pos x="0" y="0"/>
                      </a:cxn>
                    </a:cxnLst>
                    <a:rect l="0" t="0" r="r" b="b"/>
                    <a:pathLst>
                      <a:path h="1">
                        <a:moveTo>
                          <a:pt x="0" y="0"/>
                        </a:moveTo>
                        <a:cubicBezTo>
                          <a:pt x="0" y="0"/>
                          <a:pt x="0" y="1"/>
                          <a:pt x="0" y="1"/>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60" name="Freeform 158">
                    <a:extLst>
                      <a:ext uri="{FF2B5EF4-FFF2-40B4-BE49-F238E27FC236}">
                        <a16:creationId xmlns:a16="http://schemas.microsoft.com/office/drawing/2014/main" id="{256E8875-32AF-4CB2-9748-AADA7763E124}"/>
                      </a:ext>
                    </a:extLst>
                  </p:cNvPr>
                  <p:cNvSpPr>
                    <a:spLocks/>
                  </p:cNvSpPr>
                  <p:nvPr/>
                </p:nvSpPr>
                <p:spPr bwMode="auto">
                  <a:xfrm>
                    <a:off x="7221538" y="2297113"/>
                    <a:ext cx="7937" cy="4763"/>
                  </a:xfrm>
                  <a:custGeom>
                    <a:avLst/>
                    <a:gdLst/>
                    <a:ahLst/>
                    <a:cxnLst>
                      <a:cxn ang="0">
                        <a:pos x="2" y="2"/>
                      </a:cxn>
                      <a:cxn ang="0">
                        <a:pos x="0" y="2"/>
                      </a:cxn>
                      <a:cxn ang="0">
                        <a:pos x="2" y="2"/>
                      </a:cxn>
                    </a:cxnLst>
                    <a:rect l="0" t="0" r="r" b="b"/>
                    <a:pathLst>
                      <a:path w="3" h="2">
                        <a:moveTo>
                          <a:pt x="2" y="2"/>
                        </a:moveTo>
                        <a:cubicBezTo>
                          <a:pt x="3" y="0"/>
                          <a:pt x="1" y="1"/>
                          <a:pt x="0" y="2"/>
                        </a:cubicBezTo>
                        <a:cubicBezTo>
                          <a:pt x="1" y="2"/>
                          <a:pt x="1" y="2"/>
                          <a:pt x="2"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61" name="Freeform 159">
                    <a:extLst>
                      <a:ext uri="{FF2B5EF4-FFF2-40B4-BE49-F238E27FC236}">
                        <a16:creationId xmlns:a16="http://schemas.microsoft.com/office/drawing/2014/main" id="{267A9287-D15D-4216-A622-F34796487F88}"/>
                      </a:ext>
                    </a:extLst>
                  </p:cNvPr>
                  <p:cNvSpPr>
                    <a:spLocks/>
                  </p:cNvSpPr>
                  <p:nvPr/>
                </p:nvSpPr>
                <p:spPr bwMode="auto">
                  <a:xfrm>
                    <a:off x="7685088" y="1916113"/>
                    <a:ext cx="3175" cy="1588"/>
                  </a:xfrm>
                  <a:custGeom>
                    <a:avLst/>
                    <a:gdLst/>
                    <a:ahLst/>
                    <a:cxnLst>
                      <a:cxn ang="0">
                        <a:pos x="1" y="0"/>
                      </a:cxn>
                      <a:cxn ang="0">
                        <a:pos x="0" y="0"/>
                      </a:cxn>
                      <a:cxn ang="0">
                        <a:pos x="1" y="0"/>
                      </a:cxn>
                    </a:cxnLst>
                    <a:rect l="0" t="0" r="r" b="b"/>
                    <a:pathLst>
                      <a:path w="1">
                        <a:moveTo>
                          <a:pt x="1" y="0"/>
                        </a:moveTo>
                        <a:cubicBezTo>
                          <a:pt x="0" y="0"/>
                          <a:pt x="0" y="0"/>
                          <a:pt x="0"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62" name="Freeform 160">
                    <a:extLst>
                      <a:ext uri="{FF2B5EF4-FFF2-40B4-BE49-F238E27FC236}">
                        <a16:creationId xmlns:a16="http://schemas.microsoft.com/office/drawing/2014/main" id="{9766617E-6CF5-49D0-89D1-A28A8F1AD0A4}"/>
                      </a:ext>
                    </a:extLst>
                  </p:cNvPr>
                  <p:cNvSpPr>
                    <a:spLocks/>
                  </p:cNvSpPr>
                  <p:nvPr/>
                </p:nvSpPr>
                <p:spPr bwMode="auto">
                  <a:xfrm>
                    <a:off x="8167688" y="17176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63" name="Freeform 161">
                    <a:extLst>
                      <a:ext uri="{FF2B5EF4-FFF2-40B4-BE49-F238E27FC236}">
                        <a16:creationId xmlns:a16="http://schemas.microsoft.com/office/drawing/2014/main" id="{997FE127-BB4A-49CF-975A-FD290C8F8D10}"/>
                      </a:ext>
                    </a:extLst>
                  </p:cNvPr>
                  <p:cNvSpPr>
                    <a:spLocks/>
                  </p:cNvSpPr>
                  <p:nvPr/>
                </p:nvSpPr>
                <p:spPr bwMode="auto">
                  <a:xfrm>
                    <a:off x="8132763" y="1720850"/>
                    <a:ext cx="6350" cy="1588"/>
                  </a:xfrm>
                  <a:custGeom>
                    <a:avLst/>
                    <a:gdLst/>
                    <a:ahLst/>
                    <a:cxnLst>
                      <a:cxn ang="0">
                        <a:pos x="3" y="0"/>
                      </a:cxn>
                      <a:cxn ang="0">
                        <a:pos x="0" y="1"/>
                      </a:cxn>
                      <a:cxn ang="0">
                        <a:pos x="3" y="0"/>
                      </a:cxn>
                    </a:cxnLst>
                    <a:rect l="0" t="0" r="r" b="b"/>
                    <a:pathLst>
                      <a:path w="3" h="1">
                        <a:moveTo>
                          <a:pt x="3" y="0"/>
                        </a:moveTo>
                        <a:cubicBezTo>
                          <a:pt x="2" y="0"/>
                          <a:pt x="1" y="1"/>
                          <a:pt x="0" y="1"/>
                        </a:cubicBezTo>
                        <a:cubicBezTo>
                          <a:pt x="1" y="1"/>
                          <a:pt x="2" y="1"/>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64" name="Freeform 162">
                    <a:extLst>
                      <a:ext uri="{FF2B5EF4-FFF2-40B4-BE49-F238E27FC236}">
                        <a16:creationId xmlns:a16="http://schemas.microsoft.com/office/drawing/2014/main" id="{AE2E191D-26CA-4365-A1B5-0473431C5FF4}"/>
                      </a:ext>
                    </a:extLst>
                  </p:cNvPr>
                  <p:cNvSpPr>
                    <a:spLocks/>
                  </p:cNvSpPr>
                  <p:nvPr/>
                </p:nvSpPr>
                <p:spPr bwMode="auto">
                  <a:xfrm>
                    <a:off x="7577138" y="1984375"/>
                    <a:ext cx="4762" cy="4763"/>
                  </a:xfrm>
                  <a:custGeom>
                    <a:avLst/>
                    <a:gdLst/>
                    <a:ahLst/>
                    <a:cxnLst>
                      <a:cxn ang="0">
                        <a:pos x="2" y="0"/>
                      </a:cxn>
                      <a:cxn ang="0">
                        <a:pos x="0" y="2"/>
                      </a:cxn>
                      <a:cxn ang="0">
                        <a:pos x="2" y="0"/>
                      </a:cxn>
                    </a:cxnLst>
                    <a:rect l="0" t="0" r="r" b="b"/>
                    <a:pathLst>
                      <a:path w="2" h="2">
                        <a:moveTo>
                          <a:pt x="2" y="0"/>
                        </a:moveTo>
                        <a:cubicBezTo>
                          <a:pt x="1" y="1"/>
                          <a:pt x="1" y="1"/>
                          <a:pt x="0" y="2"/>
                        </a:cubicBezTo>
                        <a:cubicBezTo>
                          <a:pt x="1" y="1"/>
                          <a:pt x="2"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65" name="Freeform 163">
                    <a:extLst>
                      <a:ext uri="{FF2B5EF4-FFF2-40B4-BE49-F238E27FC236}">
                        <a16:creationId xmlns:a16="http://schemas.microsoft.com/office/drawing/2014/main" id="{96E1033A-24F1-4F58-B5DB-88F7FA6F8988}"/>
                      </a:ext>
                    </a:extLst>
                  </p:cNvPr>
                  <p:cNvSpPr>
                    <a:spLocks/>
                  </p:cNvSpPr>
                  <p:nvPr/>
                </p:nvSpPr>
                <p:spPr bwMode="auto">
                  <a:xfrm>
                    <a:off x="8120063" y="1725613"/>
                    <a:ext cx="7937" cy="3175"/>
                  </a:xfrm>
                  <a:custGeom>
                    <a:avLst/>
                    <a:gdLst/>
                    <a:ahLst/>
                    <a:cxnLst>
                      <a:cxn ang="0">
                        <a:pos x="3" y="0"/>
                      </a:cxn>
                      <a:cxn ang="0">
                        <a:pos x="0" y="1"/>
                      </a:cxn>
                      <a:cxn ang="0">
                        <a:pos x="0" y="1"/>
                      </a:cxn>
                      <a:cxn ang="0">
                        <a:pos x="3" y="0"/>
                      </a:cxn>
                    </a:cxnLst>
                    <a:rect l="0" t="0" r="r" b="b"/>
                    <a:pathLst>
                      <a:path w="3" h="1">
                        <a:moveTo>
                          <a:pt x="3" y="0"/>
                        </a:moveTo>
                        <a:cubicBezTo>
                          <a:pt x="0" y="1"/>
                          <a:pt x="0" y="1"/>
                          <a:pt x="0" y="1"/>
                        </a:cubicBezTo>
                        <a:cubicBezTo>
                          <a:pt x="0" y="1"/>
                          <a:pt x="0" y="1"/>
                          <a:pt x="0" y="1"/>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66" name="Freeform 164">
                    <a:extLst>
                      <a:ext uri="{FF2B5EF4-FFF2-40B4-BE49-F238E27FC236}">
                        <a16:creationId xmlns:a16="http://schemas.microsoft.com/office/drawing/2014/main" id="{9D821EF7-D2AC-4F77-90F6-80B2857A227B}"/>
                      </a:ext>
                    </a:extLst>
                  </p:cNvPr>
                  <p:cNvSpPr>
                    <a:spLocks/>
                  </p:cNvSpPr>
                  <p:nvPr/>
                </p:nvSpPr>
                <p:spPr bwMode="auto">
                  <a:xfrm>
                    <a:off x="8167688" y="1716088"/>
                    <a:ext cx="9525" cy="1588"/>
                  </a:xfrm>
                  <a:custGeom>
                    <a:avLst/>
                    <a:gdLst/>
                    <a:ahLst/>
                    <a:cxnLst>
                      <a:cxn ang="0">
                        <a:pos x="4" y="0"/>
                      </a:cxn>
                      <a:cxn ang="0">
                        <a:pos x="0" y="1"/>
                      </a:cxn>
                      <a:cxn ang="0">
                        <a:pos x="4" y="0"/>
                      </a:cxn>
                    </a:cxnLst>
                    <a:rect l="0" t="0" r="r" b="b"/>
                    <a:pathLst>
                      <a:path w="4" h="1">
                        <a:moveTo>
                          <a:pt x="4" y="0"/>
                        </a:moveTo>
                        <a:cubicBezTo>
                          <a:pt x="3" y="1"/>
                          <a:pt x="1" y="1"/>
                          <a:pt x="0" y="1"/>
                        </a:cubicBezTo>
                        <a:cubicBezTo>
                          <a:pt x="2" y="1"/>
                          <a:pt x="3" y="1"/>
                          <a:pt x="4"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67" name="Freeform 165">
                    <a:extLst>
                      <a:ext uri="{FF2B5EF4-FFF2-40B4-BE49-F238E27FC236}">
                        <a16:creationId xmlns:a16="http://schemas.microsoft.com/office/drawing/2014/main" id="{20B2849B-A6F2-4B31-B100-0EF36AF8A51E}"/>
                      </a:ext>
                    </a:extLst>
                  </p:cNvPr>
                  <p:cNvSpPr>
                    <a:spLocks/>
                  </p:cNvSpPr>
                  <p:nvPr/>
                </p:nvSpPr>
                <p:spPr bwMode="auto">
                  <a:xfrm>
                    <a:off x="7850188" y="1822450"/>
                    <a:ext cx="4762" cy="4763"/>
                  </a:xfrm>
                  <a:custGeom>
                    <a:avLst/>
                    <a:gdLst/>
                    <a:ahLst/>
                    <a:cxnLst>
                      <a:cxn ang="0">
                        <a:pos x="2" y="0"/>
                      </a:cxn>
                      <a:cxn ang="0">
                        <a:pos x="2" y="1"/>
                      </a:cxn>
                      <a:cxn ang="0">
                        <a:pos x="2" y="0"/>
                      </a:cxn>
                    </a:cxnLst>
                    <a:rect l="0" t="0" r="r" b="b"/>
                    <a:pathLst>
                      <a:path w="2" h="2">
                        <a:moveTo>
                          <a:pt x="2" y="0"/>
                        </a:moveTo>
                        <a:cubicBezTo>
                          <a:pt x="2" y="1"/>
                          <a:pt x="2" y="1"/>
                          <a:pt x="2" y="1"/>
                        </a:cubicBezTo>
                        <a:cubicBezTo>
                          <a:pt x="0" y="2"/>
                          <a:pt x="1"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68" name="Freeform 166">
                    <a:extLst>
                      <a:ext uri="{FF2B5EF4-FFF2-40B4-BE49-F238E27FC236}">
                        <a16:creationId xmlns:a16="http://schemas.microsoft.com/office/drawing/2014/main" id="{24080DDA-732E-4D76-980A-977C946CEEA0}"/>
                      </a:ext>
                    </a:extLst>
                  </p:cNvPr>
                  <p:cNvSpPr>
                    <a:spLocks/>
                  </p:cNvSpPr>
                  <p:nvPr/>
                </p:nvSpPr>
                <p:spPr bwMode="auto">
                  <a:xfrm>
                    <a:off x="8094663" y="1738313"/>
                    <a:ext cx="3175" cy="1588"/>
                  </a:xfrm>
                  <a:custGeom>
                    <a:avLst/>
                    <a:gdLst/>
                    <a:ahLst/>
                    <a:cxnLst>
                      <a:cxn ang="0">
                        <a:pos x="2" y="0"/>
                      </a:cxn>
                      <a:cxn ang="0">
                        <a:pos x="2" y="0"/>
                      </a:cxn>
                      <a:cxn ang="0">
                        <a:pos x="0" y="1"/>
                      </a:cxn>
                      <a:cxn ang="0">
                        <a:pos x="2" y="0"/>
                      </a:cxn>
                    </a:cxnLst>
                    <a:rect l="0" t="0" r="r" b="b"/>
                    <a:pathLst>
                      <a:path w="2" h="1">
                        <a:moveTo>
                          <a:pt x="2" y="0"/>
                        </a:moveTo>
                        <a:lnTo>
                          <a:pt x="2" y="0"/>
                        </a:lnTo>
                        <a:lnTo>
                          <a:pt x="0" y="1"/>
                        </a:lnTo>
                        <a:lnTo>
                          <a:pt x="2"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69" name="Freeform 167">
                    <a:extLst>
                      <a:ext uri="{FF2B5EF4-FFF2-40B4-BE49-F238E27FC236}">
                        <a16:creationId xmlns:a16="http://schemas.microsoft.com/office/drawing/2014/main" id="{6A769069-F07C-4391-AF66-83644CC54181}"/>
                      </a:ext>
                    </a:extLst>
                  </p:cNvPr>
                  <p:cNvSpPr>
                    <a:spLocks/>
                  </p:cNvSpPr>
                  <p:nvPr/>
                </p:nvSpPr>
                <p:spPr bwMode="auto">
                  <a:xfrm>
                    <a:off x="8204200" y="1711325"/>
                    <a:ext cx="4762" cy="1588"/>
                  </a:xfrm>
                  <a:custGeom>
                    <a:avLst/>
                    <a:gdLst/>
                    <a:ahLst/>
                    <a:cxnLst>
                      <a:cxn ang="0">
                        <a:pos x="1" y="0"/>
                      </a:cxn>
                      <a:cxn ang="0">
                        <a:pos x="0" y="0"/>
                      </a:cxn>
                      <a:cxn ang="0">
                        <a:pos x="2" y="0"/>
                      </a:cxn>
                      <a:cxn ang="0">
                        <a:pos x="1" y="0"/>
                      </a:cxn>
                    </a:cxnLst>
                    <a:rect l="0" t="0" r="r" b="b"/>
                    <a:pathLst>
                      <a:path w="2">
                        <a:moveTo>
                          <a:pt x="1" y="0"/>
                        </a:moveTo>
                        <a:cubicBezTo>
                          <a:pt x="1" y="0"/>
                          <a:pt x="0" y="0"/>
                          <a:pt x="0" y="0"/>
                        </a:cubicBezTo>
                        <a:cubicBezTo>
                          <a:pt x="2" y="0"/>
                          <a:pt x="2" y="0"/>
                          <a:pt x="2"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70" name="Freeform 168">
                    <a:extLst>
                      <a:ext uri="{FF2B5EF4-FFF2-40B4-BE49-F238E27FC236}">
                        <a16:creationId xmlns:a16="http://schemas.microsoft.com/office/drawing/2014/main" id="{5B59DEE6-3E7C-4B0F-8768-95CE5A8E37F9}"/>
                      </a:ext>
                    </a:extLst>
                  </p:cNvPr>
                  <p:cNvSpPr>
                    <a:spLocks/>
                  </p:cNvSpPr>
                  <p:nvPr/>
                </p:nvSpPr>
                <p:spPr bwMode="auto">
                  <a:xfrm>
                    <a:off x="7956550" y="1779588"/>
                    <a:ext cx="1587" cy="4763"/>
                  </a:xfrm>
                  <a:custGeom>
                    <a:avLst/>
                    <a:gdLst/>
                    <a:ahLst/>
                    <a:cxnLst>
                      <a:cxn ang="0">
                        <a:pos x="1" y="2"/>
                      </a:cxn>
                      <a:cxn ang="0">
                        <a:pos x="1" y="0"/>
                      </a:cxn>
                      <a:cxn ang="0">
                        <a:pos x="1" y="2"/>
                      </a:cxn>
                    </a:cxnLst>
                    <a:rect l="0" t="0" r="r" b="b"/>
                    <a:pathLst>
                      <a:path w="1" h="2">
                        <a:moveTo>
                          <a:pt x="1" y="2"/>
                        </a:moveTo>
                        <a:cubicBezTo>
                          <a:pt x="1" y="1"/>
                          <a:pt x="1" y="1"/>
                          <a:pt x="1" y="0"/>
                        </a:cubicBezTo>
                        <a:cubicBezTo>
                          <a:pt x="0" y="1"/>
                          <a:pt x="0" y="1"/>
                          <a:pt x="1"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grpSp>
              <p:nvGrpSpPr>
                <p:cNvPr id="50" name="Group 629">
                  <a:extLst>
                    <a:ext uri="{FF2B5EF4-FFF2-40B4-BE49-F238E27FC236}">
                      <a16:creationId xmlns:a16="http://schemas.microsoft.com/office/drawing/2014/main" id="{BBF14A63-CBA7-42B0-876E-0BF983B6A05F}"/>
                    </a:ext>
                  </a:extLst>
                </p:cNvPr>
                <p:cNvGrpSpPr/>
                <p:nvPr/>
              </p:nvGrpSpPr>
              <p:grpSpPr>
                <a:xfrm rot="15155533" flipH="1">
                  <a:off x="1114059" y="1803071"/>
                  <a:ext cx="2159193" cy="2610180"/>
                  <a:chOff x="6326188" y="1654175"/>
                  <a:chExt cx="2192337" cy="2967038"/>
                </a:xfrm>
                <a:solidFill>
                  <a:schemeClr val="bg2">
                    <a:lumMod val="75000"/>
                  </a:schemeClr>
                </a:solidFill>
              </p:grpSpPr>
              <p:sp>
                <p:nvSpPr>
                  <p:cNvPr id="92" name="Freeform 129">
                    <a:extLst>
                      <a:ext uri="{FF2B5EF4-FFF2-40B4-BE49-F238E27FC236}">
                        <a16:creationId xmlns:a16="http://schemas.microsoft.com/office/drawing/2014/main" id="{75248F23-4F28-47DC-8B93-719886896F91}"/>
                      </a:ext>
                    </a:extLst>
                  </p:cNvPr>
                  <p:cNvSpPr>
                    <a:spLocks/>
                  </p:cNvSpPr>
                  <p:nvPr/>
                </p:nvSpPr>
                <p:spPr bwMode="auto">
                  <a:xfrm>
                    <a:off x="8027988" y="1720850"/>
                    <a:ext cx="3175" cy="1588"/>
                  </a:xfrm>
                  <a:custGeom>
                    <a:avLst/>
                    <a:gdLst/>
                    <a:ahLst/>
                    <a:cxnLst>
                      <a:cxn ang="0">
                        <a:pos x="0" y="0"/>
                      </a:cxn>
                      <a:cxn ang="0">
                        <a:pos x="0" y="0"/>
                      </a:cxn>
                      <a:cxn ang="0">
                        <a:pos x="0" y="0"/>
                      </a:cxn>
                    </a:cxnLst>
                    <a:rect l="0" t="0" r="r" b="b"/>
                    <a:pathLst>
                      <a:path w="1">
                        <a:moveTo>
                          <a:pt x="0" y="0"/>
                        </a:moveTo>
                        <a:cubicBezTo>
                          <a:pt x="0" y="0"/>
                          <a:pt x="1"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93" name="Freeform 130">
                    <a:extLst>
                      <a:ext uri="{FF2B5EF4-FFF2-40B4-BE49-F238E27FC236}">
                        <a16:creationId xmlns:a16="http://schemas.microsoft.com/office/drawing/2014/main" id="{45B94E35-FCE5-4E43-BA0B-D570863CE6C3}"/>
                      </a:ext>
                    </a:extLst>
                  </p:cNvPr>
                  <p:cNvSpPr>
                    <a:spLocks/>
                  </p:cNvSpPr>
                  <p:nvPr/>
                </p:nvSpPr>
                <p:spPr bwMode="auto">
                  <a:xfrm>
                    <a:off x="7724775" y="1841500"/>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0"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94" name="Freeform 131">
                    <a:extLst>
                      <a:ext uri="{FF2B5EF4-FFF2-40B4-BE49-F238E27FC236}">
                        <a16:creationId xmlns:a16="http://schemas.microsoft.com/office/drawing/2014/main" id="{4E5B9B12-C7AD-4726-86F9-F0574262CC41}"/>
                      </a:ext>
                    </a:extLst>
                  </p:cNvPr>
                  <p:cNvSpPr>
                    <a:spLocks/>
                  </p:cNvSpPr>
                  <p:nvPr/>
                </p:nvSpPr>
                <p:spPr bwMode="auto">
                  <a:xfrm>
                    <a:off x="8218488" y="1671638"/>
                    <a:ext cx="12700" cy="1588"/>
                  </a:xfrm>
                  <a:custGeom>
                    <a:avLst/>
                    <a:gdLst/>
                    <a:ahLst/>
                    <a:cxnLst>
                      <a:cxn ang="0">
                        <a:pos x="0" y="1"/>
                      </a:cxn>
                      <a:cxn ang="0">
                        <a:pos x="0" y="1"/>
                      </a:cxn>
                      <a:cxn ang="0">
                        <a:pos x="5" y="0"/>
                      </a:cxn>
                      <a:cxn ang="0">
                        <a:pos x="0" y="1"/>
                      </a:cxn>
                    </a:cxnLst>
                    <a:rect l="0" t="0" r="r" b="b"/>
                    <a:pathLst>
                      <a:path w="5" h="1">
                        <a:moveTo>
                          <a:pt x="0" y="1"/>
                        </a:moveTo>
                        <a:cubicBezTo>
                          <a:pt x="0" y="1"/>
                          <a:pt x="0" y="1"/>
                          <a:pt x="0" y="1"/>
                        </a:cubicBezTo>
                        <a:cubicBezTo>
                          <a:pt x="5" y="0"/>
                          <a:pt x="5" y="0"/>
                          <a:pt x="5" y="0"/>
                        </a:cubicBezTo>
                        <a:lnTo>
                          <a:pt x="0" y="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95" name="Freeform 132">
                    <a:extLst>
                      <a:ext uri="{FF2B5EF4-FFF2-40B4-BE49-F238E27FC236}">
                        <a16:creationId xmlns:a16="http://schemas.microsoft.com/office/drawing/2014/main" id="{63E96240-49D0-4802-9E41-C0BC13B535A3}"/>
                      </a:ext>
                    </a:extLst>
                  </p:cNvPr>
                  <p:cNvSpPr>
                    <a:spLocks/>
                  </p:cNvSpPr>
                  <p:nvPr/>
                </p:nvSpPr>
                <p:spPr bwMode="auto">
                  <a:xfrm>
                    <a:off x="7169150" y="2263775"/>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1"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96" name="Freeform 133">
                    <a:extLst>
                      <a:ext uri="{FF2B5EF4-FFF2-40B4-BE49-F238E27FC236}">
                        <a16:creationId xmlns:a16="http://schemas.microsoft.com/office/drawing/2014/main" id="{66D12ABA-1535-4241-B833-85DF6F1C31B8}"/>
                      </a:ext>
                    </a:extLst>
                  </p:cNvPr>
                  <p:cNvSpPr>
                    <a:spLocks/>
                  </p:cNvSpPr>
                  <p:nvPr/>
                </p:nvSpPr>
                <p:spPr bwMode="auto">
                  <a:xfrm>
                    <a:off x="7480300" y="1995488"/>
                    <a:ext cx="4762" cy="4763"/>
                  </a:xfrm>
                  <a:custGeom>
                    <a:avLst/>
                    <a:gdLst/>
                    <a:ahLst/>
                    <a:cxnLst>
                      <a:cxn ang="0">
                        <a:pos x="2" y="0"/>
                      </a:cxn>
                      <a:cxn ang="0">
                        <a:pos x="0" y="2"/>
                      </a:cxn>
                      <a:cxn ang="0">
                        <a:pos x="2" y="0"/>
                      </a:cxn>
                    </a:cxnLst>
                    <a:rect l="0" t="0" r="r" b="b"/>
                    <a:pathLst>
                      <a:path w="2" h="2">
                        <a:moveTo>
                          <a:pt x="2" y="0"/>
                        </a:moveTo>
                        <a:cubicBezTo>
                          <a:pt x="1" y="0"/>
                          <a:pt x="1" y="1"/>
                          <a:pt x="0" y="2"/>
                        </a:cubicBezTo>
                        <a:cubicBezTo>
                          <a:pt x="1" y="1"/>
                          <a:pt x="2" y="0"/>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97" name="Freeform 134">
                    <a:extLst>
                      <a:ext uri="{FF2B5EF4-FFF2-40B4-BE49-F238E27FC236}">
                        <a16:creationId xmlns:a16="http://schemas.microsoft.com/office/drawing/2014/main" id="{239819F6-0A93-4982-9659-30FBD2938ABF}"/>
                      </a:ext>
                    </a:extLst>
                  </p:cNvPr>
                  <p:cNvSpPr>
                    <a:spLocks/>
                  </p:cNvSpPr>
                  <p:nvPr/>
                </p:nvSpPr>
                <p:spPr bwMode="auto">
                  <a:xfrm>
                    <a:off x="8318500" y="1681163"/>
                    <a:ext cx="7937" cy="1588"/>
                  </a:xfrm>
                  <a:custGeom>
                    <a:avLst/>
                    <a:gdLst/>
                    <a:ahLst/>
                    <a:cxnLst>
                      <a:cxn ang="0">
                        <a:pos x="3" y="0"/>
                      </a:cxn>
                      <a:cxn ang="0">
                        <a:pos x="0" y="0"/>
                      </a:cxn>
                      <a:cxn ang="0">
                        <a:pos x="3" y="0"/>
                      </a:cxn>
                    </a:cxnLst>
                    <a:rect l="0" t="0" r="r" b="b"/>
                    <a:pathLst>
                      <a:path w="3">
                        <a:moveTo>
                          <a:pt x="3" y="0"/>
                        </a:moveTo>
                        <a:cubicBezTo>
                          <a:pt x="0" y="0"/>
                          <a:pt x="0" y="0"/>
                          <a:pt x="0" y="0"/>
                        </a:cubicBezTo>
                        <a:cubicBezTo>
                          <a:pt x="0" y="0"/>
                          <a:pt x="1"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98" name="Freeform 135">
                    <a:extLst>
                      <a:ext uri="{FF2B5EF4-FFF2-40B4-BE49-F238E27FC236}">
                        <a16:creationId xmlns:a16="http://schemas.microsoft.com/office/drawing/2014/main" id="{2E49CC69-E75F-4545-A44A-9336E70395C3}"/>
                      </a:ext>
                    </a:extLst>
                  </p:cNvPr>
                  <p:cNvSpPr>
                    <a:spLocks/>
                  </p:cNvSpPr>
                  <p:nvPr/>
                </p:nvSpPr>
                <p:spPr bwMode="auto">
                  <a:xfrm>
                    <a:off x="8516938" y="1655763"/>
                    <a:ext cx="1587" cy="1588"/>
                  </a:xfrm>
                  <a:custGeom>
                    <a:avLst/>
                    <a:gdLst/>
                    <a:ahLst/>
                    <a:cxnLst>
                      <a:cxn ang="0">
                        <a:pos x="1" y="0"/>
                      </a:cxn>
                      <a:cxn ang="0">
                        <a:pos x="1" y="0"/>
                      </a:cxn>
                      <a:cxn ang="0">
                        <a:pos x="1" y="0"/>
                      </a:cxn>
                    </a:cxnLst>
                    <a:rect l="0" t="0" r="r" b="b"/>
                    <a:pathLst>
                      <a:path w="1">
                        <a:moveTo>
                          <a:pt x="1" y="0"/>
                        </a:moveTo>
                        <a:cubicBezTo>
                          <a:pt x="1" y="0"/>
                          <a:pt x="1" y="0"/>
                          <a:pt x="1"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99" name="Freeform 136">
                    <a:extLst>
                      <a:ext uri="{FF2B5EF4-FFF2-40B4-BE49-F238E27FC236}">
                        <a16:creationId xmlns:a16="http://schemas.microsoft.com/office/drawing/2014/main" id="{AE7D94D5-915F-4C34-897D-C48AFBE49E33}"/>
                      </a:ext>
                    </a:extLst>
                  </p:cNvPr>
                  <p:cNvSpPr>
                    <a:spLocks/>
                  </p:cNvSpPr>
                  <p:nvPr/>
                </p:nvSpPr>
                <p:spPr bwMode="auto">
                  <a:xfrm>
                    <a:off x="8434388" y="1654175"/>
                    <a:ext cx="7937" cy="1588"/>
                  </a:xfrm>
                  <a:custGeom>
                    <a:avLst/>
                    <a:gdLst/>
                    <a:ahLst/>
                    <a:cxnLst>
                      <a:cxn ang="0">
                        <a:pos x="3" y="0"/>
                      </a:cxn>
                      <a:cxn ang="0">
                        <a:pos x="0" y="0"/>
                      </a:cxn>
                      <a:cxn ang="0">
                        <a:pos x="3" y="0"/>
                      </a:cxn>
                    </a:cxnLst>
                    <a:rect l="0" t="0" r="r" b="b"/>
                    <a:pathLst>
                      <a:path w="3">
                        <a:moveTo>
                          <a:pt x="3" y="0"/>
                        </a:moveTo>
                        <a:cubicBezTo>
                          <a:pt x="2" y="0"/>
                          <a:pt x="1" y="0"/>
                          <a:pt x="0" y="0"/>
                        </a:cubicBezTo>
                        <a:cubicBezTo>
                          <a:pt x="1" y="0"/>
                          <a:pt x="3"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00" name="Freeform 137">
                    <a:extLst>
                      <a:ext uri="{FF2B5EF4-FFF2-40B4-BE49-F238E27FC236}">
                        <a16:creationId xmlns:a16="http://schemas.microsoft.com/office/drawing/2014/main" id="{C0935740-055C-4D33-A75A-65261A81F08E}"/>
                      </a:ext>
                    </a:extLst>
                  </p:cNvPr>
                  <p:cNvSpPr>
                    <a:spLocks/>
                  </p:cNvSpPr>
                  <p:nvPr/>
                </p:nvSpPr>
                <p:spPr bwMode="auto">
                  <a:xfrm>
                    <a:off x="8432800" y="1654175"/>
                    <a:ext cx="1587" cy="1588"/>
                  </a:xfrm>
                  <a:custGeom>
                    <a:avLst/>
                    <a:gdLst/>
                    <a:ahLst/>
                    <a:cxnLst>
                      <a:cxn ang="0">
                        <a:pos x="0" y="0"/>
                      </a:cxn>
                      <a:cxn ang="0">
                        <a:pos x="1" y="0"/>
                      </a:cxn>
                      <a:cxn ang="0">
                        <a:pos x="0" y="0"/>
                      </a:cxn>
                    </a:cxnLst>
                    <a:rect l="0" t="0" r="r" b="b"/>
                    <a:pathLst>
                      <a:path w="1">
                        <a:moveTo>
                          <a:pt x="0" y="0"/>
                        </a:moveTo>
                        <a:cubicBezTo>
                          <a:pt x="1" y="0"/>
                          <a:pt x="1" y="0"/>
                          <a:pt x="1" y="0"/>
                        </a:cubicBezTo>
                        <a:cubicBezTo>
                          <a:pt x="1"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01" name="Freeform 138">
                    <a:extLst>
                      <a:ext uri="{FF2B5EF4-FFF2-40B4-BE49-F238E27FC236}">
                        <a16:creationId xmlns:a16="http://schemas.microsoft.com/office/drawing/2014/main" id="{6A8E0775-82EA-41AF-9626-13F24C73E8AF}"/>
                      </a:ext>
                    </a:extLst>
                  </p:cNvPr>
                  <p:cNvSpPr>
                    <a:spLocks/>
                  </p:cNvSpPr>
                  <p:nvPr/>
                </p:nvSpPr>
                <p:spPr bwMode="auto">
                  <a:xfrm>
                    <a:off x="6326188" y="4597400"/>
                    <a:ext cx="3175" cy="17463"/>
                  </a:xfrm>
                  <a:custGeom>
                    <a:avLst/>
                    <a:gdLst/>
                    <a:ahLst/>
                    <a:cxnLst>
                      <a:cxn ang="0">
                        <a:pos x="0" y="0"/>
                      </a:cxn>
                      <a:cxn ang="0">
                        <a:pos x="1" y="7"/>
                      </a:cxn>
                      <a:cxn ang="0">
                        <a:pos x="0" y="0"/>
                      </a:cxn>
                    </a:cxnLst>
                    <a:rect l="0" t="0" r="r" b="b"/>
                    <a:pathLst>
                      <a:path w="1" h="7">
                        <a:moveTo>
                          <a:pt x="0" y="0"/>
                        </a:moveTo>
                        <a:cubicBezTo>
                          <a:pt x="0" y="3"/>
                          <a:pt x="0" y="5"/>
                          <a:pt x="1" y="7"/>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02" name="Freeform 139">
                    <a:extLst>
                      <a:ext uri="{FF2B5EF4-FFF2-40B4-BE49-F238E27FC236}">
                        <a16:creationId xmlns:a16="http://schemas.microsoft.com/office/drawing/2014/main" id="{3A920AF1-053C-4B96-88FF-00CE96675371}"/>
                      </a:ext>
                    </a:extLst>
                  </p:cNvPr>
                  <p:cNvSpPr>
                    <a:spLocks/>
                  </p:cNvSpPr>
                  <p:nvPr/>
                </p:nvSpPr>
                <p:spPr bwMode="auto">
                  <a:xfrm>
                    <a:off x="6789738" y="2773363"/>
                    <a:ext cx="3175" cy="1588"/>
                  </a:xfrm>
                  <a:custGeom>
                    <a:avLst/>
                    <a:gdLst/>
                    <a:ahLst/>
                    <a:cxnLst>
                      <a:cxn ang="0">
                        <a:pos x="1" y="1"/>
                      </a:cxn>
                      <a:cxn ang="0">
                        <a:pos x="1" y="0"/>
                      </a:cxn>
                      <a:cxn ang="0">
                        <a:pos x="1" y="1"/>
                      </a:cxn>
                    </a:cxnLst>
                    <a:rect l="0" t="0" r="r" b="b"/>
                    <a:pathLst>
                      <a:path w="1" h="1">
                        <a:moveTo>
                          <a:pt x="1" y="1"/>
                        </a:moveTo>
                        <a:cubicBezTo>
                          <a:pt x="1" y="0"/>
                          <a:pt x="1" y="0"/>
                          <a:pt x="1" y="0"/>
                        </a:cubicBezTo>
                        <a:cubicBezTo>
                          <a:pt x="0" y="1"/>
                          <a:pt x="0" y="1"/>
                          <a:pt x="1"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03" name="Freeform 140">
                    <a:extLst>
                      <a:ext uri="{FF2B5EF4-FFF2-40B4-BE49-F238E27FC236}">
                        <a16:creationId xmlns:a16="http://schemas.microsoft.com/office/drawing/2014/main" id="{4F1D66BA-18DF-4E3F-A353-2E896B32C09D}"/>
                      </a:ext>
                    </a:extLst>
                  </p:cNvPr>
                  <p:cNvSpPr>
                    <a:spLocks/>
                  </p:cNvSpPr>
                  <p:nvPr/>
                </p:nvSpPr>
                <p:spPr bwMode="auto">
                  <a:xfrm>
                    <a:off x="6342063" y="4603750"/>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04" name="Freeform 141">
                    <a:extLst>
                      <a:ext uri="{FF2B5EF4-FFF2-40B4-BE49-F238E27FC236}">
                        <a16:creationId xmlns:a16="http://schemas.microsoft.com/office/drawing/2014/main" id="{8CB8EF65-CC1B-4B80-BC62-5D46699FCE92}"/>
                      </a:ext>
                    </a:extLst>
                  </p:cNvPr>
                  <p:cNvSpPr>
                    <a:spLocks/>
                  </p:cNvSpPr>
                  <p:nvPr/>
                </p:nvSpPr>
                <p:spPr bwMode="auto">
                  <a:xfrm>
                    <a:off x="8207375" y="1704975"/>
                    <a:ext cx="17462" cy="6350"/>
                  </a:xfrm>
                  <a:custGeom>
                    <a:avLst/>
                    <a:gdLst/>
                    <a:ahLst/>
                    <a:cxnLst>
                      <a:cxn ang="0">
                        <a:pos x="7" y="0"/>
                      </a:cxn>
                      <a:cxn ang="0">
                        <a:pos x="0" y="2"/>
                      </a:cxn>
                      <a:cxn ang="0">
                        <a:pos x="7" y="0"/>
                      </a:cxn>
                    </a:cxnLst>
                    <a:rect l="0" t="0" r="r" b="b"/>
                    <a:pathLst>
                      <a:path w="7" h="2">
                        <a:moveTo>
                          <a:pt x="7" y="0"/>
                        </a:moveTo>
                        <a:cubicBezTo>
                          <a:pt x="5" y="1"/>
                          <a:pt x="0" y="1"/>
                          <a:pt x="0" y="2"/>
                        </a:cubicBezTo>
                        <a:cubicBezTo>
                          <a:pt x="3" y="1"/>
                          <a:pt x="6" y="1"/>
                          <a:pt x="7"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05" name="Freeform 142">
                    <a:extLst>
                      <a:ext uri="{FF2B5EF4-FFF2-40B4-BE49-F238E27FC236}">
                        <a16:creationId xmlns:a16="http://schemas.microsoft.com/office/drawing/2014/main" id="{0D13825A-A152-40D1-9B13-671BE9FEF594}"/>
                      </a:ext>
                    </a:extLst>
                  </p:cNvPr>
                  <p:cNvSpPr>
                    <a:spLocks/>
                  </p:cNvSpPr>
                  <p:nvPr/>
                </p:nvSpPr>
                <p:spPr bwMode="auto">
                  <a:xfrm>
                    <a:off x="6788150" y="2924175"/>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06" name="Freeform 143">
                    <a:extLst>
                      <a:ext uri="{FF2B5EF4-FFF2-40B4-BE49-F238E27FC236}">
                        <a16:creationId xmlns:a16="http://schemas.microsoft.com/office/drawing/2014/main" id="{EC5EC280-C04D-4D7B-8AB0-4895AB29E97F}"/>
                      </a:ext>
                    </a:extLst>
                  </p:cNvPr>
                  <p:cNvSpPr>
                    <a:spLocks/>
                  </p:cNvSpPr>
                  <p:nvPr/>
                </p:nvSpPr>
                <p:spPr bwMode="auto">
                  <a:xfrm>
                    <a:off x="6342063" y="4602163"/>
                    <a:ext cx="1587" cy="1588"/>
                  </a:xfrm>
                  <a:custGeom>
                    <a:avLst/>
                    <a:gdLst/>
                    <a:ahLst/>
                    <a:cxnLst>
                      <a:cxn ang="0">
                        <a:pos x="0" y="1"/>
                      </a:cxn>
                      <a:cxn ang="0">
                        <a:pos x="0" y="0"/>
                      </a:cxn>
                      <a:cxn ang="0">
                        <a:pos x="0" y="0"/>
                      </a:cxn>
                      <a:cxn ang="0">
                        <a:pos x="0" y="1"/>
                      </a:cxn>
                    </a:cxnLst>
                    <a:rect l="0" t="0" r="r" b="b"/>
                    <a:pathLst>
                      <a:path h="1">
                        <a:moveTo>
                          <a:pt x="0" y="1"/>
                        </a:moveTo>
                        <a:cubicBezTo>
                          <a:pt x="0" y="0"/>
                          <a:pt x="0" y="0"/>
                          <a:pt x="0" y="0"/>
                        </a:cubicBez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07" name="Rectangle 144">
                    <a:extLst>
                      <a:ext uri="{FF2B5EF4-FFF2-40B4-BE49-F238E27FC236}">
                        <a16:creationId xmlns:a16="http://schemas.microsoft.com/office/drawing/2014/main" id="{01C92F19-B0D9-44A0-B0A2-10050ADAEF8D}"/>
                      </a:ext>
                    </a:extLst>
                  </p:cNvPr>
                  <p:cNvSpPr>
                    <a:spLocks noChangeArrowheads="1"/>
                  </p:cNvSpPr>
                  <p:nvPr/>
                </p:nvSpPr>
                <p:spPr bwMode="auto">
                  <a:xfrm>
                    <a:off x="6518275" y="3373438"/>
                    <a:ext cx="1587" cy="158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08" name="Freeform 145">
                    <a:extLst>
                      <a:ext uri="{FF2B5EF4-FFF2-40B4-BE49-F238E27FC236}">
                        <a16:creationId xmlns:a16="http://schemas.microsoft.com/office/drawing/2014/main" id="{0B59C491-3409-44C3-B261-93F17EDEF019}"/>
                      </a:ext>
                    </a:extLst>
                  </p:cNvPr>
                  <p:cNvSpPr>
                    <a:spLocks/>
                  </p:cNvSpPr>
                  <p:nvPr/>
                </p:nvSpPr>
                <p:spPr bwMode="auto">
                  <a:xfrm>
                    <a:off x="6505575" y="3398838"/>
                    <a:ext cx="1587" cy="6350"/>
                  </a:xfrm>
                  <a:custGeom>
                    <a:avLst/>
                    <a:gdLst/>
                    <a:ahLst/>
                    <a:cxnLst>
                      <a:cxn ang="0">
                        <a:pos x="0" y="3"/>
                      </a:cxn>
                      <a:cxn ang="0">
                        <a:pos x="0" y="0"/>
                      </a:cxn>
                      <a:cxn ang="0">
                        <a:pos x="0" y="3"/>
                      </a:cxn>
                    </a:cxnLst>
                    <a:rect l="0" t="0" r="r" b="b"/>
                    <a:pathLst>
                      <a:path h="3">
                        <a:moveTo>
                          <a:pt x="0" y="3"/>
                        </a:moveTo>
                        <a:cubicBezTo>
                          <a:pt x="0" y="0"/>
                          <a:pt x="0" y="0"/>
                          <a:pt x="0" y="0"/>
                        </a:cubicBezTo>
                        <a:cubicBezTo>
                          <a:pt x="0" y="2"/>
                          <a:pt x="0" y="3"/>
                          <a:pt x="0" y="3"/>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09" name="Freeform 146">
                    <a:extLst>
                      <a:ext uri="{FF2B5EF4-FFF2-40B4-BE49-F238E27FC236}">
                        <a16:creationId xmlns:a16="http://schemas.microsoft.com/office/drawing/2014/main" id="{D65E8D1F-6C42-4F17-8DF1-B01BC1588308}"/>
                      </a:ext>
                    </a:extLst>
                  </p:cNvPr>
                  <p:cNvSpPr>
                    <a:spLocks/>
                  </p:cNvSpPr>
                  <p:nvPr/>
                </p:nvSpPr>
                <p:spPr bwMode="auto">
                  <a:xfrm>
                    <a:off x="6329363" y="4614863"/>
                    <a:ext cx="1587" cy="6350"/>
                  </a:xfrm>
                  <a:custGeom>
                    <a:avLst/>
                    <a:gdLst/>
                    <a:ahLst/>
                    <a:cxnLst>
                      <a:cxn ang="0">
                        <a:pos x="0" y="0"/>
                      </a:cxn>
                      <a:cxn ang="0">
                        <a:pos x="0" y="3"/>
                      </a:cxn>
                      <a:cxn ang="0">
                        <a:pos x="0" y="0"/>
                      </a:cxn>
                    </a:cxnLst>
                    <a:rect l="0" t="0" r="r" b="b"/>
                    <a:pathLst>
                      <a:path h="3">
                        <a:moveTo>
                          <a:pt x="0" y="0"/>
                        </a:moveTo>
                        <a:cubicBezTo>
                          <a:pt x="0" y="3"/>
                          <a:pt x="0" y="3"/>
                          <a:pt x="0" y="3"/>
                        </a:cubicBezTo>
                        <a:cubicBezTo>
                          <a:pt x="0" y="2"/>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10" name="Freeform 147">
                    <a:extLst>
                      <a:ext uri="{FF2B5EF4-FFF2-40B4-BE49-F238E27FC236}">
                        <a16:creationId xmlns:a16="http://schemas.microsoft.com/office/drawing/2014/main" id="{E3A22E5D-121C-4B22-B44D-31EA15D5929D}"/>
                      </a:ext>
                    </a:extLst>
                  </p:cNvPr>
                  <p:cNvSpPr>
                    <a:spLocks/>
                  </p:cNvSpPr>
                  <p:nvPr/>
                </p:nvSpPr>
                <p:spPr bwMode="auto">
                  <a:xfrm>
                    <a:off x="6405563" y="3765550"/>
                    <a:ext cx="3175" cy="4763"/>
                  </a:xfrm>
                  <a:custGeom>
                    <a:avLst/>
                    <a:gdLst/>
                    <a:ahLst/>
                    <a:cxnLst>
                      <a:cxn ang="0">
                        <a:pos x="0" y="2"/>
                      </a:cxn>
                      <a:cxn ang="0">
                        <a:pos x="1" y="0"/>
                      </a:cxn>
                      <a:cxn ang="0">
                        <a:pos x="0" y="2"/>
                      </a:cxn>
                    </a:cxnLst>
                    <a:rect l="0" t="0" r="r" b="b"/>
                    <a:pathLst>
                      <a:path w="1" h="2">
                        <a:moveTo>
                          <a:pt x="0" y="2"/>
                        </a:moveTo>
                        <a:cubicBezTo>
                          <a:pt x="1" y="0"/>
                          <a:pt x="1" y="0"/>
                          <a:pt x="1" y="0"/>
                        </a:cubicBezTo>
                        <a:cubicBezTo>
                          <a:pt x="0" y="1"/>
                          <a:pt x="0" y="2"/>
                          <a:pt x="0"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11" name="Freeform 148">
                    <a:extLst>
                      <a:ext uri="{FF2B5EF4-FFF2-40B4-BE49-F238E27FC236}">
                        <a16:creationId xmlns:a16="http://schemas.microsoft.com/office/drawing/2014/main" id="{B6DE4373-51C9-4E52-8BE8-98FF385013CF}"/>
                      </a:ext>
                    </a:extLst>
                  </p:cNvPr>
                  <p:cNvSpPr>
                    <a:spLocks/>
                  </p:cNvSpPr>
                  <p:nvPr/>
                </p:nvSpPr>
                <p:spPr bwMode="auto">
                  <a:xfrm>
                    <a:off x="7507288" y="1978025"/>
                    <a:ext cx="3175" cy="3175"/>
                  </a:xfrm>
                  <a:custGeom>
                    <a:avLst/>
                    <a:gdLst/>
                    <a:ahLst/>
                    <a:cxnLst>
                      <a:cxn ang="0">
                        <a:pos x="0" y="1"/>
                      </a:cxn>
                      <a:cxn ang="0">
                        <a:pos x="1" y="0"/>
                      </a:cxn>
                      <a:cxn ang="0">
                        <a:pos x="0" y="1"/>
                      </a:cxn>
                    </a:cxnLst>
                    <a:rect l="0" t="0" r="r" b="b"/>
                    <a:pathLst>
                      <a:path w="1" h="1">
                        <a:moveTo>
                          <a:pt x="0" y="1"/>
                        </a:moveTo>
                        <a:cubicBezTo>
                          <a:pt x="0" y="1"/>
                          <a:pt x="0" y="1"/>
                          <a:pt x="1" y="0"/>
                        </a:cubicBezTo>
                        <a:cubicBezTo>
                          <a:pt x="1" y="0"/>
                          <a:pt x="1" y="0"/>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12" name="Freeform 149">
                    <a:extLst>
                      <a:ext uri="{FF2B5EF4-FFF2-40B4-BE49-F238E27FC236}">
                        <a16:creationId xmlns:a16="http://schemas.microsoft.com/office/drawing/2014/main" id="{CA853F2F-3152-49F5-98BD-426865C38A98}"/>
                      </a:ext>
                    </a:extLst>
                  </p:cNvPr>
                  <p:cNvSpPr>
                    <a:spLocks/>
                  </p:cNvSpPr>
                  <p:nvPr/>
                </p:nvSpPr>
                <p:spPr bwMode="auto">
                  <a:xfrm>
                    <a:off x="7335838" y="2182813"/>
                    <a:ext cx="3175" cy="1588"/>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13" name="Freeform 150">
                    <a:extLst>
                      <a:ext uri="{FF2B5EF4-FFF2-40B4-BE49-F238E27FC236}">
                        <a16:creationId xmlns:a16="http://schemas.microsoft.com/office/drawing/2014/main" id="{99C5BDD3-48BB-491A-A4A8-E475E59BDAA6}"/>
                      </a:ext>
                    </a:extLst>
                  </p:cNvPr>
                  <p:cNvSpPr>
                    <a:spLocks/>
                  </p:cNvSpPr>
                  <p:nvPr/>
                </p:nvSpPr>
                <p:spPr bwMode="auto">
                  <a:xfrm>
                    <a:off x="7339013" y="2171700"/>
                    <a:ext cx="6350" cy="11113"/>
                  </a:xfrm>
                  <a:custGeom>
                    <a:avLst/>
                    <a:gdLst/>
                    <a:ahLst/>
                    <a:cxnLst>
                      <a:cxn ang="0">
                        <a:pos x="3" y="0"/>
                      </a:cxn>
                      <a:cxn ang="0">
                        <a:pos x="0" y="4"/>
                      </a:cxn>
                      <a:cxn ang="0">
                        <a:pos x="3" y="0"/>
                      </a:cxn>
                    </a:cxnLst>
                    <a:rect l="0" t="0" r="r" b="b"/>
                    <a:pathLst>
                      <a:path w="3" h="4">
                        <a:moveTo>
                          <a:pt x="3" y="0"/>
                        </a:moveTo>
                        <a:cubicBezTo>
                          <a:pt x="2" y="1"/>
                          <a:pt x="0" y="3"/>
                          <a:pt x="0" y="4"/>
                        </a:cubicBezTo>
                        <a:cubicBezTo>
                          <a:pt x="1" y="3"/>
                          <a:pt x="2" y="2"/>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14" name="Freeform 151">
                    <a:extLst>
                      <a:ext uri="{FF2B5EF4-FFF2-40B4-BE49-F238E27FC236}">
                        <a16:creationId xmlns:a16="http://schemas.microsoft.com/office/drawing/2014/main" id="{14E2C006-E5A2-476C-89ED-0A489C1FAEED}"/>
                      </a:ext>
                    </a:extLst>
                  </p:cNvPr>
                  <p:cNvSpPr>
                    <a:spLocks/>
                  </p:cNvSpPr>
                  <p:nvPr/>
                </p:nvSpPr>
                <p:spPr bwMode="auto">
                  <a:xfrm>
                    <a:off x="7316788" y="2200275"/>
                    <a:ext cx="1587" cy="1588"/>
                  </a:xfrm>
                  <a:custGeom>
                    <a:avLst/>
                    <a:gdLst/>
                    <a:ahLst/>
                    <a:cxnLst>
                      <a:cxn ang="0">
                        <a:pos x="0" y="1"/>
                      </a:cxn>
                      <a:cxn ang="0">
                        <a:pos x="0" y="0"/>
                      </a:cxn>
                      <a:cxn ang="0">
                        <a:pos x="0" y="1"/>
                      </a:cxn>
                    </a:cxnLst>
                    <a:rect l="0" t="0" r="r" b="b"/>
                    <a:pathLst>
                      <a:path h="1">
                        <a:moveTo>
                          <a:pt x="0" y="1"/>
                        </a:move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15" name="Freeform 152">
                    <a:extLst>
                      <a:ext uri="{FF2B5EF4-FFF2-40B4-BE49-F238E27FC236}">
                        <a16:creationId xmlns:a16="http://schemas.microsoft.com/office/drawing/2014/main" id="{EF544172-9C40-4DA9-8D70-F425F4104065}"/>
                      </a:ext>
                    </a:extLst>
                  </p:cNvPr>
                  <p:cNvSpPr>
                    <a:spLocks/>
                  </p:cNvSpPr>
                  <p:nvPr/>
                </p:nvSpPr>
                <p:spPr bwMode="auto">
                  <a:xfrm>
                    <a:off x="7526338" y="202882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16" name="Freeform 153">
                    <a:extLst>
                      <a:ext uri="{FF2B5EF4-FFF2-40B4-BE49-F238E27FC236}">
                        <a16:creationId xmlns:a16="http://schemas.microsoft.com/office/drawing/2014/main" id="{4D29A27C-BFB9-4632-A9F5-351D9F03D770}"/>
                      </a:ext>
                    </a:extLst>
                  </p:cNvPr>
                  <p:cNvSpPr>
                    <a:spLocks/>
                  </p:cNvSpPr>
                  <p:nvPr/>
                </p:nvSpPr>
                <p:spPr bwMode="auto">
                  <a:xfrm>
                    <a:off x="7481888" y="2063750"/>
                    <a:ext cx="3175" cy="1588"/>
                  </a:xfrm>
                  <a:custGeom>
                    <a:avLst/>
                    <a:gdLst/>
                    <a:ahLst/>
                    <a:cxnLst>
                      <a:cxn ang="0">
                        <a:pos x="1" y="0"/>
                      </a:cxn>
                      <a:cxn ang="0">
                        <a:pos x="0" y="0"/>
                      </a:cxn>
                      <a:cxn ang="0">
                        <a:pos x="1" y="0"/>
                      </a:cxn>
                    </a:cxnLst>
                    <a:rect l="0" t="0" r="r" b="b"/>
                    <a:pathLst>
                      <a:path w="1">
                        <a:moveTo>
                          <a:pt x="1" y="0"/>
                        </a:moveTo>
                        <a:cubicBezTo>
                          <a:pt x="1"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17" name="Freeform 154">
                    <a:extLst>
                      <a:ext uri="{FF2B5EF4-FFF2-40B4-BE49-F238E27FC236}">
                        <a16:creationId xmlns:a16="http://schemas.microsoft.com/office/drawing/2014/main" id="{E7283D46-BB5B-44E2-8E02-47F334D0516A}"/>
                      </a:ext>
                    </a:extLst>
                  </p:cNvPr>
                  <p:cNvSpPr>
                    <a:spLocks/>
                  </p:cNvSpPr>
                  <p:nvPr/>
                </p:nvSpPr>
                <p:spPr bwMode="auto">
                  <a:xfrm>
                    <a:off x="7221538" y="23018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18" name="Freeform 156">
                    <a:extLst>
                      <a:ext uri="{FF2B5EF4-FFF2-40B4-BE49-F238E27FC236}">
                        <a16:creationId xmlns:a16="http://schemas.microsoft.com/office/drawing/2014/main" id="{520259EB-146A-45AC-ABF3-A1633FC868B3}"/>
                      </a:ext>
                    </a:extLst>
                  </p:cNvPr>
                  <p:cNvSpPr>
                    <a:spLocks/>
                  </p:cNvSpPr>
                  <p:nvPr/>
                </p:nvSpPr>
                <p:spPr bwMode="auto">
                  <a:xfrm>
                    <a:off x="7526338" y="2025650"/>
                    <a:ext cx="7937" cy="7938"/>
                  </a:xfrm>
                  <a:custGeom>
                    <a:avLst/>
                    <a:gdLst/>
                    <a:ahLst/>
                    <a:cxnLst>
                      <a:cxn ang="0">
                        <a:pos x="3" y="0"/>
                      </a:cxn>
                      <a:cxn ang="0">
                        <a:pos x="0" y="1"/>
                      </a:cxn>
                      <a:cxn ang="0">
                        <a:pos x="0" y="3"/>
                      </a:cxn>
                      <a:cxn ang="0">
                        <a:pos x="3" y="0"/>
                      </a:cxn>
                    </a:cxnLst>
                    <a:rect l="0" t="0" r="r" b="b"/>
                    <a:pathLst>
                      <a:path w="3" h="3">
                        <a:moveTo>
                          <a:pt x="3" y="0"/>
                        </a:moveTo>
                        <a:cubicBezTo>
                          <a:pt x="0" y="1"/>
                          <a:pt x="0" y="1"/>
                          <a:pt x="0" y="1"/>
                        </a:cubicBezTo>
                        <a:cubicBezTo>
                          <a:pt x="1" y="2"/>
                          <a:pt x="1" y="2"/>
                          <a:pt x="0" y="3"/>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19" name="Freeform 157">
                    <a:extLst>
                      <a:ext uri="{FF2B5EF4-FFF2-40B4-BE49-F238E27FC236}">
                        <a16:creationId xmlns:a16="http://schemas.microsoft.com/office/drawing/2014/main" id="{422E6037-E463-43CA-9C03-229603DC8CDA}"/>
                      </a:ext>
                    </a:extLst>
                  </p:cNvPr>
                  <p:cNvSpPr>
                    <a:spLocks/>
                  </p:cNvSpPr>
                  <p:nvPr/>
                </p:nvSpPr>
                <p:spPr bwMode="auto">
                  <a:xfrm>
                    <a:off x="7278688" y="2239963"/>
                    <a:ext cx="1587" cy="1588"/>
                  </a:xfrm>
                  <a:custGeom>
                    <a:avLst/>
                    <a:gdLst/>
                    <a:ahLst/>
                    <a:cxnLst>
                      <a:cxn ang="0">
                        <a:pos x="0" y="0"/>
                      </a:cxn>
                      <a:cxn ang="0">
                        <a:pos x="0" y="1"/>
                      </a:cxn>
                      <a:cxn ang="0">
                        <a:pos x="0" y="0"/>
                      </a:cxn>
                    </a:cxnLst>
                    <a:rect l="0" t="0" r="r" b="b"/>
                    <a:pathLst>
                      <a:path h="1">
                        <a:moveTo>
                          <a:pt x="0" y="0"/>
                        </a:moveTo>
                        <a:cubicBezTo>
                          <a:pt x="0" y="0"/>
                          <a:pt x="0" y="1"/>
                          <a:pt x="0" y="1"/>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20" name="Freeform 158">
                    <a:extLst>
                      <a:ext uri="{FF2B5EF4-FFF2-40B4-BE49-F238E27FC236}">
                        <a16:creationId xmlns:a16="http://schemas.microsoft.com/office/drawing/2014/main" id="{E5BBB753-D846-4372-A3F3-0B7AAD64CABB}"/>
                      </a:ext>
                    </a:extLst>
                  </p:cNvPr>
                  <p:cNvSpPr>
                    <a:spLocks/>
                  </p:cNvSpPr>
                  <p:nvPr/>
                </p:nvSpPr>
                <p:spPr bwMode="auto">
                  <a:xfrm>
                    <a:off x="7221538" y="2297113"/>
                    <a:ext cx="7937" cy="4763"/>
                  </a:xfrm>
                  <a:custGeom>
                    <a:avLst/>
                    <a:gdLst/>
                    <a:ahLst/>
                    <a:cxnLst>
                      <a:cxn ang="0">
                        <a:pos x="2" y="2"/>
                      </a:cxn>
                      <a:cxn ang="0">
                        <a:pos x="0" y="2"/>
                      </a:cxn>
                      <a:cxn ang="0">
                        <a:pos x="2" y="2"/>
                      </a:cxn>
                    </a:cxnLst>
                    <a:rect l="0" t="0" r="r" b="b"/>
                    <a:pathLst>
                      <a:path w="3" h="2">
                        <a:moveTo>
                          <a:pt x="2" y="2"/>
                        </a:moveTo>
                        <a:cubicBezTo>
                          <a:pt x="3" y="0"/>
                          <a:pt x="1" y="1"/>
                          <a:pt x="0" y="2"/>
                        </a:cubicBezTo>
                        <a:cubicBezTo>
                          <a:pt x="1" y="2"/>
                          <a:pt x="1" y="2"/>
                          <a:pt x="2"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21" name="Freeform 159">
                    <a:extLst>
                      <a:ext uri="{FF2B5EF4-FFF2-40B4-BE49-F238E27FC236}">
                        <a16:creationId xmlns:a16="http://schemas.microsoft.com/office/drawing/2014/main" id="{55945D37-6191-44A2-BF82-463A55CA2B06}"/>
                      </a:ext>
                    </a:extLst>
                  </p:cNvPr>
                  <p:cNvSpPr>
                    <a:spLocks/>
                  </p:cNvSpPr>
                  <p:nvPr/>
                </p:nvSpPr>
                <p:spPr bwMode="auto">
                  <a:xfrm>
                    <a:off x="7685088" y="1916113"/>
                    <a:ext cx="3175" cy="1588"/>
                  </a:xfrm>
                  <a:custGeom>
                    <a:avLst/>
                    <a:gdLst/>
                    <a:ahLst/>
                    <a:cxnLst>
                      <a:cxn ang="0">
                        <a:pos x="1" y="0"/>
                      </a:cxn>
                      <a:cxn ang="0">
                        <a:pos x="0" y="0"/>
                      </a:cxn>
                      <a:cxn ang="0">
                        <a:pos x="1" y="0"/>
                      </a:cxn>
                    </a:cxnLst>
                    <a:rect l="0" t="0" r="r" b="b"/>
                    <a:pathLst>
                      <a:path w="1">
                        <a:moveTo>
                          <a:pt x="1" y="0"/>
                        </a:moveTo>
                        <a:cubicBezTo>
                          <a:pt x="0" y="0"/>
                          <a:pt x="0" y="0"/>
                          <a:pt x="0"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22" name="Freeform 160">
                    <a:extLst>
                      <a:ext uri="{FF2B5EF4-FFF2-40B4-BE49-F238E27FC236}">
                        <a16:creationId xmlns:a16="http://schemas.microsoft.com/office/drawing/2014/main" id="{808FDDE0-DDF4-4616-8347-CDD737BC14E2}"/>
                      </a:ext>
                    </a:extLst>
                  </p:cNvPr>
                  <p:cNvSpPr>
                    <a:spLocks/>
                  </p:cNvSpPr>
                  <p:nvPr/>
                </p:nvSpPr>
                <p:spPr bwMode="auto">
                  <a:xfrm>
                    <a:off x="8167688" y="17176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23" name="Freeform 161">
                    <a:extLst>
                      <a:ext uri="{FF2B5EF4-FFF2-40B4-BE49-F238E27FC236}">
                        <a16:creationId xmlns:a16="http://schemas.microsoft.com/office/drawing/2014/main" id="{920EB27E-15F1-4B60-BB7B-9BF3E0F9518C}"/>
                      </a:ext>
                    </a:extLst>
                  </p:cNvPr>
                  <p:cNvSpPr>
                    <a:spLocks/>
                  </p:cNvSpPr>
                  <p:nvPr/>
                </p:nvSpPr>
                <p:spPr bwMode="auto">
                  <a:xfrm>
                    <a:off x="8132763" y="1720850"/>
                    <a:ext cx="6350" cy="1588"/>
                  </a:xfrm>
                  <a:custGeom>
                    <a:avLst/>
                    <a:gdLst/>
                    <a:ahLst/>
                    <a:cxnLst>
                      <a:cxn ang="0">
                        <a:pos x="3" y="0"/>
                      </a:cxn>
                      <a:cxn ang="0">
                        <a:pos x="0" y="1"/>
                      </a:cxn>
                      <a:cxn ang="0">
                        <a:pos x="3" y="0"/>
                      </a:cxn>
                    </a:cxnLst>
                    <a:rect l="0" t="0" r="r" b="b"/>
                    <a:pathLst>
                      <a:path w="3" h="1">
                        <a:moveTo>
                          <a:pt x="3" y="0"/>
                        </a:moveTo>
                        <a:cubicBezTo>
                          <a:pt x="2" y="0"/>
                          <a:pt x="1" y="1"/>
                          <a:pt x="0" y="1"/>
                        </a:cubicBezTo>
                        <a:cubicBezTo>
                          <a:pt x="1" y="1"/>
                          <a:pt x="2" y="1"/>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24" name="Freeform 162">
                    <a:extLst>
                      <a:ext uri="{FF2B5EF4-FFF2-40B4-BE49-F238E27FC236}">
                        <a16:creationId xmlns:a16="http://schemas.microsoft.com/office/drawing/2014/main" id="{9B45E92B-7804-4AA6-BA71-E40452C36097}"/>
                      </a:ext>
                    </a:extLst>
                  </p:cNvPr>
                  <p:cNvSpPr>
                    <a:spLocks/>
                  </p:cNvSpPr>
                  <p:nvPr/>
                </p:nvSpPr>
                <p:spPr bwMode="auto">
                  <a:xfrm>
                    <a:off x="7577138" y="1984375"/>
                    <a:ext cx="4762" cy="4763"/>
                  </a:xfrm>
                  <a:custGeom>
                    <a:avLst/>
                    <a:gdLst/>
                    <a:ahLst/>
                    <a:cxnLst>
                      <a:cxn ang="0">
                        <a:pos x="2" y="0"/>
                      </a:cxn>
                      <a:cxn ang="0">
                        <a:pos x="0" y="2"/>
                      </a:cxn>
                      <a:cxn ang="0">
                        <a:pos x="2" y="0"/>
                      </a:cxn>
                    </a:cxnLst>
                    <a:rect l="0" t="0" r="r" b="b"/>
                    <a:pathLst>
                      <a:path w="2" h="2">
                        <a:moveTo>
                          <a:pt x="2" y="0"/>
                        </a:moveTo>
                        <a:cubicBezTo>
                          <a:pt x="1" y="1"/>
                          <a:pt x="1" y="1"/>
                          <a:pt x="0" y="2"/>
                        </a:cubicBezTo>
                        <a:cubicBezTo>
                          <a:pt x="1" y="1"/>
                          <a:pt x="2"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25" name="Freeform 163">
                    <a:extLst>
                      <a:ext uri="{FF2B5EF4-FFF2-40B4-BE49-F238E27FC236}">
                        <a16:creationId xmlns:a16="http://schemas.microsoft.com/office/drawing/2014/main" id="{489B50EF-66E2-4362-A83D-87547A96440C}"/>
                      </a:ext>
                    </a:extLst>
                  </p:cNvPr>
                  <p:cNvSpPr>
                    <a:spLocks/>
                  </p:cNvSpPr>
                  <p:nvPr/>
                </p:nvSpPr>
                <p:spPr bwMode="auto">
                  <a:xfrm>
                    <a:off x="8120063" y="1725613"/>
                    <a:ext cx="7937" cy="3175"/>
                  </a:xfrm>
                  <a:custGeom>
                    <a:avLst/>
                    <a:gdLst/>
                    <a:ahLst/>
                    <a:cxnLst>
                      <a:cxn ang="0">
                        <a:pos x="3" y="0"/>
                      </a:cxn>
                      <a:cxn ang="0">
                        <a:pos x="0" y="1"/>
                      </a:cxn>
                      <a:cxn ang="0">
                        <a:pos x="0" y="1"/>
                      </a:cxn>
                      <a:cxn ang="0">
                        <a:pos x="3" y="0"/>
                      </a:cxn>
                    </a:cxnLst>
                    <a:rect l="0" t="0" r="r" b="b"/>
                    <a:pathLst>
                      <a:path w="3" h="1">
                        <a:moveTo>
                          <a:pt x="3" y="0"/>
                        </a:moveTo>
                        <a:cubicBezTo>
                          <a:pt x="0" y="1"/>
                          <a:pt x="0" y="1"/>
                          <a:pt x="0" y="1"/>
                        </a:cubicBezTo>
                        <a:cubicBezTo>
                          <a:pt x="0" y="1"/>
                          <a:pt x="0" y="1"/>
                          <a:pt x="0" y="1"/>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26" name="Freeform 164">
                    <a:extLst>
                      <a:ext uri="{FF2B5EF4-FFF2-40B4-BE49-F238E27FC236}">
                        <a16:creationId xmlns:a16="http://schemas.microsoft.com/office/drawing/2014/main" id="{65566D6E-852E-4303-A754-001A40015935}"/>
                      </a:ext>
                    </a:extLst>
                  </p:cNvPr>
                  <p:cNvSpPr>
                    <a:spLocks/>
                  </p:cNvSpPr>
                  <p:nvPr/>
                </p:nvSpPr>
                <p:spPr bwMode="auto">
                  <a:xfrm>
                    <a:off x="8167688" y="1716088"/>
                    <a:ext cx="9525" cy="1588"/>
                  </a:xfrm>
                  <a:custGeom>
                    <a:avLst/>
                    <a:gdLst/>
                    <a:ahLst/>
                    <a:cxnLst>
                      <a:cxn ang="0">
                        <a:pos x="4" y="0"/>
                      </a:cxn>
                      <a:cxn ang="0">
                        <a:pos x="0" y="1"/>
                      </a:cxn>
                      <a:cxn ang="0">
                        <a:pos x="4" y="0"/>
                      </a:cxn>
                    </a:cxnLst>
                    <a:rect l="0" t="0" r="r" b="b"/>
                    <a:pathLst>
                      <a:path w="4" h="1">
                        <a:moveTo>
                          <a:pt x="4" y="0"/>
                        </a:moveTo>
                        <a:cubicBezTo>
                          <a:pt x="3" y="1"/>
                          <a:pt x="1" y="1"/>
                          <a:pt x="0" y="1"/>
                        </a:cubicBezTo>
                        <a:cubicBezTo>
                          <a:pt x="2" y="1"/>
                          <a:pt x="3" y="1"/>
                          <a:pt x="4"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27" name="Freeform 165">
                    <a:extLst>
                      <a:ext uri="{FF2B5EF4-FFF2-40B4-BE49-F238E27FC236}">
                        <a16:creationId xmlns:a16="http://schemas.microsoft.com/office/drawing/2014/main" id="{AFBE79A0-16F7-4262-A160-C5FBE46537E4}"/>
                      </a:ext>
                    </a:extLst>
                  </p:cNvPr>
                  <p:cNvSpPr>
                    <a:spLocks/>
                  </p:cNvSpPr>
                  <p:nvPr/>
                </p:nvSpPr>
                <p:spPr bwMode="auto">
                  <a:xfrm>
                    <a:off x="7850188" y="1822450"/>
                    <a:ext cx="4762" cy="4763"/>
                  </a:xfrm>
                  <a:custGeom>
                    <a:avLst/>
                    <a:gdLst/>
                    <a:ahLst/>
                    <a:cxnLst>
                      <a:cxn ang="0">
                        <a:pos x="2" y="0"/>
                      </a:cxn>
                      <a:cxn ang="0">
                        <a:pos x="2" y="1"/>
                      </a:cxn>
                      <a:cxn ang="0">
                        <a:pos x="2" y="0"/>
                      </a:cxn>
                    </a:cxnLst>
                    <a:rect l="0" t="0" r="r" b="b"/>
                    <a:pathLst>
                      <a:path w="2" h="2">
                        <a:moveTo>
                          <a:pt x="2" y="0"/>
                        </a:moveTo>
                        <a:cubicBezTo>
                          <a:pt x="2" y="1"/>
                          <a:pt x="2" y="1"/>
                          <a:pt x="2" y="1"/>
                        </a:cubicBezTo>
                        <a:cubicBezTo>
                          <a:pt x="0" y="2"/>
                          <a:pt x="1"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28" name="Freeform 166">
                    <a:extLst>
                      <a:ext uri="{FF2B5EF4-FFF2-40B4-BE49-F238E27FC236}">
                        <a16:creationId xmlns:a16="http://schemas.microsoft.com/office/drawing/2014/main" id="{8BA22E34-2A41-49CB-A094-150FE2B48DDA}"/>
                      </a:ext>
                    </a:extLst>
                  </p:cNvPr>
                  <p:cNvSpPr>
                    <a:spLocks/>
                  </p:cNvSpPr>
                  <p:nvPr/>
                </p:nvSpPr>
                <p:spPr bwMode="auto">
                  <a:xfrm>
                    <a:off x="8094663" y="1738313"/>
                    <a:ext cx="3175" cy="1588"/>
                  </a:xfrm>
                  <a:custGeom>
                    <a:avLst/>
                    <a:gdLst/>
                    <a:ahLst/>
                    <a:cxnLst>
                      <a:cxn ang="0">
                        <a:pos x="2" y="0"/>
                      </a:cxn>
                      <a:cxn ang="0">
                        <a:pos x="2" y="0"/>
                      </a:cxn>
                      <a:cxn ang="0">
                        <a:pos x="0" y="1"/>
                      </a:cxn>
                      <a:cxn ang="0">
                        <a:pos x="2" y="0"/>
                      </a:cxn>
                    </a:cxnLst>
                    <a:rect l="0" t="0" r="r" b="b"/>
                    <a:pathLst>
                      <a:path w="2" h="1">
                        <a:moveTo>
                          <a:pt x="2" y="0"/>
                        </a:moveTo>
                        <a:lnTo>
                          <a:pt x="2" y="0"/>
                        </a:lnTo>
                        <a:lnTo>
                          <a:pt x="0" y="1"/>
                        </a:lnTo>
                        <a:lnTo>
                          <a:pt x="2"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29" name="Freeform 167">
                    <a:extLst>
                      <a:ext uri="{FF2B5EF4-FFF2-40B4-BE49-F238E27FC236}">
                        <a16:creationId xmlns:a16="http://schemas.microsoft.com/office/drawing/2014/main" id="{9BED9508-333F-405E-9F5D-8FCDC40AC713}"/>
                      </a:ext>
                    </a:extLst>
                  </p:cNvPr>
                  <p:cNvSpPr>
                    <a:spLocks/>
                  </p:cNvSpPr>
                  <p:nvPr/>
                </p:nvSpPr>
                <p:spPr bwMode="auto">
                  <a:xfrm>
                    <a:off x="8204200" y="1711325"/>
                    <a:ext cx="4762" cy="1588"/>
                  </a:xfrm>
                  <a:custGeom>
                    <a:avLst/>
                    <a:gdLst/>
                    <a:ahLst/>
                    <a:cxnLst>
                      <a:cxn ang="0">
                        <a:pos x="1" y="0"/>
                      </a:cxn>
                      <a:cxn ang="0">
                        <a:pos x="0" y="0"/>
                      </a:cxn>
                      <a:cxn ang="0">
                        <a:pos x="2" y="0"/>
                      </a:cxn>
                      <a:cxn ang="0">
                        <a:pos x="1" y="0"/>
                      </a:cxn>
                    </a:cxnLst>
                    <a:rect l="0" t="0" r="r" b="b"/>
                    <a:pathLst>
                      <a:path w="2">
                        <a:moveTo>
                          <a:pt x="1" y="0"/>
                        </a:moveTo>
                        <a:cubicBezTo>
                          <a:pt x="1" y="0"/>
                          <a:pt x="0" y="0"/>
                          <a:pt x="0" y="0"/>
                        </a:cubicBezTo>
                        <a:cubicBezTo>
                          <a:pt x="2" y="0"/>
                          <a:pt x="2" y="0"/>
                          <a:pt x="2"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30" name="Freeform 168">
                    <a:extLst>
                      <a:ext uri="{FF2B5EF4-FFF2-40B4-BE49-F238E27FC236}">
                        <a16:creationId xmlns:a16="http://schemas.microsoft.com/office/drawing/2014/main" id="{B266A6C5-1C0F-44FD-999E-F4F9337D9381}"/>
                      </a:ext>
                    </a:extLst>
                  </p:cNvPr>
                  <p:cNvSpPr>
                    <a:spLocks/>
                  </p:cNvSpPr>
                  <p:nvPr/>
                </p:nvSpPr>
                <p:spPr bwMode="auto">
                  <a:xfrm>
                    <a:off x="7956550" y="1779588"/>
                    <a:ext cx="1587" cy="4763"/>
                  </a:xfrm>
                  <a:custGeom>
                    <a:avLst/>
                    <a:gdLst/>
                    <a:ahLst/>
                    <a:cxnLst>
                      <a:cxn ang="0">
                        <a:pos x="1" y="2"/>
                      </a:cxn>
                      <a:cxn ang="0">
                        <a:pos x="1" y="0"/>
                      </a:cxn>
                      <a:cxn ang="0">
                        <a:pos x="1" y="2"/>
                      </a:cxn>
                    </a:cxnLst>
                    <a:rect l="0" t="0" r="r" b="b"/>
                    <a:pathLst>
                      <a:path w="1" h="2">
                        <a:moveTo>
                          <a:pt x="1" y="2"/>
                        </a:moveTo>
                        <a:cubicBezTo>
                          <a:pt x="1" y="1"/>
                          <a:pt x="1" y="1"/>
                          <a:pt x="1" y="0"/>
                        </a:cubicBezTo>
                        <a:cubicBezTo>
                          <a:pt x="0" y="1"/>
                          <a:pt x="0" y="1"/>
                          <a:pt x="1"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grpSp>
              <p:nvGrpSpPr>
                <p:cNvPr id="51" name="Group 630">
                  <a:extLst>
                    <a:ext uri="{FF2B5EF4-FFF2-40B4-BE49-F238E27FC236}">
                      <a16:creationId xmlns:a16="http://schemas.microsoft.com/office/drawing/2014/main" id="{32074C00-9EB0-4057-A640-71D65528C032}"/>
                    </a:ext>
                  </a:extLst>
                </p:cNvPr>
                <p:cNvGrpSpPr/>
                <p:nvPr/>
              </p:nvGrpSpPr>
              <p:grpSpPr>
                <a:xfrm rot="15155533" flipH="1">
                  <a:off x="1264410" y="1845476"/>
                  <a:ext cx="2259435" cy="2728193"/>
                  <a:chOff x="6224407" y="1520027"/>
                  <a:chExt cx="2294118" cy="3101186"/>
                </a:xfrm>
                <a:solidFill>
                  <a:schemeClr val="bg2">
                    <a:lumMod val="75000"/>
                  </a:schemeClr>
                </a:solidFill>
              </p:grpSpPr>
              <p:sp>
                <p:nvSpPr>
                  <p:cNvPr id="52" name="Freeform 129">
                    <a:extLst>
                      <a:ext uri="{FF2B5EF4-FFF2-40B4-BE49-F238E27FC236}">
                        <a16:creationId xmlns:a16="http://schemas.microsoft.com/office/drawing/2014/main" id="{207B30D0-1FEF-4863-B4BF-6DDD87DE6E94}"/>
                      </a:ext>
                    </a:extLst>
                  </p:cNvPr>
                  <p:cNvSpPr>
                    <a:spLocks/>
                  </p:cNvSpPr>
                  <p:nvPr/>
                </p:nvSpPr>
                <p:spPr bwMode="auto">
                  <a:xfrm>
                    <a:off x="8027988" y="1720850"/>
                    <a:ext cx="3175" cy="1588"/>
                  </a:xfrm>
                  <a:custGeom>
                    <a:avLst/>
                    <a:gdLst/>
                    <a:ahLst/>
                    <a:cxnLst>
                      <a:cxn ang="0">
                        <a:pos x="0" y="0"/>
                      </a:cxn>
                      <a:cxn ang="0">
                        <a:pos x="0" y="0"/>
                      </a:cxn>
                      <a:cxn ang="0">
                        <a:pos x="0" y="0"/>
                      </a:cxn>
                    </a:cxnLst>
                    <a:rect l="0" t="0" r="r" b="b"/>
                    <a:pathLst>
                      <a:path w="1">
                        <a:moveTo>
                          <a:pt x="0" y="0"/>
                        </a:moveTo>
                        <a:cubicBezTo>
                          <a:pt x="0" y="0"/>
                          <a:pt x="1"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53" name="Freeform 130">
                    <a:extLst>
                      <a:ext uri="{FF2B5EF4-FFF2-40B4-BE49-F238E27FC236}">
                        <a16:creationId xmlns:a16="http://schemas.microsoft.com/office/drawing/2014/main" id="{65041F02-68D2-44EC-9D6E-1819B234C575}"/>
                      </a:ext>
                    </a:extLst>
                  </p:cNvPr>
                  <p:cNvSpPr>
                    <a:spLocks/>
                  </p:cNvSpPr>
                  <p:nvPr/>
                </p:nvSpPr>
                <p:spPr bwMode="auto">
                  <a:xfrm>
                    <a:off x="7724775" y="1841500"/>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0"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54" name="Freeform 131">
                    <a:extLst>
                      <a:ext uri="{FF2B5EF4-FFF2-40B4-BE49-F238E27FC236}">
                        <a16:creationId xmlns:a16="http://schemas.microsoft.com/office/drawing/2014/main" id="{49E1FFA7-14C2-4C23-9D35-EF635CEF98CE}"/>
                      </a:ext>
                    </a:extLst>
                  </p:cNvPr>
                  <p:cNvSpPr>
                    <a:spLocks/>
                  </p:cNvSpPr>
                  <p:nvPr/>
                </p:nvSpPr>
                <p:spPr bwMode="auto">
                  <a:xfrm>
                    <a:off x="8218488" y="1671638"/>
                    <a:ext cx="12700" cy="1588"/>
                  </a:xfrm>
                  <a:custGeom>
                    <a:avLst/>
                    <a:gdLst/>
                    <a:ahLst/>
                    <a:cxnLst>
                      <a:cxn ang="0">
                        <a:pos x="0" y="1"/>
                      </a:cxn>
                      <a:cxn ang="0">
                        <a:pos x="0" y="1"/>
                      </a:cxn>
                      <a:cxn ang="0">
                        <a:pos x="5" y="0"/>
                      </a:cxn>
                      <a:cxn ang="0">
                        <a:pos x="0" y="1"/>
                      </a:cxn>
                    </a:cxnLst>
                    <a:rect l="0" t="0" r="r" b="b"/>
                    <a:pathLst>
                      <a:path w="5" h="1">
                        <a:moveTo>
                          <a:pt x="0" y="1"/>
                        </a:moveTo>
                        <a:cubicBezTo>
                          <a:pt x="0" y="1"/>
                          <a:pt x="0" y="1"/>
                          <a:pt x="0" y="1"/>
                        </a:cubicBezTo>
                        <a:cubicBezTo>
                          <a:pt x="5" y="0"/>
                          <a:pt x="5" y="0"/>
                          <a:pt x="5" y="0"/>
                        </a:cubicBezTo>
                        <a:lnTo>
                          <a:pt x="0" y="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55" name="Freeform 132">
                    <a:extLst>
                      <a:ext uri="{FF2B5EF4-FFF2-40B4-BE49-F238E27FC236}">
                        <a16:creationId xmlns:a16="http://schemas.microsoft.com/office/drawing/2014/main" id="{0FD3D05E-64DA-43F3-ADF6-E8C9036E3908}"/>
                      </a:ext>
                    </a:extLst>
                  </p:cNvPr>
                  <p:cNvSpPr>
                    <a:spLocks/>
                  </p:cNvSpPr>
                  <p:nvPr/>
                </p:nvSpPr>
                <p:spPr bwMode="auto">
                  <a:xfrm>
                    <a:off x="7169150" y="2263775"/>
                    <a:ext cx="3175" cy="3175"/>
                  </a:xfrm>
                  <a:custGeom>
                    <a:avLst/>
                    <a:gdLst/>
                    <a:ahLst/>
                    <a:cxnLst>
                      <a:cxn ang="0">
                        <a:pos x="0" y="1"/>
                      </a:cxn>
                      <a:cxn ang="0">
                        <a:pos x="1" y="0"/>
                      </a:cxn>
                      <a:cxn ang="0">
                        <a:pos x="0" y="1"/>
                      </a:cxn>
                    </a:cxnLst>
                    <a:rect l="0" t="0" r="r" b="b"/>
                    <a:pathLst>
                      <a:path w="1" h="1">
                        <a:moveTo>
                          <a:pt x="0" y="1"/>
                        </a:moveTo>
                        <a:cubicBezTo>
                          <a:pt x="1" y="0"/>
                          <a:pt x="1" y="0"/>
                          <a:pt x="1" y="0"/>
                        </a:cubicBezTo>
                        <a:cubicBezTo>
                          <a:pt x="1" y="1"/>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56" name="Freeform 133">
                    <a:extLst>
                      <a:ext uri="{FF2B5EF4-FFF2-40B4-BE49-F238E27FC236}">
                        <a16:creationId xmlns:a16="http://schemas.microsoft.com/office/drawing/2014/main" id="{3363F372-DC15-4942-8D09-460E0CEB96FC}"/>
                      </a:ext>
                    </a:extLst>
                  </p:cNvPr>
                  <p:cNvSpPr>
                    <a:spLocks/>
                  </p:cNvSpPr>
                  <p:nvPr/>
                </p:nvSpPr>
                <p:spPr bwMode="auto">
                  <a:xfrm>
                    <a:off x="7480300" y="1995488"/>
                    <a:ext cx="4762" cy="4763"/>
                  </a:xfrm>
                  <a:custGeom>
                    <a:avLst/>
                    <a:gdLst/>
                    <a:ahLst/>
                    <a:cxnLst>
                      <a:cxn ang="0">
                        <a:pos x="2" y="0"/>
                      </a:cxn>
                      <a:cxn ang="0">
                        <a:pos x="0" y="2"/>
                      </a:cxn>
                      <a:cxn ang="0">
                        <a:pos x="2" y="0"/>
                      </a:cxn>
                    </a:cxnLst>
                    <a:rect l="0" t="0" r="r" b="b"/>
                    <a:pathLst>
                      <a:path w="2" h="2">
                        <a:moveTo>
                          <a:pt x="2" y="0"/>
                        </a:moveTo>
                        <a:cubicBezTo>
                          <a:pt x="1" y="0"/>
                          <a:pt x="1" y="1"/>
                          <a:pt x="0" y="2"/>
                        </a:cubicBezTo>
                        <a:cubicBezTo>
                          <a:pt x="1" y="1"/>
                          <a:pt x="2" y="0"/>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57" name="Freeform 134">
                    <a:extLst>
                      <a:ext uri="{FF2B5EF4-FFF2-40B4-BE49-F238E27FC236}">
                        <a16:creationId xmlns:a16="http://schemas.microsoft.com/office/drawing/2014/main" id="{A44AABFC-F0FA-4E47-95AE-A9DA4D323FB1}"/>
                      </a:ext>
                    </a:extLst>
                  </p:cNvPr>
                  <p:cNvSpPr>
                    <a:spLocks/>
                  </p:cNvSpPr>
                  <p:nvPr/>
                </p:nvSpPr>
                <p:spPr bwMode="auto">
                  <a:xfrm>
                    <a:off x="8318500" y="1681163"/>
                    <a:ext cx="7937" cy="1588"/>
                  </a:xfrm>
                  <a:custGeom>
                    <a:avLst/>
                    <a:gdLst/>
                    <a:ahLst/>
                    <a:cxnLst>
                      <a:cxn ang="0">
                        <a:pos x="3" y="0"/>
                      </a:cxn>
                      <a:cxn ang="0">
                        <a:pos x="0" y="0"/>
                      </a:cxn>
                      <a:cxn ang="0">
                        <a:pos x="3" y="0"/>
                      </a:cxn>
                    </a:cxnLst>
                    <a:rect l="0" t="0" r="r" b="b"/>
                    <a:pathLst>
                      <a:path w="3">
                        <a:moveTo>
                          <a:pt x="3" y="0"/>
                        </a:moveTo>
                        <a:cubicBezTo>
                          <a:pt x="0" y="0"/>
                          <a:pt x="0" y="0"/>
                          <a:pt x="0" y="0"/>
                        </a:cubicBezTo>
                        <a:cubicBezTo>
                          <a:pt x="0" y="0"/>
                          <a:pt x="1"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58" name="Freeform 135">
                    <a:extLst>
                      <a:ext uri="{FF2B5EF4-FFF2-40B4-BE49-F238E27FC236}">
                        <a16:creationId xmlns:a16="http://schemas.microsoft.com/office/drawing/2014/main" id="{CAB7D1FC-BFD5-48E7-B424-111B53061E71}"/>
                      </a:ext>
                    </a:extLst>
                  </p:cNvPr>
                  <p:cNvSpPr>
                    <a:spLocks/>
                  </p:cNvSpPr>
                  <p:nvPr/>
                </p:nvSpPr>
                <p:spPr bwMode="auto">
                  <a:xfrm>
                    <a:off x="8516938" y="1655763"/>
                    <a:ext cx="1587" cy="1588"/>
                  </a:xfrm>
                  <a:custGeom>
                    <a:avLst/>
                    <a:gdLst/>
                    <a:ahLst/>
                    <a:cxnLst>
                      <a:cxn ang="0">
                        <a:pos x="1" y="0"/>
                      </a:cxn>
                      <a:cxn ang="0">
                        <a:pos x="1" y="0"/>
                      </a:cxn>
                      <a:cxn ang="0">
                        <a:pos x="1" y="0"/>
                      </a:cxn>
                    </a:cxnLst>
                    <a:rect l="0" t="0" r="r" b="b"/>
                    <a:pathLst>
                      <a:path w="1">
                        <a:moveTo>
                          <a:pt x="1" y="0"/>
                        </a:moveTo>
                        <a:cubicBezTo>
                          <a:pt x="1" y="0"/>
                          <a:pt x="1" y="0"/>
                          <a:pt x="1"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59" name="Freeform 136">
                    <a:extLst>
                      <a:ext uri="{FF2B5EF4-FFF2-40B4-BE49-F238E27FC236}">
                        <a16:creationId xmlns:a16="http://schemas.microsoft.com/office/drawing/2014/main" id="{248324CE-49E6-4F99-A238-04D018EF6084}"/>
                      </a:ext>
                    </a:extLst>
                  </p:cNvPr>
                  <p:cNvSpPr>
                    <a:spLocks/>
                  </p:cNvSpPr>
                  <p:nvPr/>
                </p:nvSpPr>
                <p:spPr bwMode="auto">
                  <a:xfrm>
                    <a:off x="8434388" y="1654175"/>
                    <a:ext cx="7937" cy="1588"/>
                  </a:xfrm>
                  <a:custGeom>
                    <a:avLst/>
                    <a:gdLst/>
                    <a:ahLst/>
                    <a:cxnLst>
                      <a:cxn ang="0">
                        <a:pos x="3" y="0"/>
                      </a:cxn>
                      <a:cxn ang="0">
                        <a:pos x="0" y="0"/>
                      </a:cxn>
                      <a:cxn ang="0">
                        <a:pos x="3" y="0"/>
                      </a:cxn>
                    </a:cxnLst>
                    <a:rect l="0" t="0" r="r" b="b"/>
                    <a:pathLst>
                      <a:path w="3">
                        <a:moveTo>
                          <a:pt x="3" y="0"/>
                        </a:moveTo>
                        <a:cubicBezTo>
                          <a:pt x="2" y="0"/>
                          <a:pt x="1" y="0"/>
                          <a:pt x="0" y="0"/>
                        </a:cubicBezTo>
                        <a:cubicBezTo>
                          <a:pt x="1" y="0"/>
                          <a:pt x="3" y="0"/>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60" name="Freeform 137">
                    <a:extLst>
                      <a:ext uri="{FF2B5EF4-FFF2-40B4-BE49-F238E27FC236}">
                        <a16:creationId xmlns:a16="http://schemas.microsoft.com/office/drawing/2014/main" id="{76262F55-7D41-4D08-9FCD-49D4C72E147F}"/>
                      </a:ext>
                    </a:extLst>
                  </p:cNvPr>
                  <p:cNvSpPr>
                    <a:spLocks/>
                  </p:cNvSpPr>
                  <p:nvPr/>
                </p:nvSpPr>
                <p:spPr bwMode="auto">
                  <a:xfrm>
                    <a:off x="8432800" y="1654175"/>
                    <a:ext cx="1587" cy="1588"/>
                  </a:xfrm>
                  <a:custGeom>
                    <a:avLst/>
                    <a:gdLst/>
                    <a:ahLst/>
                    <a:cxnLst>
                      <a:cxn ang="0">
                        <a:pos x="0" y="0"/>
                      </a:cxn>
                      <a:cxn ang="0">
                        <a:pos x="1" y="0"/>
                      </a:cxn>
                      <a:cxn ang="0">
                        <a:pos x="0" y="0"/>
                      </a:cxn>
                    </a:cxnLst>
                    <a:rect l="0" t="0" r="r" b="b"/>
                    <a:pathLst>
                      <a:path w="1">
                        <a:moveTo>
                          <a:pt x="0" y="0"/>
                        </a:moveTo>
                        <a:cubicBezTo>
                          <a:pt x="1" y="0"/>
                          <a:pt x="1" y="0"/>
                          <a:pt x="1" y="0"/>
                        </a:cubicBezTo>
                        <a:cubicBezTo>
                          <a:pt x="1"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61" name="Freeform 138">
                    <a:extLst>
                      <a:ext uri="{FF2B5EF4-FFF2-40B4-BE49-F238E27FC236}">
                        <a16:creationId xmlns:a16="http://schemas.microsoft.com/office/drawing/2014/main" id="{AF9CAB7C-E754-4D76-888B-880CF3AD5822}"/>
                      </a:ext>
                    </a:extLst>
                  </p:cNvPr>
                  <p:cNvSpPr>
                    <a:spLocks/>
                  </p:cNvSpPr>
                  <p:nvPr/>
                </p:nvSpPr>
                <p:spPr bwMode="auto">
                  <a:xfrm>
                    <a:off x="6326188" y="4597400"/>
                    <a:ext cx="3175" cy="17463"/>
                  </a:xfrm>
                  <a:custGeom>
                    <a:avLst/>
                    <a:gdLst/>
                    <a:ahLst/>
                    <a:cxnLst>
                      <a:cxn ang="0">
                        <a:pos x="0" y="0"/>
                      </a:cxn>
                      <a:cxn ang="0">
                        <a:pos x="1" y="7"/>
                      </a:cxn>
                      <a:cxn ang="0">
                        <a:pos x="0" y="0"/>
                      </a:cxn>
                    </a:cxnLst>
                    <a:rect l="0" t="0" r="r" b="b"/>
                    <a:pathLst>
                      <a:path w="1" h="7">
                        <a:moveTo>
                          <a:pt x="0" y="0"/>
                        </a:moveTo>
                        <a:cubicBezTo>
                          <a:pt x="0" y="3"/>
                          <a:pt x="0" y="5"/>
                          <a:pt x="1" y="7"/>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62" name="Freeform 139">
                    <a:extLst>
                      <a:ext uri="{FF2B5EF4-FFF2-40B4-BE49-F238E27FC236}">
                        <a16:creationId xmlns:a16="http://schemas.microsoft.com/office/drawing/2014/main" id="{269D41A8-2B84-41D7-83AF-1E1C96977345}"/>
                      </a:ext>
                    </a:extLst>
                  </p:cNvPr>
                  <p:cNvSpPr>
                    <a:spLocks/>
                  </p:cNvSpPr>
                  <p:nvPr/>
                </p:nvSpPr>
                <p:spPr bwMode="auto">
                  <a:xfrm>
                    <a:off x="6789738" y="2773363"/>
                    <a:ext cx="3175" cy="1588"/>
                  </a:xfrm>
                  <a:custGeom>
                    <a:avLst/>
                    <a:gdLst/>
                    <a:ahLst/>
                    <a:cxnLst>
                      <a:cxn ang="0">
                        <a:pos x="1" y="1"/>
                      </a:cxn>
                      <a:cxn ang="0">
                        <a:pos x="1" y="0"/>
                      </a:cxn>
                      <a:cxn ang="0">
                        <a:pos x="1" y="1"/>
                      </a:cxn>
                    </a:cxnLst>
                    <a:rect l="0" t="0" r="r" b="b"/>
                    <a:pathLst>
                      <a:path w="1" h="1">
                        <a:moveTo>
                          <a:pt x="1" y="1"/>
                        </a:moveTo>
                        <a:cubicBezTo>
                          <a:pt x="1" y="0"/>
                          <a:pt x="1" y="0"/>
                          <a:pt x="1" y="0"/>
                        </a:cubicBezTo>
                        <a:cubicBezTo>
                          <a:pt x="0" y="1"/>
                          <a:pt x="0" y="1"/>
                          <a:pt x="1"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63" name="Freeform 140">
                    <a:extLst>
                      <a:ext uri="{FF2B5EF4-FFF2-40B4-BE49-F238E27FC236}">
                        <a16:creationId xmlns:a16="http://schemas.microsoft.com/office/drawing/2014/main" id="{87B42E15-7D0A-460B-A983-DB59231F0859}"/>
                      </a:ext>
                    </a:extLst>
                  </p:cNvPr>
                  <p:cNvSpPr>
                    <a:spLocks/>
                  </p:cNvSpPr>
                  <p:nvPr/>
                </p:nvSpPr>
                <p:spPr bwMode="auto">
                  <a:xfrm>
                    <a:off x="6342063" y="4603750"/>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64" name="Freeform 141">
                    <a:extLst>
                      <a:ext uri="{FF2B5EF4-FFF2-40B4-BE49-F238E27FC236}">
                        <a16:creationId xmlns:a16="http://schemas.microsoft.com/office/drawing/2014/main" id="{7567BE9F-C76A-468D-8670-9ED5CBC2E305}"/>
                      </a:ext>
                    </a:extLst>
                  </p:cNvPr>
                  <p:cNvSpPr>
                    <a:spLocks/>
                  </p:cNvSpPr>
                  <p:nvPr/>
                </p:nvSpPr>
                <p:spPr bwMode="auto">
                  <a:xfrm>
                    <a:off x="8207375" y="1704975"/>
                    <a:ext cx="17462" cy="6350"/>
                  </a:xfrm>
                  <a:custGeom>
                    <a:avLst/>
                    <a:gdLst/>
                    <a:ahLst/>
                    <a:cxnLst>
                      <a:cxn ang="0">
                        <a:pos x="7" y="0"/>
                      </a:cxn>
                      <a:cxn ang="0">
                        <a:pos x="0" y="2"/>
                      </a:cxn>
                      <a:cxn ang="0">
                        <a:pos x="7" y="0"/>
                      </a:cxn>
                    </a:cxnLst>
                    <a:rect l="0" t="0" r="r" b="b"/>
                    <a:pathLst>
                      <a:path w="7" h="2">
                        <a:moveTo>
                          <a:pt x="7" y="0"/>
                        </a:moveTo>
                        <a:cubicBezTo>
                          <a:pt x="5" y="1"/>
                          <a:pt x="0" y="1"/>
                          <a:pt x="0" y="2"/>
                        </a:cubicBezTo>
                        <a:cubicBezTo>
                          <a:pt x="3" y="1"/>
                          <a:pt x="6" y="1"/>
                          <a:pt x="7"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65" name="Freeform 142">
                    <a:extLst>
                      <a:ext uri="{FF2B5EF4-FFF2-40B4-BE49-F238E27FC236}">
                        <a16:creationId xmlns:a16="http://schemas.microsoft.com/office/drawing/2014/main" id="{1D159310-D525-49F9-9531-82E9AA79C02A}"/>
                      </a:ext>
                    </a:extLst>
                  </p:cNvPr>
                  <p:cNvSpPr>
                    <a:spLocks/>
                  </p:cNvSpPr>
                  <p:nvPr/>
                </p:nvSpPr>
                <p:spPr bwMode="auto">
                  <a:xfrm>
                    <a:off x="6788150" y="2924175"/>
                    <a:ext cx="1587" cy="4763"/>
                  </a:xfrm>
                  <a:custGeom>
                    <a:avLst/>
                    <a:gdLst/>
                    <a:ahLst/>
                    <a:cxnLst>
                      <a:cxn ang="0">
                        <a:pos x="0" y="0"/>
                      </a:cxn>
                      <a:cxn ang="0">
                        <a:pos x="0" y="2"/>
                      </a:cxn>
                      <a:cxn ang="0">
                        <a:pos x="0" y="0"/>
                      </a:cxn>
                    </a:cxnLst>
                    <a:rect l="0" t="0" r="r" b="b"/>
                    <a:pathLst>
                      <a:path h="2">
                        <a:moveTo>
                          <a:pt x="0" y="0"/>
                        </a:moveTo>
                        <a:cubicBezTo>
                          <a:pt x="0" y="2"/>
                          <a:pt x="0" y="2"/>
                          <a:pt x="0" y="2"/>
                        </a:cubicBezTo>
                        <a:cubicBezTo>
                          <a:pt x="0" y="1"/>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66" name="Freeform 143">
                    <a:extLst>
                      <a:ext uri="{FF2B5EF4-FFF2-40B4-BE49-F238E27FC236}">
                        <a16:creationId xmlns:a16="http://schemas.microsoft.com/office/drawing/2014/main" id="{95F9C9D2-A45A-4DA2-A52E-216429032F5B}"/>
                      </a:ext>
                    </a:extLst>
                  </p:cNvPr>
                  <p:cNvSpPr>
                    <a:spLocks/>
                  </p:cNvSpPr>
                  <p:nvPr/>
                </p:nvSpPr>
                <p:spPr bwMode="auto">
                  <a:xfrm>
                    <a:off x="6342063" y="4602163"/>
                    <a:ext cx="1587" cy="1588"/>
                  </a:xfrm>
                  <a:custGeom>
                    <a:avLst/>
                    <a:gdLst/>
                    <a:ahLst/>
                    <a:cxnLst>
                      <a:cxn ang="0">
                        <a:pos x="0" y="1"/>
                      </a:cxn>
                      <a:cxn ang="0">
                        <a:pos x="0" y="0"/>
                      </a:cxn>
                      <a:cxn ang="0">
                        <a:pos x="0" y="0"/>
                      </a:cxn>
                      <a:cxn ang="0">
                        <a:pos x="0" y="1"/>
                      </a:cxn>
                    </a:cxnLst>
                    <a:rect l="0" t="0" r="r" b="b"/>
                    <a:pathLst>
                      <a:path h="1">
                        <a:moveTo>
                          <a:pt x="0" y="1"/>
                        </a:moveTo>
                        <a:cubicBezTo>
                          <a:pt x="0" y="0"/>
                          <a:pt x="0" y="0"/>
                          <a:pt x="0" y="0"/>
                        </a:cubicBez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67" name="Rectangle 144">
                    <a:extLst>
                      <a:ext uri="{FF2B5EF4-FFF2-40B4-BE49-F238E27FC236}">
                        <a16:creationId xmlns:a16="http://schemas.microsoft.com/office/drawing/2014/main" id="{492FF497-78A3-414D-9261-6653173BEAD1}"/>
                      </a:ext>
                    </a:extLst>
                  </p:cNvPr>
                  <p:cNvSpPr>
                    <a:spLocks noChangeArrowheads="1"/>
                  </p:cNvSpPr>
                  <p:nvPr/>
                </p:nvSpPr>
                <p:spPr bwMode="auto">
                  <a:xfrm>
                    <a:off x="6518275" y="3373438"/>
                    <a:ext cx="1587" cy="158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68" name="Freeform 145">
                    <a:extLst>
                      <a:ext uri="{FF2B5EF4-FFF2-40B4-BE49-F238E27FC236}">
                        <a16:creationId xmlns:a16="http://schemas.microsoft.com/office/drawing/2014/main" id="{BBA0C8A7-1636-4E5E-8A92-BD8AFE9593D9}"/>
                      </a:ext>
                    </a:extLst>
                  </p:cNvPr>
                  <p:cNvSpPr>
                    <a:spLocks/>
                  </p:cNvSpPr>
                  <p:nvPr/>
                </p:nvSpPr>
                <p:spPr bwMode="auto">
                  <a:xfrm>
                    <a:off x="6505575" y="3398838"/>
                    <a:ext cx="1587" cy="6350"/>
                  </a:xfrm>
                  <a:custGeom>
                    <a:avLst/>
                    <a:gdLst/>
                    <a:ahLst/>
                    <a:cxnLst>
                      <a:cxn ang="0">
                        <a:pos x="0" y="3"/>
                      </a:cxn>
                      <a:cxn ang="0">
                        <a:pos x="0" y="0"/>
                      </a:cxn>
                      <a:cxn ang="0">
                        <a:pos x="0" y="3"/>
                      </a:cxn>
                    </a:cxnLst>
                    <a:rect l="0" t="0" r="r" b="b"/>
                    <a:pathLst>
                      <a:path h="3">
                        <a:moveTo>
                          <a:pt x="0" y="3"/>
                        </a:moveTo>
                        <a:cubicBezTo>
                          <a:pt x="0" y="0"/>
                          <a:pt x="0" y="0"/>
                          <a:pt x="0" y="0"/>
                        </a:cubicBezTo>
                        <a:cubicBezTo>
                          <a:pt x="0" y="2"/>
                          <a:pt x="0" y="3"/>
                          <a:pt x="0" y="3"/>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69" name="Freeform 146">
                    <a:extLst>
                      <a:ext uri="{FF2B5EF4-FFF2-40B4-BE49-F238E27FC236}">
                        <a16:creationId xmlns:a16="http://schemas.microsoft.com/office/drawing/2014/main" id="{D781262A-92E8-41A8-9B34-B854477B4D25}"/>
                      </a:ext>
                    </a:extLst>
                  </p:cNvPr>
                  <p:cNvSpPr>
                    <a:spLocks/>
                  </p:cNvSpPr>
                  <p:nvPr/>
                </p:nvSpPr>
                <p:spPr bwMode="auto">
                  <a:xfrm>
                    <a:off x="6329363" y="4614863"/>
                    <a:ext cx="1587" cy="6350"/>
                  </a:xfrm>
                  <a:custGeom>
                    <a:avLst/>
                    <a:gdLst/>
                    <a:ahLst/>
                    <a:cxnLst>
                      <a:cxn ang="0">
                        <a:pos x="0" y="0"/>
                      </a:cxn>
                      <a:cxn ang="0">
                        <a:pos x="0" y="3"/>
                      </a:cxn>
                      <a:cxn ang="0">
                        <a:pos x="0" y="0"/>
                      </a:cxn>
                    </a:cxnLst>
                    <a:rect l="0" t="0" r="r" b="b"/>
                    <a:pathLst>
                      <a:path h="3">
                        <a:moveTo>
                          <a:pt x="0" y="0"/>
                        </a:moveTo>
                        <a:cubicBezTo>
                          <a:pt x="0" y="3"/>
                          <a:pt x="0" y="3"/>
                          <a:pt x="0" y="3"/>
                        </a:cubicBezTo>
                        <a:cubicBezTo>
                          <a:pt x="0" y="2"/>
                          <a:pt x="0" y="1"/>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70" name="Freeform 147">
                    <a:extLst>
                      <a:ext uri="{FF2B5EF4-FFF2-40B4-BE49-F238E27FC236}">
                        <a16:creationId xmlns:a16="http://schemas.microsoft.com/office/drawing/2014/main" id="{9FACB2BD-77CA-4943-BA43-400ED147CCC2}"/>
                      </a:ext>
                    </a:extLst>
                  </p:cNvPr>
                  <p:cNvSpPr>
                    <a:spLocks/>
                  </p:cNvSpPr>
                  <p:nvPr/>
                </p:nvSpPr>
                <p:spPr bwMode="auto">
                  <a:xfrm>
                    <a:off x="6405563" y="3765550"/>
                    <a:ext cx="3175" cy="4763"/>
                  </a:xfrm>
                  <a:custGeom>
                    <a:avLst/>
                    <a:gdLst/>
                    <a:ahLst/>
                    <a:cxnLst>
                      <a:cxn ang="0">
                        <a:pos x="0" y="2"/>
                      </a:cxn>
                      <a:cxn ang="0">
                        <a:pos x="1" y="0"/>
                      </a:cxn>
                      <a:cxn ang="0">
                        <a:pos x="0" y="2"/>
                      </a:cxn>
                    </a:cxnLst>
                    <a:rect l="0" t="0" r="r" b="b"/>
                    <a:pathLst>
                      <a:path w="1" h="2">
                        <a:moveTo>
                          <a:pt x="0" y="2"/>
                        </a:moveTo>
                        <a:cubicBezTo>
                          <a:pt x="1" y="0"/>
                          <a:pt x="1" y="0"/>
                          <a:pt x="1" y="0"/>
                        </a:cubicBezTo>
                        <a:cubicBezTo>
                          <a:pt x="0" y="1"/>
                          <a:pt x="0" y="2"/>
                          <a:pt x="0"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71" name="Freeform 148">
                    <a:extLst>
                      <a:ext uri="{FF2B5EF4-FFF2-40B4-BE49-F238E27FC236}">
                        <a16:creationId xmlns:a16="http://schemas.microsoft.com/office/drawing/2014/main" id="{AA57AEEF-AF81-4F2A-9ADC-6CA7066F3A66}"/>
                      </a:ext>
                    </a:extLst>
                  </p:cNvPr>
                  <p:cNvSpPr>
                    <a:spLocks/>
                  </p:cNvSpPr>
                  <p:nvPr/>
                </p:nvSpPr>
                <p:spPr bwMode="auto">
                  <a:xfrm>
                    <a:off x="7507288" y="1978025"/>
                    <a:ext cx="3175" cy="3175"/>
                  </a:xfrm>
                  <a:custGeom>
                    <a:avLst/>
                    <a:gdLst/>
                    <a:ahLst/>
                    <a:cxnLst>
                      <a:cxn ang="0">
                        <a:pos x="0" y="1"/>
                      </a:cxn>
                      <a:cxn ang="0">
                        <a:pos x="1" y="0"/>
                      </a:cxn>
                      <a:cxn ang="0">
                        <a:pos x="0" y="1"/>
                      </a:cxn>
                    </a:cxnLst>
                    <a:rect l="0" t="0" r="r" b="b"/>
                    <a:pathLst>
                      <a:path w="1" h="1">
                        <a:moveTo>
                          <a:pt x="0" y="1"/>
                        </a:moveTo>
                        <a:cubicBezTo>
                          <a:pt x="0" y="1"/>
                          <a:pt x="0" y="1"/>
                          <a:pt x="1" y="0"/>
                        </a:cubicBezTo>
                        <a:cubicBezTo>
                          <a:pt x="1" y="0"/>
                          <a:pt x="1" y="0"/>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72" name="Freeform 149">
                    <a:extLst>
                      <a:ext uri="{FF2B5EF4-FFF2-40B4-BE49-F238E27FC236}">
                        <a16:creationId xmlns:a16="http://schemas.microsoft.com/office/drawing/2014/main" id="{6E4B6314-9A16-44DB-AF8E-42E61DFEB7B1}"/>
                      </a:ext>
                    </a:extLst>
                  </p:cNvPr>
                  <p:cNvSpPr>
                    <a:spLocks/>
                  </p:cNvSpPr>
                  <p:nvPr/>
                </p:nvSpPr>
                <p:spPr bwMode="auto">
                  <a:xfrm>
                    <a:off x="7335838" y="2182813"/>
                    <a:ext cx="3175" cy="1588"/>
                  </a:xfrm>
                  <a:custGeom>
                    <a:avLst/>
                    <a:gdLst/>
                    <a:ahLst/>
                    <a:cxnLst>
                      <a:cxn ang="0">
                        <a:pos x="1" y="0"/>
                      </a:cxn>
                      <a:cxn ang="0">
                        <a:pos x="0" y="0"/>
                      </a:cxn>
                      <a:cxn ang="0">
                        <a:pos x="0" y="0"/>
                      </a:cxn>
                      <a:cxn ang="0">
                        <a:pos x="1" y="0"/>
                      </a:cxn>
                    </a:cxnLst>
                    <a:rect l="0" t="0" r="r" b="b"/>
                    <a:pathLst>
                      <a:path w="1">
                        <a:moveTo>
                          <a:pt x="1" y="0"/>
                        </a:moveTo>
                        <a:cubicBezTo>
                          <a:pt x="0" y="0"/>
                          <a:pt x="0" y="0"/>
                          <a:pt x="0" y="0"/>
                        </a:cubicBezTo>
                        <a:cubicBezTo>
                          <a:pt x="0"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73" name="Freeform 150">
                    <a:extLst>
                      <a:ext uri="{FF2B5EF4-FFF2-40B4-BE49-F238E27FC236}">
                        <a16:creationId xmlns:a16="http://schemas.microsoft.com/office/drawing/2014/main" id="{383EB478-1B03-4FCB-8E31-1CEBC4B6D5EE}"/>
                      </a:ext>
                    </a:extLst>
                  </p:cNvPr>
                  <p:cNvSpPr>
                    <a:spLocks/>
                  </p:cNvSpPr>
                  <p:nvPr/>
                </p:nvSpPr>
                <p:spPr bwMode="auto">
                  <a:xfrm>
                    <a:off x="7339013" y="2171700"/>
                    <a:ext cx="6350" cy="11113"/>
                  </a:xfrm>
                  <a:custGeom>
                    <a:avLst/>
                    <a:gdLst/>
                    <a:ahLst/>
                    <a:cxnLst>
                      <a:cxn ang="0">
                        <a:pos x="3" y="0"/>
                      </a:cxn>
                      <a:cxn ang="0">
                        <a:pos x="0" y="4"/>
                      </a:cxn>
                      <a:cxn ang="0">
                        <a:pos x="3" y="0"/>
                      </a:cxn>
                    </a:cxnLst>
                    <a:rect l="0" t="0" r="r" b="b"/>
                    <a:pathLst>
                      <a:path w="3" h="4">
                        <a:moveTo>
                          <a:pt x="3" y="0"/>
                        </a:moveTo>
                        <a:cubicBezTo>
                          <a:pt x="2" y="1"/>
                          <a:pt x="0" y="3"/>
                          <a:pt x="0" y="4"/>
                        </a:cubicBezTo>
                        <a:cubicBezTo>
                          <a:pt x="1" y="3"/>
                          <a:pt x="2" y="2"/>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74" name="Freeform 151">
                    <a:extLst>
                      <a:ext uri="{FF2B5EF4-FFF2-40B4-BE49-F238E27FC236}">
                        <a16:creationId xmlns:a16="http://schemas.microsoft.com/office/drawing/2014/main" id="{DB7E2354-33A0-42C5-8C6F-9CA98C8F3243}"/>
                      </a:ext>
                    </a:extLst>
                  </p:cNvPr>
                  <p:cNvSpPr>
                    <a:spLocks/>
                  </p:cNvSpPr>
                  <p:nvPr/>
                </p:nvSpPr>
                <p:spPr bwMode="auto">
                  <a:xfrm>
                    <a:off x="7316788" y="2200275"/>
                    <a:ext cx="1587" cy="1588"/>
                  </a:xfrm>
                  <a:custGeom>
                    <a:avLst/>
                    <a:gdLst/>
                    <a:ahLst/>
                    <a:cxnLst>
                      <a:cxn ang="0">
                        <a:pos x="0" y="1"/>
                      </a:cxn>
                      <a:cxn ang="0">
                        <a:pos x="0" y="0"/>
                      </a:cxn>
                      <a:cxn ang="0">
                        <a:pos x="0" y="1"/>
                      </a:cxn>
                    </a:cxnLst>
                    <a:rect l="0" t="0" r="r" b="b"/>
                    <a:pathLst>
                      <a:path h="1">
                        <a:moveTo>
                          <a:pt x="0" y="1"/>
                        </a:moveTo>
                        <a:cubicBezTo>
                          <a:pt x="0" y="0"/>
                          <a:pt x="0" y="0"/>
                          <a:pt x="0" y="0"/>
                        </a:cubicBezTo>
                        <a:cubicBezTo>
                          <a:pt x="0" y="0"/>
                          <a:pt x="0" y="1"/>
                          <a:pt x="0"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75" name="Freeform 152">
                    <a:extLst>
                      <a:ext uri="{FF2B5EF4-FFF2-40B4-BE49-F238E27FC236}">
                        <a16:creationId xmlns:a16="http://schemas.microsoft.com/office/drawing/2014/main" id="{0FEDB1DE-64F9-42A3-9214-B8A7F7D41DDE}"/>
                      </a:ext>
                    </a:extLst>
                  </p:cNvPr>
                  <p:cNvSpPr>
                    <a:spLocks/>
                  </p:cNvSpPr>
                  <p:nvPr/>
                </p:nvSpPr>
                <p:spPr bwMode="auto">
                  <a:xfrm>
                    <a:off x="7526338" y="202882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76" name="Freeform 153">
                    <a:extLst>
                      <a:ext uri="{FF2B5EF4-FFF2-40B4-BE49-F238E27FC236}">
                        <a16:creationId xmlns:a16="http://schemas.microsoft.com/office/drawing/2014/main" id="{8960043F-06E4-4F50-AF02-DE3CF95511EC}"/>
                      </a:ext>
                    </a:extLst>
                  </p:cNvPr>
                  <p:cNvSpPr>
                    <a:spLocks/>
                  </p:cNvSpPr>
                  <p:nvPr/>
                </p:nvSpPr>
                <p:spPr bwMode="auto">
                  <a:xfrm>
                    <a:off x="7481888" y="2063750"/>
                    <a:ext cx="3175" cy="1588"/>
                  </a:xfrm>
                  <a:custGeom>
                    <a:avLst/>
                    <a:gdLst/>
                    <a:ahLst/>
                    <a:cxnLst>
                      <a:cxn ang="0">
                        <a:pos x="1" y="0"/>
                      </a:cxn>
                      <a:cxn ang="0">
                        <a:pos x="0" y="0"/>
                      </a:cxn>
                      <a:cxn ang="0">
                        <a:pos x="1" y="0"/>
                      </a:cxn>
                    </a:cxnLst>
                    <a:rect l="0" t="0" r="r" b="b"/>
                    <a:pathLst>
                      <a:path w="1">
                        <a:moveTo>
                          <a:pt x="1" y="0"/>
                        </a:moveTo>
                        <a:cubicBezTo>
                          <a:pt x="1" y="0"/>
                          <a:pt x="0" y="0"/>
                          <a:pt x="0" y="0"/>
                        </a:cubicBezTo>
                        <a:cubicBezTo>
                          <a:pt x="0"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77" name="Freeform 154">
                    <a:extLst>
                      <a:ext uri="{FF2B5EF4-FFF2-40B4-BE49-F238E27FC236}">
                        <a16:creationId xmlns:a16="http://schemas.microsoft.com/office/drawing/2014/main" id="{BD6E45CD-1DA1-434E-850A-D97CE349ACB8}"/>
                      </a:ext>
                    </a:extLst>
                  </p:cNvPr>
                  <p:cNvSpPr>
                    <a:spLocks/>
                  </p:cNvSpPr>
                  <p:nvPr/>
                </p:nvSpPr>
                <p:spPr bwMode="auto">
                  <a:xfrm>
                    <a:off x="7221538" y="23018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78" name="Freeform 155">
                    <a:extLst>
                      <a:ext uri="{FF2B5EF4-FFF2-40B4-BE49-F238E27FC236}">
                        <a16:creationId xmlns:a16="http://schemas.microsoft.com/office/drawing/2014/main" id="{D7AA262E-BEB0-4FE6-891A-63795E114F15}"/>
                      </a:ext>
                    </a:extLst>
                  </p:cNvPr>
                  <p:cNvSpPr>
                    <a:spLocks/>
                  </p:cNvSpPr>
                  <p:nvPr/>
                </p:nvSpPr>
                <p:spPr bwMode="auto">
                  <a:xfrm>
                    <a:off x="6224407" y="1520027"/>
                    <a:ext cx="2265362" cy="2987675"/>
                  </a:xfrm>
                  <a:custGeom>
                    <a:avLst/>
                    <a:gdLst/>
                    <a:ahLst/>
                    <a:cxnLst>
                      <a:cxn ang="0">
                        <a:pos x="295" y="351"/>
                      </a:cxn>
                      <a:cxn ang="0">
                        <a:pos x="339" y="296"/>
                      </a:cxn>
                      <a:cxn ang="0">
                        <a:pos x="362" y="265"/>
                      </a:cxn>
                      <a:cxn ang="0">
                        <a:pos x="377" y="249"/>
                      </a:cxn>
                      <a:cxn ang="0">
                        <a:pos x="403" y="224"/>
                      </a:cxn>
                      <a:cxn ang="0">
                        <a:pos x="411" y="216"/>
                      </a:cxn>
                      <a:cxn ang="0">
                        <a:pos x="427" y="202"/>
                      </a:cxn>
                      <a:cxn ang="0">
                        <a:pos x="458" y="180"/>
                      </a:cxn>
                      <a:cxn ang="0">
                        <a:pos x="477" y="162"/>
                      </a:cxn>
                      <a:cxn ang="0">
                        <a:pos x="512" y="134"/>
                      </a:cxn>
                      <a:cxn ang="0">
                        <a:pos x="530" y="124"/>
                      </a:cxn>
                      <a:cxn ang="0">
                        <a:pos x="558" y="106"/>
                      </a:cxn>
                      <a:cxn ang="0">
                        <a:pos x="583" y="94"/>
                      </a:cxn>
                      <a:cxn ang="0">
                        <a:pos x="620" y="71"/>
                      </a:cxn>
                      <a:cxn ang="0">
                        <a:pos x="662" y="54"/>
                      </a:cxn>
                      <a:cxn ang="0">
                        <a:pos x="704" y="40"/>
                      </a:cxn>
                      <a:cxn ang="0">
                        <a:pos x="735" y="30"/>
                      </a:cxn>
                      <a:cxn ang="0">
                        <a:pos x="758" y="25"/>
                      </a:cxn>
                      <a:cxn ang="0">
                        <a:pos x="759" y="26"/>
                      </a:cxn>
                      <a:cxn ang="0">
                        <a:pos x="785" y="19"/>
                      </a:cxn>
                      <a:cxn ang="0">
                        <a:pos x="800" y="15"/>
                      </a:cxn>
                      <a:cxn ang="0">
                        <a:pos x="820" y="12"/>
                      </a:cxn>
                      <a:cxn ang="0">
                        <a:pos x="870" y="10"/>
                      </a:cxn>
                      <a:cxn ang="0">
                        <a:pos x="906" y="8"/>
                      </a:cxn>
                      <a:cxn ang="0">
                        <a:pos x="880" y="2"/>
                      </a:cxn>
                      <a:cxn ang="0">
                        <a:pos x="860" y="3"/>
                      </a:cxn>
                      <a:cxn ang="0">
                        <a:pos x="836" y="3"/>
                      </a:cxn>
                      <a:cxn ang="0">
                        <a:pos x="793" y="6"/>
                      </a:cxn>
                      <a:cxn ang="0">
                        <a:pos x="772" y="11"/>
                      </a:cxn>
                      <a:cxn ang="0">
                        <a:pos x="753" y="14"/>
                      </a:cxn>
                      <a:cxn ang="0">
                        <a:pos x="685" y="33"/>
                      </a:cxn>
                      <a:cxn ang="0">
                        <a:pos x="652" y="43"/>
                      </a:cxn>
                      <a:cxn ang="0">
                        <a:pos x="635" y="50"/>
                      </a:cxn>
                      <a:cxn ang="0">
                        <a:pos x="605" y="64"/>
                      </a:cxn>
                      <a:cxn ang="0">
                        <a:pos x="569" y="81"/>
                      </a:cxn>
                      <a:cxn ang="0">
                        <a:pos x="547" y="90"/>
                      </a:cxn>
                      <a:cxn ang="0">
                        <a:pos x="500" y="120"/>
                      </a:cxn>
                      <a:cxn ang="0">
                        <a:pos x="454" y="152"/>
                      </a:cxn>
                      <a:cxn ang="0">
                        <a:pos x="418" y="183"/>
                      </a:cxn>
                      <a:cxn ang="0">
                        <a:pos x="399" y="199"/>
                      </a:cxn>
                      <a:cxn ang="0">
                        <a:pos x="372" y="223"/>
                      </a:cxn>
                      <a:cxn ang="0">
                        <a:pos x="333" y="260"/>
                      </a:cxn>
                      <a:cxn ang="0">
                        <a:pos x="303" y="297"/>
                      </a:cxn>
                      <a:cxn ang="0">
                        <a:pos x="252" y="360"/>
                      </a:cxn>
                      <a:cxn ang="0">
                        <a:pos x="200" y="442"/>
                      </a:cxn>
                      <a:cxn ang="0">
                        <a:pos x="184" y="468"/>
                      </a:cxn>
                      <a:cxn ang="0">
                        <a:pos x="168" y="498"/>
                      </a:cxn>
                      <a:cxn ang="0">
                        <a:pos x="143" y="549"/>
                      </a:cxn>
                      <a:cxn ang="0">
                        <a:pos x="99" y="648"/>
                      </a:cxn>
                      <a:cxn ang="0">
                        <a:pos x="68" y="741"/>
                      </a:cxn>
                      <a:cxn ang="0">
                        <a:pos x="38" y="844"/>
                      </a:cxn>
                      <a:cxn ang="0">
                        <a:pos x="0" y="1116"/>
                      </a:cxn>
                      <a:cxn ang="0">
                        <a:pos x="9" y="1197"/>
                      </a:cxn>
                      <a:cxn ang="0">
                        <a:pos x="11" y="1180"/>
                      </a:cxn>
                      <a:cxn ang="0">
                        <a:pos x="15" y="1154"/>
                      </a:cxn>
                      <a:cxn ang="0">
                        <a:pos x="18" y="1114"/>
                      </a:cxn>
                      <a:cxn ang="0">
                        <a:pos x="40" y="988"/>
                      </a:cxn>
                      <a:cxn ang="0">
                        <a:pos x="89" y="767"/>
                      </a:cxn>
                      <a:cxn ang="0">
                        <a:pos x="117" y="681"/>
                      </a:cxn>
                      <a:cxn ang="0">
                        <a:pos x="157" y="582"/>
                      </a:cxn>
                      <a:cxn ang="0">
                        <a:pos x="164" y="564"/>
                      </a:cxn>
                      <a:cxn ang="0">
                        <a:pos x="193" y="510"/>
                      </a:cxn>
                      <a:cxn ang="0">
                        <a:pos x="216" y="471"/>
                      </a:cxn>
                    </a:cxnLst>
                    <a:rect l="0" t="0" r="r" b="b"/>
                    <a:pathLst>
                      <a:path w="913" h="1204">
                        <a:moveTo>
                          <a:pt x="243" y="429"/>
                        </a:moveTo>
                        <a:cubicBezTo>
                          <a:pt x="254" y="411"/>
                          <a:pt x="268" y="388"/>
                          <a:pt x="280" y="372"/>
                        </a:cubicBezTo>
                        <a:cubicBezTo>
                          <a:pt x="282" y="368"/>
                          <a:pt x="286" y="362"/>
                          <a:pt x="289" y="357"/>
                        </a:cubicBezTo>
                        <a:cubicBezTo>
                          <a:pt x="291" y="358"/>
                          <a:pt x="291" y="358"/>
                          <a:pt x="291" y="358"/>
                        </a:cubicBezTo>
                        <a:cubicBezTo>
                          <a:pt x="294" y="353"/>
                          <a:pt x="294" y="353"/>
                          <a:pt x="294" y="353"/>
                        </a:cubicBezTo>
                        <a:cubicBezTo>
                          <a:pt x="296" y="351"/>
                          <a:pt x="292" y="356"/>
                          <a:pt x="295" y="354"/>
                        </a:cubicBezTo>
                        <a:cubicBezTo>
                          <a:pt x="295" y="351"/>
                          <a:pt x="295" y="351"/>
                          <a:pt x="295" y="351"/>
                        </a:cubicBezTo>
                        <a:cubicBezTo>
                          <a:pt x="296" y="351"/>
                          <a:pt x="304" y="341"/>
                          <a:pt x="299" y="349"/>
                        </a:cubicBezTo>
                        <a:cubicBezTo>
                          <a:pt x="304" y="343"/>
                          <a:pt x="308" y="338"/>
                          <a:pt x="313" y="332"/>
                        </a:cubicBezTo>
                        <a:cubicBezTo>
                          <a:pt x="316" y="329"/>
                          <a:pt x="313" y="329"/>
                          <a:pt x="317" y="325"/>
                        </a:cubicBezTo>
                        <a:cubicBezTo>
                          <a:pt x="318" y="325"/>
                          <a:pt x="316" y="327"/>
                          <a:pt x="317" y="327"/>
                        </a:cubicBezTo>
                        <a:cubicBezTo>
                          <a:pt x="328" y="316"/>
                          <a:pt x="325" y="311"/>
                          <a:pt x="335" y="300"/>
                        </a:cubicBezTo>
                        <a:cubicBezTo>
                          <a:pt x="334" y="301"/>
                          <a:pt x="334" y="301"/>
                          <a:pt x="334" y="301"/>
                        </a:cubicBezTo>
                        <a:cubicBezTo>
                          <a:pt x="336" y="299"/>
                          <a:pt x="339" y="296"/>
                          <a:pt x="339" y="296"/>
                        </a:cubicBezTo>
                        <a:cubicBezTo>
                          <a:pt x="336" y="296"/>
                          <a:pt x="338" y="298"/>
                          <a:pt x="334" y="301"/>
                        </a:cubicBezTo>
                        <a:cubicBezTo>
                          <a:pt x="333" y="299"/>
                          <a:pt x="337" y="296"/>
                          <a:pt x="336" y="295"/>
                        </a:cubicBezTo>
                        <a:cubicBezTo>
                          <a:pt x="338" y="293"/>
                          <a:pt x="339" y="291"/>
                          <a:pt x="341" y="289"/>
                        </a:cubicBezTo>
                        <a:cubicBezTo>
                          <a:pt x="345" y="286"/>
                          <a:pt x="349" y="280"/>
                          <a:pt x="353" y="278"/>
                        </a:cubicBezTo>
                        <a:cubicBezTo>
                          <a:pt x="354" y="276"/>
                          <a:pt x="355" y="273"/>
                          <a:pt x="358" y="269"/>
                        </a:cubicBezTo>
                        <a:cubicBezTo>
                          <a:pt x="362" y="267"/>
                          <a:pt x="359" y="270"/>
                          <a:pt x="363" y="267"/>
                        </a:cubicBezTo>
                        <a:cubicBezTo>
                          <a:pt x="362" y="265"/>
                          <a:pt x="362" y="265"/>
                          <a:pt x="362" y="265"/>
                        </a:cubicBezTo>
                        <a:cubicBezTo>
                          <a:pt x="365" y="262"/>
                          <a:pt x="365" y="263"/>
                          <a:pt x="365" y="264"/>
                        </a:cubicBezTo>
                        <a:cubicBezTo>
                          <a:pt x="369" y="260"/>
                          <a:pt x="367" y="260"/>
                          <a:pt x="371" y="256"/>
                        </a:cubicBezTo>
                        <a:cubicBezTo>
                          <a:pt x="370" y="259"/>
                          <a:pt x="370" y="259"/>
                          <a:pt x="370" y="259"/>
                        </a:cubicBezTo>
                        <a:cubicBezTo>
                          <a:pt x="373" y="256"/>
                          <a:pt x="374" y="255"/>
                          <a:pt x="378" y="251"/>
                        </a:cubicBezTo>
                        <a:cubicBezTo>
                          <a:pt x="378" y="251"/>
                          <a:pt x="377" y="253"/>
                          <a:pt x="375" y="254"/>
                        </a:cubicBezTo>
                        <a:cubicBezTo>
                          <a:pt x="379" y="253"/>
                          <a:pt x="379" y="250"/>
                          <a:pt x="380" y="248"/>
                        </a:cubicBezTo>
                        <a:cubicBezTo>
                          <a:pt x="379" y="249"/>
                          <a:pt x="376" y="251"/>
                          <a:pt x="377" y="249"/>
                        </a:cubicBezTo>
                        <a:cubicBezTo>
                          <a:pt x="379" y="247"/>
                          <a:pt x="381" y="244"/>
                          <a:pt x="383" y="243"/>
                        </a:cubicBezTo>
                        <a:cubicBezTo>
                          <a:pt x="381" y="246"/>
                          <a:pt x="381" y="246"/>
                          <a:pt x="381" y="246"/>
                        </a:cubicBezTo>
                        <a:cubicBezTo>
                          <a:pt x="385" y="241"/>
                          <a:pt x="383" y="243"/>
                          <a:pt x="388" y="238"/>
                        </a:cubicBezTo>
                        <a:cubicBezTo>
                          <a:pt x="388" y="239"/>
                          <a:pt x="388" y="239"/>
                          <a:pt x="388" y="239"/>
                        </a:cubicBezTo>
                        <a:cubicBezTo>
                          <a:pt x="390" y="235"/>
                          <a:pt x="395" y="232"/>
                          <a:pt x="400" y="227"/>
                        </a:cubicBezTo>
                        <a:cubicBezTo>
                          <a:pt x="399" y="228"/>
                          <a:pt x="399" y="228"/>
                          <a:pt x="399" y="228"/>
                        </a:cubicBezTo>
                        <a:cubicBezTo>
                          <a:pt x="401" y="226"/>
                          <a:pt x="402" y="225"/>
                          <a:pt x="403" y="224"/>
                        </a:cubicBezTo>
                        <a:cubicBezTo>
                          <a:pt x="399" y="226"/>
                          <a:pt x="400" y="225"/>
                          <a:pt x="399" y="224"/>
                        </a:cubicBezTo>
                        <a:cubicBezTo>
                          <a:pt x="404" y="222"/>
                          <a:pt x="403" y="218"/>
                          <a:pt x="410" y="213"/>
                        </a:cubicBezTo>
                        <a:cubicBezTo>
                          <a:pt x="410" y="214"/>
                          <a:pt x="409" y="216"/>
                          <a:pt x="407" y="217"/>
                        </a:cubicBezTo>
                        <a:cubicBezTo>
                          <a:pt x="406" y="220"/>
                          <a:pt x="407" y="221"/>
                          <a:pt x="404" y="225"/>
                        </a:cubicBezTo>
                        <a:cubicBezTo>
                          <a:pt x="406" y="223"/>
                          <a:pt x="408" y="220"/>
                          <a:pt x="408" y="221"/>
                        </a:cubicBezTo>
                        <a:cubicBezTo>
                          <a:pt x="408" y="219"/>
                          <a:pt x="408" y="219"/>
                          <a:pt x="408" y="219"/>
                        </a:cubicBezTo>
                        <a:cubicBezTo>
                          <a:pt x="409" y="218"/>
                          <a:pt x="410" y="217"/>
                          <a:pt x="411" y="216"/>
                        </a:cubicBezTo>
                        <a:cubicBezTo>
                          <a:pt x="411" y="215"/>
                          <a:pt x="408" y="217"/>
                          <a:pt x="410" y="214"/>
                        </a:cubicBezTo>
                        <a:cubicBezTo>
                          <a:pt x="414" y="210"/>
                          <a:pt x="413" y="213"/>
                          <a:pt x="413" y="212"/>
                        </a:cubicBezTo>
                        <a:cubicBezTo>
                          <a:pt x="418" y="208"/>
                          <a:pt x="414" y="209"/>
                          <a:pt x="419" y="205"/>
                        </a:cubicBezTo>
                        <a:cubicBezTo>
                          <a:pt x="419" y="206"/>
                          <a:pt x="418" y="207"/>
                          <a:pt x="418" y="207"/>
                        </a:cubicBezTo>
                        <a:cubicBezTo>
                          <a:pt x="422" y="205"/>
                          <a:pt x="426" y="200"/>
                          <a:pt x="428" y="200"/>
                        </a:cubicBezTo>
                        <a:cubicBezTo>
                          <a:pt x="428" y="201"/>
                          <a:pt x="428" y="201"/>
                          <a:pt x="427" y="202"/>
                        </a:cubicBezTo>
                        <a:cubicBezTo>
                          <a:pt x="427" y="202"/>
                          <a:pt x="427" y="202"/>
                          <a:pt x="427" y="202"/>
                        </a:cubicBezTo>
                        <a:cubicBezTo>
                          <a:pt x="424" y="207"/>
                          <a:pt x="430" y="199"/>
                          <a:pt x="430" y="201"/>
                        </a:cubicBezTo>
                        <a:cubicBezTo>
                          <a:pt x="429" y="201"/>
                          <a:pt x="434" y="197"/>
                          <a:pt x="436" y="195"/>
                        </a:cubicBezTo>
                        <a:cubicBezTo>
                          <a:pt x="435" y="195"/>
                          <a:pt x="435" y="195"/>
                          <a:pt x="435" y="195"/>
                        </a:cubicBezTo>
                        <a:cubicBezTo>
                          <a:pt x="440" y="186"/>
                          <a:pt x="436" y="197"/>
                          <a:pt x="443" y="190"/>
                        </a:cubicBezTo>
                        <a:cubicBezTo>
                          <a:pt x="447" y="186"/>
                          <a:pt x="441" y="192"/>
                          <a:pt x="443" y="189"/>
                        </a:cubicBezTo>
                        <a:cubicBezTo>
                          <a:pt x="446" y="186"/>
                          <a:pt x="448" y="186"/>
                          <a:pt x="452" y="182"/>
                        </a:cubicBezTo>
                        <a:cubicBezTo>
                          <a:pt x="454" y="181"/>
                          <a:pt x="457" y="180"/>
                          <a:pt x="458" y="180"/>
                        </a:cubicBezTo>
                        <a:cubicBezTo>
                          <a:pt x="461" y="178"/>
                          <a:pt x="467" y="174"/>
                          <a:pt x="468" y="172"/>
                        </a:cubicBezTo>
                        <a:cubicBezTo>
                          <a:pt x="462" y="175"/>
                          <a:pt x="464" y="177"/>
                          <a:pt x="457" y="180"/>
                        </a:cubicBezTo>
                        <a:cubicBezTo>
                          <a:pt x="458" y="178"/>
                          <a:pt x="458" y="178"/>
                          <a:pt x="458" y="178"/>
                        </a:cubicBezTo>
                        <a:cubicBezTo>
                          <a:pt x="462" y="174"/>
                          <a:pt x="467" y="170"/>
                          <a:pt x="470" y="168"/>
                        </a:cubicBezTo>
                        <a:cubicBezTo>
                          <a:pt x="469" y="168"/>
                          <a:pt x="469" y="168"/>
                          <a:pt x="469" y="168"/>
                        </a:cubicBezTo>
                        <a:cubicBezTo>
                          <a:pt x="474" y="163"/>
                          <a:pt x="475" y="161"/>
                          <a:pt x="481" y="157"/>
                        </a:cubicBezTo>
                        <a:cubicBezTo>
                          <a:pt x="482" y="157"/>
                          <a:pt x="479" y="160"/>
                          <a:pt x="477" y="162"/>
                        </a:cubicBezTo>
                        <a:cubicBezTo>
                          <a:pt x="481" y="160"/>
                          <a:pt x="480" y="159"/>
                          <a:pt x="486" y="155"/>
                        </a:cubicBezTo>
                        <a:cubicBezTo>
                          <a:pt x="487" y="156"/>
                          <a:pt x="482" y="158"/>
                          <a:pt x="482" y="159"/>
                        </a:cubicBezTo>
                        <a:cubicBezTo>
                          <a:pt x="488" y="154"/>
                          <a:pt x="488" y="154"/>
                          <a:pt x="488" y="154"/>
                        </a:cubicBezTo>
                        <a:cubicBezTo>
                          <a:pt x="488" y="154"/>
                          <a:pt x="488" y="154"/>
                          <a:pt x="488" y="154"/>
                        </a:cubicBezTo>
                        <a:cubicBezTo>
                          <a:pt x="488" y="152"/>
                          <a:pt x="493" y="151"/>
                          <a:pt x="497" y="148"/>
                        </a:cubicBezTo>
                        <a:cubicBezTo>
                          <a:pt x="506" y="141"/>
                          <a:pt x="506" y="139"/>
                          <a:pt x="510" y="134"/>
                        </a:cubicBezTo>
                        <a:cubicBezTo>
                          <a:pt x="512" y="133"/>
                          <a:pt x="513" y="134"/>
                          <a:pt x="512" y="134"/>
                        </a:cubicBezTo>
                        <a:cubicBezTo>
                          <a:pt x="510" y="135"/>
                          <a:pt x="510" y="135"/>
                          <a:pt x="510" y="136"/>
                        </a:cubicBezTo>
                        <a:cubicBezTo>
                          <a:pt x="513" y="134"/>
                          <a:pt x="518" y="133"/>
                          <a:pt x="516" y="135"/>
                        </a:cubicBezTo>
                        <a:cubicBezTo>
                          <a:pt x="521" y="131"/>
                          <a:pt x="514" y="135"/>
                          <a:pt x="517" y="133"/>
                        </a:cubicBezTo>
                        <a:cubicBezTo>
                          <a:pt x="524" y="128"/>
                          <a:pt x="524" y="128"/>
                          <a:pt x="524" y="128"/>
                        </a:cubicBezTo>
                        <a:cubicBezTo>
                          <a:pt x="522" y="128"/>
                          <a:pt x="520" y="130"/>
                          <a:pt x="523" y="127"/>
                        </a:cubicBezTo>
                        <a:cubicBezTo>
                          <a:pt x="526" y="125"/>
                          <a:pt x="527" y="124"/>
                          <a:pt x="531" y="121"/>
                        </a:cubicBezTo>
                        <a:cubicBezTo>
                          <a:pt x="531" y="122"/>
                          <a:pt x="533" y="122"/>
                          <a:pt x="530" y="124"/>
                        </a:cubicBezTo>
                        <a:cubicBezTo>
                          <a:pt x="533" y="123"/>
                          <a:pt x="536" y="121"/>
                          <a:pt x="536" y="119"/>
                        </a:cubicBezTo>
                        <a:cubicBezTo>
                          <a:pt x="531" y="121"/>
                          <a:pt x="543" y="114"/>
                          <a:pt x="539" y="115"/>
                        </a:cubicBezTo>
                        <a:cubicBezTo>
                          <a:pt x="544" y="113"/>
                          <a:pt x="544" y="113"/>
                          <a:pt x="544" y="113"/>
                        </a:cubicBezTo>
                        <a:cubicBezTo>
                          <a:pt x="543" y="114"/>
                          <a:pt x="543" y="114"/>
                          <a:pt x="541" y="115"/>
                        </a:cubicBezTo>
                        <a:cubicBezTo>
                          <a:pt x="543" y="115"/>
                          <a:pt x="545" y="112"/>
                          <a:pt x="546" y="111"/>
                        </a:cubicBezTo>
                        <a:cubicBezTo>
                          <a:pt x="548" y="111"/>
                          <a:pt x="552" y="108"/>
                          <a:pt x="553" y="109"/>
                        </a:cubicBezTo>
                        <a:cubicBezTo>
                          <a:pt x="554" y="108"/>
                          <a:pt x="557" y="106"/>
                          <a:pt x="558" y="106"/>
                        </a:cubicBezTo>
                        <a:cubicBezTo>
                          <a:pt x="560" y="105"/>
                          <a:pt x="558" y="105"/>
                          <a:pt x="559" y="104"/>
                        </a:cubicBezTo>
                        <a:cubicBezTo>
                          <a:pt x="566" y="100"/>
                          <a:pt x="566" y="100"/>
                          <a:pt x="566" y="100"/>
                        </a:cubicBezTo>
                        <a:cubicBezTo>
                          <a:pt x="567" y="101"/>
                          <a:pt x="568" y="102"/>
                          <a:pt x="567" y="103"/>
                        </a:cubicBezTo>
                        <a:cubicBezTo>
                          <a:pt x="570" y="101"/>
                          <a:pt x="567" y="101"/>
                          <a:pt x="571" y="98"/>
                        </a:cubicBezTo>
                        <a:cubicBezTo>
                          <a:pt x="570" y="101"/>
                          <a:pt x="577" y="96"/>
                          <a:pt x="575" y="100"/>
                        </a:cubicBezTo>
                        <a:cubicBezTo>
                          <a:pt x="577" y="99"/>
                          <a:pt x="584" y="96"/>
                          <a:pt x="588" y="93"/>
                        </a:cubicBezTo>
                        <a:cubicBezTo>
                          <a:pt x="589" y="91"/>
                          <a:pt x="583" y="95"/>
                          <a:pt x="583" y="94"/>
                        </a:cubicBezTo>
                        <a:cubicBezTo>
                          <a:pt x="593" y="88"/>
                          <a:pt x="592" y="85"/>
                          <a:pt x="601" y="81"/>
                        </a:cubicBezTo>
                        <a:cubicBezTo>
                          <a:pt x="598" y="82"/>
                          <a:pt x="598" y="82"/>
                          <a:pt x="598" y="82"/>
                        </a:cubicBezTo>
                        <a:cubicBezTo>
                          <a:pt x="603" y="79"/>
                          <a:pt x="602" y="80"/>
                          <a:pt x="605" y="77"/>
                        </a:cubicBezTo>
                        <a:cubicBezTo>
                          <a:pt x="604" y="79"/>
                          <a:pt x="612" y="78"/>
                          <a:pt x="620" y="74"/>
                        </a:cubicBezTo>
                        <a:cubicBezTo>
                          <a:pt x="620" y="73"/>
                          <a:pt x="615" y="75"/>
                          <a:pt x="616" y="73"/>
                        </a:cubicBezTo>
                        <a:cubicBezTo>
                          <a:pt x="621" y="70"/>
                          <a:pt x="621" y="70"/>
                          <a:pt x="621" y="70"/>
                        </a:cubicBezTo>
                        <a:cubicBezTo>
                          <a:pt x="622" y="70"/>
                          <a:pt x="621" y="71"/>
                          <a:pt x="620" y="71"/>
                        </a:cubicBezTo>
                        <a:cubicBezTo>
                          <a:pt x="625" y="69"/>
                          <a:pt x="630" y="69"/>
                          <a:pt x="631" y="67"/>
                        </a:cubicBezTo>
                        <a:cubicBezTo>
                          <a:pt x="637" y="67"/>
                          <a:pt x="637" y="67"/>
                          <a:pt x="637" y="67"/>
                        </a:cubicBezTo>
                        <a:cubicBezTo>
                          <a:pt x="634" y="67"/>
                          <a:pt x="634" y="67"/>
                          <a:pt x="634" y="67"/>
                        </a:cubicBezTo>
                        <a:cubicBezTo>
                          <a:pt x="635" y="66"/>
                          <a:pt x="640" y="63"/>
                          <a:pt x="641" y="62"/>
                        </a:cubicBezTo>
                        <a:cubicBezTo>
                          <a:pt x="646" y="59"/>
                          <a:pt x="649" y="59"/>
                          <a:pt x="652" y="59"/>
                        </a:cubicBezTo>
                        <a:cubicBezTo>
                          <a:pt x="651" y="58"/>
                          <a:pt x="648" y="58"/>
                          <a:pt x="652" y="56"/>
                        </a:cubicBezTo>
                        <a:cubicBezTo>
                          <a:pt x="653" y="58"/>
                          <a:pt x="662" y="53"/>
                          <a:pt x="662" y="54"/>
                        </a:cubicBezTo>
                        <a:cubicBezTo>
                          <a:pt x="664" y="54"/>
                          <a:pt x="668" y="53"/>
                          <a:pt x="667" y="52"/>
                        </a:cubicBezTo>
                        <a:cubicBezTo>
                          <a:pt x="668" y="54"/>
                          <a:pt x="668" y="54"/>
                          <a:pt x="668" y="54"/>
                        </a:cubicBezTo>
                        <a:cubicBezTo>
                          <a:pt x="667" y="52"/>
                          <a:pt x="674" y="49"/>
                          <a:pt x="679" y="47"/>
                        </a:cubicBezTo>
                        <a:cubicBezTo>
                          <a:pt x="679" y="50"/>
                          <a:pt x="684" y="45"/>
                          <a:pt x="688" y="46"/>
                        </a:cubicBezTo>
                        <a:cubicBezTo>
                          <a:pt x="688" y="44"/>
                          <a:pt x="696" y="43"/>
                          <a:pt x="697" y="41"/>
                        </a:cubicBezTo>
                        <a:cubicBezTo>
                          <a:pt x="701" y="39"/>
                          <a:pt x="701" y="41"/>
                          <a:pt x="702" y="41"/>
                        </a:cubicBezTo>
                        <a:cubicBezTo>
                          <a:pt x="704" y="40"/>
                          <a:pt x="704" y="40"/>
                          <a:pt x="704" y="40"/>
                        </a:cubicBezTo>
                        <a:cubicBezTo>
                          <a:pt x="706" y="40"/>
                          <a:pt x="713" y="38"/>
                          <a:pt x="718" y="37"/>
                        </a:cubicBezTo>
                        <a:cubicBezTo>
                          <a:pt x="722" y="35"/>
                          <a:pt x="722" y="35"/>
                          <a:pt x="722" y="35"/>
                        </a:cubicBezTo>
                        <a:cubicBezTo>
                          <a:pt x="723" y="35"/>
                          <a:pt x="723" y="35"/>
                          <a:pt x="723" y="35"/>
                        </a:cubicBezTo>
                        <a:cubicBezTo>
                          <a:pt x="724" y="34"/>
                          <a:pt x="727" y="33"/>
                          <a:pt x="725" y="33"/>
                        </a:cubicBezTo>
                        <a:cubicBezTo>
                          <a:pt x="727" y="33"/>
                          <a:pt x="727" y="33"/>
                          <a:pt x="727" y="33"/>
                        </a:cubicBezTo>
                        <a:cubicBezTo>
                          <a:pt x="727" y="31"/>
                          <a:pt x="730" y="31"/>
                          <a:pt x="735" y="29"/>
                        </a:cubicBezTo>
                        <a:cubicBezTo>
                          <a:pt x="736" y="29"/>
                          <a:pt x="736" y="30"/>
                          <a:pt x="735" y="30"/>
                        </a:cubicBezTo>
                        <a:cubicBezTo>
                          <a:pt x="737" y="30"/>
                          <a:pt x="736" y="31"/>
                          <a:pt x="738" y="31"/>
                        </a:cubicBezTo>
                        <a:cubicBezTo>
                          <a:pt x="736" y="31"/>
                          <a:pt x="745" y="26"/>
                          <a:pt x="739" y="27"/>
                        </a:cubicBezTo>
                        <a:cubicBezTo>
                          <a:pt x="738" y="26"/>
                          <a:pt x="741" y="25"/>
                          <a:pt x="744" y="24"/>
                        </a:cubicBezTo>
                        <a:cubicBezTo>
                          <a:pt x="745" y="26"/>
                          <a:pt x="745" y="26"/>
                          <a:pt x="745" y="26"/>
                        </a:cubicBezTo>
                        <a:cubicBezTo>
                          <a:pt x="748" y="23"/>
                          <a:pt x="748" y="23"/>
                          <a:pt x="748" y="23"/>
                        </a:cubicBezTo>
                        <a:cubicBezTo>
                          <a:pt x="751" y="22"/>
                          <a:pt x="753" y="23"/>
                          <a:pt x="756" y="22"/>
                        </a:cubicBezTo>
                        <a:cubicBezTo>
                          <a:pt x="753" y="23"/>
                          <a:pt x="750" y="27"/>
                          <a:pt x="758" y="25"/>
                        </a:cubicBezTo>
                        <a:cubicBezTo>
                          <a:pt x="754" y="26"/>
                          <a:pt x="752" y="28"/>
                          <a:pt x="750" y="28"/>
                        </a:cubicBezTo>
                        <a:cubicBezTo>
                          <a:pt x="752" y="28"/>
                          <a:pt x="752" y="28"/>
                          <a:pt x="750" y="29"/>
                        </a:cubicBezTo>
                        <a:cubicBezTo>
                          <a:pt x="756" y="27"/>
                          <a:pt x="752" y="28"/>
                          <a:pt x="758" y="26"/>
                        </a:cubicBezTo>
                        <a:cubicBezTo>
                          <a:pt x="758" y="28"/>
                          <a:pt x="759" y="28"/>
                          <a:pt x="764" y="27"/>
                        </a:cubicBezTo>
                        <a:cubicBezTo>
                          <a:pt x="760" y="27"/>
                          <a:pt x="760" y="27"/>
                          <a:pt x="760" y="27"/>
                        </a:cubicBezTo>
                        <a:cubicBezTo>
                          <a:pt x="761" y="27"/>
                          <a:pt x="761" y="27"/>
                          <a:pt x="761" y="26"/>
                        </a:cubicBezTo>
                        <a:cubicBezTo>
                          <a:pt x="760" y="27"/>
                          <a:pt x="759" y="26"/>
                          <a:pt x="759" y="26"/>
                        </a:cubicBezTo>
                        <a:cubicBezTo>
                          <a:pt x="760" y="26"/>
                          <a:pt x="765" y="23"/>
                          <a:pt x="766" y="23"/>
                        </a:cubicBezTo>
                        <a:cubicBezTo>
                          <a:pt x="760" y="22"/>
                          <a:pt x="776" y="19"/>
                          <a:pt x="772" y="19"/>
                        </a:cubicBezTo>
                        <a:cubicBezTo>
                          <a:pt x="773" y="18"/>
                          <a:pt x="777" y="17"/>
                          <a:pt x="777" y="18"/>
                        </a:cubicBezTo>
                        <a:cubicBezTo>
                          <a:pt x="772" y="20"/>
                          <a:pt x="781" y="19"/>
                          <a:pt x="781" y="20"/>
                        </a:cubicBezTo>
                        <a:cubicBezTo>
                          <a:pt x="782" y="19"/>
                          <a:pt x="777" y="20"/>
                          <a:pt x="779" y="19"/>
                        </a:cubicBezTo>
                        <a:cubicBezTo>
                          <a:pt x="782" y="18"/>
                          <a:pt x="784" y="19"/>
                          <a:pt x="786" y="19"/>
                        </a:cubicBezTo>
                        <a:cubicBezTo>
                          <a:pt x="785" y="19"/>
                          <a:pt x="785" y="19"/>
                          <a:pt x="785" y="19"/>
                        </a:cubicBezTo>
                        <a:cubicBezTo>
                          <a:pt x="789" y="19"/>
                          <a:pt x="789" y="19"/>
                          <a:pt x="789" y="19"/>
                        </a:cubicBezTo>
                        <a:cubicBezTo>
                          <a:pt x="790" y="18"/>
                          <a:pt x="785" y="19"/>
                          <a:pt x="789" y="17"/>
                        </a:cubicBezTo>
                        <a:cubicBezTo>
                          <a:pt x="790" y="18"/>
                          <a:pt x="794" y="16"/>
                          <a:pt x="794" y="17"/>
                        </a:cubicBezTo>
                        <a:cubicBezTo>
                          <a:pt x="792" y="18"/>
                          <a:pt x="794" y="19"/>
                          <a:pt x="790" y="20"/>
                        </a:cubicBezTo>
                        <a:cubicBezTo>
                          <a:pt x="793" y="20"/>
                          <a:pt x="802" y="18"/>
                          <a:pt x="798" y="17"/>
                        </a:cubicBezTo>
                        <a:cubicBezTo>
                          <a:pt x="802" y="17"/>
                          <a:pt x="802" y="17"/>
                          <a:pt x="802" y="17"/>
                        </a:cubicBezTo>
                        <a:cubicBezTo>
                          <a:pt x="800" y="16"/>
                          <a:pt x="793" y="16"/>
                          <a:pt x="800" y="15"/>
                        </a:cubicBezTo>
                        <a:cubicBezTo>
                          <a:pt x="800" y="15"/>
                          <a:pt x="800" y="15"/>
                          <a:pt x="800" y="15"/>
                        </a:cubicBezTo>
                        <a:cubicBezTo>
                          <a:pt x="805" y="13"/>
                          <a:pt x="805" y="13"/>
                          <a:pt x="805" y="13"/>
                        </a:cubicBezTo>
                        <a:cubicBezTo>
                          <a:pt x="807" y="14"/>
                          <a:pt x="807" y="14"/>
                          <a:pt x="807" y="14"/>
                        </a:cubicBezTo>
                        <a:cubicBezTo>
                          <a:pt x="807" y="13"/>
                          <a:pt x="808" y="13"/>
                          <a:pt x="810" y="13"/>
                        </a:cubicBezTo>
                        <a:cubicBezTo>
                          <a:pt x="810" y="13"/>
                          <a:pt x="812" y="13"/>
                          <a:pt x="812" y="14"/>
                        </a:cubicBezTo>
                        <a:cubicBezTo>
                          <a:pt x="817" y="13"/>
                          <a:pt x="817" y="12"/>
                          <a:pt x="817" y="12"/>
                        </a:cubicBezTo>
                        <a:cubicBezTo>
                          <a:pt x="820" y="11"/>
                          <a:pt x="821" y="11"/>
                          <a:pt x="820" y="12"/>
                        </a:cubicBezTo>
                        <a:cubicBezTo>
                          <a:pt x="824" y="12"/>
                          <a:pt x="831" y="11"/>
                          <a:pt x="834" y="11"/>
                        </a:cubicBezTo>
                        <a:cubicBezTo>
                          <a:pt x="839" y="10"/>
                          <a:pt x="833" y="11"/>
                          <a:pt x="836" y="10"/>
                        </a:cubicBezTo>
                        <a:cubicBezTo>
                          <a:pt x="841" y="12"/>
                          <a:pt x="854" y="9"/>
                          <a:pt x="863" y="8"/>
                        </a:cubicBezTo>
                        <a:cubicBezTo>
                          <a:pt x="860" y="6"/>
                          <a:pt x="865" y="7"/>
                          <a:pt x="867" y="5"/>
                        </a:cubicBezTo>
                        <a:cubicBezTo>
                          <a:pt x="865" y="6"/>
                          <a:pt x="875" y="7"/>
                          <a:pt x="868" y="8"/>
                        </a:cubicBezTo>
                        <a:cubicBezTo>
                          <a:pt x="872" y="7"/>
                          <a:pt x="872" y="7"/>
                          <a:pt x="872" y="7"/>
                        </a:cubicBezTo>
                        <a:cubicBezTo>
                          <a:pt x="876" y="8"/>
                          <a:pt x="865" y="9"/>
                          <a:pt x="870" y="10"/>
                        </a:cubicBezTo>
                        <a:cubicBezTo>
                          <a:pt x="875" y="9"/>
                          <a:pt x="878" y="7"/>
                          <a:pt x="884" y="7"/>
                        </a:cubicBezTo>
                        <a:cubicBezTo>
                          <a:pt x="882" y="9"/>
                          <a:pt x="889" y="7"/>
                          <a:pt x="888" y="9"/>
                        </a:cubicBezTo>
                        <a:cubicBezTo>
                          <a:pt x="887" y="9"/>
                          <a:pt x="885" y="9"/>
                          <a:pt x="883" y="9"/>
                        </a:cubicBezTo>
                        <a:cubicBezTo>
                          <a:pt x="884" y="9"/>
                          <a:pt x="884" y="9"/>
                          <a:pt x="884" y="9"/>
                        </a:cubicBezTo>
                        <a:cubicBezTo>
                          <a:pt x="896" y="9"/>
                          <a:pt x="887" y="7"/>
                          <a:pt x="894" y="6"/>
                        </a:cubicBezTo>
                        <a:cubicBezTo>
                          <a:pt x="901" y="6"/>
                          <a:pt x="899" y="7"/>
                          <a:pt x="900" y="8"/>
                        </a:cubicBezTo>
                        <a:cubicBezTo>
                          <a:pt x="901" y="8"/>
                          <a:pt x="904" y="8"/>
                          <a:pt x="906" y="8"/>
                        </a:cubicBezTo>
                        <a:cubicBezTo>
                          <a:pt x="902" y="9"/>
                          <a:pt x="898" y="7"/>
                          <a:pt x="900" y="6"/>
                        </a:cubicBezTo>
                        <a:cubicBezTo>
                          <a:pt x="903" y="7"/>
                          <a:pt x="911" y="6"/>
                          <a:pt x="913" y="5"/>
                        </a:cubicBezTo>
                        <a:cubicBezTo>
                          <a:pt x="902" y="3"/>
                          <a:pt x="906" y="5"/>
                          <a:pt x="896" y="3"/>
                        </a:cubicBezTo>
                        <a:cubicBezTo>
                          <a:pt x="895" y="4"/>
                          <a:pt x="895" y="5"/>
                          <a:pt x="889" y="5"/>
                        </a:cubicBezTo>
                        <a:cubicBezTo>
                          <a:pt x="893" y="4"/>
                          <a:pt x="889" y="4"/>
                          <a:pt x="888" y="4"/>
                        </a:cubicBezTo>
                        <a:cubicBezTo>
                          <a:pt x="889" y="5"/>
                          <a:pt x="884" y="4"/>
                          <a:pt x="882" y="5"/>
                        </a:cubicBezTo>
                        <a:cubicBezTo>
                          <a:pt x="880" y="4"/>
                          <a:pt x="885" y="2"/>
                          <a:pt x="880" y="2"/>
                        </a:cubicBezTo>
                        <a:cubicBezTo>
                          <a:pt x="879" y="5"/>
                          <a:pt x="879" y="5"/>
                          <a:pt x="879" y="5"/>
                        </a:cubicBezTo>
                        <a:cubicBezTo>
                          <a:pt x="876" y="4"/>
                          <a:pt x="879" y="3"/>
                          <a:pt x="875" y="4"/>
                        </a:cubicBezTo>
                        <a:cubicBezTo>
                          <a:pt x="877" y="2"/>
                          <a:pt x="874" y="2"/>
                          <a:pt x="880" y="1"/>
                        </a:cubicBezTo>
                        <a:cubicBezTo>
                          <a:pt x="872" y="0"/>
                          <a:pt x="868" y="3"/>
                          <a:pt x="862" y="4"/>
                        </a:cubicBezTo>
                        <a:cubicBezTo>
                          <a:pt x="863" y="4"/>
                          <a:pt x="863" y="4"/>
                          <a:pt x="864" y="4"/>
                        </a:cubicBezTo>
                        <a:cubicBezTo>
                          <a:pt x="862" y="4"/>
                          <a:pt x="860" y="4"/>
                          <a:pt x="858" y="5"/>
                        </a:cubicBezTo>
                        <a:cubicBezTo>
                          <a:pt x="854" y="4"/>
                          <a:pt x="861" y="3"/>
                          <a:pt x="860" y="3"/>
                        </a:cubicBezTo>
                        <a:cubicBezTo>
                          <a:pt x="854" y="3"/>
                          <a:pt x="854" y="3"/>
                          <a:pt x="854" y="3"/>
                        </a:cubicBezTo>
                        <a:cubicBezTo>
                          <a:pt x="853" y="3"/>
                          <a:pt x="853" y="3"/>
                          <a:pt x="853" y="3"/>
                        </a:cubicBezTo>
                        <a:cubicBezTo>
                          <a:pt x="852" y="4"/>
                          <a:pt x="850" y="4"/>
                          <a:pt x="850" y="4"/>
                        </a:cubicBezTo>
                        <a:cubicBezTo>
                          <a:pt x="851" y="3"/>
                          <a:pt x="852" y="2"/>
                          <a:pt x="853" y="1"/>
                        </a:cubicBezTo>
                        <a:cubicBezTo>
                          <a:pt x="847" y="3"/>
                          <a:pt x="847" y="3"/>
                          <a:pt x="847" y="3"/>
                        </a:cubicBezTo>
                        <a:cubicBezTo>
                          <a:pt x="847" y="3"/>
                          <a:pt x="841" y="3"/>
                          <a:pt x="846" y="2"/>
                        </a:cubicBezTo>
                        <a:cubicBezTo>
                          <a:pt x="836" y="3"/>
                          <a:pt x="836" y="3"/>
                          <a:pt x="836" y="3"/>
                        </a:cubicBezTo>
                        <a:cubicBezTo>
                          <a:pt x="835" y="2"/>
                          <a:pt x="835" y="2"/>
                          <a:pt x="835" y="2"/>
                        </a:cubicBezTo>
                        <a:cubicBezTo>
                          <a:pt x="832" y="2"/>
                          <a:pt x="832" y="3"/>
                          <a:pt x="835" y="2"/>
                        </a:cubicBezTo>
                        <a:cubicBezTo>
                          <a:pt x="832" y="2"/>
                          <a:pt x="820" y="7"/>
                          <a:pt x="821" y="4"/>
                        </a:cubicBezTo>
                        <a:cubicBezTo>
                          <a:pt x="814" y="6"/>
                          <a:pt x="811" y="6"/>
                          <a:pt x="801" y="8"/>
                        </a:cubicBezTo>
                        <a:cubicBezTo>
                          <a:pt x="808" y="6"/>
                          <a:pt x="793" y="8"/>
                          <a:pt x="800" y="6"/>
                        </a:cubicBezTo>
                        <a:cubicBezTo>
                          <a:pt x="796" y="6"/>
                          <a:pt x="795" y="8"/>
                          <a:pt x="791" y="9"/>
                        </a:cubicBezTo>
                        <a:cubicBezTo>
                          <a:pt x="788" y="9"/>
                          <a:pt x="789" y="7"/>
                          <a:pt x="793" y="6"/>
                        </a:cubicBezTo>
                        <a:cubicBezTo>
                          <a:pt x="789" y="7"/>
                          <a:pt x="789" y="7"/>
                          <a:pt x="789" y="7"/>
                        </a:cubicBezTo>
                        <a:cubicBezTo>
                          <a:pt x="789" y="7"/>
                          <a:pt x="789" y="7"/>
                          <a:pt x="789" y="7"/>
                        </a:cubicBezTo>
                        <a:cubicBezTo>
                          <a:pt x="785" y="9"/>
                          <a:pt x="785" y="9"/>
                          <a:pt x="785" y="9"/>
                        </a:cubicBezTo>
                        <a:cubicBezTo>
                          <a:pt x="781" y="9"/>
                          <a:pt x="784" y="7"/>
                          <a:pt x="780" y="8"/>
                        </a:cubicBezTo>
                        <a:cubicBezTo>
                          <a:pt x="779" y="9"/>
                          <a:pt x="779" y="9"/>
                          <a:pt x="779" y="9"/>
                        </a:cubicBezTo>
                        <a:cubicBezTo>
                          <a:pt x="776" y="9"/>
                          <a:pt x="776" y="9"/>
                          <a:pt x="776" y="9"/>
                        </a:cubicBezTo>
                        <a:cubicBezTo>
                          <a:pt x="777" y="9"/>
                          <a:pt x="775" y="10"/>
                          <a:pt x="772" y="11"/>
                        </a:cubicBezTo>
                        <a:cubicBezTo>
                          <a:pt x="772" y="11"/>
                          <a:pt x="772" y="11"/>
                          <a:pt x="772" y="11"/>
                        </a:cubicBezTo>
                        <a:cubicBezTo>
                          <a:pt x="769" y="12"/>
                          <a:pt x="769" y="12"/>
                          <a:pt x="769" y="12"/>
                        </a:cubicBezTo>
                        <a:cubicBezTo>
                          <a:pt x="772" y="10"/>
                          <a:pt x="765" y="12"/>
                          <a:pt x="767" y="11"/>
                        </a:cubicBezTo>
                        <a:cubicBezTo>
                          <a:pt x="764" y="11"/>
                          <a:pt x="764" y="11"/>
                          <a:pt x="758" y="13"/>
                        </a:cubicBezTo>
                        <a:cubicBezTo>
                          <a:pt x="759" y="14"/>
                          <a:pt x="759" y="14"/>
                          <a:pt x="759" y="14"/>
                        </a:cubicBezTo>
                        <a:cubicBezTo>
                          <a:pt x="752" y="16"/>
                          <a:pt x="759" y="12"/>
                          <a:pt x="753" y="14"/>
                        </a:cubicBezTo>
                        <a:cubicBezTo>
                          <a:pt x="753" y="14"/>
                          <a:pt x="753" y="14"/>
                          <a:pt x="753" y="14"/>
                        </a:cubicBezTo>
                        <a:cubicBezTo>
                          <a:pt x="745" y="15"/>
                          <a:pt x="740" y="19"/>
                          <a:pt x="733" y="19"/>
                        </a:cubicBezTo>
                        <a:cubicBezTo>
                          <a:pt x="737" y="18"/>
                          <a:pt x="735" y="17"/>
                          <a:pt x="735" y="18"/>
                        </a:cubicBezTo>
                        <a:cubicBezTo>
                          <a:pt x="730" y="19"/>
                          <a:pt x="722" y="22"/>
                          <a:pt x="716" y="24"/>
                        </a:cubicBezTo>
                        <a:cubicBezTo>
                          <a:pt x="714" y="24"/>
                          <a:pt x="713" y="23"/>
                          <a:pt x="708" y="24"/>
                        </a:cubicBezTo>
                        <a:cubicBezTo>
                          <a:pt x="704" y="26"/>
                          <a:pt x="703" y="26"/>
                          <a:pt x="702" y="27"/>
                        </a:cubicBezTo>
                        <a:cubicBezTo>
                          <a:pt x="698" y="28"/>
                          <a:pt x="691" y="31"/>
                          <a:pt x="690" y="30"/>
                        </a:cubicBezTo>
                        <a:cubicBezTo>
                          <a:pt x="690" y="31"/>
                          <a:pt x="687" y="31"/>
                          <a:pt x="685" y="33"/>
                        </a:cubicBezTo>
                        <a:cubicBezTo>
                          <a:pt x="684" y="32"/>
                          <a:pt x="684" y="32"/>
                          <a:pt x="684" y="32"/>
                        </a:cubicBezTo>
                        <a:cubicBezTo>
                          <a:pt x="685" y="33"/>
                          <a:pt x="685" y="33"/>
                          <a:pt x="685" y="33"/>
                        </a:cubicBezTo>
                        <a:cubicBezTo>
                          <a:pt x="677" y="33"/>
                          <a:pt x="674" y="38"/>
                          <a:pt x="666" y="39"/>
                        </a:cubicBezTo>
                        <a:cubicBezTo>
                          <a:pt x="667" y="39"/>
                          <a:pt x="667" y="39"/>
                          <a:pt x="667" y="39"/>
                        </a:cubicBezTo>
                        <a:cubicBezTo>
                          <a:pt x="665" y="40"/>
                          <a:pt x="665" y="40"/>
                          <a:pt x="665" y="40"/>
                        </a:cubicBezTo>
                        <a:cubicBezTo>
                          <a:pt x="664" y="40"/>
                          <a:pt x="665" y="39"/>
                          <a:pt x="665" y="38"/>
                        </a:cubicBezTo>
                        <a:cubicBezTo>
                          <a:pt x="661" y="40"/>
                          <a:pt x="656" y="42"/>
                          <a:pt x="652" y="43"/>
                        </a:cubicBezTo>
                        <a:cubicBezTo>
                          <a:pt x="654" y="43"/>
                          <a:pt x="654" y="43"/>
                          <a:pt x="654" y="43"/>
                        </a:cubicBezTo>
                        <a:cubicBezTo>
                          <a:pt x="652" y="44"/>
                          <a:pt x="650" y="46"/>
                          <a:pt x="647" y="47"/>
                        </a:cubicBezTo>
                        <a:cubicBezTo>
                          <a:pt x="651" y="43"/>
                          <a:pt x="642" y="48"/>
                          <a:pt x="641" y="48"/>
                        </a:cubicBezTo>
                        <a:cubicBezTo>
                          <a:pt x="644" y="46"/>
                          <a:pt x="644" y="46"/>
                          <a:pt x="644" y="46"/>
                        </a:cubicBezTo>
                        <a:cubicBezTo>
                          <a:pt x="640" y="48"/>
                          <a:pt x="640" y="48"/>
                          <a:pt x="641" y="49"/>
                        </a:cubicBezTo>
                        <a:cubicBezTo>
                          <a:pt x="636" y="51"/>
                          <a:pt x="636" y="48"/>
                          <a:pt x="632" y="51"/>
                        </a:cubicBezTo>
                        <a:cubicBezTo>
                          <a:pt x="635" y="50"/>
                          <a:pt x="635" y="50"/>
                          <a:pt x="635" y="50"/>
                        </a:cubicBezTo>
                        <a:cubicBezTo>
                          <a:pt x="637" y="50"/>
                          <a:pt x="635" y="52"/>
                          <a:pt x="632" y="53"/>
                        </a:cubicBezTo>
                        <a:cubicBezTo>
                          <a:pt x="632" y="53"/>
                          <a:pt x="630" y="53"/>
                          <a:pt x="632" y="52"/>
                        </a:cubicBezTo>
                        <a:cubicBezTo>
                          <a:pt x="628" y="54"/>
                          <a:pt x="622" y="57"/>
                          <a:pt x="620" y="58"/>
                        </a:cubicBezTo>
                        <a:cubicBezTo>
                          <a:pt x="618" y="58"/>
                          <a:pt x="618" y="57"/>
                          <a:pt x="619" y="57"/>
                        </a:cubicBezTo>
                        <a:cubicBezTo>
                          <a:pt x="611" y="61"/>
                          <a:pt x="616" y="58"/>
                          <a:pt x="608" y="63"/>
                        </a:cubicBezTo>
                        <a:cubicBezTo>
                          <a:pt x="607" y="62"/>
                          <a:pt x="607" y="62"/>
                          <a:pt x="607" y="62"/>
                        </a:cubicBezTo>
                        <a:cubicBezTo>
                          <a:pt x="605" y="64"/>
                          <a:pt x="605" y="64"/>
                          <a:pt x="605" y="64"/>
                        </a:cubicBezTo>
                        <a:cubicBezTo>
                          <a:pt x="600" y="65"/>
                          <a:pt x="600" y="65"/>
                          <a:pt x="600" y="65"/>
                        </a:cubicBezTo>
                        <a:cubicBezTo>
                          <a:pt x="602" y="65"/>
                          <a:pt x="602" y="65"/>
                          <a:pt x="602" y="65"/>
                        </a:cubicBezTo>
                        <a:cubicBezTo>
                          <a:pt x="599" y="67"/>
                          <a:pt x="598" y="68"/>
                          <a:pt x="595" y="69"/>
                        </a:cubicBezTo>
                        <a:cubicBezTo>
                          <a:pt x="595" y="68"/>
                          <a:pt x="595" y="68"/>
                          <a:pt x="595" y="68"/>
                        </a:cubicBezTo>
                        <a:cubicBezTo>
                          <a:pt x="588" y="72"/>
                          <a:pt x="586" y="71"/>
                          <a:pt x="579" y="76"/>
                        </a:cubicBezTo>
                        <a:cubicBezTo>
                          <a:pt x="579" y="76"/>
                          <a:pt x="580" y="75"/>
                          <a:pt x="580" y="74"/>
                        </a:cubicBezTo>
                        <a:cubicBezTo>
                          <a:pt x="574" y="79"/>
                          <a:pt x="575" y="76"/>
                          <a:pt x="569" y="81"/>
                        </a:cubicBezTo>
                        <a:cubicBezTo>
                          <a:pt x="569" y="80"/>
                          <a:pt x="568" y="80"/>
                          <a:pt x="568" y="80"/>
                        </a:cubicBezTo>
                        <a:cubicBezTo>
                          <a:pt x="565" y="82"/>
                          <a:pt x="565" y="82"/>
                          <a:pt x="565" y="82"/>
                        </a:cubicBezTo>
                        <a:cubicBezTo>
                          <a:pt x="565" y="81"/>
                          <a:pt x="565" y="81"/>
                          <a:pt x="565" y="81"/>
                        </a:cubicBezTo>
                        <a:cubicBezTo>
                          <a:pt x="563" y="84"/>
                          <a:pt x="563" y="84"/>
                          <a:pt x="563" y="84"/>
                        </a:cubicBezTo>
                        <a:cubicBezTo>
                          <a:pt x="561" y="84"/>
                          <a:pt x="561" y="84"/>
                          <a:pt x="561" y="84"/>
                        </a:cubicBezTo>
                        <a:cubicBezTo>
                          <a:pt x="560" y="85"/>
                          <a:pt x="560" y="85"/>
                          <a:pt x="560" y="85"/>
                        </a:cubicBezTo>
                        <a:cubicBezTo>
                          <a:pt x="556" y="85"/>
                          <a:pt x="552" y="89"/>
                          <a:pt x="547" y="90"/>
                        </a:cubicBezTo>
                        <a:cubicBezTo>
                          <a:pt x="548" y="91"/>
                          <a:pt x="548" y="91"/>
                          <a:pt x="548" y="91"/>
                        </a:cubicBezTo>
                        <a:cubicBezTo>
                          <a:pt x="539" y="100"/>
                          <a:pt x="522" y="104"/>
                          <a:pt x="510" y="114"/>
                        </a:cubicBezTo>
                        <a:cubicBezTo>
                          <a:pt x="510" y="113"/>
                          <a:pt x="510" y="113"/>
                          <a:pt x="510" y="113"/>
                        </a:cubicBezTo>
                        <a:cubicBezTo>
                          <a:pt x="505" y="118"/>
                          <a:pt x="505" y="118"/>
                          <a:pt x="505" y="118"/>
                        </a:cubicBezTo>
                        <a:cubicBezTo>
                          <a:pt x="502" y="119"/>
                          <a:pt x="507" y="116"/>
                          <a:pt x="505" y="116"/>
                        </a:cubicBezTo>
                        <a:cubicBezTo>
                          <a:pt x="500" y="120"/>
                          <a:pt x="504" y="119"/>
                          <a:pt x="498" y="123"/>
                        </a:cubicBezTo>
                        <a:cubicBezTo>
                          <a:pt x="494" y="125"/>
                          <a:pt x="498" y="122"/>
                          <a:pt x="500" y="120"/>
                        </a:cubicBezTo>
                        <a:cubicBezTo>
                          <a:pt x="494" y="125"/>
                          <a:pt x="485" y="132"/>
                          <a:pt x="481" y="134"/>
                        </a:cubicBezTo>
                        <a:cubicBezTo>
                          <a:pt x="481" y="135"/>
                          <a:pt x="480" y="135"/>
                          <a:pt x="481" y="135"/>
                        </a:cubicBezTo>
                        <a:cubicBezTo>
                          <a:pt x="477" y="138"/>
                          <a:pt x="472" y="142"/>
                          <a:pt x="467" y="145"/>
                        </a:cubicBezTo>
                        <a:cubicBezTo>
                          <a:pt x="467" y="144"/>
                          <a:pt x="468" y="143"/>
                          <a:pt x="469" y="143"/>
                        </a:cubicBezTo>
                        <a:cubicBezTo>
                          <a:pt x="467" y="144"/>
                          <a:pt x="465" y="145"/>
                          <a:pt x="464" y="146"/>
                        </a:cubicBezTo>
                        <a:cubicBezTo>
                          <a:pt x="465" y="144"/>
                          <a:pt x="465" y="144"/>
                          <a:pt x="465" y="144"/>
                        </a:cubicBezTo>
                        <a:cubicBezTo>
                          <a:pt x="462" y="147"/>
                          <a:pt x="456" y="152"/>
                          <a:pt x="454" y="152"/>
                        </a:cubicBezTo>
                        <a:cubicBezTo>
                          <a:pt x="455" y="152"/>
                          <a:pt x="455" y="153"/>
                          <a:pt x="453" y="155"/>
                        </a:cubicBezTo>
                        <a:cubicBezTo>
                          <a:pt x="450" y="155"/>
                          <a:pt x="445" y="162"/>
                          <a:pt x="440" y="165"/>
                        </a:cubicBezTo>
                        <a:cubicBezTo>
                          <a:pt x="440" y="164"/>
                          <a:pt x="444" y="161"/>
                          <a:pt x="443" y="162"/>
                        </a:cubicBezTo>
                        <a:cubicBezTo>
                          <a:pt x="440" y="163"/>
                          <a:pt x="439" y="166"/>
                          <a:pt x="437" y="168"/>
                        </a:cubicBezTo>
                        <a:cubicBezTo>
                          <a:pt x="437" y="167"/>
                          <a:pt x="437" y="167"/>
                          <a:pt x="437" y="167"/>
                        </a:cubicBezTo>
                        <a:cubicBezTo>
                          <a:pt x="427" y="176"/>
                          <a:pt x="427" y="176"/>
                          <a:pt x="427" y="176"/>
                        </a:cubicBezTo>
                        <a:cubicBezTo>
                          <a:pt x="425" y="176"/>
                          <a:pt x="418" y="184"/>
                          <a:pt x="418" y="183"/>
                        </a:cubicBezTo>
                        <a:cubicBezTo>
                          <a:pt x="414" y="186"/>
                          <a:pt x="421" y="181"/>
                          <a:pt x="417" y="185"/>
                        </a:cubicBezTo>
                        <a:cubicBezTo>
                          <a:pt x="415" y="185"/>
                          <a:pt x="413" y="189"/>
                          <a:pt x="412" y="188"/>
                        </a:cubicBezTo>
                        <a:cubicBezTo>
                          <a:pt x="413" y="187"/>
                          <a:pt x="413" y="187"/>
                          <a:pt x="413" y="187"/>
                        </a:cubicBezTo>
                        <a:cubicBezTo>
                          <a:pt x="410" y="190"/>
                          <a:pt x="410" y="190"/>
                          <a:pt x="410" y="190"/>
                        </a:cubicBezTo>
                        <a:cubicBezTo>
                          <a:pt x="411" y="187"/>
                          <a:pt x="411" y="187"/>
                          <a:pt x="411" y="187"/>
                        </a:cubicBezTo>
                        <a:cubicBezTo>
                          <a:pt x="408" y="190"/>
                          <a:pt x="407" y="193"/>
                          <a:pt x="408" y="193"/>
                        </a:cubicBezTo>
                        <a:cubicBezTo>
                          <a:pt x="405" y="195"/>
                          <a:pt x="401" y="199"/>
                          <a:pt x="399" y="199"/>
                        </a:cubicBezTo>
                        <a:cubicBezTo>
                          <a:pt x="400" y="198"/>
                          <a:pt x="400" y="198"/>
                          <a:pt x="400" y="198"/>
                        </a:cubicBezTo>
                        <a:cubicBezTo>
                          <a:pt x="393" y="205"/>
                          <a:pt x="386" y="207"/>
                          <a:pt x="382" y="214"/>
                        </a:cubicBezTo>
                        <a:cubicBezTo>
                          <a:pt x="381" y="214"/>
                          <a:pt x="381" y="214"/>
                          <a:pt x="382" y="213"/>
                        </a:cubicBezTo>
                        <a:cubicBezTo>
                          <a:pt x="378" y="217"/>
                          <a:pt x="378" y="217"/>
                          <a:pt x="378" y="217"/>
                        </a:cubicBezTo>
                        <a:cubicBezTo>
                          <a:pt x="378" y="215"/>
                          <a:pt x="378" y="215"/>
                          <a:pt x="378" y="215"/>
                        </a:cubicBezTo>
                        <a:cubicBezTo>
                          <a:pt x="372" y="223"/>
                          <a:pt x="372" y="223"/>
                          <a:pt x="372" y="223"/>
                        </a:cubicBezTo>
                        <a:cubicBezTo>
                          <a:pt x="372" y="223"/>
                          <a:pt x="372" y="223"/>
                          <a:pt x="372" y="223"/>
                        </a:cubicBezTo>
                        <a:cubicBezTo>
                          <a:pt x="367" y="227"/>
                          <a:pt x="360" y="235"/>
                          <a:pt x="354" y="241"/>
                        </a:cubicBezTo>
                        <a:cubicBezTo>
                          <a:pt x="355" y="240"/>
                          <a:pt x="355" y="240"/>
                          <a:pt x="355" y="240"/>
                        </a:cubicBezTo>
                        <a:cubicBezTo>
                          <a:pt x="349" y="247"/>
                          <a:pt x="348" y="246"/>
                          <a:pt x="344" y="251"/>
                        </a:cubicBezTo>
                        <a:cubicBezTo>
                          <a:pt x="344" y="251"/>
                          <a:pt x="344" y="251"/>
                          <a:pt x="344" y="250"/>
                        </a:cubicBezTo>
                        <a:cubicBezTo>
                          <a:pt x="340" y="255"/>
                          <a:pt x="340" y="255"/>
                          <a:pt x="340" y="255"/>
                        </a:cubicBezTo>
                        <a:cubicBezTo>
                          <a:pt x="340" y="253"/>
                          <a:pt x="340" y="253"/>
                          <a:pt x="340" y="253"/>
                        </a:cubicBezTo>
                        <a:cubicBezTo>
                          <a:pt x="338" y="258"/>
                          <a:pt x="331" y="262"/>
                          <a:pt x="333" y="260"/>
                        </a:cubicBezTo>
                        <a:cubicBezTo>
                          <a:pt x="332" y="263"/>
                          <a:pt x="329" y="266"/>
                          <a:pt x="329" y="267"/>
                        </a:cubicBezTo>
                        <a:cubicBezTo>
                          <a:pt x="325" y="272"/>
                          <a:pt x="328" y="268"/>
                          <a:pt x="325" y="271"/>
                        </a:cubicBezTo>
                        <a:cubicBezTo>
                          <a:pt x="321" y="274"/>
                          <a:pt x="322" y="276"/>
                          <a:pt x="317" y="280"/>
                        </a:cubicBezTo>
                        <a:cubicBezTo>
                          <a:pt x="317" y="280"/>
                          <a:pt x="317" y="280"/>
                          <a:pt x="317" y="280"/>
                        </a:cubicBezTo>
                        <a:cubicBezTo>
                          <a:pt x="315" y="282"/>
                          <a:pt x="314" y="284"/>
                          <a:pt x="311" y="287"/>
                        </a:cubicBezTo>
                        <a:cubicBezTo>
                          <a:pt x="312" y="286"/>
                          <a:pt x="312" y="286"/>
                          <a:pt x="312" y="286"/>
                        </a:cubicBezTo>
                        <a:cubicBezTo>
                          <a:pt x="308" y="292"/>
                          <a:pt x="305" y="291"/>
                          <a:pt x="303" y="297"/>
                        </a:cubicBezTo>
                        <a:cubicBezTo>
                          <a:pt x="301" y="299"/>
                          <a:pt x="298" y="304"/>
                          <a:pt x="297" y="303"/>
                        </a:cubicBezTo>
                        <a:cubicBezTo>
                          <a:pt x="283" y="322"/>
                          <a:pt x="283" y="322"/>
                          <a:pt x="283" y="322"/>
                        </a:cubicBezTo>
                        <a:cubicBezTo>
                          <a:pt x="281" y="322"/>
                          <a:pt x="282" y="324"/>
                          <a:pt x="278" y="327"/>
                        </a:cubicBezTo>
                        <a:cubicBezTo>
                          <a:pt x="279" y="328"/>
                          <a:pt x="279" y="328"/>
                          <a:pt x="279" y="328"/>
                        </a:cubicBezTo>
                        <a:cubicBezTo>
                          <a:pt x="272" y="337"/>
                          <a:pt x="262" y="347"/>
                          <a:pt x="254" y="358"/>
                        </a:cubicBezTo>
                        <a:cubicBezTo>
                          <a:pt x="253" y="357"/>
                          <a:pt x="253" y="357"/>
                          <a:pt x="253" y="357"/>
                        </a:cubicBezTo>
                        <a:cubicBezTo>
                          <a:pt x="252" y="360"/>
                          <a:pt x="252" y="360"/>
                          <a:pt x="252" y="360"/>
                        </a:cubicBezTo>
                        <a:cubicBezTo>
                          <a:pt x="244" y="372"/>
                          <a:pt x="233" y="387"/>
                          <a:pt x="226" y="396"/>
                        </a:cubicBezTo>
                        <a:cubicBezTo>
                          <a:pt x="225" y="400"/>
                          <a:pt x="223" y="405"/>
                          <a:pt x="219" y="410"/>
                        </a:cubicBezTo>
                        <a:cubicBezTo>
                          <a:pt x="219" y="409"/>
                          <a:pt x="219" y="409"/>
                          <a:pt x="219" y="409"/>
                        </a:cubicBezTo>
                        <a:cubicBezTo>
                          <a:pt x="214" y="418"/>
                          <a:pt x="209" y="428"/>
                          <a:pt x="202" y="437"/>
                        </a:cubicBezTo>
                        <a:cubicBezTo>
                          <a:pt x="202" y="436"/>
                          <a:pt x="202" y="437"/>
                          <a:pt x="202" y="436"/>
                        </a:cubicBezTo>
                        <a:cubicBezTo>
                          <a:pt x="202" y="439"/>
                          <a:pt x="199" y="442"/>
                          <a:pt x="197" y="444"/>
                        </a:cubicBezTo>
                        <a:cubicBezTo>
                          <a:pt x="200" y="442"/>
                          <a:pt x="200" y="442"/>
                          <a:pt x="200" y="442"/>
                        </a:cubicBezTo>
                        <a:cubicBezTo>
                          <a:pt x="199" y="445"/>
                          <a:pt x="196" y="448"/>
                          <a:pt x="194" y="449"/>
                        </a:cubicBezTo>
                        <a:cubicBezTo>
                          <a:pt x="192" y="454"/>
                          <a:pt x="192" y="454"/>
                          <a:pt x="192" y="454"/>
                        </a:cubicBezTo>
                        <a:cubicBezTo>
                          <a:pt x="192" y="455"/>
                          <a:pt x="192" y="455"/>
                          <a:pt x="192" y="455"/>
                        </a:cubicBezTo>
                        <a:cubicBezTo>
                          <a:pt x="192" y="456"/>
                          <a:pt x="192" y="456"/>
                          <a:pt x="192" y="456"/>
                        </a:cubicBezTo>
                        <a:cubicBezTo>
                          <a:pt x="189" y="458"/>
                          <a:pt x="189" y="458"/>
                          <a:pt x="189" y="458"/>
                        </a:cubicBezTo>
                        <a:cubicBezTo>
                          <a:pt x="189" y="459"/>
                          <a:pt x="186" y="465"/>
                          <a:pt x="186" y="467"/>
                        </a:cubicBezTo>
                        <a:cubicBezTo>
                          <a:pt x="185" y="467"/>
                          <a:pt x="182" y="471"/>
                          <a:pt x="184" y="468"/>
                        </a:cubicBezTo>
                        <a:cubicBezTo>
                          <a:pt x="175" y="484"/>
                          <a:pt x="175" y="484"/>
                          <a:pt x="175" y="484"/>
                        </a:cubicBezTo>
                        <a:cubicBezTo>
                          <a:pt x="176" y="482"/>
                          <a:pt x="176" y="482"/>
                          <a:pt x="176" y="482"/>
                        </a:cubicBezTo>
                        <a:cubicBezTo>
                          <a:pt x="178" y="482"/>
                          <a:pt x="175" y="487"/>
                          <a:pt x="174" y="489"/>
                        </a:cubicBezTo>
                        <a:cubicBezTo>
                          <a:pt x="175" y="486"/>
                          <a:pt x="172" y="488"/>
                          <a:pt x="171" y="490"/>
                        </a:cubicBezTo>
                        <a:cubicBezTo>
                          <a:pt x="170" y="492"/>
                          <a:pt x="173" y="488"/>
                          <a:pt x="173" y="489"/>
                        </a:cubicBezTo>
                        <a:cubicBezTo>
                          <a:pt x="172" y="493"/>
                          <a:pt x="169" y="499"/>
                          <a:pt x="168" y="500"/>
                        </a:cubicBezTo>
                        <a:cubicBezTo>
                          <a:pt x="168" y="498"/>
                          <a:pt x="168" y="498"/>
                          <a:pt x="168" y="498"/>
                        </a:cubicBezTo>
                        <a:cubicBezTo>
                          <a:pt x="167" y="502"/>
                          <a:pt x="164" y="503"/>
                          <a:pt x="162" y="507"/>
                        </a:cubicBezTo>
                        <a:cubicBezTo>
                          <a:pt x="161" y="511"/>
                          <a:pt x="159" y="513"/>
                          <a:pt x="161" y="513"/>
                        </a:cubicBezTo>
                        <a:cubicBezTo>
                          <a:pt x="159" y="518"/>
                          <a:pt x="159" y="514"/>
                          <a:pt x="158" y="516"/>
                        </a:cubicBezTo>
                        <a:cubicBezTo>
                          <a:pt x="158" y="518"/>
                          <a:pt x="154" y="525"/>
                          <a:pt x="153" y="525"/>
                        </a:cubicBezTo>
                        <a:cubicBezTo>
                          <a:pt x="153" y="529"/>
                          <a:pt x="145" y="538"/>
                          <a:pt x="147" y="540"/>
                        </a:cubicBezTo>
                        <a:cubicBezTo>
                          <a:pt x="143" y="544"/>
                          <a:pt x="143" y="544"/>
                          <a:pt x="143" y="544"/>
                        </a:cubicBezTo>
                        <a:cubicBezTo>
                          <a:pt x="144" y="544"/>
                          <a:pt x="145" y="545"/>
                          <a:pt x="143" y="549"/>
                        </a:cubicBezTo>
                        <a:cubicBezTo>
                          <a:pt x="141" y="552"/>
                          <a:pt x="141" y="551"/>
                          <a:pt x="140" y="551"/>
                        </a:cubicBezTo>
                        <a:cubicBezTo>
                          <a:pt x="141" y="554"/>
                          <a:pt x="141" y="554"/>
                          <a:pt x="141" y="554"/>
                        </a:cubicBezTo>
                        <a:cubicBezTo>
                          <a:pt x="130" y="571"/>
                          <a:pt x="121" y="596"/>
                          <a:pt x="111" y="615"/>
                        </a:cubicBezTo>
                        <a:cubicBezTo>
                          <a:pt x="107" y="624"/>
                          <a:pt x="104" y="636"/>
                          <a:pt x="99" y="647"/>
                        </a:cubicBezTo>
                        <a:cubicBezTo>
                          <a:pt x="100" y="645"/>
                          <a:pt x="100" y="645"/>
                          <a:pt x="100" y="645"/>
                        </a:cubicBezTo>
                        <a:cubicBezTo>
                          <a:pt x="95" y="656"/>
                          <a:pt x="95" y="656"/>
                          <a:pt x="95" y="656"/>
                        </a:cubicBezTo>
                        <a:cubicBezTo>
                          <a:pt x="99" y="648"/>
                          <a:pt x="99" y="648"/>
                          <a:pt x="99" y="648"/>
                        </a:cubicBezTo>
                        <a:cubicBezTo>
                          <a:pt x="98" y="651"/>
                          <a:pt x="98" y="653"/>
                          <a:pt x="97" y="655"/>
                        </a:cubicBezTo>
                        <a:cubicBezTo>
                          <a:pt x="92" y="666"/>
                          <a:pt x="85" y="681"/>
                          <a:pt x="81" y="696"/>
                        </a:cubicBezTo>
                        <a:cubicBezTo>
                          <a:pt x="80" y="706"/>
                          <a:pt x="77" y="702"/>
                          <a:pt x="76" y="711"/>
                        </a:cubicBezTo>
                        <a:cubicBezTo>
                          <a:pt x="76" y="710"/>
                          <a:pt x="76" y="710"/>
                          <a:pt x="76" y="709"/>
                        </a:cubicBezTo>
                        <a:cubicBezTo>
                          <a:pt x="73" y="719"/>
                          <a:pt x="72" y="725"/>
                          <a:pt x="70" y="735"/>
                        </a:cubicBezTo>
                        <a:cubicBezTo>
                          <a:pt x="68" y="733"/>
                          <a:pt x="68" y="741"/>
                          <a:pt x="67" y="740"/>
                        </a:cubicBezTo>
                        <a:cubicBezTo>
                          <a:pt x="68" y="741"/>
                          <a:pt x="68" y="741"/>
                          <a:pt x="68" y="741"/>
                        </a:cubicBezTo>
                        <a:cubicBezTo>
                          <a:pt x="67" y="743"/>
                          <a:pt x="65" y="748"/>
                          <a:pt x="65" y="747"/>
                        </a:cubicBezTo>
                        <a:cubicBezTo>
                          <a:pt x="64" y="752"/>
                          <a:pt x="64" y="752"/>
                          <a:pt x="64" y="752"/>
                        </a:cubicBezTo>
                        <a:cubicBezTo>
                          <a:pt x="63" y="752"/>
                          <a:pt x="63" y="752"/>
                          <a:pt x="63" y="752"/>
                        </a:cubicBezTo>
                        <a:cubicBezTo>
                          <a:pt x="62" y="757"/>
                          <a:pt x="59" y="770"/>
                          <a:pt x="56" y="772"/>
                        </a:cubicBezTo>
                        <a:cubicBezTo>
                          <a:pt x="53" y="787"/>
                          <a:pt x="47" y="809"/>
                          <a:pt x="42" y="827"/>
                        </a:cubicBezTo>
                        <a:cubicBezTo>
                          <a:pt x="43" y="830"/>
                          <a:pt x="41" y="835"/>
                          <a:pt x="40" y="839"/>
                        </a:cubicBezTo>
                        <a:cubicBezTo>
                          <a:pt x="38" y="844"/>
                          <a:pt x="38" y="844"/>
                          <a:pt x="38" y="844"/>
                        </a:cubicBezTo>
                        <a:cubicBezTo>
                          <a:pt x="38" y="848"/>
                          <a:pt x="38" y="853"/>
                          <a:pt x="36" y="856"/>
                        </a:cubicBezTo>
                        <a:cubicBezTo>
                          <a:pt x="36" y="856"/>
                          <a:pt x="36" y="856"/>
                          <a:pt x="36" y="856"/>
                        </a:cubicBezTo>
                        <a:cubicBezTo>
                          <a:pt x="36" y="860"/>
                          <a:pt x="34" y="864"/>
                          <a:pt x="34" y="868"/>
                        </a:cubicBezTo>
                        <a:cubicBezTo>
                          <a:pt x="33" y="873"/>
                          <a:pt x="32" y="877"/>
                          <a:pt x="31" y="876"/>
                        </a:cubicBezTo>
                        <a:cubicBezTo>
                          <a:pt x="33" y="877"/>
                          <a:pt x="29" y="886"/>
                          <a:pt x="29" y="886"/>
                        </a:cubicBezTo>
                        <a:cubicBezTo>
                          <a:pt x="29" y="886"/>
                          <a:pt x="15" y="946"/>
                          <a:pt x="7" y="1014"/>
                        </a:cubicBezTo>
                        <a:cubicBezTo>
                          <a:pt x="3" y="1049"/>
                          <a:pt x="1" y="1085"/>
                          <a:pt x="0" y="1116"/>
                        </a:cubicBezTo>
                        <a:cubicBezTo>
                          <a:pt x="0" y="1148"/>
                          <a:pt x="1" y="1175"/>
                          <a:pt x="4" y="1189"/>
                        </a:cubicBezTo>
                        <a:cubicBezTo>
                          <a:pt x="5" y="1191"/>
                          <a:pt x="5" y="1197"/>
                          <a:pt x="6" y="1195"/>
                        </a:cubicBezTo>
                        <a:cubicBezTo>
                          <a:pt x="7" y="1199"/>
                          <a:pt x="5" y="1201"/>
                          <a:pt x="6" y="1202"/>
                        </a:cubicBezTo>
                        <a:cubicBezTo>
                          <a:pt x="7" y="1196"/>
                          <a:pt x="9" y="1204"/>
                          <a:pt x="10" y="1198"/>
                        </a:cubicBezTo>
                        <a:cubicBezTo>
                          <a:pt x="10" y="1202"/>
                          <a:pt x="10" y="1202"/>
                          <a:pt x="10" y="1202"/>
                        </a:cubicBezTo>
                        <a:cubicBezTo>
                          <a:pt x="11" y="1203"/>
                          <a:pt x="9" y="1197"/>
                          <a:pt x="11" y="1198"/>
                        </a:cubicBezTo>
                        <a:cubicBezTo>
                          <a:pt x="9" y="1197"/>
                          <a:pt x="9" y="1197"/>
                          <a:pt x="9" y="1197"/>
                        </a:cubicBezTo>
                        <a:cubicBezTo>
                          <a:pt x="9" y="1194"/>
                          <a:pt x="9" y="1192"/>
                          <a:pt x="10" y="1191"/>
                        </a:cubicBezTo>
                        <a:cubicBezTo>
                          <a:pt x="9" y="1188"/>
                          <a:pt x="7" y="1186"/>
                          <a:pt x="8" y="1180"/>
                        </a:cubicBezTo>
                        <a:cubicBezTo>
                          <a:pt x="8" y="1182"/>
                          <a:pt x="8" y="1182"/>
                          <a:pt x="8" y="1182"/>
                        </a:cubicBezTo>
                        <a:cubicBezTo>
                          <a:pt x="8" y="1176"/>
                          <a:pt x="9" y="1178"/>
                          <a:pt x="10" y="1177"/>
                        </a:cubicBezTo>
                        <a:cubicBezTo>
                          <a:pt x="10" y="1178"/>
                          <a:pt x="10" y="1178"/>
                          <a:pt x="10" y="1178"/>
                        </a:cubicBezTo>
                        <a:cubicBezTo>
                          <a:pt x="11" y="1174"/>
                          <a:pt x="11" y="1174"/>
                          <a:pt x="11" y="1174"/>
                        </a:cubicBezTo>
                        <a:cubicBezTo>
                          <a:pt x="10" y="1177"/>
                          <a:pt x="11" y="1183"/>
                          <a:pt x="11" y="1180"/>
                        </a:cubicBezTo>
                        <a:cubicBezTo>
                          <a:pt x="12" y="1174"/>
                          <a:pt x="11" y="1182"/>
                          <a:pt x="11" y="1177"/>
                        </a:cubicBezTo>
                        <a:cubicBezTo>
                          <a:pt x="11" y="1174"/>
                          <a:pt x="12" y="1175"/>
                          <a:pt x="12" y="1175"/>
                        </a:cubicBezTo>
                        <a:cubicBezTo>
                          <a:pt x="12" y="1170"/>
                          <a:pt x="12" y="1170"/>
                          <a:pt x="12" y="1170"/>
                        </a:cubicBezTo>
                        <a:cubicBezTo>
                          <a:pt x="13" y="1170"/>
                          <a:pt x="12" y="1173"/>
                          <a:pt x="13" y="1171"/>
                        </a:cubicBezTo>
                        <a:cubicBezTo>
                          <a:pt x="12" y="1164"/>
                          <a:pt x="12" y="1164"/>
                          <a:pt x="12" y="1164"/>
                        </a:cubicBezTo>
                        <a:cubicBezTo>
                          <a:pt x="14" y="1163"/>
                          <a:pt x="11" y="1157"/>
                          <a:pt x="13" y="1154"/>
                        </a:cubicBezTo>
                        <a:cubicBezTo>
                          <a:pt x="14" y="1159"/>
                          <a:pt x="14" y="1153"/>
                          <a:pt x="15" y="1154"/>
                        </a:cubicBezTo>
                        <a:cubicBezTo>
                          <a:pt x="15" y="1142"/>
                          <a:pt x="15" y="1142"/>
                          <a:pt x="15" y="1142"/>
                        </a:cubicBezTo>
                        <a:cubicBezTo>
                          <a:pt x="16" y="1141"/>
                          <a:pt x="16" y="1145"/>
                          <a:pt x="16" y="1144"/>
                        </a:cubicBezTo>
                        <a:cubicBezTo>
                          <a:pt x="16" y="1141"/>
                          <a:pt x="15" y="1140"/>
                          <a:pt x="15" y="1139"/>
                        </a:cubicBezTo>
                        <a:cubicBezTo>
                          <a:pt x="16" y="1138"/>
                          <a:pt x="16" y="1130"/>
                          <a:pt x="17" y="1130"/>
                        </a:cubicBezTo>
                        <a:cubicBezTo>
                          <a:pt x="19" y="1122"/>
                          <a:pt x="15" y="1127"/>
                          <a:pt x="17" y="1119"/>
                        </a:cubicBezTo>
                        <a:cubicBezTo>
                          <a:pt x="18" y="1118"/>
                          <a:pt x="17" y="1125"/>
                          <a:pt x="18" y="1122"/>
                        </a:cubicBezTo>
                        <a:cubicBezTo>
                          <a:pt x="18" y="1114"/>
                          <a:pt x="18" y="1114"/>
                          <a:pt x="18" y="1114"/>
                        </a:cubicBezTo>
                        <a:cubicBezTo>
                          <a:pt x="18" y="1115"/>
                          <a:pt x="19" y="1116"/>
                          <a:pt x="19" y="1119"/>
                        </a:cubicBezTo>
                        <a:cubicBezTo>
                          <a:pt x="21" y="1098"/>
                          <a:pt x="26" y="1087"/>
                          <a:pt x="27" y="1067"/>
                        </a:cubicBezTo>
                        <a:cubicBezTo>
                          <a:pt x="28" y="1065"/>
                          <a:pt x="27" y="1069"/>
                          <a:pt x="28" y="1071"/>
                        </a:cubicBezTo>
                        <a:cubicBezTo>
                          <a:pt x="28" y="1057"/>
                          <a:pt x="32" y="1052"/>
                          <a:pt x="33" y="1040"/>
                        </a:cubicBezTo>
                        <a:cubicBezTo>
                          <a:pt x="32" y="1040"/>
                          <a:pt x="32" y="1040"/>
                          <a:pt x="32" y="1040"/>
                        </a:cubicBezTo>
                        <a:cubicBezTo>
                          <a:pt x="36" y="1024"/>
                          <a:pt x="37" y="1004"/>
                          <a:pt x="41" y="986"/>
                        </a:cubicBezTo>
                        <a:cubicBezTo>
                          <a:pt x="40" y="988"/>
                          <a:pt x="40" y="988"/>
                          <a:pt x="40" y="988"/>
                        </a:cubicBezTo>
                        <a:cubicBezTo>
                          <a:pt x="39" y="985"/>
                          <a:pt x="40" y="981"/>
                          <a:pt x="40" y="978"/>
                        </a:cubicBezTo>
                        <a:cubicBezTo>
                          <a:pt x="40" y="977"/>
                          <a:pt x="41" y="980"/>
                          <a:pt x="42" y="975"/>
                        </a:cubicBezTo>
                        <a:cubicBezTo>
                          <a:pt x="41" y="976"/>
                          <a:pt x="41" y="978"/>
                          <a:pt x="40" y="977"/>
                        </a:cubicBezTo>
                        <a:cubicBezTo>
                          <a:pt x="45" y="962"/>
                          <a:pt x="50" y="928"/>
                          <a:pt x="56" y="903"/>
                        </a:cubicBezTo>
                        <a:cubicBezTo>
                          <a:pt x="62" y="868"/>
                          <a:pt x="72" y="831"/>
                          <a:pt x="81" y="797"/>
                        </a:cubicBezTo>
                        <a:cubicBezTo>
                          <a:pt x="79" y="802"/>
                          <a:pt x="78" y="799"/>
                          <a:pt x="79" y="796"/>
                        </a:cubicBezTo>
                        <a:cubicBezTo>
                          <a:pt x="86" y="786"/>
                          <a:pt x="84" y="777"/>
                          <a:pt x="89" y="767"/>
                        </a:cubicBezTo>
                        <a:cubicBezTo>
                          <a:pt x="94" y="747"/>
                          <a:pt x="103" y="731"/>
                          <a:pt x="106" y="712"/>
                        </a:cubicBezTo>
                        <a:cubicBezTo>
                          <a:pt x="107" y="712"/>
                          <a:pt x="107" y="712"/>
                          <a:pt x="107" y="712"/>
                        </a:cubicBezTo>
                        <a:cubicBezTo>
                          <a:pt x="108" y="710"/>
                          <a:pt x="108" y="709"/>
                          <a:pt x="109" y="706"/>
                        </a:cubicBezTo>
                        <a:cubicBezTo>
                          <a:pt x="109" y="706"/>
                          <a:pt x="109" y="706"/>
                          <a:pt x="109" y="706"/>
                        </a:cubicBezTo>
                        <a:cubicBezTo>
                          <a:pt x="112" y="700"/>
                          <a:pt x="113" y="691"/>
                          <a:pt x="115" y="688"/>
                        </a:cubicBezTo>
                        <a:cubicBezTo>
                          <a:pt x="114" y="687"/>
                          <a:pt x="114" y="687"/>
                          <a:pt x="114" y="687"/>
                        </a:cubicBezTo>
                        <a:cubicBezTo>
                          <a:pt x="116" y="683"/>
                          <a:pt x="116" y="685"/>
                          <a:pt x="117" y="681"/>
                        </a:cubicBezTo>
                        <a:cubicBezTo>
                          <a:pt x="117" y="681"/>
                          <a:pt x="117" y="681"/>
                          <a:pt x="117" y="681"/>
                        </a:cubicBezTo>
                        <a:cubicBezTo>
                          <a:pt x="118" y="676"/>
                          <a:pt x="118" y="676"/>
                          <a:pt x="118" y="676"/>
                        </a:cubicBezTo>
                        <a:cubicBezTo>
                          <a:pt x="120" y="677"/>
                          <a:pt x="122" y="665"/>
                          <a:pt x="124" y="663"/>
                        </a:cubicBezTo>
                        <a:cubicBezTo>
                          <a:pt x="126" y="657"/>
                          <a:pt x="129" y="648"/>
                          <a:pt x="132" y="640"/>
                        </a:cubicBezTo>
                        <a:cubicBezTo>
                          <a:pt x="134" y="639"/>
                          <a:pt x="137" y="630"/>
                          <a:pt x="140" y="624"/>
                        </a:cubicBezTo>
                        <a:cubicBezTo>
                          <a:pt x="145" y="613"/>
                          <a:pt x="151" y="596"/>
                          <a:pt x="158" y="582"/>
                        </a:cubicBezTo>
                        <a:cubicBezTo>
                          <a:pt x="157" y="582"/>
                          <a:pt x="157" y="582"/>
                          <a:pt x="157" y="582"/>
                        </a:cubicBezTo>
                        <a:cubicBezTo>
                          <a:pt x="159" y="578"/>
                          <a:pt x="159" y="578"/>
                          <a:pt x="159" y="578"/>
                        </a:cubicBezTo>
                        <a:cubicBezTo>
                          <a:pt x="159" y="578"/>
                          <a:pt x="159" y="578"/>
                          <a:pt x="159" y="578"/>
                        </a:cubicBezTo>
                        <a:cubicBezTo>
                          <a:pt x="162" y="576"/>
                          <a:pt x="163" y="569"/>
                          <a:pt x="165" y="567"/>
                        </a:cubicBezTo>
                        <a:cubicBezTo>
                          <a:pt x="163" y="568"/>
                          <a:pt x="164" y="569"/>
                          <a:pt x="163" y="572"/>
                        </a:cubicBezTo>
                        <a:cubicBezTo>
                          <a:pt x="161" y="574"/>
                          <a:pt x="161" y="571"/>
                          <a:pt x="163" y="567"/>
                        </a:cubicBezTo>
                        <a:cubicBezTo>
                          <a:pt x="164" y="567"/>
                          <a:pt x="164" y="567"/>
                          <a:pt x="164" y="567"/>
                        </a:cubicBezTo>
                        <a:cubicBezTo>
                          <a:pt x="164" y="564"/>
                          <a:pt x="164" y="564"/>
                          <a:pt x="164" y="564"/>
                        </a:cubicBezTo>
                        <a:cubicBezTo>
                          <a:pt x="165" y="564"/>
                          <a:pt x="167" y="562"/>
                          <a:pt x="168" y="562"/>
                        </a:cubicBezTo>
                        <a:cubicBezTo>
                          <a:pt x="174" y="550"/>
                          <a:pt x="176" y="541"/>
                          <a:pt x="183" y="528"/>
                        </a:cubicBezTo>
                        <a:cubicBezTo>
                          <a:pt x="183" y="530"/>
                          <a:pt x="187" y="519"/>
                          <a:pt x="188" y="523"/>
                        </a:cubicBezTo>
                        <a:cubicBezTo>
                          <a:pt x="191" y="515"/>
                          <a:pt x="186" y="523"/>
                          <a:pt x="186" y="519"/>
                        </a:cubicBezTo>
                        <a:cubicBezTo>
                          <a:pt x="188" y="517"/>
                          <a:pt x="188" y="515"/>
                          <a:pt x="189" y="515"/>
                        </a:cubicBezTo>
                        <a:cubicBezTo>
                          <a:pt x="189" y="516"/>
                          <a:pt x="191" y="513"/>
                          <a:pt x="190" y="515"/>
                        </a:cubicBezTo>
                        <a:cubicBezTo>
                          <a:pt x="193" y="510"/>
                          <a:pt x="193" y="510"/>
                          <a:pt x="193" y="510"/>
                        </a:cubicBezTo>
                        <a:cubicBezTo>
                          <a:pt x="193" y="510"/>
                          <a:pt x="193" y="511"/>
                          <a:pt x="193" y="512"/>
                        </a:cubicBezTo>
                        <a:cubicBezTo>
                          <a:pt x="197" y="501"/>
                          <a:pt x="203" y="494"/>
                          <a:pt x="207" y="485"/>
                        </a:cubicBezTo>
                        <a:cubicBezTo>
                          <a:pt x="207" y="484"/>
                          <a:pt x="205" y="488"/>
                          <a:pt x="205" y="487"/>
                        </a:cubicBezTo>
                        <a:cubicBezTo>
                          <a:pt x="209" y="478"/>
                          <a:pt x="211" y="480"/>
                          <a:pt x="215" y="471"/>
                        </a:cubicBezTo>
                        <a:cubicBezTo>
                          <a:pt x="214" y="473"/>
                          <a:pt x="214" y="473"/>
                          <a:pt x="214" y="473"/>
                        </a:cubicBezTo>
                        <a:cubicBezTo>
                          <a:pt x="215" y="470"/>
                          <a:pt x="215" y="469"/>
                          <a:pt x="219" y="465"/>
                        </a:cubicBezTo>
                        <a:cubicBezTo>
                          <a:pt x="220" y="465"/>
                          <a:pt x="217" y="469"/>
                          <a:pt x="216" y="471"/>
                        </a:cubicBezTo>
                        <a:cubicBezTo>
                          <a:pt x="218" y="468"/>
                          <a:pt x="223" y="461"/>
                          <a:pt x="220" y="462"/>
                        </a:cubicBezTo>
                        <a:cubicBezTo>
                          <a:pt x="222" y="459"/>
                          <a:pt x="224" y="458"/>
                          <a:pt x="225" y="456"/>
                        </a:cubicBezTo>
                        <a:cubicBezTo>
                          <a:pt x="225" y="456"/>
                          <a:pt x="223" y="459"/>
                          <a:pt x="223" y="457"/>
                        </a:cubicBezTo>
                        <a:cubicBezTo>
                          <a:pt x="227" y="452"/>
                          <a:pt x="231" y="444"/>
                          <a:pt x="235" y="439"/>
                        </a:cubicBezTo>
                        <a:cubicBezTo>
                          <a:pt x="235" y="439"/>
                          <a:pt x="236" y="439"/>
                          <a:pt x="236" y="439"/>
                        </a:cubicBezTo>
                        <a:cubicBezTo>
                          <a:pt x="238" y="434"/>
                          <a:pt x="239" y="436"/>
                          <a:pt x="243" y="429"/>
                        </a:cubicBezTo>
                        <a:close/>
                      </a:path>
                    </a:pathLst>
                  </a:custGeom>
                  <a:solidFill>
                    <a:schemeClr val="bg1">
                      <a:lumMod val="85000"/>
                    </a:schemeClr>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79" name="Freeform 156">
                    <a:extLst>
                      <a:ext uri="{FF2B5EF4-FFF2-40B4-BE49-F238E27FC236}">
                        <a16:creationId xmlns:a16="http://schemas.microsoft.com/office/drawing/2014/main" id="{58BC0A71-1B2B-4FAD-99F0-157F86198596}"/>
                      </a:ext>
                    </a:extLst>
                  </p:cNvPr>
                  <p:cNvSpPr>
                    <a:spLocks/>
                  </p:cNvSpPr>
                  <p:nvPr/>
                </p:nvSpPr>
                <p:spPr bwMode="auto">
                  <a:xfrm>
                    <a:off x="7526338" y="2025650"/>
                    <a:ext cx="7937" cy="7938"/>
                  </a:xfrm>
                  <a:custGeom>
                    <a:avLst/>
                    <a:gdLst/>
                    <a:ahLst/>
                    <a:cxnLst>
                      <a:cxn ang="0">
                        <a:pos x="3" y="0"/>
                      </a:cxn>
                      <a:cxn ang="0">
                        <a:pos x="0" y="1"/>
                      </a:cxn>
                      <a:cxn ang="0">
                        <a:pos x="0" y="3"/>
                      </a:cxn>
                      <a:cxn ang="0">
                        <a:pos x="3" y="0"/>
                      </a:cxn>
                    </a:cxnLst>
                    <a:rect l="0" t="0" r="r" b="b"/>
                    <a:pathLst>
                      <a:path w="3" h="3">
                        <a:moveTo>
                          <a:pt x="3" y="0"/>
                        </a:moveTo>
                        <a:cubicBezTo>
                          <a:pt x="0" y="1"/>
                          <a:pt x="0" y="1"/>
                          <a:pt x="0" y="1"/>
                        </a:cubicBezTo>
                        <a:cubicBezTo>
                          <a:pt x="1" y="2"/>
                          <a:pt x="1" y="2"/>
                          <a:pt x="0" y="3"/>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80" name="Freeform 157">
                    <a:extLst>
                      <a:ext uri="{FF2B5EF4-FFF2-40B4-BE49-F238E27FC236}">
                        <a16:creationId xmlns:a16="http://schemas.microsoft.com/office/drawing/2014/main" id="{87739ACC-F2A4-412E-AF7F-6F55E795D641}"/>
                      </a:ext>
                    </a:extLst>
                  </p:cNvPr>
                  <p:cNvSpPr>
                    <a:spLocks/>
                  </p:cNvSpPr>
                  <p:nvPr/>
                </p:nvSpPr>
                <p:spPr bwMode="auto">
                  <a:xfrm>
                    <a:off x="7278688" y="2239963"/>
                    <a:ext cx="1587" cy="1588"/>
                  </a:xfrm>
                  <a:custGeom>
                    <a:avLst/>
                    <a:gdLst/>
                    <a:ahLst/>
                    <a:cxnLst>
                      <a:cxn ang="0">
                        <a:pos x="0" y="0"/>
                      </a:cxn>
                      <a:cxn ang="0">
                        <a:pos x="0" y="1"/>
                      </a:cxn>
                      <a:cxn ang="0">
                        <a:pos x="0" y="0"/>
                      </a:cxn>
                    </a:cxnLst>
                    <a:rect l="0" t="0" r="r" b="b"/>
                    <a:pathLst>
                      <a:path h="1">
                        <a:moveTo>
                          <a:pt x="0" y="0"/>
                        </a:moveTo>
                        <a:cubicBezTo>
                          <a:pt x="0" y="0"/>
                          <a:pt x="0" y="1"/>
                          <a:pt x="0" y="1"/>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81" name="Freeform 158">
                    <a:extLst>
                      <a:ext uri="{FF2B5EF4-FFF2-40B4-BE49-F238E27FC236}">
                        <a16:creationId xmlns:a16="http://schemas.microsoft.com/office/drawing/2014/main" id="{B6DFEB7D-B443-41F9-8F9B-95ABE6E891E7}"/>
                      </a:ext>
                    </a:extLst>
                  </p:cNvPr>
                  <p:cNvSpPr>
                    <a:spLocks/>
                  </p:cNvSpPr>
                  <p:nvPr/>
                </p:nvSpPr>
                <p:spPr bwMode="auto">
                  <a:xfrm>
                    <a:off x="7221538" y="2297113"/>
                    <a:ext cx="7937" cy="4763"/>
                  </a:xfrm>
                  <a:custGeom>
                    <a:avLst/>
                    <a:gdLst/>
                    <a:ahLst/>
                    <a:cxnLst>
                      <a:cxn ang="0">
                        <a:pos x="2" y="2"/>
                      </a:cxn>
                      <a:cxn ang="0">
                        <a:pos x="0" y="2"/>
                      </a:cxn>
                      <a:cxn ang="0">
                        <a:pos x="2" y="2"/>
                      </a:cxn>
                    </a:cxnLst>
                    <a:rect l="0" t="0" r="r" b="b"/>
                    <a:pathLst>
                      <a:path w="3" h="2">
                        <a:moveTo>
                          <a:pt x="2" y="2"/>
                        </a:moveTo>
                        <a:cubicBezTo>
                          <a:pt x="3" y="0"/>
                          <a:pt x="1" y="1"/>
                          <a:pt x="0" y="2"/>
                        </a:cubicBezTo>
                        <a:cubicBezTo>
                          <a:pt x="1" y="2"/>
                          <a:pt x="1" y="2"/>
                          <a:pt x="2"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82" name="Freeform 159">
                    <a:extLst>
                      <a:ext uri="{FF2B5EF4-FFF2-40B4-BE49-F238E27FC236}">
                        <a16:creationId xmlns:a16="http://schemas.microsoft.com/office/drawing/2014/main" id="{E13B31CF-D85D-41C5-9D69-33289DCC3673}"/>
                      </a:ext>
                    </a:extLst>
                  </p:cNvPr>
                  <p:cNvSpPr>
                    <a:spLocks/>
                  </p:cNvSpPr>
                  <p:nvPr/>
                </p:nvSpPr>
                <p:spPr bwMode="auto">
                  <a:xfrm>
                    <a:off x="7685088" y="1916113"/>
                    <a:ext cx="3175" cy="1588"/>
                  </a:xfrm>
                  <a:custGeom>
                    <a:avLst/>
                    <a:gdLst/>
                    <a:ahLst/>
                    <a:cxnLst>
                      <a:cxn ang="0">
                        <a:pos x="1" y="0"/>
                      </a:cxn>
                      <a:cxn ang="0">
                        <a:pos x="0" y="0"/>
                      </a:cxn>
                      <a:cxn ang="0">
                        <a:pos x="1" y="0"/>
                      </a:cxn>
                    </a:cxnLst>
                    <a:rect l="0" t="0" r="r" b="b"/>
                    <a:pathLst>
                      <a:path w="1">
                        <a:moveTo>
                          <a:pt x="1" y="0"/>
                        </a:moveTo>
                        <a:cubicBezTo>
                          <a:pt x="0" y="0"/>
                          <a:pt x="0" y="0"/>
                          <a:pt x="0"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83" name="Freeform 160">
                    <a:extLst>
                      <a:ext uri="{FF2B5EF4-FFF2-40B4-BE49-F238E27FC236}">
                        <a16:creationId xmlns:a16="http://schemas.microsoft.com/office/drawing/2014/main" id="{E0058A5E-E888-40A5-816B-E6551A07C6F7}"/>
                      </a:ext>
                    </a:extLst>
                  </p:cNvPr>
                  <p:cNvSpPr>
                    <a:spLocks/>
                  </p:cNvSpPr>
                  <p:nvPr/>
                </p:nvSpPr>
                <p:spPr bwMode="auto">
                  <a:xfrm>
                    <a:off x="8167688" y="1717675"/>
                    <a:ext cx="158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84" name="Freeform 161">
                    <a:extLst>
                      <a:ext uri="{FF2B5EF4-FFF2-40B4-BE49-F238E27FC236}">
                        <a16:creationId xmlns:a16="http://schemas.microsoft.com/office/drawing/2014/main" id="{E33F01A3-80F1-44A9-BB2D-2584C271690C}"/>
                      </a:ext>
                    </a:extLst>
                  </p:cNvPr>
                  <p:cNvSpPr>
                    <a:spLocks/>
                  </p:cNvSpPr>
                  <p:nvPr/>
                </p:nvSpPr>
                <p:spPr bwMode="auto">
                  <a:xfrm>
                    <a:off x="8132763" y="1720850"/>
                    <a:ext cx="6350" cy="1588"/>
                  </a:xfrm>
                  <a:custGeom>
                    <a:avLst/>
                    <a:gdLst/>
                    <a:ahLst/>
                    <a:cxnLst>
                      <a:cxn ang="0">
                        <a:pos x="3" y="0"/>
                      </a:cxn>
                      <a:cxn ang="0">
                        <a:pos x="0" y="1"/>
                      </a:cxn>
                      <a:cxn ang="0">
                        <a:pos x="3" y="0"/>
                      </a:cxn>
                    </a:cxnLst>
                    <a:rect l="0" t="0" r="r" b="b"/>
                    <a:pathLst>
                      <a:path w="3" h="1">
                        <a:moveTo>
                          <a:pt x="3" y="0"/>
                        </a:moveTo>
                        <a:cubicBezTo>
                          <a:pt x="2" y="0"/>
                          <a:pt x="1" y="1"/>
                          <a:pt x="0" y="1"/>
                        </a:cubicBezTo>
                        <a:cubicBezTo>
                          <a:pt x="1" y="1"/>
                          <a:pt x="2" y="1"/>
                          <a:pt x="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85" name="Freeform 162">
                    <a:extLst>
                      <a:ext uri="{FF2B5EF4-FFF2-40B4-BE49-F238E27FC236}">
                        <a16:creationId xmlns:a16="http://schemas.microsoft.com/office/drawing/2014/main" id="{0009D8C5-1C0F-490C-93B1-55495D69BE5D}"/>
                      </a:ext>
                    </a:extLst>
                  </p:cNvPr>
                  <p:cNvSpPr>
                    <a:spLocks/>
                  </p:cNvSpPr>
                  <p:nvPr/>
                </p:nvSpPr>
                <p:spPr bwMode="auto">
                  <a:xfrm>
                    <a:off x="7577138" y="1984375"/>
                    <a:ext cx="4762" cy="4763"/>
                  </a:xfrm>
                  <a:custGeom>
                    <a:avLst/>
                    <a:gdLst/>
                    <a:ahLst/>
                    <a:cxnLst>
                      <a:cxn ang="0">
                        <a:pos x="2" y="0"/>
                      </a:cxn>
                      <a:cxn ang="0">
                        <a:pos x="0" y="2"/>
                      </a:cxn>
                      <a:cxn ang="0">
                        <a:pos x="2" y="0"/>
                      </a:cxn>
                    </a:cxnLst>
                    <a:rect l="0" t="0" r="r" b="b"/>
                    <a:pathLst>
                      <a:path w="2" h="2">
                        <a:moveTo>
                          <a:pt x="2" y="0"/>
                        </a:moveTo>
                        <a:cubicBezTo>
                          <a:pt x="1" y="1"/>
                          <a:pt x="1" y="1"/>
                          <a:pt x="0" y="2"/>
                        </a:cubicBezTo>
                        <a:cubicBezTo>
                          <a:pt x="1" y="1"/>
                          <a:pt x="2"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86" name="Freeform 163">
                    <a:extLst>
                      <a:ext uri="{FF2B5EF4-FFF2-40B4-BE49-F238E27FC236}">
                        <a16:creationId xmlns:a16="http://schemas.microsoft.com/office/drawing/2014/main" id="{7737D0EC-37A3-46C5-BD1E-DED1BA251CF8}"/>
                      </a:ext>
                    </a:extLst>
                  </p:cNvPr>
                  <p:cNvSpPr>
                    <a:spLocks/>
                  </p:cNvSpPr>
                  <p:nvPr/>
                </p:nvSpPr>
                <p:spPr bwMode="auto">
                  <a:xfrm>
                    <a:off x="8120063" y="1725613"/>
                    <a:ext cx="7937" cy="3175"/>
                  </a:xfrm>
                  <a:custGeom>
                    <a:avLst/>
                    <a:gdLst/>
                    <a:ahLst/>
                    <a:cxnLst>
                      <a:cxn ang="0">
                        <a:pos x="3" y="0"/>
                      </a:cxn>
                      <a:cxn ang="0">
                        <a:pos x="0" y="1"/>
                      </a:cxn>
                      <a:cxn ang="0">
                        <a:pos x="0" y="1"/>
                      </a:cxn>
                      <a:cxn ang="0">
                        <a:pos x="3" y="0"/>
                      </a:cxn>
                    </a:cxnLst>
                    <a:rect l="0" t="0" r="r" b="b"/>
                    <a:pathLst>
                      <a:path w="3" h="1">
                        <a:moveTo>
                          <a:pt x="3" y="0"/>
                        </a:moveTo>
                        <a:cubicBezTo>
                          <a:pt x="0" y="1"/>
                          <a:pt x="0" y="1"/>
                          <a:pt x="0" y="1"/>
                        </a:cubicBezTo>
                        <a:cubicBezTo>
                          <a:pt x="0" y="1"/>
                          <a:pt x="0" y="1"/>
                          <a:pt x="0" y="1"/>
                        </a:cubicBezTo>
                        <a:lnTo>
                          <a:pt x="3"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87" name="Freeform 164">
                    <a:extLst>
                      <a:ext uri="{FF2B5EF4-FFF2-40B4-BE49-F238E27FC236}">
                        <a16:creationId xmlns:a16="http://schemas.microsoft.com/office/drawing/2014/main" id="{E777E030-DE82-4518-A9DF-CD9D445DC204}"/>
                      </a:ext>
                    </a:extLst>
                  </p:cNvPr>
                  <p:cNvSpPr>
                    <a:spLocks/>
                  </p:cNvSpPr>
                  <p:nvPr/>
                </p:nvSpPr>
                <p:spPr bwMode="auto">
                  <a:xfrm>
                    <a:off x="8167688" y="1716088"/>
                    <a:ext cx="9525" cy="1588"/>
                  </a:xfrm>
                  <a:custGeom>
                    <a:avLst/>
                    <a:gdLst/>
                    <a:ahLst/>
                    <a:cxnLst>
                      <a:cxn ang="0">
                        <a:pos x="4" y="0"/>
                      </a:cxn>
                      <a:cxn ang="0">
                        <a:pos x="0" y="1"/>
                      </a:cxn>
                      <a:cxn ang="0">
                        <a:pos x="4" y="0"/>
                      </a:cxn>
                    </a:cxnLst>
                    <a:rect l="0" t="0" r="r" b="b"/>
                    <a:pathLst>
                      <a:path w="4" h="1">
                        <a:moveTo>
                          <a:pt x="4" y="0"/>
                        </a:moveTo>
                        <a:cubicBezTo>
                          <a:pt x="3" y="1"/>
                          <a:pt x="1" y="1"/>
                          <a:pt x="0" y="1"/>
                        </a:cubicBezTo>
                        <a:cubicBezTo>
                          <a:pt x="2" y="1"/>
                          <a:pt x="3" y="1"/>
                          <a:pt x="4"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88" name="Freeform 165">
                    <a:extLst>
                      <a:ext uri="{FF2B5EF4-FFF2-40B4-BE49-F238E27FC236}">
                        <a16:creationId xmlns:a16="http://schemas.microsoft.com/office/drawing/2014/main" id="{09A040C1-3105-414A-99EF-7A6E3633DCB4}"/>
                      </a:ext>
                    </a:extLst>
                  </p:cNvPr>
                  <p:cNvSpPr>
                    <a:spLocks/>
                  </p:cNvSpPr>
                  <p:nvPr/>
                </p:nvSpPr>
                <p:spPr bwMode="auto">
                  <a:xfrm>
                    <a:off x="7850188" y="1822450"/>
                    <a:ext cx="4762" cy="4763"/>
                  </a:xfrm>
                  <a:custGeom>
                    <a:avLst/>
                    <a:gdLst/>
                    <a:ahLst/>
                    <a:cxnLst>
                      <a:cxn ang="0">
                        <a:pos x="2" y="0"/>
                      </a:cxn>
                      <a:cxn ang="0">
                        <a:pos x="2" y="1"/>
                      </a:cxn>
                      <a:cxn ang="0">
                        <a:pos x="2" y="0"/>
                      </a:cxn>
                    </a:cxnLst>
                    <a:rect l="0" t="0" r="r" b="b"/>
                    <a:pathLst>
                      <a:path w="2" h="2">
                        <a:moveTo>
                          <a:pt x="2" y="0"/>
                        </a:moveTo>
                        <a:cubicBezTo>
                          <a:pt x="2" y="1"/>
                          <a:pt x="2" y="1"/>
                          <a:pt x="2" y="1"/>
                        </a:cubicBezTo>
                        <a:cubicBezTo>
                          <a:pt x="0" y="2"/>
                          <a:pt x="1" y="1"/>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89" name="Freeform 166">
                    <a:extLst>
                      <a:ext uri="{FF2B5EF4-FFF2-40B4-BE49-F238E27FC236}">
                        <a16:creationId xmlns:a16="http://schemas.microsoft.com/office/drawing/2014/main" id="{6EFA7338-826D-4F54-868F-2DFB418237FC}"/>
                      </a:ext>
                    </a:extLst>
                  </p:cNvPr>
                  <p:cNvSpPr>
                    <a:spLocks/>
                  </p:cNvSpPr>
                  <p:nvPr/>
                </p:nvSpPr>
                <p:spPr bwMode="auto">
                  <a:xfrm>
                    <a:off x="8094663" y="1738313"/>
                    <a:ext cx="3175" cy="1588"/>
                  </a:xfrm>
                  <a:custGeom>
                    <a:avLst/>
                    <a:gdLst/>
                    <a:ahLst/>
                    <a:cxnLst>
                      <a:cxn ang="0">
                        <a:pos x="2" y="0"/>
                      </a:cxn>
                      <a:cxn ang="0">
                        <a:pos x="2" y="0"/>
                      </a:cxn>
                      <a:cxn ang="0">
                        <a:pos x="0" y="1"/>
                      </a:cxn>
                      <a:cxn ang="0">
                        <a:pos x="2" y="0"/>
                      </a:cxn>
                    </a:cxnLst>
                    <a:rect l="0" t="0" r="r" b="b"/>
                    <a:pathLst>
                      <a:path w="2" h="1">
                        <a:moveTo>
                          <a:pt x="2" y="0"/>
                        </a:moveTo>
                        <a:lnTo>
                          <a:pt x="2" y="0"/>
                        </a:lnTo>
                        <a:lnTo>
                          <a:pt x="0" y="1"/>
                        </a:lnTo>
                        <a:lnTo>
                          <a:pt x="2"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90" name="Freeform 167">
                    <a:extLst>
                      <a:ext uri="{FF2B5EF4-FFF2-40B4-BE49-F238E27FC236}">
                        <a16:creationId xmlns:a16="http://schemas.microsoft.com/office/drawing/2014/main" id="{1970D84B-AFCA-41FE-8913-004A3F465DB5}"/>
                      </a:ext>
                    </a:extLst>
                  </p:cNvPr>
                  <p:cNvSpPr>
                    <a:spLocks/>
                  </p:cNvSpPr>
                  <p:nvPr/>
                </p:nvSpPr>
                <p:spPr bwMode="auto">
                  <a:xfrm>
                    <a:off x="8204200" y="1711325"/>
                    <a:ext cx="4762" cy="1588"/>
                  </a:xfrm>
                  <a:custGeom>
                    <a:avLst/>
                    <a:gdLst/>
                    <a:ahLst/>
                    <a:cxnLst>
                      <a:cxn ang="0">
                        <a:pos x="1" y="0"/>
                      </a:cxn>
                      <a:cxn ang="0">
                        <a:pos x="0" y="0"/>
                      </a:cxn>
                      <a:cxn ang="0">
                        <a:pos x="2" y="0"/>
                      </a:cxn>
                      <a:cxn ang="0">
                        <a:pos x="1" y="0"/>
                      </a:cxn>
                    </a:cxnLst>
                    <a:rect l="0" t="0" r="r" b="b"/>
                    <a:pathLst>
                      <a:path w="2">
                        <a:moveTo>
                          <a:pt x="1" y="0"/>
                        </a:moveTo>
                        <a:cubicBezTo>
                          <a:pt x="1" y="0"/>
                          <a:pt x="0" y="0"/>
                          <a:pt x="0" y="0"/>
                        </a:cubicBezTo>
                        <a:cubicBezTo>
                          <a:pt x="2" y="0"/>
                          <a:pt x="2" y="0"/>
                          <a:pt x="2" y="0"/>
                        </a:cubicBezTo>
                        <a:cubicBezTo>
                          <a:pt x="1" y="0"/>
                          <a:pt x="1" y="0"/>
                          <a:pt x="1"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91" name="Freeform 168">
                    <a:extLst>
                      <a:ext uri="{FF2B5EF4-FFF2-40B4-BE49-F238E27FC236}">
                        <a16:creationId xmlns:a16="http://schemas.microsoft.com/office/drawing/2014/main" id="{E7456A89-F962-4C42-BC6D-FC9AD49BA9C8}"/>
                      </a:ext>
                    </a:extLst>
                  </p:cNvPr>
                  <p:cNvSpPr>
                    <a:spLocks/>
                  </p:cNvSpPr>
                  <p:nvPr/>
                </p:nvSpPr>
                <p:spPr bwMode="auto">
                  <a:xfrm>
                    <a:off x="7956550" y="1779588"/>
                    <a:ext cx="1587" cy="4763"/>
                  </a:xfrm>
                  <a:custGeom>
                    <a:avLst/>
                    <a:gdLst/>
                    <a:ahLst/>
                    <a:cxnLst>
                      <a:cxn ang="0">
                        <a:pos x="1" y="2"/>
                      </a:cxn>
                      <a:cxn ang="0">
                        <a:pos x="1" y="0"/>
                      </a:cxn>
                      <a:cxn ang="0">
                        <a:pos x="1" y="2"/>
                      </a:cxn>
                    </a:cxnLst>
                    <a:rect l="0" t="0" r="r" b="b"/>
                    <a:pathLst>
                      <a:path w="1" h="2">
                        <a:moveTo>
                          <a:pt x="1" y="2"/>
                        </a:moveTo>
                        <a:cubicBezTo>
                          <a:pt x="1" y="1"/>
                          <a:pt x="1" y="1"/>
                          <a:pt x="1" y="0"/>
                        </a:cubicBezTo>
                        <a:cubicBezTo>
                          <a:pt x="0" y="1"/>
                          <a:pt x="0" y="1"/>
                          <a:pt x="1" y="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grpSp>
          <p:grpSp>
            <p:nvGrpSpPr>
              <p:cNvPr id="25" name="Group 607">
                <a:extLst>
                  <a:ext uri="{FF2B5EF4-FFF2-40B4-BE49-F238E27FC236}">
                    <a16:creationId xmlns:a16="http://schemas.microsoft.com/office/drawing/2014/main" id="{D900C920-A285-4A02-B176-A074B00DDB95}"/>
                  </a:ext>
                </a:extLst>
              </p:cNvPr>
              <p:cNvGrpSpPr/>
              <p:nvPr/>
            </p:nvGrpSpPr>
            <p:grpSpPr>
              <a:xfrm rot="806963">
                <a:off x="2008129" y="1047000"/>
                <a:ext cx="1683483" cy="1691701"/>
                <a:chOff x="4391025" y="1189038"/>
                <a:chExt cx="1952625" cy="1962150"/>
              </a:xfrm>
            </p:grpSpPr>
            <p:sp>
              <p:nvSpPr>
                <p:cNvPr id="26" name="Freeform 6">
                  <a:extLst>
                    <a:ext uri="{FF2B5EF4-FFF2-40B4-BE49-F238E27FC236}">
                      <a16:creationId xmlns:a16="http://schemas.microsoft.com/office/drawing/2014/main" id="{C1D5606E-7C67-4F08-BBFC-CC5CDEE439CD}"/>
                    </a:ext>
                  </a:extLst>
                </p:cNvPr>
                <p:cNvSpPr>
                  <a:spLocks/>
                </p:cNvSpPr>
                <p:nvPr/>
              </p:nvSpPr>
              <p:spPr bwMode="auto">
                <a:xfrm>
                  <a:off x="4856162" y="2362200"/>
                  <a:ext cx="342900" cy="342900"/>
                </a:xfrm>
                <a:custGeom>
                  <a:avLst/>
                  <a:gdLst/>
                  <a:ahLst/>
                  <a:cxnLst>
                    <a:cxn ang="0">
                      <a:pos x="0" y="54"/>
                    </a:cxn>
                    <a:cxn ang="0">
                      <a:pos x="164" y="216"/>
                    </a:cxn>
                    <a:cxn ang="0">
                      <a:pos x="216" y="163"/>
                    </a:cxn>
                    <a:cxn ang="0">
                      <a:pos x="52" y="0"/>
                    </a:cxn>
                    <a:cxn ang="0">
                      <a:pos x="0" y="54"/>
                    </a:cxn>
                  </a:cxnLst>
                  <a:rect l="0" t="0" r="r" b="b"/>
                  <a:pathLst>
                    <a:path w="216" h="216">
                      <a:moveTo>
                        <a:pt x="0" y="54"/>
                      </a:moveTo>
                      <a:lnTo>
                        <a:pt x="164" y="216"/>
                      </a:lnTo>
                      <a:lnTo>
                        <a:pt x="216" y="163"/>
                      </a:lnTo>
                      <a:lnTo>
                        <a:pt x="52" y="0"/>
                      </a:lnTo>
                      <a:lnTo>
                        <a:pt x="0" y="54"/>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7" name="Freeform 7">
                  <a:extLst>
                    <a:ext uri="{FF2B5EF4-FFF2-40B4-BE49-F238E27FC236}">
                      <a16:creationId xmlns:a16="http://schemas.microsoft.com/office/drawing/2014/main" id="{07E7C512-19C5-4A81-955A-1929F0111254}"/>
                    </a:ext>
                  </a:extLst>
                </p:cNvPr>
                <p:cNvSpPr>
                  <a:spLocks/>
                </p:cNvSpPr>
                <p:nvPr/>
              </p:nvSpPr>
              <p:spPr bwMode="auto">
                <a:xfrm>
                  <a:off x="4856162" y="2362200"/>
                  <a:ext cx="342900" cy="342900"/>
                </a:xfrm>
                <a:custGeom>
                  <a:avLst/>
                  <a:gdLst/>
                  <a:ahLst/>
                  <a:cxnLst>
                    <a:cxn ang="0">
                      <a:pos x="0" y="54"/>
                    </a:cxn>
                    <a:cxn ang="0">
                      <a:pos x="164" y="216"/>
                    </a:cxn>
                    <a:cxn ang="0">
                      <a:pos x="216" y="163"/>
                    </a:cxn>
                    <a:cxn ang="0">
                      <a:pos x="52" y="0"/>
                    </a:cxn>
                    <a:cxn ang="0">
                      <a:pos x="0" y="54"/>
                    </a:cxn>
                  </a:cxnLst>
                  <a:rect l="0" t="0" r="r" b="b"/>
                  <a:pathLst>
                    <a:path w="216" h="216">
                      <a:moveTo>
                        <a:pt x="0" y="54"/>
                      </a:moveTo>
                      <a:lnTo>
                        <a:pt x="164" y="216"/>
                      </a:lnTo>
                      <a:lnTo>
                        <a:pt x="216" y="163"/>
                      </a:lnTo>
                      <a:lnTo>
                        <a:pt x="52" y="0"/>
                      </a:lnTo>
                      <a:lnTo>
                        <a:pt x="0" y="54"/>
                      </a:lnTo>
                    </a:path>
                  </a:pathLst>
                </a:custGeom>
                <a:no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8" name="Freeform 8">
                  <a:extLst>
                    <a:ext uri="{FF2B5EF4-FFF2-40B4-BE49-F238E27FC236}">
                      <a16:creationId xmlns:a16="http://schemas.microsoft.com/office/drawing/2014/main" id="{CBC86BA2-5583-4EAB-B9C3-9451F71F4E5D}"/>
                    </a:ext>
                  </a:extLst>
                </p:cNvPr>
                <p:cNvSpPr>
                  <a:spLocks/>
                </p:cNvSpPr>
                <p:nvPr/>
              </p:nvSpPr>
              <p:spPr bwMode="auto">
                <a:xfrm>
                  <a:off x="4391025" y="1874838"/>
                  <a:ext cx="1284288" cy="1276350"/>
                </a:xfrm>
                <a:custGeom>
                  <a:avLst/>
                  <a:gdLst/>
                  <a:ahLst/>
                  <a:cxnLst>
                    <a:cxn ang="0">
                      <a:pos x="1114" y="270"/>
                    </a:cxn>
                    <a:cxn ang="0">
                      <a:pos x="140" y="268"/>
                    </a:cxn>
                    <a:cxn ang="0">
                      <a:pos x="0" y="479"/>
                    </a:cxn>
                    <a:cxn ang="0">
                      <a:pos x="766" y="624"/>
                    </a:cxn>
                    <a:cxn ang="0">
                      <a:pos x="922" y="1388"/>
                    </a:cxn>
                    <a:cxn ang="0">
                      <a:pos x="1130" y="1245"/>
                    </a:cxn>
                    <a:cxn ang="0">
                      <a:pos x="1114" y="270"/>
                    </a:cxn>
                  </a:cxnLst>
                  <a:rect l="0" t="0" r="r" b="b"/>
                  <a:pathLst>
                    <a:path w="1395" h="1388">
                      <a:moveTo>
                        <a:pt x="1114" y="270"/>
                      </a:moveTo>
                      <a:cubicBezTo>
                        <a:pt x="841" y="1"/>
                        <a:pt x="405" y="0"/>
                        <a:pt x="140" y="268"/>
                      </a:cubicBezTo>
                      <a:cubicBezTo>
                        <a:pt x="79" y="331"/>
                        <a:pt x="32" y="402"/>
                        <a:pt x="0" y="479"/>
                      </a:cubicBezTo>
                      <a:cubicBezTo>
                        <a:pt x="251" y="369"/>
                        <a:pt x="556" y="417"/>
                        <a:pt x="766" y="624"/>
                      </a:cubicBezTo>
                      <a:cubicBezTo>
                        <a:pt x="976" y="831"/>
                        <a:pt x="1028" y="1136"/>
                        <a:pt x="922" y="1388"/>
                      </a:cubicBezTo>
                      <a:cubicBezTo>
                        <a:pt x="998" y="1355"/>
                        <a:pt x="1069" y="1307"/>
                        <a:pt x="1130" y="1245"/>
                      </a:cubicBezTo>
                      <a:cubicBezTo>
                        <a:pt x="1395" y="976"/>
                        <a:pt x="1388" y="540"/>
                        <a:pt x="1114" y="270"/>
                      </a:cubicBezTo>
                    </a:path>
                  </a:pathLst>
                </a:custGeom>
                <a:solidFill>
                  <a:srgbClr val="0170BD"/>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9" name="Freeform 10">
                  <a:extLst>
                    <a:ext uri="{FF2B5EF4-FFF2-40B4-BE49-F238E27FC236}">
                      <a16:creationId xmlns:a16="http://schemas.microsoft.com/office/drawing/2014/main" id="{338DC80A-32BA-4B19-81A5-441EE54025F8}"/>
                    </a:ext>
                  </a:extLst>
                </p:cNvPr>
                <p:cNvSpPr>
                  <a:spLocks/>
                </p:cNvSpPr>
                <p:nvPr/>
              </p:nvSpPr>
              <p:spPr bwMode="auto">
                <a:xfrm>
                  <a:off x="4854575" y="1189038"/>
                  <a:ext cx="1489075" cy="1501775"/>
                </a:xfrm>
                <a:custGeom>
                  <a:avLst/>
                  <a:gdLst/>
                  <a:ahLst/>
                  <a:cxnLst>
                    <a:cxn ang="0">
                      <a:pos x="462" y="557"/>
                    </a:cxn>
                    <a:cxn ang="0">
                      <a:pos x="0" y="1288"/>
                    </a:cxn>
                    <a:cxn ang="0">
                      <a:pos x="201" y="1433"/>
                    </a:cxn>
                    <a:cxn ang="0">
                      <a:pos x="349" y="1632"/>
                    </a:cxn>
                    <a:cxn ang="0">
                      <a:pos x="1073" y="1160"/>
                    </a:cxn>
                    <a:cxn ang="0">
                      <a:pos x="1589" y="24"/>
                    </a:cxn>
                    <a:cxn ang="0">
                      <a:pos x="462" y="557"/>
                    </a:cxn>
                  </a:cxnLst>
                  <a:rect l="0" t="0" r="r" b="b"/>
                  <a:pathLst>
                    <a:path w="1618" h="1632">
                      <a:moveTo>
                        <a:pt x="462" y="557"/>
                      </a:moveTo>
                      <a:cubicBezTo>
                        <a:pt x="236" y="786"/>
                        <a:pt x="78" y="1044"/>
                        <a:pt x="0" y="1288"/>
                      </a:cubicBezTo>
                      <a:cubicBezTo>
                        <a:pt x="72" y="1325"/>
                        <a:pt x="140" y="1373"/>
                        <a:pt x="201" y="1433"/>
                      </a:cubicBezTo>
                      <a:cubicBezTo>
                        <a:pt x="262" y="1493"/>
                        <a:pt x="311" y="1560"/>
                        <a:pt x="349" y="1632"/>
                      </a:cubicBezTo>
                      <a:cubicBezTo>
                        <a:pt x="591" y="1550"/>
                        <a:pt x="847" y="1389"/>
                        <a:pt x="1073" y="1160"/>
                      </a:cubicBezTo>
                      <a:cubicBezTo>
                        <a:pt x="1432" y="796"/>
                        <a:pt x="1618" y="358"/>
                        <a:pt x="1589" y="24"/>
                      </a:cubicBezTo>
                      <a:cubicBezTo>
                        <a:pt x="1255" y="0"/>
                        <a:pt x="820" y="193"/>
                        <a:pt x="462" y="557"/>
                      </a:cubicBezTo>
                    </a:path>
                  </a:pathLst>
                </a:custGeom>
                <a:solidFill>
                  <a:schemeClr val="tx1">
                    <a:lumMod val="10000"/>
                    <a:lumOff val="90000"/>
                  </a:schemeClr>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0" name="Freeform 11">
                  <a:extLst>
                    <a:ext uri="{FF2B5EF4-FFF2-40B4-BE49-F238E27FC236}">
                      <a16:creationId xmlns:a16="http://schemas.microsoft.com/office/drawing/2014/main" id="{44B56D22-2336-4C29-9052-EE93621D9B3D}"/>
                    </a:ext>
                  </a:extLst>
                </p:cNvPr>
                <p:cNvSpPr>
                  <a:spLocks/>
                </p:cNvSpPr>
                <p:nvPr/>
              </p:nvSpPr>
              <p:spPr bwMode="auto">
                <a:xfrm>
                  <a:off x="5029200" y="1208088"/>
                  <a:ext cx="1314450" cy="1482725"/>
                </a:xfrm>
                <a:custGeom>
                  <a:avLst/>
                  <a:gdLst/>
                  <a:ahLst/>
                  <a:cxnLst>
                    <a:cxn ang="0">
                      <a:pos x="1399" y="2"/>
                    </a:cxn>
                    <a:cxn ang="0">
                      <a:pos x="0" y="1401"/>
                    </a:cxn>
                    <a:cxn ang="0">
                      <a:pos x="11" y="1411"/>
                    </a:cxn>
                    <a:cxn ang="0">
                      <a:pos x="159" y="1610"/>
                    </a:cxn>
                    <a:cxn ang="0">
                      <a:pos x="883" y="1138"/>
                    </a:cxn>
                    <a:cxn ang="0">
                      <a:pos x="1399" y="2"/>
                    </a:cxn>
                  </a:cxnLst>
                  <a:rect l="0" t="0" r="r" b="b"/>
                  <a:pathLst>
                    <a:path w="1428" h="1610">
                      <a:moveTo>
                        <a:pt x="1399" y="2"/>
                      </a:moveTo>
                      <a:cubicBezTo>
                        <a:pt x="1361" y="0"/>
                        <a:pt x="0" y="1401"/>
                        <a:pt x="0" y="1401"/>
                      </a:cubicBezTo>
                      <a:cubicBezTo>
                        <a:pt x="4" y="1405"/>
                        <a:pt x="7" y="1408"/>
                        <a:pt x="11" y="1411"/>
                      </a:cubicBezTo>
                      <a:cubicBezTo>
                        <a:pt x="72" y="1471"/>
                        <a:pt x="121" y="1538"/>
                        <a:pt x="159" y="1610"/>
                      </a:cubicBezTo>
                      <a:cubicBezTo>
                        <a:pt x="401" y="1528"/>
                        <a:pt x="657" y="1367"/>
                        <a:pt x="883" y="1138"/>
                      </a:cubicBezTo>
                      <a:cubicBezTo>
                        <a:pt x="1242" y="774"/>
                        <a:pt x="1428" y="336"/>
                        <a:pt x="1399" y="2"/>
                      </a:cubicBezTo>
                    </a:path>
                  </a:pathLst>
                </a:custGeom>
                <a:solidFill>
                  <a:srgbClr val="CFCFCF"/>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1" name="Freeform 12">
                  <a:extLst>
                    <a:ext uri="{FF2B5EF4-FFF2-40B4-BE49-F238E27FC236}">
                      <a16:creationId xmlns:a16="http://schemas.microsoft.com/office/drawing/2014/main" id="{C8F1682E-16F6-4687-806B-F5DF9B9A73A1}"/>
                    </a:ext>
                  </a:extLst>
                </p:cNvPr>
                <p:cNvSpPr>
                  <a:spLocks/>
                </p:cNvSpPr>
                <p:nvPr/>
              </p:nvSpPr>
              <p:spPr bwMode="auto">
                <a:xfrm>
                  <a:off x="4814887" y="2097088"/>
                  <a:ext cx="630238" cy="638175"/>
                </a:xfrm>
                <a:custGeom>
                  <a:avLst/>
                  <a:gdLst/>
                  <a:ahLst/>
                  <a:cxnLst>
                    <a:cxn ang="0">
                      <a:pos x="276" y="282"/>
                    </a:cxn>
                    <a:cxn ang="0">
                      <a:pos x="0" y="694"/>
                    </a:cxn>
                    <a:cxn ang="0">
                      <a:pos x="407" y="411"/>
                    </a:cxn>
                    <a:cxn ang="0">
                      <a:pos x="684" y="0"/>
                    </a:cxn>
                    <a:cxn ang="0">
                      <a:pos x="276" y="282"/>
                    </a:cxn>
                  </a:cxnLst>
                  <a:rect l="0" t="0" r="r" b="b"/>
                  <a:pathLst>
                    <a:path w="684" h="694">
                      <a:moveTo>
                        <a:pt x="276" y="282"/>
                      </a:moveTo>
                      <a:cubicBezTo>
                        <a:pt x="127" y="433"/>
                        <a:pt x="24" y="591"/>
                        <a:pt x="0" y="694"/>
                      </a:cubicBezTo>
                      <a:cubicBezTo>
                        <a:pt x="102" y="668"/>
                        <a:pt x="258" y="563"/>
                        <a:pt x="407" y="411"/>
                      </a:cubicBezTo>
                      <a:cubicBezTo>
                        <a:pt x="556" y="260"/>
                        <a:pt x="659" y="103"/>
                        <a:pt x="684" y="0"/>
                      </a:cubicBezTo>
                      <a:cubicBezTo>
                        <a:pt x="581" y="26"/>
                        <a:pt x="425" y="131"/>
                        <a:pt x="276" y="282"/>
                      </a:cubicBezTo>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2" name="Freeform 23">
                  <a:extLst>
                    <a:ext uri="{FF2B5EF4-FFF2-40B4-BE49-F238E27FC236}">
                      <a16:creationId xmlns:a16="http://schemas.microsoft.com/office/drawing/2014/main" id="{859933BF-14F7-4A0A-AD79-B33209708EF3}"/>
                    </a:ext>
                  </a:extLst>
                </p:cNvPr>
                <p:cNvSpPr>
                  <a:spLocks/>
                </p:cNvSpPr>
                <p:nvPr/>
              </p:nvSpPr>
              <p:spPr bwMode="auto">
                <a:xfrm>
                  <a:off x="5737225" y="1328738"/>
                  <a:ext cx="468313" cy="468313"/>
                </a:xfrm>
                <a:custGeom>
                  <a:avLst/>
                  <a:gdLst/>
                  <a:ahLst/>
                  <a:cxnLst>
                    <a:cxn ang="0">
                      <a:pos x="57" y="0"/>
                    </a:cxn>
                    <a:cxn ang="0">
                      <a:pos x="2" y="28"/>
                    </a:cxn>
                    <a:cxn ang="0">
                      <a:pos x="479" y="509"/>
                    </a:cxn>
                    <a:cxn ang="0">
                      <a:pos x="509" y="446"/>
                    </a:cxn>
                    <a:cxn ang="0">
                      <a:pos x="57" y="0"/>
                    </a:cxn>
                  </a:cxnLst>
                  <a:rect l="0" t="0" r="r" b="b"/>
                  <a:pathLst>
                    <a:path w="509" h="509">
                      <a:moveTo>
                        <a:pt x="57" y="0"/>
                      </a:moveTo>
                      <a:cubicBezTo>
                        <a:pt x="24" y="15"/>
                        <a:pt x="2" y="28"/>
                        <a:pt x="2" y="28"/>
                      </a:cubicBezTo>
                      <a:cubicBezTo>
                        <a:pt x="0" y="28"/>
                        <a:pt x="288" y="254"/>
                        <a:pt x="479" y="509"/>
                      </a:cubicBezTo>
                      <a:cubicBezTo>
                        <a:pt x="479" y="509"/>
                        <a:pt x="503" y="462"/>
                        <a:pt x="509" y="446"/>
                      </a:cubicBezTo>
                      <a:cubicBezTo>
                        <a:pt x="505" y="287"/>
                        <a:pt x="274" y="7"/>
                        <a:pt x="57" y="0"/>
                      </a:cubicBezTo>
                    </a:path>
                  </a:pathLst>
                </a:custGeom>
                <a:solidFill>
                  <a:schemeClr val="accent1">
                    <a:lumMod val="60000"/>
                    <a:lumOff val="40000"/>
                  </a:schemeClr>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3" name="Freeform 31">
                  <a:extLst>
                    <a:ext uri="{FF2B5EF4-FFF2-40B4-BE49-F238E27FC236}">
                      <a16:creationId xmlns:a16="http://schemas.microsoft.com/office/drawing/2014/main" id="{B5E4B85E-246C-4630-B3A7-F9686ACA21EF}"/>
                    </a:ext>
                  </a:extLst>
                </p:cNvPr>
                <p:cNvSpPr>
                  <a:spLocks/>
                </p:cNvSpPr>
                <p:nvPr/>
              </p:nvSpPr>
              <p:spPr bwMode="auto">
                <a:xfrm>
                  <a:off x="6318250" y="1219200"/>
                  <a:ext cx="1588"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C6C6C6"/>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4" name="Oval 32">
                  <a:extLst>
                    <a:ext uri="{FF2B5EF4-FFF2-40B4-BE49-F238E27FC236}">
                      <a16:creationId xmlns:a16="http://schemas.microsoft.com/office/drawing/2014/main" id="{9124E688-7E09-49A2-A2B1-6711B819A5BF}"/>
                    </a:ext>
                  </a:extLst>
                </p:cNvPr>
                <p:cNvSpPr>
                  <a:spLocks noChangeArrowheads="1"/>
                </p:cNvSpPr>
                <p:nvPr/>
              </p:nvSpPr>
              <p:spPr bwMode="auto">
                <a:xfrm>
                  <a:off x="6318250" y="1220788"/>
                  <a:ext cx="1588" cy="1588"/>
                </a:xfrm>
                <a:prstGeom prst="ellipse">
                  <a:avLst/>
                </a:prstGeom>
                <a:solidFill>
                  <a:srgbClr val="C6C6C6"/>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5" name="Freeform 33">
                  <a:extLst>
                    <a:ext uri="{FF2B5EF4-FFF2-40B4-BE49-F238E27FC236}">
                      <a16:creationId xmlns:a16="http://schemas.microsoft.com/office/drawing/2014/main" id="{C8947D0B-AA82-4905-AA8A-192B7CC57648}"/>
                    </a:ext>
                  </a:extLst>
                </p:cNvPr>
                <p:cNvSpPr>
                  <a:spLocks/>
                </p:cNvSpPr>
                <p:nvPr/>
              </p:nvSpPr>
              <p:spPr bwMode="auto">
                <a:xfrm>
                  <a:off x="6318250" y="1220788"/>
                  <a:ext cx="1588"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F2F2F2"/>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6" name="Oval 34">
                  <a:extLst>
                    <a:ext uri="{FF2B5EF4-FFF2-40B4-BE49-F238E27FC236}">
                      <a16:creationId xmlns:a16="http://schemas.microsoft.com/office/drawing/2014/main" id="{FA8D569B-D2AE-4A47-8892-0E6CBA46EA06}"/>
                    </a:ext>
                  </a:extLst>
                </p:cNvPr>
                <p:cNvSpPr>
                  <a:spLocks noChangeArrowheads="1"/>
                </p:cNvSpPr>
                <p:nvPr/>
              </p:nvSpPr>
              <p:spPr bwMode="auto">
                <a:xfrm>
                  <a:off x="6318250" y="1220788"/>
                  <a:ext cx="1588" cy="1588"/>
                </a:xfrm>
                <a:prstGeom prst="ellipse">
                  <a:avLst/>
                </a:prstGeom>
                <a:solidFill>
                  <a:srgbClr val="C6C6C6"/>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7" name="Freeform 35">
                  <a:extLst>
                    <a:ext uri="{FF2B5EF4-FFF2-40B4-BE49-F238E27FC236}">
                      <a16:creationId xmlns:a16="http://schemas.microsoft.com/office/drawing/2014/main" id="{D7C9A5BA-5CB7-47C5-A87A-CDC9AD2E2AF5}"/>
                    </a:ext>
                  </a:extLst>
                </p:cNvPr>
                <p:cNvSpPr>
                  <a:spLocks/>
                </p:cNvSpPr>
                <p:nvPr/>
              </p:nvSpPr>
              <p:spPr bwMode="auto">
                <a:xfrm>
                  <a:off x="6318250" y="1220788"/>
                  <a:ext cx="1588"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F2F2F2"/>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38" name="Freeform 36">
                  <a:extLst>
                    <a:ext uri="{FF2B5EF4-FFF2-40B4-BE49-F238E27FC236}">
                      <a16:creationId xmlns:a16="http://schemas.microsoft.com/office/drawing/2014/main" id="{EA9CDEA7-2B0E-4EA4-B5D9-A0136648BE5B}"/>
                    </a:ext>
                  </a:extLst>
                </p:cNvPr>
                <p:cNvSpPr>
                  <a:spLocks/>
                </p:cNvSpPr>
                <p:nvPr/>
              </p:nvSpPr>
              <p:spPr bwMode="auto">
                <a:xfrm>
                  <a:off x="6318250" y="1222375"/>
                  <a:ext cx="1588" cy="1588"/>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C6C6C6"/>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2" name="Freeform 37">
                  <a:extLst>
                    <a:ext uri="{FF2B5EF4-FFF2-40B4-BE49-F238E27FC236}">
                      <a16:creationId xmlns:a16="http://schemas.microsoft.com/office/drawing/2014/main" id="{4F665621-0D9A-45A2-9251-E206C883961D}"/>
                    </a:ext>
                  </a:extLst>
                </p:cNvPr>
                <p:cNvSpPr>
                  <a:spLocks noEditPoints="1"/>
                </p:cNvSpPr>
                <p:nvPr/>
              </p:nvSpPr>
              <p:spPr bwMode="auto">
                <a:xfrm>
                  <a:off x="6316662" y="1222375"/>
                  <a:ext cx="4763" cy="115888"/>
                </a:xfrm>
                <a:custGeom>
                  <a:avLst/>
                  <a:gdLst/>
                  <a:ahLst/>
                  <a:cxnLst>
                    <a:cxn ang="0">
                      <a:pos x="1" y="0"/>
                    </a:cxn>
                    <a:cxn ang="0">
                      <a:pos x="3" y="62"/>
                    </a:cxn>
                    <a:cxn ang="0">
                      <a:pos x="0" y="126"/>
                    </a:cxn>
                    <a:cxn ang="0">
                      <a:pos x="1" y="0"/>
                    </a:cxn>
                    <a:cxn ang="0">
                      <a:pos x="1" y="0"/>
                    </a:cxn>
                    <a:cxn ang="0">
                      <a:pos x="1" y="0"/>
                    </a:cxn>
                    <a:cxn ang="0">
                      <a:pos x="1" y="0"/>
                    </a:cxn>
                    <a:cxn ang="0">
                      <a:pos x="1" y="0"/>
                    </a:cxn>
                    <a:cxn ang="0">
                      <a:pos x="1" y="0"/>
                    </a:cxn>
                  </a:cxnLst>
                  <a:rect l="0" t="0" r="r" b="b"/>
                  <a:pathLst>
                    <a:path w="4" h="126">
                      <a:moveTo>
                        <a:pt x="1" y="0"/>
                      </a:moveTo>
                      <a:cubicBezTo>
                        <a:pt x="2" y="20"/>
                        <a:pt x="3" y="41"/>
                        <a:pt x="3" y="62"/>
                      </a:cubicBezTo>
                      <a:cubicBezTo>
                        <a:pt x="3" y="83"/>
                        <a:pt x="2" y="104"/>
                        <a:pt x="0" y="126"/>
                      </a:cubicBezTo>
                      <a:cubicBezTo>
                        <a:pt x="4" y="83"/>
                        <a:pt x="4" y="41"/>
                        <a:pt x="1" y="0"/>
                      </a:cubicBezTo>
                      <a:moveTo>
                        <a:pt x="1" y="0"/>
                      </a:moveTo>
                      <a:cubicBezTo>
                        <a:pt x="1" y="0"/>
                        <a:pt x="1" y="0"/>
                        <a:pt x="1" y="0"/>
                      </a:cubicBezTo>
                      <a:cubicBezTo>
                        <a:pt x="1" y="0"/>
                        <a:pt x="1" y="0"/>
                        <a:pt x="1" y="0"/>
                      </a:cubicBezTo>
                      <a:cubicBezTo>
                        <a:pt x="1" y="0"/>
                        <a:pt x="1" y="0"/>
                        <a:pt x="1" y="0"/>
                      </a:cubicBezTo>
                      <a:cubicBezTo>
                        <a:pt x="1" y="0"/>
                        <a:pt x="1" y="0"/>
                        <a:pt x="1" y="0"/>
                      </a:cubicBezTo>
                    </a:path>
                  </a:pathLst>
                </a:custGeom>
                <a:solidFill>
                  <a:srgbClr val="F2F2F2"/>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4" name="Freeform 38">
                  <a:extLst>
                    <a:ext uri="{FF2B5EF4-FFF2-40B4-BE49-F238E27FC236}">
                      <a16:creationId xmlns:a16="http://schemas.microsoft.com/office/drawing/2014/main" id="{67EDF584-CB47-4C18-86BC-682B183E4C97}"/>
                    </a:ext>
                  </a:extLst>
                </p:cNvPr>
                <p:cNvSpPr>
                  <a:spLocks/>
                </p:cNvSpPr>
                <p:nvPr/>
              </p:nvSpPr>
              <p:spPr bwMode="auto">
                <a:xfrm>
                  <a:off x="6316662" y="1211263"/>
                  <a:ext cx="3175" cy="68263"/>
                </a:xfrm>
                <a:custGeom>
                  <a:avLst/>
                  <a:gdLst/>
                  <a:ahLst/>
                  <a:cxnLst>
                    <a:cxn ang="0">
                      <a:pos x="1" y="0"/>
                    </a:cxn>
                    <a:cxn ang="0">
                      <a:pos x="0" y="0"/>
                    </a:cxn>
                    <a:cxn ang="0">
                      <a:pos x="1" y="1"/>
                    </a:cxn>
                    <a:cxn ang="0">
                      <a:pos x="4" y="74"/>
                    </a:cxn>
                    <a:cxn ang="0">
                      <a:pos x="2" y="12"/>
                    </a:cxn>
                    <a:cxn ang="0">
                      <a:pos x="2" y="12"/>
                    </a:cxn>
                    <a:cxn ang="0">
                      <a:pos x="2" y="12"/>
                    </a:cxn>
                    <a:cxn ang="0">
                      <a:pos x="2" y="12"/>
                    </a:cxn>
                    <a:cxn ang="0">
                      <a:pos x="2" y="12"/>
                    </a:cxn>
                    <a:cxn ang="0">
                      <a:pos x="2" y="11"/>
                    </a:cxn>
                    <a:cxn ang="0">
                      <a:pos x="2" y="11"/>
                    </a:cxn>
                    <a:cxn ang="0">
                      <a:pos x="2" y="11"/>
                    </a:cxn>
                    <a:cxn ang="0">
                      <a:pos x="2" y="11"/>
                    </a:cxn>
                    <a:cxn ang="0">
                      <a:pos x="2" y="11"/>
                    </a:cxn>
                    <a:cxn ang="0">
                      <a:pos x="2" y="11"/>
                    </a:cxn>
                    <a:cxn ang="0">
                      <a:pos x="2" y="11"/>
                    </a:cxn>
                    <a:cxn ang="0">
                      <a:pos x="2" y="11"/>
                    </a:cxn>
                    <a:cxn ang="0">
                      <a:pos x="2" y="11"/>
                    </a:cxn>
                    <a:cxn ang="0">
                      <a:pos x="2" y="11"/>
                    </a:cxn>
                    <a:cxn ang="0">
                      <a:pos x="2" y="11"/>
                    </a:cxn>
                    <a:cxn ang="0">
                      <a:pos x="2" y="11"/>
                    </a:cxn>
                    <a:cxn ang="0">
                      <a:pos x="2" y="10"/>
                    </a:cxn>
                    <a:cxn ang="0">
                      <a:pos x="2" y="10"/>
                    </a:cxn>
                    <a:cxn ang="0">
                      <a:pos x="2" y="10"/>
                    </a:cxn>
                    <a:cxn ang="0">
                      <a:pos x="2" y="10"/>
                    </a:cxn>
                    <a:cxn ang="0">
                      <a:pos x="1" y="0"/>
                    </a:cxn>
                    <a:cxn ang="0">
                      <a:pos x="1" y="0"/>
                    </a:cxn>
                  </a:cxnLst>
                  <a:rect l="0" t="0" r="r" b="b"/>
                  <a:pathLst>
                    <a:path w="4" h="74">
                      <a:moveTo>
                        <a:pt x="1" y="0"/>
                      </a:moveTo>
                      <a:cubicBezTo>
                        <a:pt x="1" y="0"/>
                        <a:pt x="0" y="0"/>
                        <a:pt x="0" y="0"/>
                      </a:cubicBezTo>
                      <a:cubicBezTo>
                        <a:pt x="0" y="0"/>
                        <a:pt x="1" y="1"/>
                        <a:pt x="1" y="1"/>
                      </a:cubicBezTo>
                      <a:cubicBezTo>
                        <a:pt x="3" y="25"/>
                        <a:pt x="4" y="49"/>
                        <a:pt x="4" y="74"/>
                      </a:cubicBezTo>
                      <a:cubicBezTo>
                        <a:pt x="4" y="53"/>
                        <a:pt x="3" y="32"/>
                        <a:pt x="2" y="12"/>
                      </a:cubicBezTo>
                      <a:cubicBezTo>
                        <a:pt x="2" y="12"/>
                        <a:pt x="2" y="12"/>
                        <a:pt x="2" y="12"/>
                      </a:cubicBezTo>
                      <a:cubicBezTo>
                        <a:pt x="2" y="12"/>
                        <a:pt x="2" y="12"/>
                        <a:pt x="2" y="12"/>
                      </a:cubicBezTo>
                      <a:cubicBezTo>
                        <a:pt x="2" y="12"/>
                        <a:pt x="2" y="12"/>
                        <a:pt x="2" y="12"/>
                      </a:cubicBezTo>
                      <a:cubicBezTo>
                        <a:pt x="2" y="12"/>
                        <a:pt x="2" y="12"/>
                        <a:pt x="2" y="12"/>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0"/>
                        <a:pt x="2" y="10"/>
                        <a:pt x="2" y="10"/>
                      </a:cubicBezTo>
                      <a:cubicBezTo>
                        <a:pt x="2" y="10"/>
                        <a:pt x="2" y="10"/>
                        <a:pt x="2" y="10"/>
                      </a:cubicBezTo>
                      <a:cubicBezTo>
                        <a:pt x="2" y="10"/>
                        <a:pt x="2" y="10"/>
                        <a:pt x="2" y="10"/>
                      </a:cubicBezTo>
                      <a:cubicBezTo>
                        <a:pt x="2" y="10"/>
                        <a:pt x="2" y="10"/>
                        <a:pt x="2" y="10"/>
                      </a:cubicBezTo>
                      <a:cubicBezTo>
                        <a:pt x="2" y="7"/>
                        <a:pt x="1" y="4"/>
                        <a:pt x="1" y="0"/>
                      </a:cubicBezTo>
                      <a:cubicBezTo>
                        <a:pt x="1" y="0"/>
                        <a:pt x="1" y="0"/>
                        <a:pt x="1" y="0"/>
                      </a:cubicBezTo>
                    </a:path>
                  </a:pathLst>
                </a:custGeom>
                <a:solidFill>
                  <a:srgbClr val="B7352B"/>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5" name="Freeform 40">
                  <a:extLst>
                    <a:ext uri="{FF2B5EF4-FFF2-40B4-BE49-F238E27FC236}">
                      <a16:creationId xmlns:a16="http://schemas.microsoft.com/office/drawing/2014/main" id="{009112C3-6247-472B-BA0A-14DCDCE246BD}"/>
                    </a:ext>
                  </a:extLst>
                </p:cNvPr>
                <p:cNvSpPr>
                  <a:spLocks/>
                </p:cNvSpPr>
                <p:nvPr/>
              </p:nvSpPr>
              <p:spPr bwMode="auto">
                <a:xfrm>
                  <a:off x="6316662" y="1338263"/>
                  <a:ext cx="1588"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F2F2F2"/>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6" name="Freeform 41">
                  <a:extLst>
                    <a:ext uri="{FF2B5EF4-FFF2-40B4-BE49-F238E27FC236}">
                      <a16:creationId xmlns:a16="http://schemas.microsoft.com/office/drawing/2014/main" id="{4C0B55F1-531D-469E-A76F-ACAE4CD0EAAE}"/>
                    </a:ext>
                  </a:extLst>
                </p:cNvPr>
                <p:cNvSpPr>
                  <a:spLocks noEditPoints="1"/>
                </p:cNvSpPr>
                <p:nvPr/>
              </p:nvSpPr>
              <p:spPr bwMode="auto">
                <a:xfrm>
                  <a:off x="5175250" y="1797050"/>
                  <a:ext cx="1001713" cy="893763"/>
                </a:xfrm>
                <a:custGeom>
                  <a:avLst/>
                  <a:gdLst/>
                  <a:ahLst/>
                  <a:cxnLst>
                    <a:cxn ang="0">
                      <a:pos x="72" y="943"/>
                    </a:cxn>
                    <a:cxn ang="0">
                      <a:pos x="0" y="970"/>
                    </a:cxn>
                    <a:cxn ang="0">
                      <a:pos x="0" y="970"/>
                    </a:cxn>
                    <a:cxn ang="0">
                      <a:pos x="72" y="943"/>
                    </a:cxn>
                    <a:cxn ang="0">
                      <a:pos x="72" y="943"/>
                    </a:cxn>
                    <a:cxn ang="0">
                      <a:pos x="1088" y="0"/>
                    </a:cxn>
                    <a:cxn ang="0">
                      <a:pos x="724" y="498"/>
                    </a:cxn>
                    <a:cxn ang="0">
                      <a:pos x="1088" y="0"/>
                    </a:cxn>
                    <a:cxn ang="0">
                      <a:pos x="1088" y="0"/>
                    </a:cxn>
                  </a:cxnLst>
                  <a:rect l="0" t="0" r="r" b="b"/>
                  <a:pathLst>
                    <a:path w="1088" h="970">
                      <a:moveTo>
                        <a:pt x="72" y="943"/>
                      </a:moveTo>
                      <a:cubicBezTo>
                        <a:pt x="48" y="953"/>
                        <a:pt x="24" y="962"/>
                        <a:pt x="0" y="970"/>
                      </a:cubicBezTo>
                      <a:cubicBezTo>
                        <a:pt x="0" y="970"/>
                        <a:pt x="0" y="970"/>
                        <a:pt x="0" y="970"/>
                      </a:cubicBezTo>
                      <a:cubicBezTo>
                        <a:pt x="24" y="962"/>
                        <a:pt x="48" y="953"/>
                        <a:pt x="72" y="943"/>
                      </a:cubicBezTo>
                      <a:cubicBezTo>
                        <a:pt x="72" y="943"/>
                        <a:pt x="72" y="943"/>
                        <a:pt x="72" y="943"/>
                      </a:cubicBezTo>
                      <a:moveTo>
                        <a:pt x="1088" y="0"/>
                      </a:moveTo>
                      <a:cubicBezTo>
                        <a:pt x="1001" y="170"/>
                        <a:pt x="879" y="341"/>
                        <a:pt x="724" y="498"/>
                      </a:cubicBezTo>
                      <a:cubicBezTo>
                        <a:pt x="879" y="341"/>
                        <a:pt x="1001" y="170"/>
                        <a:pt x="1088" y="0"/>
                      </a:cubicBezTo>
                      <a:cubicBezTo>
                        <a:pt x="1088" y="0"/>
                        <a:pt x="1088" y="0"/>
                        <a:pt x="1088" y="0"/>
                      </a:cubicBezTo>
                    </a:path>
                  </a:pathLst>
                </a:custGeom>
                <a:solidFill>
                  <a:srgbClr val="C6C6C6"/>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7" name="Freeform 42">
                  <a:extLst>
                    <a:ext uri="{FF2B5EF4-FFF2-40B4-BE49-F238E27FC236}">
                      <a16:creationId xmlns:a16="http://schemas.microsoft.com/office/drawing/2014/main" id="{81C44275-69B2-40BF-9971-8526451A5BFC}"/>
                    </a:ext>
                  </a:extLst>
                </p:cNvPr>
                <p:cNvSpPr>
                  <a:spLocks/>
                </p:cNvSpPr>
                <p:nvPr/>
              </p:nvSpPr>
              <p:spPr bwMode="auto">
                <a:xfrm>
                  <a:off x="5241925" y="2493963"/>
                  <a:ext cx="317500" cy="171450"/>
                </a:xfrm>
                <a:custGeom>
                  <a:avLst/>
                  <a:gdLst/>
                  <a:ahLst/>
                  <a:cxnLst>
                    <a:cxn ang="0">
                      <a:pos x="344" y="0"/>
                    </a:cxn>
                    <a:cxn ang="0">
                      <a:pos x="0" y="186"/>
                    </a:cxn>
                    <a:cxn ang="0">
                      <a:pos x="0" y="186"/>
                    </a:cxn>
                    <a:cxn ang="0">
                      <a:pos x="344" y="0"/>
                    </a:cxn>
                  </a:cxnLst>
                  <a:rect l="0" t="0" r="r" b="b"/>
                  <a:pathLst>
                    <a:path w="344" h="186">
                      <a:moveTo>
                        <a:pt x="344" y="0"/>
                      </a:moveTo>
                      <a:cubicBezTo>
                        <a:pt x="230" y="79"/>
                        <a:pt x="114" y="141"/>
                        <a:pt x="0" y="186"/>
                      </a:cubicBezTo>
                      <a:cubicBezTo>
                        <a:pt x="0" y="186"/>
                        <a:pt x="0" y="186"/>
                        <a:pt x="0" y="186"/>
                      </a:cubicBezTo>
                      <a:cubicBezTo>
                        <a:pt x="114" y="141"/>
                        <a:pt x="230" y="79"/>
                        <a:pt x="344" y="0"/>
                      </a:cubicBezTo>
                    </a:path>
                  </a:pathLst>
                </a:custGeom>
                <a:solidFill>
                  <a:srgbClr val="264561"/>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48" name="Freeform 14">
                  <a:extLst>
                    <a:ext uri="{FF2B5EF4-FFF2-40B4-BE49-F238E27FC236}">
                      <a16:creationId xmlns:a16="http://schemas.microsoft.com/office/drawing/2014/main" id="{A7913622-3711-4269-AF20-E1C33B15D5B9}"/>
                    </a:ext>
                  </a:extLst>
                </p:cNvPr>
                <p:cNvSpPr>
                  <a:spLocks/>
                </p:cNvSpPr>
                <p:nvPr/>
              </p:nvSpPr>
              <p:spPr bwMode="auto">
                <a:xfrm>
                  <a:off x="5788023" y="1203327"/>
                  <a:ext cx="541338" cy="539750"/>
                </a:xfrm>
                <a:custGeom>
                  <a:avLst/>
                  <a:gdLst/>
                  <a:ahLst/>
                  <a:cxnLst>
                    <a:cxn ang="0">
                      <a:pos x="0" y="142"/>
                    </a:cxn>
                    <a:cxn ang="0">
                      <a:pos x="233" y="357"/>
                    </a:cxn>
                    <a:cxn ang="0">
                      <a:pos x="452" y="587"/>
                    </a:cxn>
                    <a:cxn ang="0">
                      <a:pos x="573" y="12"/>
                    </a:cxn>
                    <a:cxn ang="0">
                      <a:pos x="0" y="142"/>
                    </a:cxn>
                  </a:cxnLst>
                  <a:rect l="0" t="0" r="r" b="b"/>
                  <a:pathLst>
                    <a:path w="588" h="587">
                      <a:moveTo>
                        <a:pt x="0" y="142"/>
                      </a:moveTo>
                      <a:cubicBezTo>
                        <a:pt x="79" y="210"/>
                        <a:pt x="157" y="281"/>
                        <a:pt x="233" y="357"/>
                      </a:cubicBezTo>
                      <a:cubicBezTo>
                        <a:pt x="310" y="433"/>
                        <a:pt x="383" y="510"/>
                        <a:pt x="452" y="587"/>
                      </a:cubicBezTo>
                      <a:cubicBezTo>
                        <a:pt x="546" y="384"/>
                        <a:pt x="588" y="184"/>
                        <a:pt x="573" y="12"/>
                      </a:cubicBezTo>
                      <a:cubicBezTo>
                        <a:pt x="401" y="0"/>
                        <a:pt x="202" y="45"/>
                        <a:pt x="0" y="142"/>
                      </a:cubicBezTo>
                    </a:path>
                  </a:pathLst>
                </a:custGeom>
                <a:solidFill>
                  <a:srgbClr val="0170BD"/>
                </a:solidFill>
                <a:ln w="9525">
                  <a:noFill/>
                  <a:round/>
                  <a:headEnd/>
                  <a:tailEnd/>
                </a:ln>
              </p:spPr>
              <p:txBody>
                <a:bodyPr vert="horz" wrap="square" lIns="91440" tIns="45720" rIns="91440" bIns="45720" numCol="1" anchor="t" anchorCtr="0" compatLnSpc="1">
                  <a:prstTxWarp prst="textNoShape">
                    <a:avLst/>
                  </a:prstTxWarp>
                </a:bodyPr>
                <a:lstStyle/>
                <a:p>
                  <a:pPr>
                    <a:lnSpc>
                      <a:spcPct val="120000"/>
                    </a:lnSpc>
                  </a:pPr>
                  <a:endParaRPr lang="en-US">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grpSp>
      </p:grpSp>
      <p:grpSp>
        <p:nvGrpSpPr>
          <p:cNvPr id="463" name="组合 462">
            <a:extLst>
              <a:ext uri="{FF2B5EF4-FFF2-40B4-BE49-F238E27FC236}">
                <a16:creationId xmlns:a16="http://schemas.microsoft.com/office/drawing/2014/main" id="{C0157703-7879-4138-A831-5D9DCB3880D5}"/>
              </a:ext>
            </a:extLst>
          </p:cNvPr>
          <p:cNvGrpSpPr/>
          <p:nvPr/>
        </p:nvGrpSpPr>
        <p:grpSpPr>
          <a:xfrm>
            <a:off x="1299163" y="4698457"/>
            <a:ext cx="10080036" cy="1244813"/>
            <a:chOff x="991967" y="3911642"/>
            <a:chExt cx="10080036" cy="1244813"/>
          </a:xfrm>
        </p:grpSpPr>
        <p:sp>
          <p:nvSpPr>
            <p:cNvPr id="464" name="矩形 463">
              <a:extLst>
                <a:ext uri="{FF2B5EF4-FFF2-40B4-BE49-F238E27FC236}">
                  <a16:creationId xmlns:a16="http://schemas.microsoft.com/office/drawing/2014/main" id="{251F6C78-5CD3-4A7D-A5EB-B268EE233B02}"/>
                </a:ext>
              </a:extLst>
            </p:cNvPr>
            <p:cNvSpPr/>
            <p:nvPr/>
          </p:nvSpPr>
          <p:spPr>
            <a:xfrm>
              <a:off x="7191262" y="4089753"/>
              <a:ext cx="3880741" cy="106670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spcBef>
                  <a:spcPct val="20000"/>
                </a:spcBef>
              </a:pPr>
              <a:r>
                <a:rPr lang="zh-CN" altLang="zh-CN" sz="1400" kern="100" dirty="0">
                  <a:latin typeface="Times New Roman" panose="02020603050405020304" pitchFamily="18" charset="0"/>
                  <a:ea typeface="字魂58号-创中黑" panose="00000500000000000000"/>
                  <a:cs typeface="Times New Roman" panose="02020603050405020304" pitchFamily="18" charset="0"/>
                </a:rPr>
                <a:t>碳当量是衡量钢材中不同合金元素对钢材性能影响的重要参数</a:t>
              </a:r>
              <a:endParaRPr lang="en-US" altLang="zh-CN" sz="1400" kern="100" dirty="0">
                <a:latin typeface="Times New Roman" panose="02020603050405020304" pitchFamily="18" charset="0"/>
                <a:ea typeface="字魂58号-创中黑" panose="00000500000000000000"/>
                <a:cs typeface="Times New Roman" panose="02020603050405020304" pitchFamily="18" charset="0"/>
              </a:endParaRPr>
            </a:p>
            <a:p>
              <a:pPr>
                <a:lnSpc>
                  <a:spcPct val="150000"/>
                </a:lnSpc>
                <a:spcBef>
                  <a:spcPct val="20000"/>
                </a:spcBef>
              </a:pPr>
              <a:r>
                <a:rPr lang="zh-CN" altLang="zh-CN" sz="1400" kern="100" dirty="0">
                  <a:latin typeface="Times New Roman" panose="02020603050405020304" pitchFamily="18" charset="0"/>
                  <a:ea typeface="字魂58号-创中黑" panose="00000500000000000000"/>
                  <a:cs typeface="Times New Roman" panose="02020603050405020304" pitchFamily="18" charset="0"/>
                </a:rPr>
                <a:t>碳当量越高，说明钢材的强度与硬度越高</a:t>
              </a:r>
              <a:endParaRPr lang="zh-CN" altLang="en-US" sz="1400" kern="100" dirty="0">
                <a:latin typeface="Times New Roman" panose="02020603050405020304" pitchFamily="18" charset="0"/>
                <a:ea typeface="字魂58号-创中黑" panose="00000500000000000000"/>
                <a:cs typeface="Times New Roman" panose="02020603050405020304" pitchFamily="18" charset="0"/>
                <a:sym typeface="字魂58号-创中黑" panose="00000500000000000000" pitchFamily="2" charset="-122"/>
              </a:endParaRPr>
            </a:p>
          </p:txBody>
        </p:sp>
        <p:sp>
          <p:nvSpPr>
            <p:cNvPr id="465" name="矩形 464">
              <a:extLst>
                <a:ext uri="{FF2B5EF4-FFF2-40B4-BE49-F238E27FC236}">
                  <a16:creationId xmlns:a16="http://schemas.microsoft.com/office/drawing/2014/main" id="{57288229-B214-42A5-B9E7-8F355B0FE640}"/>
                </a:ext>
              </a:extLst>
            </p:cNvPr>
            <p:cNvSpPr/>
            <p:nvPr/>
          </p:nvSpPr>
          <p:spPr>
            <a:xfrm>
              <a:off x="991967" y="3911642"/>
              <a:ext cx="3154725" cy="401841"/>
            </a:xfrm>
            <a:prstGeom prst="rect">
              <a:avLst/>
            </a:prstGeom>
          </p:spPr>
          <p:txBody>
            <a:bodyPr wrap="square">
              <a:spAutoFit/>
              <a:scene3d>
                <a:camera prst="orthographicFront"/>
                <a:lightRig rig="threePt" dir="t"/>
              </a:scene3d>
              <a:sp3d contourW="6350"/>
            </a:bodyPr>
            <a:lstStyle/>
            <a:p>
              <a:pPr>
                <a:lnSpc>
                  <a:spcPct val="120000"/>
                </a:lnSpc>
              </a:pPr>
              <a:r>
                <a:rPr lang="zh-CN" altLang="zh-CN" b="1" dirty="0">
                  <a:solidFill>
                    <a:schemeClr val="tx1">
                      <a:lumMod val="65000"/>
                      <a:lumOff val="35000"/>
                    </a:schemeClr>
                  </a:solidFill>
                  <a:ea typeface="字魂58号-创中黑" panose="00000500000000000000" pitchFamily="2" charset="-122"/>
                </a:rPr>
                <a:t>碳当量（</a:t>
              </a:r>
              <a:r>
                <a:rPr lang="en-US" altLang="zh-CN" b="1" dirty="0" err="1">
                  <a:solidFill>
                    <a:schemeClr val="tx1">
                      <a:lumMod val="65000"/>
                      <a:lumOff val="35000"/>
                    </a:schemeClr>
                  </a:solidFill>
                  <a:ea typeface="字魂58号-创中黑" panose="00000500000000000000" pitchFamily="2" charset="-122"/>
                </a:rPr>
                <a:t>Ceq</a:t>
              </a:r>
              <a:r>
                <a:rPr lang="zh-CN" altLang="zh-CN" b="1" dirty="0">
                  <a:solidFill>
                    <a:schemeClr val="tx1">
                      <a:lumMod val="65000"/>
                      <a:lumOff val="35000"/>
                    </a:schemeClr>
                  </a:solidFill>
                  <a:ea typeface="字魂58号-创中黑" panose="00000500000000000000" pitchFamily="2" charset="-122"/>
                </a:rPr>
                <a:t>、</a:t>
              </a:r>
              <a:r>
                <a:rPr lang="en-US" altLang="zh-CN" b="1" dirty="0" err="1">
                  <a:solidFill>
                    <a:schemeClr val="tx1">
                      <a:lumMod val="65000"/>
                      <a:lumOff val="35000"/>
                    </a:schemeClr>
                  </a:solidFill>
                  <a:ea typeface="字魂58号-创中黑" panose="00000500000000000000" pitchFamily="2" charset="-122"/>
                </a:rPr>
                <a:t>Pcm</a:t>
              </a:r>
              <a:r>
                <a:rPr lang="zh-CN" altLang="zh-CN" b="1" dirty="0">
                  <a:solidFill>
                    <a:schemeClr val="tx1">
                      <a:lumMod val="65000"/>
                      <a:lumOff val="35000"/>
                    </a:schemeClr>
                  </a:solidFill>
                  <a:ea typeface="字魂58号-创中黑" panose="00000500000000000000" pitchFamily="2" charset="-122"/>
                </a:rPr>
                <a:t>）</a:t>
              </a:r>
              <a:endParaRPr lang="zh-CN" altLang="en-US" b="1" dirty="0">
                <a:solidFill>
                  <a:schemeClr val="tx1">
                    <a:lumMod val="65000"/>
                    <a:lumOff val="35000"/>
                  </a:schemeClr>
                </a:solidFill>
                <a:ea typeface="字魂58号-创中黑" panose="00000500000000000000" pitchFamily="2" charset="-122"/>
                <a:sym typeface="字魂58号-创中黑" panose="00000500000000000000" pitchFamily="2" charset="-122"/>
              </a:endParaRPr>
            </a:p>
          </p:txBody>
        </p:sp>
      </p:grpSp>
      <p:grpSp>
        <p:nvGrpSpPr>
          <p:cNvPr id="466" name="组合 465">
            <a:extLst>
              <a:ext uri="{FF2B5EF4-FFF2-40B4-BE49-F238E27FC236}">
                <a16:creationId xmlns:a16="http://schemas.microsoft.com/office/drawing/2014/main" id="{A46E011B-9CB3-4C32-B94F-21491F3FFBCA}"/>
              </a:ext>
            </a:extLst>
          </p:cNvPr>
          <p:cNvGrpSpPr/>
          <p:nvPr/>
        </p:nvGrpSpPr>
        <p:grpSpPr>
          <a:xfrm>
            <a:off x="6936260" y="1430068"/>
            <a:ext cx="4442939" cy="1522593"/>
            <a:chOff x="-198405" y="4097311"/>
            <a:chExt cx="4442939" cy="1522593"/>
          </a:xfrm>
        </p:grpSpPr>
        <p:sp>
          <p:nvSpPr>
            <p:cNvPr id="467" name="矩形 466">
              <a:extLst>
                <a:ext uri="{FF2B5EF4-FFF2-40B4-BE49-F238E27FC236}">
                  <a16:creationId xmlns:a16="http://schemas.microsoft.com/office/drawing/2014/main" id="{CEA6F76C-72CF-4BEE-AA67-63202866A657}"/>
                </a:ext>
              </a:extLst>
            </p:cNvPr>
            <p:cNvSpPr/>
            <p:nvPr/>
          </p:nvSpPr>
          <p:spPr>
            <a:xfrm>
              <a:off x="-198405" y="5242621"/>
              <a:ext cx="4442939" cy="37728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spcBef>
                  <a:spcPct val="20000"/>
                </a:spcBef>
              </a:pPr>
              <a:r>
                <a:rPr lang="zh-CN" altLang="zh-CN" sz="1400" kern="100" dirty="0">
                  <a:latin typeface="Times New Roman" panose="02020603050405020304" pitchFamily="18" charset="0"/>
                  <a:ea typeface="字魂58号-创中黑" panose="00000500000000000000"/>
                  <a:cs typeface="Times New Roman" panose="02020603050405020304" pitchFamily="18" charset="0"/>
                </a:rPr>
                <a:t>金属在不同的温度下发生变形行为的一个指标</a:t>
              </a:r>
              <a:endParaRPr lang="zh-CN" altLang="en-US" sz="1400" kern="100" dirty="0">
                <a:latin typeface="Times New Roman" panose="02020603050405020304" pitchFamily="18" charset="0"/>
                <a:ea typeface="字魂58号-创中黑" panose="00000500000000000000"/>
                <a:cs typeface="Times New Roman" panose="02020603050405020304" pitchFamily="18" charset="0"/>
                <a:sym typeface="字魂58号-创中黑" panose="00000500000000000000" pitchFamily="2" charset="-122"/>
              </a:endParaRPr>
            </a:p>
          </p:txBody>
        </p:sp>
        <p:sp>
          <p:nvSpPr>
            <p:cNvPr id="468" name="矩形 467">
              <a:extLst>
                <a:ext uri="{FF2B5EF4-FFF2-40B4-BE49-F238E27FC236}">
                  <a16:creationId xmlns:a16="http://schemas.microsoft.com/office/drawing/2014/main" id="{F499F460-ECCC-4436-908E-E6E77207B756}"/>
                </a:ext>
              </a:extLst>
            </p:cNvPr>
            <p:cNvSpPr/>
            <p:nvPr/>
          </p:nvSpPr>
          <p:spPr>
            <a:xfrm>
              <a:off x="-198405" y="4097311"/>
              <a:ext cx="2241974" cy="401841"/>
            </a:xfrm>
            <a:prstGeom prst="rect">
              <a:avLst/>
            </a:prstGeom>
          </p:spPr>
          <p:txBody>
            <a:bodyPr wrap="square">
              <a:spAutoFit/>
              <a:scene3d>
                <a:camera prst="orthographicFront"/>
                <a:lightRig rig="threePt" dir="t"/>
              </a:scene3d>
              <a:sp3d contourW="6350"/>
            </a:bodyPr>
            <a:lstStyle/>
            <a:p>
              <a:pPr>
                <a:lnSpc>
                  <a:spcPct val="120000"/>
                </a:lnSpc>
              </a:pPr>
              <a:r>
                <a:rPr lang="zh-CN" altLang="zh-CN" b="1" dirty="0">
                  <a:solidFill>
                    <a:schemeClr val="tx1">
                      <a:lumMod val="65000"/>
                      <a:lumOff val="35000"/>
                    </a:schemeClr>
                  </a:solidFill>
                  <a:ea typeface="字魂58号-创中黑" panose="00000500000000000000" pitchFamily="2" charset="-122"/>
                </a:rPr>
                <a:t>活化能（</a:t>
              </a:r>
              <a:r>
                <a:rPr lang="en-US" altLang="zh-CN" b="1" dirty="0">
                  <a:solidFill>
                    <a:schemeClr val="tx1">
                      <a:lumMod val="65000"/>
                      <a:lumOff val="35000"/>
                    </a:schemeClr>
                  </a:solidFill>
                  <a:ea typeface="字魂58号-创中黑" panose="00000500000000000000" pitchFamily="2" charset="-122"/>
                </a:rPr>
                <a:t>Q</a:t>
              </a:r>
              <a:r>
                <a:rPr lang="zh-CN" altLang="zh-CN" b="1" dirty="0">
                  <a:solidFill>
                    <a:schemeClr val="tx1">
                      <a:lumMod val="65000"/>
                      <a:lumOff val="35000"/>
                    </a:schemeClr>
                  </a:solidFill>
                  <a:ea typeface="字魂58号-创中黑" panose="00000500000000000000" pitchFamily="2" charset="-122"/>
                </a:rPr>
                <a:t>）</a:t>
              </a:r>
              <a:endParaRPr lang="zh-CN" altLang="en-US" b="1" dirty="0">
                <a:solidFill>
                  <a:schemeClr val="tx1">
                    <a:lumMod val="65000"/>
                    <a:lumOff val="35000"/>
                  </a:schemeClr>
                </a:solidFill>
                <a:ea typeface="字魂58号-创中黑" panose="00000500000000000000" pitchFamily="2" charset="-122"/>
                <a:sym typeface="字魂58号-创中黑" panose="00000500000000000000" pitchFamily="2" charset="-122"/>
              </a:endParaRPr>
            </a:p>
          </p:txBody>
        </p:sp>
      </p:grpSp>
      <p:grpSp>
        <p:nvGrpSpPr>
          <p:cNvPr id="469" name="组合 468">
            <a:extLst>
              <a:ext uri="{FF2B5EF4-FFF2-40B4-BE49-F238E27FC236}">
                <a16:creationId xmlns:a16="http://schemas.microsoft.com/office/drawing/2014/main" id="{910AAFAB-A1BA-4AF0-A537-63DDDDF5D2D8}"/>
              </a:ext>
            </a:extLst>
          </p:cNvPr>
          <p:cNvGrpSpPr/>
          <p:nvPr/>
        </p:nvGrpSpPr>
        <p:grpSpPr>
          <a:xfrm>
            <a:off x="1254371" y="2011175"/>
            <a:ext cx="5279981" cy="507831"/>
            <a:chOff x="795589" y="4165062"/>
            <a:chExt cx="1202507" cy="507831"/>
          </a:xfrm>
        </p:grpSpPr>
        <mc:AlternateContent xmlns:mc="http://schemas.openxmlformats.org/markup-compatibility/2006" xmlns:a14="http://schemas.microsoft.com/office/drawing/2010/main">
          <mc:Choice Requires="a14">
            <p:sp>
              <p:nvSpPr>
                <p:cNvPr id="470" name="矩形 469">
                  <a:extLst>
                    <a:ext uri="{FF2B5EF4-FFF2-40B4-BE49-F238E27FC236}">
                      <a16:creationId xmlns:a16="http://schemas.microsoft.com/office/drawing/2014/main" id="{5B756E9A-7558-4F91-9DDA-84F5F1EFE203}"/>
                    </a:ext>
                  </a:extLst>
                </p:cNvPr>
                <p:cNvSpPr/>
                <p:nvPr/>
              </p:nvSpPr>
              <p:spPr>
                <a:xfrm>
                  <a:off x="1137829" y="4165062"/>
                  <a:ext cx="407519" cy="507831"/>
                </a:xfrm>
                <a:prstGeom prst="rect">
                  <a:avLst/>
                </a:prstGeom>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pPr defTabSz="914377">
                    <a:lnSpc>
                      <a:spcPct val="150000"/>
                    </a:lnSpc>
                    <a:spcBef>
                      <a:spcPct val="20000"/>
                    </a:spcBef>
                  </a:pPr>
                  <a14:m>
                    <m:oMathPara xmlns:m="http://schemas.openxmlformats.org/officeDocument/2006/math">
                      <m:oMathParaPr>
                        <m:jc m:val="left"/>
                      </m:oMathParaPr>
                      <m:oMath xmlns:m="http://schemas.openxmlformats.org/officeDocument/2006/math">
                        <m:r>
                          <a:rPr lang="zh-CN" altLang="en-US" i="1">
                            <a:latin typeface="Cambria Math" panose="02040503050406030204" pitchFamily="18" charset="0"/>
                          </a:rPr>
                          <m:t>（</m:t>
                        </m:r>
                        <m:r>
                          <m:rPr>
                            <m:nor/>
                          </m:rPr>
                          <a:rPr lang="en-US" altLang="zh-CN"/>
                          <m:t>Hall</m:t>
                        </m:r>
                        <m:r>
                          <m:rPr>
                            <m:nor/>
                          </m:rPr>
                          <a:rPr lang="en-US" altLang="zh-CN"/>
                          <m:t>−</m:t>
                        </m:r>
                        <m:r>
                          <m:rPr>
                            <m:nor/>
                          </m:rPr>
                          <a:rPr lang="en-US" altLang="zh-CN"/>
                          <m:t>Petch</m:t>
                        </m:r>
                        <m:r>
                          <a:rPr lang="zh-CN" altLang="en-US" i="1">
                            <a:latin typeface="Cambria Math" panose="02040503050406030204" pitchFamily="18" charset="0"/>
                          </a:rPr>
                          <m:t>公式）</m:t>
                        </m:r>
                      </m:oMath>
                    </m:oMathPara>
                  </a14:m>
                  <a:endParaRPr lang="zh-CN" altLang="en-US" sz="1400" dirty="0">
                    <a:solidFill>
                      <a:prstClr val="black">
                        <a:lumMod val="85000"/>
                        <a:lumOff val="1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mc:Choice>
          <mc:Fallback xmlns="">
            <p:sp>
              <p:nvSpPr>
                <p:cNvPr id="470" name="矩形 469">
                  <a:extLst>
                    <a:ext uri="{FF2B5EF4-FFF2-40B4-BE49-F238E27FC236}">
                      <a16:creationId xmlns:a16="http://schemas.microsoft.com/office/drawing/2014/main" id="{5B756E9A-7558-4F91-9DDA-84F5F1EFE203}"/>
                    </a:ext>
                  </a:extLst>
                </p:cNvPr>
                <p:cNvSpPr>
                  <a:spLocks noRot="1" noChangeAspect="1" noMove="1" noResize="1" noEditPoints="1" noAdjustHandles="1" noChangeArrowheads="1" noChangeShapeType="1" noTextEdit="1"/>
                </p:cNvSpPr>
                <p:nvPr/>
              </p:nvSpPr>
              <p:spPr>
                <a:xfrm>
                  <a:off x="1137829" y="4165062"/>
                  <a:ext cx="407519" cy="507831"/>
                </a:xfrm>
                <a:prstGeom prst="rect">
                  <a:avLst/>
                </a:prstGeom>
                <a:blipFill>
                  <a:blip r:embed="rId3"/>
                  <a:stretch>
                    <a:fillRect r="-8503"/>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71" name="矩形 470">
              <a:extLst>
                <a:ext uri="{FF2B5EF4-FFF2-40B4-BE49-F238E27FC236}">
                  <a16:creationId xmlns:a16="http://schemas.microsoft.com/office/drawing/2014/main" id="{093A5E31-3709-410A-97BC-89A7F394D9BC}"/>
                </a:ext>
              </a:extLst>
            </p:cNvPr>
            <p:cNvSpPr/>
            <p:nvPr/>
          </p:nvSpPr>
          <p:spPr>
            <a:xfrm>
              <a:off x="795589" y="4213143"/>
              <a:ext cx="1202507" cy="401264"/>
            </a:xfrm>
            <a:prstGeom prst="rect">
              <a:avLst/>
            </a:prstGeom>
          </p:spPr>
          <p:txBody>
            <a:bodyPr wrap="square">
              <a:spAutoFit/>
              <a:scene3d>
                <a:camera prst="orthographicFront"/>
                <a:lightRig rig="threePt" dir="t"/>
              </a:scene3d>
              <a:sp3d contourW="6350"/>
            </a:bodyPr>
            <a:lstStyle/>
            <a:p>
              <a:pPr>
                <a:lnSpc>
                  <a:spcPct val="120000"/>
                </a:lnSpc>
              </a:pPr>
              <a:r>
                <a:rPr lang="zh-CN" altLang="en-US" b="1" dirty="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晶粒尺寸（</a:t>
              </a:r>
              <a:r>
                <a:rPr lang="en-US" altLang="zh-CN" b="1" dirty="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CD</a:t>
              </a:r>
              <a:r>
                <a:rPr lang="zh-CN" altLang="en-US" b="1" dirty="0">
                  <a:solidFill>
                    <a:schemeClr val="tx1">
                      <a:lumMod val="65000"/>
                      <a:lumOff val="35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a:t>
              </a:r>
            </a:p>
          </p:txBody>
        </p:sp>
      </p:grpSp>
      <p:grpSp>
        <p:nvGrpSpPr>
          <p:cNvPr id="2" name="组合 1">
            <a:extLst>
              <a:ext uri="{FF2B5EF4-FFF2-40B4-BE49-F238E27FC236}">
                <a16:creationId xmlns:a16="http://schemas.microsoft.com/office/drawing/2014/main" id="{18E5998A-C391-4713-96DB-6CFBA66EB2CE}"/>
              </a:ext>
            </a:extLst>
          </p:cNvPr>
          <p:cNvGrpSpPr/>
          <p:nvPr/>
        </p:nvGrpSpPr>
        <p:grpSpPr>
          <a:xfrm>
            <a:off x="3934731" y="494387"/>
            <a:ext cx="4387922" cy="1200329"/>
            <a:chOff x="3934731" y="494387"/>
            <a:chExt cx="4387922" cy="1200329"/>
          </a:xfrm>
        </p:grpSpPr>
        <p:sp>
          <p:nvSpPr>
            <p:cNvPr id="3" name="文本框 2">
              <a:extLst>
                <a:ext uri="{FF2B5EF4-FFF2-40B4-BE49-F238E27FC236}">
                  <a16:creationId xmlns:a16="http://schemas.microsoft.com/office/drawing/2014/main" id="{06B74D57-519E-B188-2C82-9AD1B72A2A0D}"/>
                </a:ext>
              </a:extLst>
            </p:cNvPr>
            <p:cNvSpPr txBox="1"/>
            <p:nvPr/>
          </p:nvSpPr>
          <p:spPr>
            <a:xfrm>
              <a:off x="3934731" y="494387"/>
              <a:ext cx="4122516" cy="1200329"/>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solidFill>
                    <a:srgbClr val="0170BD"/>
                  </a:solidFill>
                  <a:ea typeface="字魂58号-创中黑" panose="00000500000000000000" pitchFamily="2" charset="-122"/>
                  <a:sym typeface="字魂58号-创中黑" panose="00000500000000000000" pitchFamily="2" charset="-122"/>
                </a:rPr>
                <a:t>二、工艺机理与物理建模</a:t>
              </a: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BEFF39C6-9CCD-5B65-9F40-4C7471D6A23E}"/>
                </a:ext>
              </a:extLst>
            </p:cNvPr>
            <p:cNvSpPr txBox="1">
              <a:spLocks noChangeArrowheads="1"/>
            </p:cNvSpPr>
            <p:nvPr/>
          </p:nvSpPr>
          <p:spPr bwMode="auto">
            <a:xfrm>
              <a:off x="4039108" y="85329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Process Mechanism and Physical Modeling</a:t>
              </a:r>
            </a:p>
          </p:txBody>
        </p:sp>
        <p:cxnSp>
          <p:nvCxnSpPr>
            <p:cNvPr id="5" name="直接连接符 4"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9CBCCCF9-1894-A188-5760-9071EC40A060}"/>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7" name="文本框 6">
            <a:extLst>
              <a:ext uri="{FF2B5EF4-FFF2-40B4-BE49-F238E27FC236}">
                <a16:creationId xmlns:a16="http://schemas.microsoft.com/office/drawing/2014/main" id="{83DEC38E-8F3C-B7AE-740C-045A663583F6}"/>
              </a:ext>
            </a:extLst>
          </p:cNvPr>
          <p:cNvSpPr txBox="1"/>
          <p:nvPr/>
        </p:nvSpPr>
        <p:spPr>
          <a:xfrm>
            <a:off x="1261964" y="1274907"/>
            <a:ext cx="2777143" cy="400110"/>
          </a:xfrm>
          <a:prstGeom prst="rect">
            <a:avLst/>
          </a:prstGeom>
          <a:noFill/>
        </p:spPr>
        <p:txBody>
          <a:bodyPr wrap="square">
            <a:spAutoFit/>
          </a:bodyPr>
          <a:lstStyle/>
          <a:p>
            <a:r>
              <a:rPr lang="zh-CN" altLang="en-US" sz="2000" b="1" dirty="0">
                <a:solidFill>
                  <a:schemeClr val="bg1">
                    <a:lumMod val="50000"/>
                  </a:schemeClr>
                </a:solidFill>
                <a:ea typeface="字魂58号-创中黑" panose="00000500000000000000" pitchFamily="2" charset="-122"/>
              </a:rPr>
              <a:t>冷轧连退过程中间变量</a:t>
            </a:r>
          </a:p>
        </p:txBody>
      </p:sp>
      <p:graphicFrame>
        <p:nvGraphicFramePr>
          <p:cNvPr id="8" name="对象 7">
            <a:extLst>
              <a:ext uri="{FF2B5EF4-FFF2-40B4-BE49-F238E27FC236}">
                <a16:creationId xmlns:a16="http://schemas.microsoft.com/office/drawing/2014/main" id="{502E49C8-C80C-5F92-6C33-1E98B77187BF}"/>
              </a:ext>
            </a:extLst>
          </p:cNvPr>
          <p:cNvGraphicFramePr>
            <a:graphicFrameLocks noChangeAspect="1"/>
          </p:cNvGraphicFramePr>
          <p:nvPr>
            <p:extLst>
              <p:ext uri="{D42A27DB-BD31-4B8C-83A1-F6EECF244321}">
                <p14:modId xmlns:p14="http://schemas.microsoft.com/office/powerpoint/2010/main" val="2281000211"/>
              </p:ext>
            </p:extLst>
          </p:nvPr>
        </p:nvGraphicFramePr>
        <p:xfrm>
          <a:off x="1335340" y="2543553"/>
          <a:ext cx="1676272" cy="394417"/>
        </p:xfrm>
        <a:graphic>
          <a:graphicData uri="http://schemas.openxmlformats.org/presentationml/2006/ole">
            <mc:AlternateContent xmlns:mc="http://schemas.openxmlformats.org/markup-compatibility/2006">
              <mc:Choice xmlns:v="urn:schemas-microsoft-com:vml" Requires="v">
                <p:oleObj name="Equation" r:id="rId4" imgW="1942920" imgH="457200" progId="Equation.DSMT4">
                  <p:embed/>
                </p:oleObj>
              </mc:Choice>
              <mc:Fallback>
                <p:oleObj name="Equation" r:id="rId4" imgW="1942920" imgH="457200" progId="Equation.DSMT4">
                  <p:embed/>
                  <p:pic>
                    <p:nvPicPr>
                      <p:cNvPr id="0" name=""/>
                      <p:cNvPicPr/>
                      <p:nvPr/>
                    </p:nvPicPr>
                    <p:blipFill>
                      <a:blip r:embed="rId5"/>
                      <a:stretch>
                        <a:fillRect/>
                      </a:stretch>
                    </p:blipFill>
                    <p:spPr>
                      <a:xfrm>
                        <a:off x="1335340" y="2543553"/>
                        <a:ext cx="1676272" cy="394417"/>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78AE6CCD-6A78-8554-8CA4-4E4E60A0FB95}"/>
                  </a:ext>
                </a:extLst>
              </p:cNvPr>
              <p:cNvSpPr txBox="1"/>
              <p:nvPr/>
            </p:nvSpPr>
            <p:spPr>
              <a:xfrm>
                <a:off x="1261965" y="3016893"/>
                <a:ext cx="3728849" cy="971100"/>
              </a:xfrm>
              <a:prstGeom prst="rect">
                <a:avLst/>
              </a:prstGeom>
              <a:noFill/>
            </p:spPr>
            <p:txBody>
              <a:bodyPr wrap="square" rtlCol="0">
                <a:spAutoFit/>
              </a:bodyPr>
              <a:lstStyle/>
              <a:p>
                <a14:m>
                  <m:oMath xmlns:m="http://schemas.openxmlformats.org/officeDocument/2006/math">
                    <m:sSub>
                      <m:sSubPr>
                        <m:ctrlPr>
                          <a:rPr lang="zh-CN" altLang="zh-CN" sz="1400" i="1" smtClean="0">
                            <a:effectLst/>
                            <a:latin typeface="Cambria Math" panose="02040503050406030204" pitchFamily="18" charset="0"/>
                            <a:ea typeface="Cambria Math" panose="02040503050406030204" pitchFamily="18" charset="0"/>
                          </a:rPr>
                        </m:ctrlPr>
                      </m:sSubPr>
                      <m:e>
                        <m:r>
                          <a:rPr lang="en-US" altLang="zh-CN" sz="1400" i="1" kern="100">
                            <a:effectLst/>
                            <a:latin typeface="Cambria Math" panose="02040503050406030204" pitchFamily="18" charset="0"/>
                            <a:ea typeface="宋体" panose="02010600030101010101" pitchFamily="2" charset="-122"/>
                            <a:cs typeface="Times New Roman" panose="02020603050405020304" pitchFamily="18" charset="0"/>
                          </a:rPr>
                          <m:t>𝜎</m:t>
                        </m:r>
                      </m:e>
                      <m:sub>
                        <m:r>
                          <a:rPr lang="en-US" altLang="zh-CN" sz="1400" i="1" kern="100">
                            <a:effectLst/>
                            <a:latin typeface="Cambria Math" panose="02040503050406030204" pitchFamily="18" charset="0"/>
                            <a:ea typeface="宋体" panose="02010600030101010101" pitchFamily="2" charset="-122"/>
                            <a:cs typeface="Times New Roman" panose="02020603050405020304" pitchFamily="18" charset="0"/>
                          </a:rPr>
                          <m:t>𝑦</m:t>
                        </m:r>
                      </m:sub>
                    </m:sSub>
                  </m:oMath>
                </a14:m>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是屈服强度，</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rPr>
                        </m:ctrlPr>
                      </m:sSubPr>
                      <m:e>
                        <m:r>
                          <a:rPr lang="en-US" altLang="zh-CN" sz="1400" i="1" kern="100">
                            <a:effectLst/>
                            <a:latin typeface="Cambria Math" panose="02040503050406030204" pitchFamily="18" charset="0"/>
                            <a:ea typeface="宋体" panose="02010600030101010101" pitchFamily="2" charset="-122"/>
                            <a:cs typeface="Times New Roman" panose="02020603050405020304" pitchFamily="18" charset="0"/>
                          </a:rPr>
                          <m:t>𝜎</m:t>
                        </m:r>
                      </m:e>
                      <m:sub>
                        <m:r>
                          <a:rPr lang="en-US" altLang="zh-CN" sz="1400" i="1" kern="100">
                            <a:effectLst/>
                            <a:latin typeface="Cambria Math" panose="02040503050406030204" pitchFamily="18" charset="0"/>
                            <a:ea typeface="宋体" panose="02010600030101010101" pitchFamily="2" charset="-122"/>
                            <a:cs typeface="Times New Roman" panose="02020603050405020304" pitchFamily="18" charset="0"/>
                          </a:rPr>
                          <m:t>0</m:t>
                        </m:r>
                      </m:sub>
                    </m:sSub>
                  </m:oMath>
                </a14:m>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是材料的固有强度，</a:t>
                </a:r>
                <a:r>
                  <a:rPr lang="en-US" altLang="zh-CN" sz="1400" i="1" kern="100" dirty="0">
                    <a:effectLst/>
                    <a:latin typeface="Times New Roman" panose="02020603050405020304" pitchFamily="18" charset="0"/>
                    <a:ea typeface="字魂58号-创中黑" panose="00000500000000000000"/>
                  </a:rPr>
                  <a:t>k</a:t>
                </a: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是</a:t>
                </a:r>
                <a:r>
                  <a:rPr lang="en-US" altLang="zh-CN" sz="1400" kern="100" dirty="0">
                    <a:effectLst/>
                    <a:latin typeface="Times New Roman" panose="02020603050405020304" pitchFamily="18" charset="0"/>
                    <a:ea typeface="字魂58号-创中黑" panose="00000500000000000000"/>
                  </a:rPr>
                  <a:t>Hall-Petch</a:t>
                </a: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常数，</a:t>
                </a:r>
                <a:r>
                  <a:rPr lang="en-US" altLang="zh-CN" sz="1400" kern="100" dirty="0">
                    <a:effectLst/>
                    <a:latin typeface="Times New Roman" panose="02020603050405020304" pitchFamily="18" charset="0"/>
                    <a:ea typeface="字魂58号-创中黑" panose="00000500000000000000"/>
                  </a:rPr>
                  <a:t>d</a:t>
                </a: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是晶粒尺寸</a:t>
                </a:r>
                <a:endParaRPr lang="en-US" altLang="zh-CN" sz="1400" kern="100" dirty="0">
                  <a:effectLst/>
                  <a:latin typeface="Times New Roman" panose="02020603050405020304" pitchFamily="18" charset="0"/>
                  <a:ea typeface="字魂58号-创中黑" panose="00000500000000000000"/>
                  <a:cs typeface="Times New Roman" panose="02020603050405020304" pitchFamily="18" charset="0"/>
                </a:endParaRPr>
              </a:p>
              <a:p>
                <a:endParaRPr lang="en-US" altLang="zh-CN" sz="1400" kern="100" dirty="0">
                  <a:effectLst/>
                  <a:latin typeface="Times New Roman" panose="02020603050405020304" pitchFamily="18" charset="0"/>
                  <a:ea typeface="字魂58号-创中黑" panose="00000500000000000000"/>
                  <a:cs typeface="Times New Roman" panose="02020603050405020304" pitchFamily="18" charset="0"/>
                </a:endParaRPr>
              </a:p>
              <a:p>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晶粒尺寸减小则能提高材料的强度</a:t>
                </a:r>
                <a:endParaRPr lang="zh-CN" altLang="en-US" sz="1400" dirty="0">
                  <a:ea typeface="字魂58号-创中黑" panose="00000500000000000000"/>
                </a:endParaRPr>
              </a:p>
            </p:txBody>
          </p:sp>
        </mc:Choice>
        <mc:Fallback xmlns="">
          <p:sp>
            <p:nvSpPr>
              <p:cNvPr id="11" name="文本框 10">
                <a:extLst>
                  <a:ext uri="{FF2B5EF4-FFF2-40B4-BE49-F238E27FC236}">
                    <a16:creationId xmlns:a16="http://schemas.microsoft.com/office/drawing/2014/main" id="{78AE6CCD-6A78-8554-8CA4-4E4E60A0FB95}"/>
                  </a:ext>
                </a:extLst>
              </p:cNvPr>
              <p:cNvSpPr txBox="1">
                <a:spLocks noRot="1" noChangeAspect="1" noMove="1" noResize="1" noEditPoints="1" noAdjustHandles="1" noChangeArrowheads="1" noChangeShapeType="1" noTextEdit="1"/>
              </p:cNvSpPr>
              <p:nvPr/>
            </p:nvSpPr>
            <p:spPr>
              <a:xfrm>
                <a:off x="1261965" y="3016893"/>
                <a:ext cx="3728849" cy="971100"/>
              </a:xfrm>
              <a:prstGeom prst="rect">
                <a:avLst/>
              </a:prstGeom>
              <a:blipFill>
                <a:blip r:embed="rId6"/>
                <a:stretch>
                  <a:fillRect l="-490" t="-1258" b="-5031"/>
                </a:stretch>
              </a:blipFill>
            </p:spPr>
            <p:txBody>
              <a:bodyPr/>
              <a:lstStyle/>
              <a:p>
                <a:r>
                  <a:rPr lang="zh-CN" altLang="en-US">
                    <a:noFill/>
                  </a:rPr>
                  <a:t> </a:t>
                </a:r>
              </a:p>
            </p:txBody>
          </p:sp>
        </mc:Fallback>
      </mc:AlternateContent>
      <p:pic>
        <p:nvPicPr>
          <p:cNvPr id="39" name="图片 38">
            <a:extLst>
              <a:ext uri="{FF2B5EF4-FFF2-40B4-BE49-F238E27FC236}">
                <a16:creationId xmlns:a16="http://schemas.microsoft.com/office/drawing/2014/main" id="{AAC6BB0F-0999-5F29-4824-1823F2818C8A}"/>
              </a:ext>
            </a:extLst>
          </p:cNvPr>
          <p:cNvPicPr>
            <a:picLocks noChangeAspect="1"/>
          </p:cNvPicPr>
          <p:nvPr/>
        </p:nvPicPr>
        <p:blipFill>
          <a:blip r:embed="rId7"/>
          <a:stretch>
            <a:fillRect/>
          </a:stretch>
        </p:blipFill>
        <p:spPr>
          <a:xfrm>
            <a:off x="5312145" y="3480678"/>
            <a:ext cx="1084253" cy="1050166"/>
          </a:xfrm>
          <a:prstGeom prst="ellipse">
            <a:avLst/>
          </a:prstGeom>
        </p:spPr>
      </p:pic>
      <p:pic>
        <p:nvPicPr>
          <p:cNvPr id="1026" name="Picture 2" descr="化学元素碳 的图像结果">
            <a:extLst>
              <a:ext uri="{FF2B5EF4-FFF2-40B4-BE49-F238E27FC236}">
                <a16:creationId xmlns:a16="http://schemas.microsoft.com/office/drawing/2014/main" id="{F0E0F85B-BD32-B858-25CB-9FDF1FD8A8D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39001" y="4103511"/>
            <a:ext cx="516713" cy="531537"/>
          </a:xfrm>
          <a:prstGeom prst="ellipse">
            <a:avLst/>
          </a:prstGeom>
          <a:noFill/>
          <a:extLst>
            <a:ext uri="{909E8E84-426E-40DD-AFC4-6F175D3DCCD1}">
              <a14:hiddenFill xmlns:a14="http://schemas.microsoft.com/office/drawing/2010/main">
                <a:solidFill>
                  <a:srgbClr val="FFFFFF"/>
                </a:solidFill>
              </a14:hiddenFill>
            </a:ext>
          </a:extLst>
        </p:spPr>
      </p:pic>
      <p:graphicFrame>
        <p:nvGraphicFramePr>
          <p:cNvPr id="41" name="对象 40">
            <a:extLst>
              <a:ext uri="{FF2B5EF4-FFF2-40B4-BE49-F238E27FC236}">
                <a16:creationId xmlns:a16="http://schemas.microsoft.com/office/drawing/2014/main" id="{A43041E2-5E8F-66FF-9C51-4D9CD7BA19F4}"/>
              </a:ext>
            </a:extLst>
          </p:cNvPr>
          <p:cNvGraphicFramePr>
            <a:graphicFrameLocks noChangeAspect="1"/>
          </p:cNvGraphicFramePr>
          <p:nvPr>
            <p:extLst>
              <p:ext uri="{D42A27DB-BD31-4B8C-83A1-F6EECF244321}">
                <p14:modId xmlns:p14="http://schemas.microsoft.com/office/powerpoint/2010/main" val="3639776533"/>
              </p:ext>
            </p:extLst>
          </p:nvPr>
        </p:nvGraphicFramePr>
        <p:xfrm>
          <a:off x="1366780" y="5326911"/>
          <a:ext cx="4814101" cy="366928"/>
        </p:xfrm>
        <a:graphic>
          <a:graphicData uri="http://schemas.openxmlformats.org/presentationml/2006/ole">
            <mc:AlternateContent xmlns:mc="http://schemas.openxmlformats.org/markup-compatibility/2006">
              <mc:Choice xmlns:v="urn:schemas-microsoft-com:vml" Requires="v">
                <p:oleObj name="Equation" r:id="rId9" imgW="3124313" imgH="237969" progId="Equation.DSMT4">
                  <p:embed/>
                </p:oleObj>
              </mc:Choice>
              <mc:Fallback>
                <p:oleObj name="Equation" r:id="rId9" imgW="3124313" imgH="237969" progId="Equation.DSMT4">
                  <p:embed/>
                  <p:pic>
                    <p:nvPicPr>
                      <p:cNvPr id="0" name=""/>
                      <p:cNvPicPr/>
                      <p:nvPr/>
                    </p:nvPicPr>
                    <p:blipFill>
                      <a:blip r:embed="rId10"/>
                      <a:stretch>
                        <a:fillRect/>
                      </a:stretch>
                    </p:blipFill>
                    <p:spPr>
                      <a:xfrm>
                        <a:off x="1366780" y="5326911"/>
                        <a:ext cx="4814101" cy="366928"/>
                      </a:xfrm>
                      <a:prstGeom prst="rect">
                        <a:avLst/>
                      </a:prstGeom>
                    </p:spPr>
                  </p:pic>
                </p:oleObj>
              </mc:Fallback>
            </mc:AlternateContent>
          </a:graphicData>
        </a:graphic>
      </p:graphicFrame>
      <p:graphicFrame>
        <p:nvGraphicFramePr>
          <p:cNvPr id="43" name="对象 42">
            <a:extLst>
              <a:ext uri="{FF2B5EF4-FFF2-40B4-BE49-F238E27FC236}">
                <a16:creationId xmlns:a16="http://schemas.microsoft.com/office/drawing/2014/main" id="{CE462E09-FA7D-3F31-814E-C805F26D7C9C}"/>
              </a:ext>
            </a:extLst>
          </p:cNvPr>
          <p:cNvGraphicFramePr>
            <a:graphicFrameLocks noChangeAspect="1"/>
          </p:cNvGraphicFramePr>
          <p:nvPr>
            <p:extLst>
              <p:ext uri="{D42A27DB-BD31-4B8C-83A1-F6EECF244321}">
                <p14:modId xmlns:p14="http://schemas.microsoft.com/office/powerpoint/2010/main" val="3374335370"/>
              </p:ext>
            </p:extLst>
          </p:nvPr>
        </p:nvGraphicFramePr>
        <p:xfrm>
          <a:off x="1366780" y="5733706"/>
          <a:ext cx="5772233" cy="270997"/>
        </p:xfrm>
        <a:graphic>
          <a:graphicData uri="http://schemas.openxmlformats.org/presentationml/2006/ole">
            <mc:AlternateContent xmlns:mc="http://schemas.openxmlformats.org/markup-compatibility/2006">
              <mc:Choice xmlns:v="urn:schemas-microsoft-com:vml" Requires="v">
                <p:oleObj name="Equation" r:id="rId11" imgW="8115120" imgH="380880" progId="Equation.DSMT4">
                  <p:embed/>
                </p:oleObj>
              </mc:Choice>
              <mc:Fallback>
                <p:oleObj name="Equation" r:id="rId11" imgW="8115120" imgH="380880" progId="Equation.DSMT4">
                  <p:embed/>
                  <p:pic>
                    <p:nvPicPr>
                      <p:cNvPr id="0" name=""/>
                      <p:cNvPicPr/>
                      <p:nvPr/>
                    </p:nvPicPr>
                    <p:blipFill>
                      <a:blip r:embed="rId12"/>
                      <a:stretch>
                        <a:fillRect/>
                      </a:stretch>
                    </p:blipFill>
                    <p:spPr>
                      <a:xfrm>
                        <a:off x="1366780" y="5733706"/>
                        <a:ext cx="5772233" cy="270997"/>
                      </a:xfrm>
                      <a:prstGeom prst="rect">
                        <a:avLst/>
                      </a:prstGeom>
                    </p:spPr>
                  </p:pic>
                </p:oleObj>
              </mc:Fallback>
            </mc:AlternateContent>
          </a:graphicData>
        </a:graphic>
      </p:graphicFrame>
      <p:graphicFrame>
        <p:nvGraphicFramePr>
          <p:cNvPr id="475" name="对象 474">
            <a:extLst>
              <a:ext uri="{FF2B5EF4-FFF2-40B4-BE49-F238E27FC236}">
                <a16:creationId xmlns:a16="http://schemas.microsoft.com/office/drawing/2014/main" id="{3500E8E2-7C03-98AC-197D-3F0B77024B71}"/>
              </a:ext>
            </a:extLst>
          </p:cNvPr>
          <p:cNvGraphicFramePr>
            <a:graphicFrameLocks noChangeAspect="1"/>
          </p:cNvGraphicFramePr>
          <p:nvPr>
            <p:extLst>
              <p:ext uri="{D42A27DB-BD31-4B8C-83A1-F6EECF244321}">
                <p14:modId xmlns:p14="http://schemas.microsoft.com/office/powerpoint/2010/main" val="3152949069"/>
              </p:ext>
            </p:extLst>
          </p:nvPr>
        </p:nvGraphicFramePr>
        <p:xfrm>
          <a:off x="7029942" y="1846852"/>
          <a:ext cx="4259263" cy="584200"/>
        </p:xfrm>
        <a:graphic>
          <a:graphicData uri="http://schemas.openxmlformats.org/presentationml/2006/ole">
            <mc:AlternateContent xmlns:mc="http://schemas.openxmlformats.org/markup-compatibility/2006">
              <mc:Choice xmlns:v="urn:schemas-microsoft-com:vml" Requires="v">
                <p:oleObj name="Equation" r:id="rId13" imgW="4254480" imgH="583920" progId="Equation.DSMT4">
                  <p:embed/>
                </p:oleObj>
              </mc:Choice>
              <mc:Fallback>
                <p:oleObj name="Equation" r:id="rId13" imgW="4254480" imgH="583920" progId="Equation.DSMT4">
                  <p:embed/>
                  <p:pic>
                    <p:nvPicPr>
                      <p:cNvPr id="0" name=""/>
                      <p:cNvPicPr/>
                      <p:nvPr/>
                    </p:nvPicPr>
                    <p:blipFill>
                      <a:blip r:embed="rId14"/>
                      <a:stretch>
                        <a:fillRect/>
                      </a:stretch>
                    </p:blipFill>
                    <p:spPr>
                      <a:xfrm>
                        <a:off x="7029942" y="1846852"/>
                        <a:ext cx="4259263" cy="584200"/>
                      </a:xfrm>
                      <a:prstGeom prst="rect">
                        <a:avLst/>
                      </a:prstGeom>
                    </p:spPr>
                  </p:pic>
                </p:oleObj>
              </mc:Fallback>
            </mc:AlternateContent>
          </a:graphicData>
        </a:graphic>
      </p:graphicFrame>
      <p:pic>
        <p:nvPicPr>
          <p:cNvPr id="1028" name="Picture 4" descr="活化能图册_360百科">
            <a:extLst>
              <a:ext uri="{FF2B5EF4-FFF2-40B4-BE49-F238E27FC236}">
                <a16:creationId xmlns:a16="http://schemas.microsoft.com/office/drawing/2014/main" id="{443CAD1E-4E57-480F-493F-EDEEFABAA05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80231" y="3979741"/>
            <a:ext cx="734713" cy="648125"/>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0071708"/>
      </p:ext>
    </p:extLst>
  </p:cSld>
  <p:clrMapOvr>
    <a:masterClrMapping/>
  </p:clrMapOvr>
  <mc:AlternateContent xmlns:mc="http://schemas.openxmlformats.org/markup-compatibility/2006" xmlns:p14="http://schemas.microsoft.com/office/powerpoint/2010/main">
    <mc:Choice Requires="p14">
      <p:transition spd="slow" p14:dur="1500" advClick="0" advTm="49499">
        <p:random/>
      </p:transition>
    </mc:Choice>
    <mc:Fallback xmlns="">
      <p:transition spd="slow" advClick="0" advTm="49499">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908550" y="1372748"/>
            <a:ext cx="2374901" cy="2374902"/>
            <a:chOff x="3681412" y="1029561"/>
            <a:chExt cx="1781176" cy="1781176"/>
          </a:xfrm>
        </p:grpSpPr>
        <p:grpSp>
          <p:nvGrpSpPr>
            <p:cNvPr id="21" name="组合 20"/>
            <p:cNvGrpSpPr/>
            <p:nvPr/>
          </p:nvGrpSpPr>
          <p:grpSpPr>
            <a:xfrm>
              <a:off x="3681412" y="1029561"/>
              <a:ext cx="1781176" cy="1781176"/>
              <a:chOff x="3163162" y="1286736"/>
              <a:chExt cx="1781176" cy="1781176"/>
            </a:xfrm>
          </p:grpSpPr>
          <p:grpSp>
            <p:nvGrpSpPr>
              <p:cNvPr id="20" name="组合 19"/>
              <p:cNvGrpSpPr/>
              <p:nvPr/>
            </p:nvGrpSpPr>
            <p:grpSpPr>
              <a:xfrm>
                <a:off x="3163162" y="1286736"/>
                <a:ext cx="1781176" cy="1781176"/>
                <a:chOff x="5410200" y="1286736"/>
                <a:chExt cx="1781176" cy="1781176"/>
              </a:xfrm>
            </p:grpSpPr>
            <p:grpSp>
              <p:nvGrpSpPr>
                <p:cNvPr id="14" name="组合 13"/>
                <p:cNvGrpSpPr/>
                <p:nvPr/>
              </p:nvGrpSpPr>
              <p:grpSpPr>
                <a:xfrm flipH="1">
                  <a:off x="5410200" y="1286736"/>
                  <a:ext cx="1781176" cy="1781176"/>
                  <a:chOff x="3333750" y="1457325"/>
                  <a:chExt cx="1440000" cy="1440000"/>
                </a:xfrm>
              </p:grpSpPr>
              <p:sp>
                <p:nvSpPr>
                  <p:cNvPr id="15" name="矩形 14"/>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6" name="矩形 15"/>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7" name="矩形 16"/>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8" name="矩形 17"/>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19" name="矩形 18"/>
                <p:cNvSpPr/>
                <p:nvPr/>
              </p:nvSpPr>
              <p:spPr>
                <a:xfrm>
                  <a:off x="5458688" y="1331325"/>
                  <a:ext cx="1692000" cy="169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nvGrpSpPr>
              <p:cNvPr id="13" name="组合 12"/>
              <p:cNvGrpSpPr/>
              <p:nvPr/>
            </p:nvGrpSpPr>
            <p:grpSpPr>
              <a:xfrm>
                <a:off x="3333750" y="1457325"/>
                <a:ext cx="1440000" cy="1440000"/>
                <a:chOff x="3333750" y="1457325"/>
                <a:chExt cx="1440000" cy="1440000"/>
              </a:xfrm>
            </p:grpSpPr>
            <p:sp>
              <p:nvSpPr>
                <p:cNvPr id="5" name="矩形 4"/>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 name="矩形 5"/>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9" name="矩形 8"/>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0" name="矩形 9"/>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sp>
          <p:nvSpPr>
            <p:cNvPr id="12" name="文本框 11"/>
            <p:cNvSpPr txBox="1"/>
            <p:nvPr/>
          </p:nvSpPr>
          <p:spPr>
            <a:xfrm>
              <a:off x="4126706" y="1135320"/>
              <a:ext cx="798536" cy="1546577"/>
            </a:xfrm>
            <a:prstGeom prst="rect">
              <a:avLst/>
            </a:prstGeom>
            <a:noFill/>
          </p:spPr>
          <p:txBody>
            <a:bodyPr wrap="none" rtlCol="0">
              <a:spAutoFit/>
            </a:bodyPr>
            <a:lstStyle/>
            <a:p>
              <a:r>
                <a:rPr lang="en-US" altLang="zh-CN" sz="128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rPr>
                <a:t>3</a:t>
              </a:r>
              <a:endParaRPr lang="zh-CN" altLang="en-US" sz="128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22" name="矩形 21"/>
          <p:cNvSpPr/>
          <p:nvPr/>
        </p:nvSpPr>
        <p:spPr>
          <a:xfrm>
            <a:off x="2421166" y="4180248"/>
            <a:ext cx="7334629" cy="646331"/>
          </a:xfrm>
          <a:prstGeom prst="rect">
            <a:avLst/>
          </a:prstGeom>
        </p:spPr>
        <p:txBody>
          <a:bodyPr wrap="square">
            <a:spAutoFit/>
          </a:bodyPr>
          <a:lstStyle/>
          <a:p>
            <a:pPr algn="ctr"/>
            <a:r>
              <a:rPr lang="zh-CN" altLang="en-US" sz="3600" dirty="0">
                <a:latin typeface="字魂58号-创中黑" panose="00000500000000000000" pitchFamily="2" charset="-122"/>
                <a:ea typeface="字魂58号-创中黑" panose="00000500000000000000" pitchFamily="2" charset="-122"/>
                <a:sym typeface="字魂58号-创中黑" panose="00000500000000000000" pitchFamily="2" charset="-122"/>
              </a:rPr>
              <a:t>机理模型力学性能预测</a:t>
            </a:r>
          </a:p>
        </p:txBody>
      </p:sp>
      <p:cxnSp>
        <p:nvCxnSpPr>
          <p:cNvPr id="25" name="直接连接符 24"/>
          <p:cNvCxnSpPr>
            <a:cxnSpLocks/>
          </p:cNvCxnSpPr>
          <p:nvPr/>
        </p:nvCxnSpPr>
        <p:spPr>
          <a:xfrm>
            <a:off x="328921" y="4961696"/>
            <a:ext cx="11523643" cy="0"/>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69DA2AE1-E844-4D5F-9B7C-681B01C664B2}"/>
              </a:ext>
            </a:extLst>
          </p:cNvPr>
          <p:cNvSpPr/>
          <p:nvPr/>
        </p:nvSpPr>
        <p:spPr>
          <a:xfrm>
            <a:off x="1877446" y="4961696"/>
            <a:ext cx="8437108" cy="3366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377">
              <a:lnSpc>
                <a:spcPct val="150000"/>
              </a:lnSpc>
              <a:spcBef>
                <a:spcPct val="20000"/>
              </a:spcBef>
            </a:pPr>
            <a:r>
              <a:rPr lang="en-US" altLang="zh-CN" sz="12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Mechanism Model Prediction Analysis</a:t>
            </a:r>
          </a:p>
        </p:txBody>
      </p:sp>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37057" y="446446"/>
            <a:ext cx="1591597" cy="533480"/>
          </a:xfrm>
          <a:prstGeom prst="rect">
            <a:avLst/>
          </a:prstGeom>
        </p:spPr>
      </p:pic>
    </p:spTree>
    <p:extLst>
      <p:ext uri="{BB962C8B-B14F-4D97-AF65-F5344CB8AC3E}">
        <p14:creationId xmlns:p14="http://schemas.microsoft.com/office/powerpoint/2010/main" val="3944943507"/>
      </p:ext>
    </p:extLst>
  </p:cSld>
  <p:clrMapOvr>
    <a:masterClrMapping/>
  </p:clrMapOvr>
  <mc:AlternateContent xmlns:mc="http://schemas.openxmlformats.org/markup-compatibility/2006" xmlns:p14="http://schemas.microsoft.com/office/powerpoint/2010/main">
    <mc:Choice Requires="p14">
      <p:transition spd="slow" p14:dur="1500" advClick="0" advTm="2422">
        <p:random/>
      </p:transition>
    </mc:Choice>
    <mc:Fallback xmlns="">
      <p:transition spd="slow" advClick="0" advTm="2422">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9A3FE-BCE8-82A8-3C76-1089F6803955}"/>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D474BE3B-BFD7-D678-18A8-4C0922F4CFEC}"/>
              </a:ext>
            </a:extLst>
          </p:cNvPr>
          <p:cNvGrpSpPr/>
          <p:nvPr/>
        </p:nvGrpSpPr>
        <p:grpSpPr>
          <a:xfrm>
            <a:off x="3934731" y="483357"/>
            <a:ext cx="4283545" cy="1569660"/>
            <a:chOff x="3934731" y="483357"/>
            <a:chExt cx="4283545" cy="1569660"/>
          </a:xfrm>
        </p:grpSpPr>
        <p:sp>
          <p:nvSpPr>
            <p:cNvPr id="3" name="文本框 2">
              <a:extLst>
                <a:ext uri="{FF2B5EF4-FFF2-40B4-BE49-F238E27FC236}">
                  <a16:creationId xmlns:a16="http://schemas.microsoft.com/office/drawing/2014/main" id="{427E4228-021E-21A9-41F3-B980C26B52AB}"/>
                </a:ext>
              </a:extLst>
            </p:cNvPr>
            <p:cNvSpPr txBox="1"/>
            <p:nvPr/>
          </p:nvSpPr>
          <p:spPr>
            <a:xfrm>
              <a:off x="3934731" y="483357"/>
              <a:ext cx="4122516"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三、</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机理模型力学性能预测</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1"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E28E1C0F-75D9-53A8-AA32-E7238914487C}"/>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Process Mechanism and Physical Modeling</a:t>
              </a:r>
            </a:p>
          </p:txBody>
        </p:sp>
        <p:cxnSp>
          <p:nvCxnSpPr>
            <p:cNvPr id="32" name="直接连接符 31"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81EB66C1-99D9-21DB-0033-DCD379EB826C}"/>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33" name="矩形 32">
            <a:extLst>
              <a:ext uri="{FF2B5EF4-FFF2-40B4-BE49-F238E27FC236}">
                <a16:creationId xmlns:a16="http://schemas.microsoft.com/office/drawing/2014/main" id="{B2848BCC-47B0-0756-26CC-3C8BC1221986}"/>
              </a:ext>
            </a:extLst>
          </p:cNvPr>
          <p:cNvSpPr/>
          <p:nvPr/>
        </p:nvSpPr>
        <p:spPr>
          <a:xfrm>
            <a:off x="795016" y="1481062"/>
            <a:ext cx="1877064" cy="430374"/>
          </a:xfrm>
          <a:prstGeom prst="rect">
            <a:avLst/>
          </a:prstGeom>
        </p:spPr>
        <p:txBody>
          <a:bodyPr wrap="square">
            <a:spAutoFit/>
            <a:scene3d>
              <a:camera prst="orthographicFront"/>
              <a:lightRig rig="threePt" dir="t"/>
            </a:scene3d>
            <a:sp3d contourW="12700"/>
          </a:bodyPr>
          <a:lstStyle/>
          <a:p>
            <a:pPr marL="0" marR="0" lvl="0" indent="0" algn="ctr" defTabSz="914400" eaLnBrk="1" fontAlgn="auto" latinLnBrk="0" hangingPunct="1">
              <a:lnSpc>
                <a:spcPct val="120000"/>
              </a:lnSpc>
              <a:spcBef>
                <a:spcPts val="0"/>
              </a:spcBef>
              <a:spcAft>
                <a:spcPts val="0"/>
              </a:spcAft>
              <a:buClrTx/>
              <a:buSzTx/>
              <a:buFontTx/>
              <a:buNone/>
              <a:tabLst/>
              <a:defRPr/>
            </a:pPr>
            <a:r>
              <a:rPr lang="zh-CN" altLang="en-US" sz="2000"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物理机理建模</a:t>
            </a:r>
            <a:endParaRPr kumimoji="0" lang="zh-CN" altLang="en-US" sz="2000" b="1" i="0" u="none" strike="noStrike" kern="0" cap="none" spc="0" normalizeH="0" baseline="0" noProof="0" dirty="0">
              <a:ln>
                <a:noFill/>
              </a:ln>
              <a:solidFill>
                <a:prstClr val="black">
                  <a:lumMod val="65000"/>
                  <a:lumOff val="35000"/>
                </a:prstClr>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54" name="矩形 53">
            <a:extLst>
              <a:ext uri="{FF2B5EF4-FFF2-40B4-BE49-F238E27FC236}">
                <a16:creationId xmlns:a16="http://schemas.microsoft.com/office/drawing/2014/main" id="{50C7E4AB-6EB4-6212-014F-4615DD6F69AC}"/>
              </a:ext>
            </a:extLst>
          </p:cNvPr>
          <p:cNvSpPr/>
          <p:nvPr/>
        </p:nvSpPr>
        <p:spPr>
          <a:xfrm>
            <a:off x="6925481" y="1481062"/>
            <a:ext cx="1782618" cy="430374"/>
          </a:xfrm>
          <a:prstGeom prst="rect">
            <a:avLst/>
          </a:prstGeom>
        </p:spPr>
        <p:txBody>
          <a:bodyPr wrap="square">
            <a:spAutoFit/>
            <a:scene3d>
              <a:camera prst="orthographicFront"/>
              <a:lightRig rig="threePt" dir="t"/>
            </a:scene3d>
            <a:sp3d contourW="12700"/>
          </a:bodyPr>
          <a:lstStyle/>
          <a:p>
            <a:pPr marL="0" marR="0" lvl="0" indent="0" algn="ctr" defTabSz="914400" eaLnBrk="1" fontAlgn="auto" latinLnBrk="0" hangingPunct="1">
              <a:lnSpc>
                <a:spcPct val="120000"/>
              </a:lnSpc>
              <a:spcBef>
                <a:spcPts val="0"/>
              </a:spcBef>
              <a:spcAft>
                <a:spcPts val="0"/>
              </a:spcAft>
              <a:buClrTx/>
              <a:buSzTx/>
              <a:buFontTx/>
              <a:buNone/>
              <a:tabLst/>
              <a:defRPr/>
            </a:pPr>
            <a:r>
              <a:rPr lang="zh-CN" altLang="en-US" sz="2000"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数据驱动建模</a:t>
            </a:r>
            <a:endParaRPr kumimoji="0" lang="zh-CN" altLang="en-US" sz="2000" b="1" i="0" u="none" strike="noStrike" kern="0" cap="none" spc="0" normalizeH="0" baseline="0" noProof="0" dirty="0">
              <a:ln>
                <a:noFill/>
              </a:ln>
              <a:solidFill>
                <a:prstClr val="black">
                  <a:lumMod val="65000"/>
                  <a:lumOff val="35000"/>
                </a:prstClr>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57" name="文本框 56">
            <a:extLst>
              <a:ext uri="{FF2B5EF4-FFF2-40B4-BE49-F238E27FC236}">
                <a16:creationId xmlns:a16="http://schemas.microsoft.com/office/drawing/2014/main" id="{650D64F4-B4FC-614F-6BBE-F8EBAC674467}"/>
              </a:ext>
            </a:extLst>
          </p:cNvPr>
          <p:cNvSpPr txBox="1"/>
          <p:nvPr/>
        </p:nvSpPr>
        <p:spPr>
          <a:xfrm>
            <a:off x="879556" y="2034555"/>
            <a:ext cx="4692832" cy="584775"/>
          </a:xfrm>
          <a:prstGeom prst="rect">
            <a:avLst/>
          </a:prstGeom>
          <a:noFill/>
        </p:spPr>
        <p:txBody>
          <a:bodyPr wrap="square">
            <a:spAutoFit/>
          </a:bodyPr>
          <a:lstStyle/>
          <a:p>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依据材料的微观结构，结合生产工艺推导相关物理模型的过程</a:t>
            </a:r>
            <a:endParaRPr lang="zh-CN" altLang="en-US" sz="1600" dirty="0">
              <a:ea typeface="字魂58号-创中黑" panose="00000500000000000000"/>
            </a:endParaRPr>
          </a:p>
        </p:txBody>
      </p:sp>
      <p:sp>
        <p:nvSpPr>
          <p:cNvPr id="60" name="文本框 59">
            <a:extLst>
              <a:ext uri="{FF2B5EF4-FFF2-40B4-BE49-F238E27FC236}">
                <a16:creationId xmlns:a16="http://schemas.microsoft.com/office/drawing/2014/main" id="{B3C1CF7A-1856-7CFA-C91D-F522180E353E}"/>
              </a:ext>
            </a:extLst>
          </p:cNvPr>
          <p:cNvSpPr txBox="1"/>
          <p:nvPr/>
        </p:nvSpPr>
        <p:spPr>
          <a:xfrm>
            <a:off x="879556" y="2790598"/>
            <a:ext cx="4798392" cy="584775"/>
          </a:xfrm>
          <a:prstGeom prst="rect">
            <a:avLst/>
          </a:prstGeom>
          <a:noFill/>
        </p:spPr>
        <p:txBody>
          <a:bodyPr wrap="square">
            <a:spAutoFit/>
          </a:bodyPr>
          <a:lstStyle/>
          <a:p>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晶粒细化可使材料的强度得到大幅提高；</a:t>
            </a:r>
            <a:endParaRPr lang="en-US" altLang="zh-CN" sz="1600" kern="100" dirty="0">
              <a:effectLst/>
              <a:latin typeface="Times New Roman" panose="02020603050405020304" pitchFamily="18" charset="0"/>
              <a:ea typeface="字魂58号-创中黑" panose="00000500000000000000"/>
              <a:cs typeface="Times New Roman" panose="02020603050405020304" pitchFamily="18" charset="0"/>
            </a:endParaRPr>
          </a:p>
          <a:p>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适当的碳当量可保证材料成分满足要求并受控</a:t>
            </a:r>
            <a:endParaRPr lang="zh-CN" altLang="en-US" sz="1600" dirty="0">
              <a:ea typeface="字魂58号-创中黑" panose="00000500000000000000"/>
            </a:endParaRPr>
          </a:p>
        </p:txBody>
      </p:sp>
      <p:sp>
        <p:nvSpPr>
          <p:cNvPr id="63" name="文本框 62">
            <a:extLst>
              <a:ext uri="{FF2B5EF4-FFF2-40B4-BE49-F238E27FC236}">
                <a16:creationId xmlns:a16="http://schemas.microsoft.com/office/drawing/2014/main" id="{08556E4B-937C-F0DB-A280-D736AE7F2CDE}"/>
              </a:ext>
            </a:extLst>
          </p:cNvPr>
          <p:cNvSpPr txBox="1"/>
          <p:nvPr/>
        </p:nvSpPr>
        <p:spPr>
          <a:xfrm>
            <a:off x="6947092" y="1963779"/>
            <a:ext cx="4692832" cy="584775"/>
          </a:xfrm>
          <a:prstGeom prst="rect">
            <a:avLst/>
          </a:prstGeom>
          <a:noFill/>
        </p:spPr>
        <p:txBody>
          <a:bodyPr wrap="square">
            <a:spAutoFit/>
          </a:bodyPr>
          <a:lstStyle/>
          <a:p>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根据输入的数据直接输出结果，能够解决大规模问题，并且具备描述冷轧过程中非线性关系的能力</a:t>
            </a:r>
            <a:endParaRPr lang="zh-CN" altLang="en-US" sz="1600" dirty="0">
              <a:ea typeface="字魂58号-创中黑" panose="00000500000000000000"/>
            </a:endParaRPr>
          </a:p>
        </p:txBody>
      </p:sp>
      <p:sp>
        <p:nvSpPr>
          <p:cNvPr id="65" name="矩形: 圆角 64">
            <a:extLst>
              <a:ext uri="{FF2B5EF4-FFF2-40B4-BE49-F238E27FC236}">
                <a16:creationId xmlns:a16="http://schemas.microsoft.com/office/drawing/2014/main" id="{866461FD-6676-4A06-FAAF-B514B4181F3C}"/>
              </a:ext>
            </a:extLst>
          </p:cNvPr>
          <p:cNvSpPr/>
          <p:nvPr/>
        </p:nvSpPr>
        <p:spPr>
          <a:xfrm>
            <a:off x="665018" y="4525054"/>
            <a:ext cx="1782618" cy="67425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输入</a:t>
            </a:r>
          </a:p>
        </p:txBody>
      </p:sp>
      <p:sp>
        <p:nvSpPr>
          <p:cNvPr id="66" name="矩形: 圆角 65">
            <a:extLst>
              <a:ext uri="{FF2B5EF4-FFF2-40B4-BE49-F238E27FC236}">
                <a16:creationId xmlns:a16="http://schemas.microsoft.com/office/drawing/2014/main" id="{89FA7C57-5FE7-F664-3B11-238C5BF39835}"/>
              </a:ext>
            </a:extLst>
          </p:cNvPr>
          <p:cNvSpPr/>
          <p:nvPr/>
        </p:nvSpPr>
        <p:spPr>
          <a:xfrm>
            <a:off x="2955777" y="4523029"/>
            <a:ext cx="1782618" cy="67425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特征提取</a:t>
            </a:r>
          </a:p>
        </p:txBody>
      </p:sp>
      <p:sp>
        <p:nvSpPr>
          <p:cNvPr id="67" name="矩形: 圆角 66">
            <a:extLst>
              <a:ext uri="{FF2B5EF4-FFF2-40B4-BE49-F238E27FC236}">
                <a16:creationId xmlns:a16="http://schemas.microsoft.com/office/drawing/2014/main" id="{7F6F92D2-E564-5814-19B8-AD3BC80A5108}"/>
              </a:ext>
            </a:extLst>
          </p:cNvPr>
          <p:cNvSpPr/>
          <p:nvPr/>
        </p:nvSpPr>
        <p:spPr>
          <a:xfrm>
            <a:off x="5289572" y="4523031"/>
            <a:ext cx="1782618" cy="67425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模型训练</a:t>
            </a:r>
          </a:p>
        </p:txBody>
      </p:sp>
      <p:sp>
        <p:nvSpPr>
          <p:cNvPr id="68" name="矩形: 圆角 67">
            <a:extLst>
              <a:ext uri="{FF2B5EF4-FFF2-40B4-BE49-F238E27FC236}">
                <a16:creationId xmlns:a16="http://schemas.microsoft.com/office/drawing/2014/main" id="{88197150-6C19-88C3-225D-A559F397801F}"/>
              </a:ext>
            </a:extLst>
          </p:cNvPr>
          <p:cNvSpPr/>
          <p:nvPr/>
        </p:nvSpPr>
        <p:spPr>
          <a:xfrm>
            <a:off x="7624940" y="4523029"/>
            <a:ext cx="1782618" cy="67425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模型优化</a:t>
            </a:r>
          </a:p>
        </p:txBody>
      </p:sp>
      <p:sp>
        <p:nvSpPr>
          <p:cNvPr id="69" name="矩形: 圆角 68">
            <a:extLst>
              <a:ext uri="{FF2B5EF4-FFF2-40B4-BE49-F238E27FC236}">
                <a16:creationId xmlns:a16="http://schemas.microsoft.com/office/drawing/2014/main" id="{A34611CB-CB75-C7D8-FC3B-FFBDAE35A5AF}"/>
              </a:ext>
            </a:extLst>
          </p:cNvPr>
          <p:cNvSpPr/>
          <p:nvPr/>
        </p:nvSpPr>
        <p:spPr>
          <a:xfrm>
            <a:off x="9871090" y="4523029"/>
            <a:ext cx="1782618" cy="67425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输出</a:t>
            </a:r>
          </a:p>
        </p:txBody>
      </p:sp>
      <p:sp>
        <p:nvSpPr>
          <p:cNvPr id="70" name="箭头: 丁字 69">
            <a:extLst>
              <a:ext uri="{FF2B5EF4-FFF2-40B4-BE49-F238E27FC236}">
                <a16:creationId xmlns:a16="http://schemas.microsoft.com/office/drawing/2014/main" id="{1E8A49D8-60B8-8162-5C81-C8CDEB5711FB}"/>
              </a:ext>
            </a:extLst>
          </p:cNvPr>
          <p:cNvSpPr/>
          <p:nvPr/>
        </p:nvSpPr>
        <p:spPr>
          <a:xfrm rot="10800000">
            <a:off x="6009066" y="1877644"/>
            <a:ext cx="610548" cy="2426495"/>
          </a:xfrm>
          <a:prstGeom prst="leftRigh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72" name="直接箭头连接符 71">
            <a:extLst>
              <a:ext uri="{FF2B5EF4-FFF2-40B4-BE49-F238E27FC236}">
                <a16:creationId xmlns:a16="http://schemas.microsoft.com/office/drawing/2014/main" id="{1416CD9C-5C33-7B71-18FD-4B68EF7B9CF6}"/>
              </a:ext>
            </a:extLst>
          </p:cNvPr>
          <p:cNvCxnSpPr>
            <a:cxnSpLocks/>
            <a:stCxn id="65" idx="3"/>
            <a:endCxn id="66" idx="1"/>
          </p:cNvCxnSpPr>
          <p:nvPr/>
        </p:nvCxnSpPr>
        <p:spPr>
          <a:xfrm flipV="1">
            <a:off x="2447636" y="4860157"/>
            <a:ext cx="508141" cy="2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6044FB45-9040-E16F-7C0D-79CADCA3C693}"/>
              </a:ext>
            </a:extLst>
          </p:cNvPr>
          <p:cNvCxnSpPr>
            <a:cxnSpLocks/>
            <a:stCxn id="66" idx="3"/>
            <a:endCxn id="67" idx="1"/>
          </p:cNvCxnSpPr>
          <p:nvPr/>
        </p:nvCxnSpPr>
        <p:spPr>
          <a:xfrm>
            <a:off x="4738395" y="4860157"/>
            <a:ext cx="551177"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18677CAE-4286-3AE4-A8E0-7BEDFE0CA768}"/>
              </a:ext>
            </a:extLst>
          </p:cNvPr>
          <p:cNvCxnSpPr>
            <a:cxnSpLocks/>
            <a:stCxn id="67" idx="3"/>
            <a:endCxn id="68" idx="1"/>
          </p:cNvCxnSpPr>
          <p:nvPr/>
        </p:nvCxnSpPr>
        <p:spPr>
          <a:xfrm flipV="1">
            <a:off x="7072190" y="4860157"/>
            <a:ext cx="552750"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4C161987-1D0C-75FD-8BE9-179644BAAD44}"/>
              </a:ext>
            </a:extLst>
          </p:cNvPr>
          <p:cNvCxnSpPr>
            <a:cxnSpLocks/>
            <a:stCxn id="68" idx="3"/>
            <a:endCxn id="69" idx="1"/>
          </p:cNvCxnSpPr>
          <p:nvPr/>
        </p:nvCxnSpPr>
        <p:spPr>
          <a:xfrm>
            <a:off x="9407558" y="4860157"/>
            <a:ext cx="4635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3" name="文本框 82">
            <a:extLst>
              <a:ext uri="{FF2B5EF4-FFF2-40B4-BE49-F238E27FC236}">
                <a16:creationId xmlns:a16="http://schemas.microsoft.com/office/drawing/2014/main" id="{F9413126-CD21-F549-7E83-978ABA47ED01}"/>
              </a:ext>
            </a:extLst>
          </p:cNvPr>
          <p:cNvSpPr txBox="1"/>
          <p:nvPr/>
        </p:nvSpPr>
        <p:spPr>
          <a:xfrm>
            <a:off x="754748" y="5281097"/>
            <a:ext cx="1782618" cy="307777"/>
          </a:xfrm>
          <a:prstGeom prst="rect">
            <a:avLst/>
          </a:prstGeom>
          <a:noFill/>
        </p:spPr>
        <p:txBody>
          <a:bodyPr wrap="square" rtlCol="0">
            <a:spAutoFit/>
          </a:bodyPr>
          <a:lstStyle/>
          <a:p>
            <a:r>
              <a:rPr lang="zh-CN" altLang="en-US" sz="1400" dirty="0">
                <a:ea typeface="字魂58号-创中黑" panose="00000500000000000000"/>
              </a:rPr>
              <a:t>材料成分</a:t>
            </a:r>
            <a:r>
              <a:rPr lang="en-US" altLang="zh-CN" sz="1400" dirty="0">
                <a:ea typeface="字魂58号-创中黑" panose="00000500000000000000"/>
              </a:rPr>
              <a:t>/</a:t>
            </a:r>
            <a:r>
              <a:rPr lang="zh-CN" altLang="en-US" sz="1400" dirty="0">
                <a:ea typeface="字魂58号-创中黑" panose="00000500000000000000"/>
              </a:rPr>
              <a:t>工艺参数</a:t>
            </a:r>
          </a:p>
        </p:txBody>
      </p:sp>
      <p:sp>
        <p:nvSpPr>
          <p:cNvPr id="85" name="文本框 84">
            <a:extLst>
              <a:ext uri="{FF2B5EF4-FFF2-40B4-BE49-F238E27FC236}">
                <a16:creationId xmlns:a16="http://schemas.microsoft.com/office/drawing/2014/main" id="{3C2B54E2-3CE7-885A-0680-BCF368F7AD8B}"/>
              </a:ext>
            </a:extLst>
          </p:cNvPr>
          <p:cNvSpPr txBox="1"/>
          <p:nvPr/>
        </p:nvSpPr>
        <p:spPr>
          <a:xfrm>
            <a:off x="3045428" y="5250872"/>
            <a:ext cx="1603316" cy="523220"/>
          </a:xfrm>
          <a:prstGeom prst="rect">
            <a:avLst/>
          </a:prstGeom>
          <a:noFill/>
        </p:spPr>
        <p:txBody>
          <a:bodyPr wrap="square" rtlCol="0">
            <a:spAutoFit/>
          </a:bodyPr>
          <a:lstStyle/>
          <a:p>
            <a:r>
              <a:rPr lang="zh-CN" altLang="en-US" sz="1400" dirty="0">
                <a:latin typeface="微软雅黑"/>
                <a:ea typeface="字魂58号-创中黑" panose="00000500000000000000"/>
              </a:rPr>
              <a:t>构造 </a:t>
            </a:r>
            <a:r>
              <a:rPr lang="en-US" altLang="zh-CN" sz="1400" dirty="0">
                <a:latin typeface="微软雅黑"/>
                <a:ea typeface="字魂58号-创中黑" panose="00000500000000000000"/>
              </a:rPr>
              <a:t>CD, </a:t>
            </a:r>
            <a:r>
              <a:rPr lang="en-US" altLang="zh-CN" sz="1400" dirty="0" err="1">
                <a:latin typeface="微软雅黑"/>
                <a:ea typeface="字魂58号-创中黑" panose="00000500000000000000"/>
              </a:rPr>
              <a:t>Ceq</a:t>
            </a:r>
            <a:r>
              <a:rPr lang="en-US" altLang="zh-CN" sz="1400" dirty="0">
                <a:latin typeface="微软雅黑"/>
                <a:ea typeface="字魂58号-创中黑" panose="00000500000000000000"/>
              </a:rPr>
              <a:t>, Q </a:t>
            </a:r>
            <a:r>
              <a:rPr lang="zh-CN" altLang="en-US" sz="1400" dirty="0">
                <a:latin typeface="微软雅黑"/>
                <a:ea typeface="字魂58号-创中黑" panose="00000500000000000000"/>
              </a:rPr>
              <a:t>等物理变量</a:t>
            </a:r>
            <a:endParaRPr lang="zh-CN" altLang="en-US" sz="1400" dirty="0">
              <a:ea typeface="字魂58号-创中黑" panose="00000500000000000000"/>
            </a:endParaRPr>
          </a:p>
        </p:txBody>
      </p:sp>
      <p:sp>
        <p:nvSpPr>
          <p:cNvPr id="87" name="文本框 86">
            <a:extLst>
              <a:ext uri="{FF2B5EF4-FFF2-40B4-BE49-F238E27FC236}">
                <a16:creationId xmlns:a16="http://schemas.microsoft.com/office/drawing/2014/main" id="{2E02AA32-B245-B041-26CD-EBDC01AEAAF2}"/>
              </a:ext>
            </a:extLst>
          </p:cNvPr>
          <p:cNvSpPr txBox="1"/>
          <p:nvPr/>
        </p:nvSpPr>
        <p:spPr>
          <a:xfrm>
            <a:off x="5379223" y="5250872"/>
            <a:ext cx="1603316" cy="523220"/>
          </a:xfrm>
          <a:prstGeom prst="rect">
            <a:avLst/>
          </a:prstGeom>
          <a:noFill/>
        </p:spPr>
        <p:txBody>
          <a:bodyPr wrap="square">
            <a:spAutoFit/>
          </a:bodyPr>
          <a:lstStyle/>
          <a:p>
            <a:r>
              <a:rPr lang="zh-CN" altLang="en-US" sz="1400" dirty="0">
                <a:latin typeface="微软雅黑"/>
                <a:ea typeface="字魂58号-创中黑" panose="00000500000000000000"/>
              </a:rPr>
              <a:t>采用 </a:t>
            </a:r>
            <a:r>
              <a:rPr lang="en-US" altLang="zh-CN" sz="1400" dirty="0" err="1">
                <a:latin typeface="微软雅黑"/>
                <a:ea typeface="字魂58号-创中黑" panose="00000500000000000000"/>
              </a:rPr>
              <a:t>XGBoost</a:t>
            </a:r>
            <a:r>
              <a:rPr lang="en-US" altLang="zh-CN" sz="1400" dirty="0">
                <a:latin typeface="微软雅黑"/>
                <a:ea typeface="字魂58号-创中黑" panose="00000500000000000000"/>
              </a:rPr>
              <a:t> </a:t>
            </a:r>
            <a:r>
              <a:rPr lang="zh-CN" altLang="en-US" sz="1400" dirty="0">
                <a:latin typeface="微软雅黑"/>
                <a:ea typeface="字魂58号-创中黑" panose="00000500000000000000"/>
              </a:rPr>
              <a:t>等进行回归建模</a:t>
            </a:r>
            <a:endParaRPr lang="zh-CN" altLang="en-US" sz="1400" dirty="0">
              <a:ea typeface="字魂58号-创中黑" panose="00000500000000000000"/>
            </a:endParaRPr>
          </a:p>
        </p:txBody>
      </p:sp>
      <p:sp>
        <p:nvSpPr>
          <p:cNvPr id="88" name="矩形 87">
            <a:extLst>
              <a:ext uri="{FF2B5EF4-FFF2-40B4-BE49-F238E27FC236}">
                <a16:creationId xmlns:a16="http://schemas.microsoft.com/office/drawing/2014/main" id="{89008523-F81E-6935-6BDA-83E255526816}"/>
              </a:ext>
            </a:extLst>
          </p:cNvPr>
          <p:cNvSpPr/>
          <p:nvPr/>
        </p:nvSpPr>
        <p:spPr>
          <a:xfrm>
            <a:off x="795016" y="3914662"/>
            <a:ext cx="1284806" cy="396583"/>
          </a:xfrm>
          <a:prstGeom prst="rect">
            <a:avLst/>
          </a:prstGeom>
        </p:spPr>
        <p:txBody>
          <a:bodyPr wrap="square">
            <a:spAutoFit/>
            <a:scene3d>
              <a:camera prst="orthographicFront"/>
              <a:lightRig rig="threePt" dir="t"/>
            </a:scene3d>
            <a:sp3d contourW="12700"/>
          </a:bodyPr>
          <a:lstStyle/>
          <a:p>
            <a:pPr marL="0" marR="0" lvl="0" indent="0" algn="ctr" defTabSz="914400" eaLnBrk="1" fontAlgn="auto" latinLnBrk="0" hangingPunct="1">
              <a:lnSpc>
                <a:spcPct val="120000"/>
              </a:lnSpc>
              <a:spcBef>
                <a:spcPts val="0"/>
              </a:spcBef>
              <a:spcAft>
                <a:spcPts val="0"/>
              </a:spcAft>
              <a:buClrTx/>
              <a:buSzTx/>
              <a:buFontTx/>
              <a:buNone/>
              <a:tabLst/>
              <a:defRPr/>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融合建模</a:t>
            </a:r>
            <a:endParaRPr kumimoji="0" lang="zh-CN" altLang="en-US" sz="1800" b="1" i="0" u="none" strike="noStrike" kern="0" cap="none" spc="0" normalizeH="0" baseline="0" noProof="0" dirty="0">
              <a:ln>
                <a:noFill/>
              </a:ln>
              <a:solidFill>
                <a:prstClr val="black">
                  <a:lumMod val="65000"/>
                  <a:lumOff val="35000"/>
                </a:prstClr>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90" name="文本框 89">
            <a:extLst>
              <a:ext uri="{FF2B5EF4-FFF2-40B4-BE49-F238E27FC236}">
                <a16:creationId xmlns:a16="http://schemas.microsoft.com/office/drawing/2014/main" id="{08492489-D345-19B5-B5D9-5203A8A54F3C}"/>
              </a:ext>
            </a:extLst>
          </p:cNvPr>
          <p:cNvSpPr txBox="1"/>
          <p:nvPr/>
        </p:nvSpPr>
        <p:spPr>
          <a:xfrm>
            <a:off x="7693737" y="5250872"/>
            <a:ext cx="1645024" cy="523220"/>
          </a:xfrm>
          <a:prstGeom prst="rect">
            <a:avLst/>
          </a:prstGeom>
          <a:noFill/>
        </p:spPr>
        <p:txBody>
          <a:bodyPr wrap="square">
            <a:spAutoFit/>
          </a:bodyPr>
          <a:lstStyle/>
          <a:p>
            <a:r>
              <a:rPr lang="zh-CN" altLang="en-US" sz="1400" dirty="0">
                <a:latin typeface="微软雅黑"/>
                <a:ea typeface="字魂58号-创中黑" panose="00000500000000000000"/>
              </a:rPr>
              <a:t>引入智能优化算法提升预测精度</a:t>
            </a:r>
            <a:endParaRPr lang="zh-CN" altLang="en-US" sz="1400" dirty="0">
              <a:ea typeface="字魂58号-创中黑" panose="00000500000000000000"/>
            </a:endParaRPr>
          </a:p>
        </p:txBody>
      </p:sp>
      <p:sp>
        <p:nvSpPr>
          <p:cNvPr id="92" name="文本框 91">
            <a:extLst>
              <a:ext uri="{FF2B5EF4-FFF2-40B4-BE49-F238E27FC236}">
                <a16:creationId xmlns:a16="http://schemas.microsoft.com/office/drawing/2014/main" id="{96D7FC5C-CB7B-1FF3-8799-10BFE7F62C9E}"/>
              </a:ext>
            </a:extLst>
          </p:cNvPr>
          <p:cNvSpPr txBox="1"/>
          <p:nvPr/>
        </p:nvSpPr>
        <p:spPr>
          <a:xfrm>
            <a:off x="10051385" y="5281097"/>
            <a:ext cx="1422027" cy="307777"/>
          </a:xfrm>
          <a:prstGeom prst="rect">
            <a:avLst/>
          </a:prstGeom>
          <a:noFill/>
        </p:spPr>
        <p:txBody>
          <a:bodyPr wrap="square">
            <a:spAutoFit/>
          </a:bodyPr>
          <a:lstStyle/>
          <a:p>
            <a:r>
              <a:rPr lang="en-US" altLang="zh-CN" sz="1400" dirty="0">
                <a:latin typeface="微软雅黑"/>
                <a:ea typeface="字魂58号-创中黑" panose="00000500000000000000"/>
              </a:rPr>
              <a:t>TS/YS/EL</a:t>
            </a:r>
            <a:r>
              <a:rPr lang="zh-CN" altLang="en-US" sz="1400" dirty="0">
                <a:latin typeface="微软雅黑"/>
                <a:ea typeface="字魂58号-创中黑" panose="00000500000000000000"/>
              </a:rPr>
              <a:t>预测 </a:t>
            </a:r>
            <a:endParaRPr lang="zh-CN" altLang="en-US" sz="1400" dirty="0">
              <a:ea typeface="字魂58号-创中黑" panose="00000500000000000000"/>
            </a:endParaRPr>
          </a:p>
        </p:txBody>
      </p:sp>
    </p:spTree>
    <p:extLst>
      <p:ext uri="{BB962C8B-B14F-4D97-AF65-F5344CB8AC3E}">
        <p14:creationId xmlns:p14="http://schemas.microsoft.com/office/powerpoint/2010/main" val="629260423"/>
      </p:ext>
    </p:extLst>
  </p:cSld>
  <p:clrMapOvr>
    <a:masterClrMapping/>
  </p:clrMapOvr>
  <mc:AlternateContent xmlns:mc="http://schemas.openxmlformats.org/markup-compatibility/2006" xmlns:p14="http://schemas.microsoft.com/office/powerpoint/2010/main">
    <mc:Choice Requires="p14">
      <p:transition spd="slow" p14:dur="1500" advClick="0" advTm="41150">
        <p:random/>
      </p:transition>
    </mc:Choice>
    <mc:Fallback xmlns="">
      <p:transition spd="slow" advClick="0" advTm="41150">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6D6BE27-C1D7-4792-AE6C-3F1F6C2D31F7}"/>
              </a:ext>
            </a:extLst>
          </p:cNvPr>
          <p:cNvGrpSpPr/>
          <p:nvPr/>
        </p:nvGrpSpPr>
        <p:grpSpPr>
          <a:xfrm>
            <a:off x="1169043" y="2053017"/>
            <a:ext cx="2729716" cy="3444321"/>
            <a:chOff x="515938" y="1892469"/>
            <a:chExt cx="2519464" cy="3793787"/>
          </a:xfrm>
        </p:grpSpPr>
        <p:sp>
          <p:nvSpPr>
            <p:cNvPr id="33" name="任意多边形: 形状 32">
              <a:extLst>
                <a:ext uri="{FF2B5EF4-FFF2-40B4-BE49-F238E27FC236}">
                  <a16:creationId xmlns:a16="http://schemas.microsoft.com/office/drawing/2014/main" id="{F7DD4ED2-4B5D-47FD-8A86-8F86FBA47FB3}"/>
                </a:ext>
              </a:extLst>
            </p:cNvPr>
            <p:cNvSpPr/>
            <p:nvPr/>
          </p:nvSpPr>
          <p:spPr>
            <a:xfrm>
              <a:off x="515938" y="1892469"/>
              <a:ext cx="2519464" cy="1142561"/>
            </a:xfrm>
            <a:custGeom>
              <a:avLst/>
              <a:gdLst>
                <a:gd name="connsiteX0" fmla="*/ 419919 w 2519464"/>
                <a:gd name="connsiteY0" fmla="*/ 0 h 1142561"/>
                <a:gd name="connsiteX1" fmla="*/ 2099545 w 2519464"/>
                <a:gd name="connsiteY1" fmla="*/ 0 h 1142561"/>
                <a:gd name="connsiteX2" fmla="*/ 2519464 w 2519464"/>
                <a:gd name="connsiteY2" fmla="*/ 419919 h 1142561"/>
                <a:gd name="connsiteX3" fmla="*/ 2519464 w 2519464"/>
                <a:gd name="connsiteY3" fmla="*/ 1142561 h 1142561"/>
                <a:gd name="connsiteX4" fmla="*/ 0 w 2519464"/>
                <a:gd name="connsiteY4" fmla="*/ 1142561 h 1142561"/>
                <a:gd name="connsiteX5" fmla="*/ 0 w 2519464"/>
                <a:gd name="connsiteY5" fmla="*/ 419919 h 1142561"/>
                <a:gd name="connsiteX6" fmla="*/ 419919 w 2519464"/>
                <a:gd name="connsiteY6" fmla="*/ 0 h 1142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9464" h="1142561">
                  <a:moveTo>
                    <a:pt x="419919" y="0"/>
                  </a:moveTo>
                  <a:lnTo>
                    <a:pt x="2099545" y="0"/>
                  </a:lnTo>
                  <a:cubicBezTo>
                    <a:pt x="2331460" y="0"/>
                    <a:pt x="2519464" y="188004"/>
                    <a:pt x="2519464" y="419919"/>
                  </a:cubicBezTo>
                  <a:lnTo>
                    <a:pt x="2519464" y="1142561"/>
                  </a:lnTo>
                  <a:lnTo>
                    <a:pt x="0" y="1142561"/>
                  </a:lnTo>
                  <a:lnTo>
                    <a:pt x="0" y="419919"/>
                  </a:lnTo>
                  <a:cubicBezTo>
                    <a:pt x="0" y="188004"/>
                    <a:pt x="188004" y="0"/>
                    <a:pt x="419919" y="0"/>
                  </a:cubicBezTo>
                  <a:close/>
                </a:path>
              </a:pathLst>
            </a:custGeom>
            <a:solidFill>
              <a:srgbClr val="0170BD"/>
            </a:solidFill>
            <a:ln w="38100" cap="flat" cmpd="sng" algn="ctr">
              <a:solidFill>
                <a:srgbClr val="0170BD"/>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4" name="矩形: 圆角 33">
              <a:extLst>
                <a:ext uri="{FF2B5EF4-FFF2-40B4-BE49-F238E27FC236}">
                  <a16:creationId xmlns:a16="http://schemas.microsoft.com/office/drawing/2014/main" id="{268A2BC8-96C8-4D4A-B1A1-6C352444C774}"/>
                </a:ext>
              </a:extLst>
            </p:cNvPr>
            <p:cNvSpPr/>
            <p:nvPr/>
          </p:nvSpPr>
          <p:spPr>
            <a:xfrm>
              <a:off x="515938" y="1892469"/>
              <a:ext cx="2519464" cy="3793787"/>
            </a:xfrm>
            <a:prstGeom prst="roundRect">
              <a:avLst/>
            </a:prstGeom>
            <a:noFill/>
            <a:ln w="38100" cap="flat" cmpd="sng" algn="ctr">
              <a:solidFill>
                <a:srgbClr val="0170BD"/>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nvGrpSpPr>
            <p:cNvPr id="35" name="组合 34">
              <a:extLst>
                <a:ext uri="{FF2B5EF4-FFF2-40B4-BE49-F238E27FC236}">
                  <a16:creationId xmlns:a16="http://schemas.microsoft.com/office/drawing/2014/main" id="{C310F5B7-DC3B-4F85-94BB-D41CE035C1FD}"/>
                </a:ext>
              </a:extLst>
            </p:cNvPr>
            <p:cNvGrpSpPr/>
            <p:nvPr/>
          </p:nvGrpSpPr>
          <p:grpSpPr>
            <a:xfrm>
              <a:off x="543604" y="2429599"/>
              <a:ext cx="2491798" cy="2853314"/>
              <a:chOff x="1067009" y="2049060"/>
              <a:chExt cx="2491798" cy="2853314"/>
            </a:xfrm>
          </p:grpSpPr>
          <p:sp>
            <p:nvSpPr>
              <p:cNvPr id="37" name="矩形 36">
                <a:extLst>
                  <a:ext uri="{FF2B5EF4-FFF2-40B4-BE49-F238E27FC236}">
                    <a16:creationId xmlns:a16="http://schemas.microsoft.com/office/drawing/2014/main" id="{58F5B95A-BCE9-45D8-A02B-428961CDE210}"/>
                  </a:ext>
                </a:extLst>
              </p:cNvPr>
              <p:cNvSpPr/>
              <p:nvPr/>
            </p:nvSpPr>
            <p:spPr>
              <a:xfrm>
                <a:off x="1067009" y="2702378"/>
                <a:ext cx="2491798" cy="2199996"/>
              </a:xfrm>
              <a:prstGeom prst="rect">
                <a:avLst/>
              </a:prstGeom>
            </p:spPr>
            <p:txBody>
              <a:bodyPr wrap="square">
                <a:spAutoFit/>
              </a:bodyPr>
              <a:lstStyle/>
              <a:p>
                <a:pPr defTabSz="914377">
                  <a:lnSpc>
                    <a:spcPct val="150000"/>
                  </a:lnSpc>
                </a:pPr>
                <a:r>
                  <a:rPr lang="zh-CN" altLang="en-US" sz="1400" dirty="0">
                    <a:ea typeface="字魂58号-创中黑" panose="00000500000000000000"/>
                  </a:rPr>
                  <a:t>       基于梯度提升树的高效集成学习算法，支持缺失值处理等优势。它支持多种损失函数与多目标任务，并结合交叉验证、贝叶斯优化等方式实现参数调优，广泛应用于冷轧带钢性能预测中。</a:t>
                </a:r>
                <a:endParaRPr lang="zh-CN" altLang="en-US" sz="1400" dirty="0">
                  <a:solidFill>
                    <a:prstClr val="black">
                      <a:lumMod val="85000"/>
                      <a:lumOff val="15000"/>
                    </a:prstClr>
                  </a:solidFill>
                  <a:latin typeface="字魂58号-创中黑" panose="00000500000000000000" pitchFamily="2" charset="-122"/>
                  <a:ea typeface="字魂58号-创中黑" panose="00000500000000000000"/>
                  <a:sym typeface="字魂58号-创中黑" panose="00000500000000000000" pitchFamily="2" charset="-122"/>
                </a:endParaRPr>
              </a:p>
            </p:txBody>
          </p:sp>
          <p:sp>
            <p:nvSpPr>
              <p:cNvPr id="38" name="矩形 37">
                <a:extLst>
                  <a:ext uri="{FF2B5EF4-FFF2-40B4-BE49-F238E27FC236}">
                    <a16:creationId xmlns:a16="http://schemas.microsoft.com/office/drawing/2014/main" id="{91E0B989-F4D2-4073-8231-B8A348B4CF3E}"/>
                  </a:ext>
                </a:extLst>
              </p:cNvPr>
              <p:cNvSpPr/>
              <p:nvPr/>
            </p:nvSpPr>
            <p:spPr>
              <a:xfrm>
                <a:off x="1338806" y="2049060"/>
                <a:ext cx="1892869" cy="436821"/>
              </a:xfrm>
              <a:prstGeom prst="rect">
                <a:avLst/>
              </a:prstGeom>
            </p:spPr>
            <p:txBody>
              <a:bodyPr wrap="square">
                <a:spAutoFit/>
                <a:scene3d>
                  <a:camera prst="orthographicFront"/>
                  <a:lightRig rig="threePt" dir="t"/>
                </a:scene3d>
                <a:sp3d contourW="12700"/>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800" b="1" i="0" u="none" strike="noStrike" kern="0" cap="none" spc="0" normalizeH="0" baseline="0" noProof="0" dirty="0" err="1">
                    <a:ln>
                      <a:noFill/>
                    </a:ln>
                    <a:solidFill>
                      <a:schemeClr val="bg1"/>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rPr>
                  <a:t>XGBoost</a:t>
                </a:r>
                <a:endParaRPr kumimoji="0" lang="zh-CN" altLang="en-US" sz="1800" b="1" i="0" u="none" strike="noStrike" kern="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grpSp>
        <p:nvGrpSpPr>
          <p:cNvPr id="39" name="组合 38">
            <a:extLst>
              <a:ext uri="{FF2B5EF4-FFF2-40B4-BE49-F238E27FC236}">
                <a16:creationId xmlns:a16="http://schemas.microsoft.com/office/drawing/2014/main" id="{1C222B80-5F5E-459E-860B-888E3D4811A7}"/>
              </a:ext>
            </a:extLst>
          </p:cNvPr>
          <p:cNvGrpSpPr/>
          <p:nvPr/>
        </p:nvGrpSpPr>
        <p:grpSpPr>
          <a:xfrm>
            <a:off x="4601199" y="2053017"/>
            <a:ext cx="2866678" cy="3446261"/>
            <a:chOff x="3396158" y="1892469"/>
            <a:chExt cx="2566952" cy="3793787"/>
          </a:xfrm>
        </p:grpSpPr>
        <p:sp>
          <p:nvSpPr>
            <p:cNvPr id="40" name="任意多边形: 形状 39">
              <a:extLst>
                <a:ext uri="{FF2B5EF4-FFF2-40B4-BE49-F238E27FC236}">
                  <a16:creationId xmlns:a16="http://schemas.microsoft.com/office/drawing/2014/main" id="{8C59E8D9-DBF1-4919-A341-028DA725A3A3}"/>
                </a:ext>
              </a:extLst>
            </p:cNvPr>
            <p:cNvSpPr/>
            <p:nvPr/>
          </p:nvSpPr>
          <p:spPr>
            <a:xfrm>
              <a:off x="3396158" y="1892469"/>
              <a:ext cx="2519464" cy="1142561"/>
            </a:xfrm>
            <a:custGeom>
              <a:avLst/>
              <a:gdLst>
                <a:gd name="connsiteX0" fmla="*/ 419919 w 2519464"/>
                <a:gd name="connsiteY0" fmla="*/ 0 h 1142561"/>
                <a:gd name="connsiteX1" fmla="*/ 2099545 w 2519464"/>
                <a:gd name="connsiteY1" fmla="*/ 0 h 1142561"/>
                <a:gd name="connsiteX2" fmla="*/ 2519464 w 2519464"/>
                <a:gd name="connsiteY2" fmla="*/ 419919 h 1142561"/>
                <a:gd name="connsiteX3" fmla="*/ 2519464 w 2519464"/>
                <a:gd name="connsiteY3" fmla="*/ 1142561 h 1142561"/>
                <a:gd name="connsiteX4" fmla="*/ 0 w 2519464"/>
                <a:gd name="connsiteY4" fmla="*/ 1142561 h 1142561"/>
                <a:gd name="connsiteX5" fmla="*/ 0 w 2519464"/>
                <a:gd name="connsiteY5" fmla="*/ 419919 h 1142561"/>
                <a:gd name="connsiteX6" fmla="*/ 419919 w 2519464"/>
                <a:gd name="connsiteY6" fmla="*/ 0 h 1142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9464" h="1142561">
                  <a:moveTo>
                    <a:pt x="419919" y="0"/>
                  </a:moveTo>
                  <a:lnTo>
                    <a:pt x="2099545" y="0"/>
                  </a:lnTo>
                  <a:cubicBezTo>
                    <a:pt x="2331460" y="0"/>
                    <a:pt x="2519464" y="188004"/>
                    <a:pt x="2519464" y="419919"/>
                  </a:cubicBezTo>
                  <a:lnTo>
                    <a:pt x="2519464" y="1142561"/>
                  </a:lnTo>
                  <a:lnTo>
                    <a:pt x="0" y="1142561"/>
                  </a:lnTo>
                  <a:lnTo>
                    <a:pt x="0" y="419919"/>
                  </a:lnTo>
                  <a:cubicBezTo>
                    <a:pt x="0" y="188004"/>
                    <a:pt x="188004" y="0"/>
                    <a:pt x="419919" y="0"/>
                  </a:cubicBezTo>
                  <a:close/>
                </a:path>
              </a:pathLst>
            </a:custGeom>
            <a:solidFill>
              <a:srgbClr val="7F7F7F"/>
            </a:solidFill>
            <a:ln w="381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1" name="矩形: 圆角 40">
              <a:extLst>
                <a:ext uri="{FF2B5EF4-FFF2-40B4-BE49-F238E27FC236}">
                  <a16:creationId xmlns:a16="http://schemas.microsoft.com/office/drawing/2014/main" id="{0AA595E3-36E1-4975-9D22-14A02B38B211}"/>
                </a:ext>
              </a:extLst>
            </p:cNvPr>
            <p:cNvSpPr/>
            <p:nvPr/>
          </p:nvSpPr>
          <p:spPr>
            <a:xfrm>
              <a:off x="3396158" y="1892469"/>
              <a:ext cx="2519464" cy="3793787"/>
            </a:xfrm>
            <a:prstGeom prst="roundRect">
              <a:avLst/>
            </a:prstGeom>
            <a:noFill/>
            <a:ln w="38100" cap="flat" cmpd="sng" algn="ctr">
              <a:solidFill>
                <a:schemeClr val="bg1">
                  <a:lumMod val="50000"/>
                </a:scheme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nvGrpSpPr>
            <p:cNvPr id="42" name="组合 41">
              <a:extLst>
                <a:ext uri="{FF2B5EF4-FFF2-40B4-BE49-F238E27FC236}">
                  <a16:creationId xmlns:a16="http://schemas.microsoft.com/office/drawing/2014/main" id="{7DFB83E2-D5C2-4818-AFC8-84A032E52AFD}"/>
                </a:ext>
              </a:extLst>
            </p:cNvPr>
            <p:cNvGrpSpPr/>
            <p:nvPr/>
          </p:nvGrpSpPr>
          <p:grpSpPr>
            <a:xfrm>
              <a:off x="3471312" y="2429296"/>
              <a:ext cx="2491798" cy="2851708"/>
              <a:chOff x="1114497" y="2048757"/>
              <a:chExt cx="2491798" cy="2851708"/>
            </a:xfrm>
          </p:grpSpPr>
          <p:sp>
            <p:nvSpPr>
              <p:cNvPr id="44" name="矩形 43">
                <a:extLst>
                  <a:ext uri="{FF2B5EF4-FFF2-40B4-BE49-F238E27FC236}">
                    <a16:creationId xmlns:a16="http://schemas.microsoft.com/office/drawing/2014/main" id="{7067DD8B-791F-46F1-812D-6B181C56DDA2}"/>
                  </a:ext>
                </a:extLst>
              </p:cNvPr>
              <p:cNvSpPr/>
              <p:nvPr/>
            </p:nvSpPr>
            <p:spPr>
              <a:xfrm>
                <a:off x="1114497" y="2701708"/>
                <a:ext cx="2491798" cy="2198757"/>
              </a:xfrm>
              <a:prstGeom prst="rect">
                <a:avLst/>
              </a:prstGeom>
            </p:spPr>
            <p:txBody>
              <a:bodyPr wrap="square">
                <a:spAutoFit/>
              </a:bodyPr>
              <a:lstStyle/>
              <a:p>
                <a:pPr defTabSz="914377">
                  <a:lnSpc>
                    <a:spcPct val="150000"/>
                  </a:lnSpc>
                </a:pPr>
                <a:r>
                  <a:rPr lang="zh-CN" altLang="en-US" sz="1400" dirty="0">
                    <a:ea typeface="字魂58号-创中黑" panose="00000500000000000000"/>
                  </a:rPr>
                  <a:t>       基于梯度提升框架的集成学习算法，专为处理类别特征而设计。它通过高效的类别编码方式和对称树结构，在无需复杂预处理的情况下即可处理结构化数据，并在小样本下表现稳定。</a:t>
                </a:r>
                <a:endParaRPr lang="zh-CN" altLang="en-US" sz="1400" dirty="0">
                  <a:solidFill>
                    <a:prstClr val="black">
                      <a:lumMod val="85000"/>
                      <a:lumOff val="15000"/>
                    </a:prstClr>
                  </a:solidFill>
                  <a:latin typeface="字魂58号-创中黑" panose="00000500000000000000" pitchFamily="2" charset="-122"/>
                  <a:ea typeface="字魂58号-创中黑" panose="00000500000000000000"/>
                  <a:sym typeface="字魂58号-创中黑" panose="00000500000000000000" pitchFamily="2" charset="-122"/>
                </a:endParaRPr>
              </a:p>
            </p:txBody>
          </p:sp>
          <p:sp>
            <p:nvSpPr>
              <p:cNvPr id="45" name="矩形 44">
                <a:extLst>
                  <a:ext uri="{FF2B5EF4-FFF2-40B4-BE49-F238E27FC236}">
                    <a16:creationId xmlns:a16="http://schemas.microsoft.com/office/drawing/2014/main" id="{2245D3D0-4952-48A7-A2CB-B90F80BA462C}"/>
                  </a:ext>
                </a:extLst>
              </p:cNvPr>
              <p:cNvSpPr/>
              <p:nvPr/>
            </p:nvSpPr>
            <p:spPr>
              <a:xfrm>
                <a:off x="1333391" y="2048757"/>
                <a:ext cx="1892869" cy="436575"/>
              </a:xfrm>
              <a:prstGeom prst="rect">
                <a:avLst/>
              </a:prstGeom>
            </p:spPr>
            <p:txBody>
              <a:bodyPr wrap="square">
                <a:spAutoFit/>
                <a:scene3d>
                  <a:camera prst="orthographicFront"/>
                  <a:lightRig rig="threePt" dir="t"/>
                </a:scene3d>
                <a:sp3d contourW="12700"/>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800" b="1" i="0" u="none" strike="noStrike" kern="0" cap="none" spc="0" normalizeH="0" baseline="0" noProof="0" dirty="0" err="1">
                    <a:ln>
                      <a:noFill/>
                    </a:ln>
                    <a:solidFill>
                      <a:schemeClr val="bg1"/>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rPr>
                  <a:t>CatBoost</a:t>
                </a:r>
                <a:endParaRPr kumimoji="0" lang="en-US" altLang="zh-CN" sz="1800" b="1" i="0" u="none" strike="noStrike" kern="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grpSp>
        <p:nvGrpSpPr>
          <p:cNvPr id="46" name="组合 45">
            <a:extLst>
              <a:ext uri="{FF2B5EF4-FFF2-40B4-BE49-F238E27FC236}">
                <a16:creationId xmlns:a16="http://schemas.microsoft.com/office/drawing/2014/main" id="{124F6E60-3CA9-4F18-867A-C1032F1B027C}"/>
              </a:ext>
            </a:extLst>
          </p:cNvPr>
          <p:cNvGrpSpPr/>
          <p:nvPr/>
        </p:nvGrpSpPr>
        <p:grpSpPr>
          <a:xfrm>
            <a:off x="8057247" y="2051076"/>
            <a:ext cx="2842785" cy="3446261"/>
            <a:chOff x="6276378" y="1892469"/>
            <a:chExt cx="2545558" cy="3793787"/>
          </a:xfrm>
        </p:grpSpPr>
        <p:sp>
          <p:nvSpPr>
            <p:cNvPr id="47" name="任意多边形: 形状 46">
              <a:extLst>
                <a:ext uri="{FF2B5EF4-FFF2-40B4-BE49-F238E27FC236}">
                  <a16:creationId xmlns:a16="http://schemas.microsoft.com/office/drawing/2014/main" id="{A9319018-7B28-462E-8BFF-251B47549199}"/>
                </a:ext>
              </a:extLst>
            </p:cNvPr>
            <p:cNvSpPr/>
            <p:nvPr/>
          </p:nvSpPr>
          <p:spPr>
            <a:xfrm>
              <a:off x="6276378" y="1892469"/>
              <a:ext cx="2519464" cy="1142561"/>
            </a:xfrm>
            <a:custGeom>
              <a:avLst/>
              <a:gdLst>
                <a:gd name="connsiteX0" fmla="*/ 419919 w 2519464"/>
                <a:gd name="connsiteY0" fmla="*/ 0 h 1142561"/>
                <a:gd name="connsiteX1" fmla="*/ 2099545 w 2519464"/>
                <a:gd name="connsiteY1" fmla="*/ 0 h 1142561"/>
                <a:gd name="connsiteX2" fmla="*/ 2519464 w 2519464"/>
                <a:gd name="connsiteY2" fmla="*/ 419919 h 1142561"/>
                <a:gd name="connsiteX3" fmla="*/ 2519464 w 2519464"/>
                <a:gd name="connsiteY3" fmla="*/ 1142561 h 1142561"/>
                <a:gd name="connsiteX4" fmla="*/ 0 w 2519464"/>
                <a:gd name="connsiteY4" fmla="*/ 1142561 h 1142561"/>
                <a:gd name="connsiteX5" fmla="*/ 0 w 2519464"/>
                <a:gd name="connsiteY5" fmla="*/ 419919 h 1142561"/>
                <a:gd name="connsiteX6" fmla="*/ 419919 w 2519464"/>
                <a:gd name="connsiteY6" fmla="*/ 0 h 1142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9464" h="1142561">
                  <a:moveTo>
                    <a:pt x="419919" y="0"/>
                  </a:moveTo>
                  <a:lnTo>
                    <a:pt x="2099545" y="0"/>
                  </a:lnTo>
                  <a:cubicBezTo>
                    <a:pt x="2331460" y="0"/>
                    <a:pt x="2519464" y="188004"/>
                    <a:pt x="2519464" y="419919"/>
                  </a:cubicBezTo>
                  <a:lnTo>
                    <a:pt x="2519464" y="1142561"/>
                  </a:lnTo>
                  <a:lnTo>
                    <a:pt x="0" y="1142561"/>
                  </a:lnTo>
                  <a:lnTo>
                    <a:pt x="0" y="419919"/>
                  </a:lnTo>
                  <a:cubicBezTo>
                    <a:pt x="0" y="188004"/>
                    <a:pt x="188004" y="0"/>
                    <a:pt x="419919" y="0"/>
                  </a:cubicBezTo>
                  <a:close/>
                </a:path>
              </a:pathLst>
            </a:custGeom>
            <a:solidFill>
              <a:srgbClr val="0170BD"/>
            </a:solidFill>
            <a:ln w="381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8" name="矩形: 圆角 47">
              <a:extLst>
                <a:ext uri="{FF2B5EF4-FFF2-40B4-BE49-F238E27FC236}">
                  <a16:creationId xmlns:a16="http://schemas.microsoft.com/office/drawing/2014/main" id="{F0CB4841-EF0B-4524-80F8-0E7B4419F9ED}"/>
                </a:ext>
              </a:extLst>
            </p:cNvPr>
            <p:cNvSpPr/>
            <p:nvPr/>
          </p:nvSpPr>
          <p:spPr>
            <a:xfrm>
              <a:off x="6276378" y="1892469"/>
              <a:ext cx="2519464" cy="3793787"/>
            </a:xfrm>
            <a:prstGeom prst="roundRect">
              <a:avLst/>
            </a:prstGeom>
            <a:noFill/>
            <a:ln w="38100" cap="flat" cmpd="sng" algn="ctr">
              <a:solidFill>
                <a:srgbClr val="0170BD"/>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nvGrpSpPr>
            <p:cNvPr id="49" name="组合 48">
              <a:extLst>
                <a:ext uri="{FF2B5EF4-FFF2-40B4-BE49-F238E27FC236}">
                  <a16:creationId xmlns:a16="http://schemas.microsoft.com/office/drawing/2014/main" id="{5A1FF158-776C-420D-A67C-88F66BE44932}"/>
                </a:ext>
              </a:extLst>
            </p:cNvPr>
            <p:cNvGrpSpPr/>
            <p:nvPr/>
          </p:nvGrpSpPr>
          <p:grpSpPr>
            <a:xfrm>
              <a:off x="6330138" y="2431432"/>
              <a:ext cx="2491798" cy="2846195"/>
              <a:chOff x="1079270" y="2050893"/>
              <a:chExt cx="2491798" cy="2846195"/>
            </a:xfrm>
          </p:grpSpPr>
          <p:sp>
            <p:nvSpPr>
              <p:cNvPr id="51" name="矩形 50">
                <a:extLst>
                  <a:ext uri="{FF2B5EF4-FFF2-40B4-BE49-F238E27FC236}">
                    <a16:creationId xmlns:a16="http://schemas.microsoft.com/office/drawing/2014/main" id="{BD6D1A15-9D4C-4B8D-964C-FD2DB9FAC2CE}"/>
                  </a:ext>
                </a:extLst>
              </p:cNvPr>
              <p:cNvSpPr/>
              <p:nvPr/>
            </p:nvSpPr>
            <p:spPr>
              <a:xfrm>
                <a:off x="1079270" y="2702849"/>
                <a:ext cx="2491798" cy="2194239"/>
              </a:xfrm>
              <a:prstGeom prst="rect">
                <a:avLst/>
              </a:prstGeom>
            </p:spPr>
            <p:txBody>
              <a:bodyPr wrap="square">
                <a:spAutoFit/>
              </a:bodyPr>
              <a:lstStyle/>
              <a:p>
                <a:pPr indent="457200" defTabSz="914377">
                  <a:lnSpc>
                    <a:spcPct val="150000"/>
                  </a:lnSpc>
                </a:pPr>
                <a:r>
                  <a:rPr lang="zh-CN" altLang="en-US" sz="1400" dirty="0">
                    <a:ea typeface="字魂58号-创中黑" panose="00000500000000000000"/>
                  </a:rPr>
                  <a:t>基于深度学习的结构化数据建模方法，通过注意力机制实现特征选择与表示学习的动态融合。其独特的顺序决策结构使模型能够自动关注对当前任务最重要的特征。</a:t>
                </a:r>
                <a:endParaRPr lang="zh-CN" altLang="en-US" sz="1400" dirty="0">
                  <a:solidFill>
                    <a:prstClr val="black">
                      <a:lumMod val="85000"/>
                      <a:lumOff val="15000"/>
                    </a:prstClr>
                  </a:solidFill>
                  <a:latin typeface="字魂58号-创中黑" panose="00000500000000000000" pitchFamily="2" charset="-122"/>
                  <a:ea typeface="字魂58号-创中黑" panose="00000500000000000000"/>
                  <a:sym typeface="字魂58号-创中黑" panose="00000500000000000000" pitchFamily="2" charset="-122"/>
                </a:endParaRPr>
              </a:p>
            </p:txBody>
          </p:sp>
          <p:sp>
            <p:nvSpPr>
              <p:cNvPr id="52" name="矩形 51">
                <a:extLst>
                  <a:ext uri="{FF2B5EF4-FFF2-40B4-BE49-F238E27FC236}">
                    <a16:creationId xmlns:a16="http://schemas.microsoft.com/office/drawing/2014/main" id="{6159948B-8E88-473A-ADE9-5E280323FDDF}"/>
                  </a:ext>
                </a:extLst>
              </p:cNvPr>
              <p:cNvSpPr/>
              <p:nvPr/>
            </p:nvSpPr>
            <p:spPr>
              <a:xfrm>
                <a:off x="1338807" y="2050893"/>
                <a:ext cx="1892869" cy="436575"/>
              </a:xfrm>
              <a:prstGeom prst="rect">
                <a:avLst/>
              </a:prstGeom>
            </p:spPr>
            <p:txBody>
              <a:bodyPr wrap="square">
                <a:spAutoFit/>
                <a:scene3d>
                  <a:camera prst="orthographicFront"/>
                  <a:lightRig rig="threePt" dir="t"/>
                </a:scene3d>
                <a:sp3d contourW="12700"/>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en-US" altLang="zh-CN" sz="1800" b="1" i="0" u="none" strike="noStrike" kern="0" cap="none" spc="0" normalizeH="0" baseline="0" noProof="0" dirty="0" err="1">
                    <a:ln>
                      <a:noFill/>
                    </a:ln>
                    <a:solidFill>
                      <a:schemeClr val="bg1"/>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rPr>
                  <a:t>TabNet</a:t>
                </a:r>
                <a:endParaRPr kumimoji="0" lang="en-US" altLang="zh-CN" sz="1800" b="1" i="0" u="none" strike="noStrike" kern="0" cap="none" spc="0" normalizeH="0" baseline="0" noProof="0" dirty="0">
                  <a:ln>
                    <a:noFill/>
                  </a:ln>
                  <a:solidFill>
                    <a:schemeClr val="bg1"/>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grpSp>
        <p:nvGrpSpPr>
          <p:cNvPr id="6" name="组合 5">
            <a:extLst>
              <a:ext uri="{FF2B5EF4-FFF2-40B4-BE49-F238E27FC236}">
                <a16:creationId xmlns:a16="http://schemas.microsoft.com/office/drawing/2014/main" id="{C8E5EE66-74DF-64F8-491E-5C3D602C8FA9}"/>
              </a:ext>
            </a:extLst>
          </p:cNvPr>
          <p:cNvGrpSpPr/>
          <p:nvPr/>
        </p:nvGrpSpPr>
        <p:grpSpPr>
          <a:xfrm>
            <a:off x="3934731" y="483357"/>
            <a:ext cx="4283545" cy="1569660"/>
            <a:chOff x="3934731" y="483357"/>
            <a:chExt cx="4283545" cy="1569660"/>
          </a:xfrm>
        </p:grpSpPr>
        <p:sp>
          <p:nvSpPr>
            <p:cNvPr id="7" name="文本框 6">
              <a:extLst>
                <a:ext uri="{FF2B5EF4-FFF2-40B4-BE49-F238E27FC236}">
                  <a16:creationId xmlns:a16="http://schemas.microsoft.com/office/drawing/2014/main" id="{F6E58D1F-C54B-54FB-E847-43DD36BAE80B}"/>
                </a:ext>
              </a:extLst>
            </p:cNvPr>
            <p:cNvSpPr txBox="1"/>
            <p:nvPr/>
          </p:nvSpPr>
          <p:spPr>
            <a:xfrm>
              <a:off x="3934731" y="483357"/>
              <a:ext cx="4122516"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三、</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机理模型力学性能预测</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8"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E10AB802-6BF1-7644-E02D-D5DD8BFA6CE1}"/>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Process Mechanism and Physical Modeling</a:t>
              </a:r>
            </a:p>
          </p:txBody>
        </p:sp>
        <p:cxnSp>
          <p:nvCxnSpPr>
            <p:cNvPr id="9" name="直接连接符 8"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6D61443B-982D-863A-E4D9-33D357460B01}"/>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2" name="矩形 1">
            <a:extLst>
              <a:ext uri="{FF2B5EF4-FFF2-40B4-BE49-F238E27FC236}">
                <a16:creationId xmlns:a16="http://schemas.microsoft.com/office/drawing/2014/main" id="{F85DD421-7C64-4FDC-974A-C9F2A71C050B}"/>
              </a:ext>
            </a:extLst>
          </p:cNvPr>
          <p:cNvSpPr/>
          <p:nvPr/>
        </p:nvSpPr>
        <p:spPr>
          <a:xfrm>
            <a:off x="920019" y="1185781"/>
            <a:ext cx="1702082" cy="430374"/>
          </a:xfrm>
          <a:prstGeom prst="rect">
            <a:avLst/>
          </a:prstGeom>
        </p:spPr>
        <p:txBody>
          <a:bodyPr wrap="square">
            <a:spAutoFit/>
            <a:scene3d>
              <a:camera prst="orthographicFront"/>
              <a:lightRig rig="threePt" dir="t"/>
            </a:scene3d>
            <a:sp3d contourW="12700"/>
          </a:bodyPr>
          <a:lstStyle/>
          <a:p>
            <a:pPr marL="0" marR="0" lvl="0" indent="0" algn="ctr" defTabSz="914400" eaLnBrk="1" fontAlgn="auto" latinLnBrk="0" hangingPunct="1">
              <a:lnSpc>
                <a:spcPct val="120000"/>
              </a:lnSpc>
              <a:spcBef>
                <a:spcPts val="0"/>
              </a:spcBef>
              <a:spcAft>
                <a:spcPts val="0"/>
              </a:spcAft>
              <a:buClrTx/>
              <a:buSzTx/>
              <a:buFontTx/>
              <a:buNone/>
              <a:tabLst/>
              <a:defRPr/>
            </a:pPr>
            <a:r>
              <a:rPr lang="zh-CN" altLang="en-US" sz="2000"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结构化数据</a:t>
            </a:r>
            <a:endParaRPr kumimoji="0" lang="zh-CN" altLang="en-US" sz="2000" b="1" i="0" u="none" strike="noStrike" kern="0" cap="none" spc="0" normalizeH="0" baseline="0" noProof="0" dirty="0">
              <a:ln>
                <a:noFill/>
              </a:ln>
              <a:solidFill>
                <a:prstClr val="black">
                  <a:lumMod val="65000"/>
                  <a:lumOff val="35000"/>
                </a:prstClr>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Tree>
    <p:extLst>
      <p:ext uri="{BB962C8B-B14F-4D97-AF65-F5344CB8AC3E}">
        <p14:creationId xmlns:p14="http://schemas.microsoft.com/office/powerpoint/2010/main" val="1109466422"/>
      </p:ext>
    </p:extLst>
  </p:cSld>
  <p:clrMapOvr>
    <a:masterClrMapping/>
  </p:clrMapOvr>
  <mc:AlternateContent xmlns:mc="http://schemas.openxmlformats.org/markup-compatibility/2006" xmlns:p14="http://schemas.microsoft.com/office/powerpoint/2010/main">
    <mc:Choice Requires="p14">
      <p:transition spd="slow" p14:dur="1500" advClick="0" advTm="10671">
        <p:random/>
      </p:transition>
    </mc:Choice>
    <mc:Fallback xmlns="">
      <p:transition spd="slow" advClick="0" advTm="10671">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EB162A4-50AF-D7A4-C8A7-3FB4768E0DAC}"/>
              </a:ext>
            </a:extLst>
          </p:cNvPr>
          <p:cNvGrpSpPr/>
          <p:nvPr/>
        </p:nvGrpSpPr>
        <p:grpSpPr>
          <a:xfrm>
            <a:off x="3934731" y="483357"/>
            <a:ext cx="4283545" cy="1569660"/>
            <a:chOff x="3934731" y="483357"/>
            <a:chExt cx="4283545" cy="1569660"/>
          </a:xfrm>
        </p:grpSpPr>
        <p:sp>
          <p:nvSpPr>
            <p:cNvPr id="3" name="文本框 2">
              <a:extLst>
                <a:ext uri="{FF2B5EF4-FFF2-40B4-BE49-F238E27FC236}">
                  <a16:creationId xmlns:a16="http://schemas.microsoft.com/office/drawing/2014/main" id="{7BF51E0A-6126-9423-4828-AEDDD21FE4CF}"/>
                </a:ext>
              </a:extLst>
            </p:cNvPr>
            <p:cNvSpPr txBox="1"/>
            <p:nvPr/>
          </p:nvSpPr>
          <p:spPr>
            <a:xfrm>
              <a:off x="3934731" y="483357"/>
              <a:ext cx="4122516"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三、</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机理模型力学性能预测</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ADF529BC-1B8D-2D9B-05EA-DDEC2D57F8F7}"/>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Process Mechanism and Physical Modeling</a:t>
              </a:r>
            </a:p>
          </p:txBody>
        </p:sp>
        <p:cxnSp>
          <p:nvCxnSpPr>
            <p:cNvPr id="5" name="直接连接符 4"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20C6D3C3-0111-65F9-E28A-F66E5697FC62}"/>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AC155A36-FCBE-AB10-666B-1170A83003AE}"/>
              </a:ext>
            </a:extLst>
          </p:cNvPr>
          <p:cNvSpPr/>
          <p:nvPr/>
        </p:nvSpPr>
        <p:spPr>
          <a:xfrm>
            <a:off x="920019" y="1185781"/>
            <a:ext cx="1702082" cy="430374"/>
          </a:xfrm>
          <a:prstGeom prst="rect">
            <a:avLst/>
          </a:prstGeom>
        </p:spPr>
        <p:txBody>
          <a:bodyPr wrap="square">
            <a:spAutoFit/>
            <a:scene3d>
              <a:camera prst="orthographicFront"/>
              <a:lightRig rig="threePt" dir="t"/>
            </a:scene3d>
            <a:sp3d contourW="12700"/>
          </a:bodyPr>
          <a:lstStyle/>
          <a:p>
            <a:pPr marL="0" marR="0" lvl="0" indent="0" algn="ctr" defTabSz="914400" eaLnBrk="1" fontAlgn="auto" latinLnBrk="0" hangingPunct="1">
              <a:lnSpc>
                <a:spcPct val="120000"/>
              </a:lnSpc>
              <a:spcBef>
                <a:spcPts val="0"/>
              </a:spcBef>
              <a:spcAft>
                <a:spcPts val="0"/>
              </a:spcAft>
              <a:buClrTx/>
              <a:buSzTx/>
              <a:buFontTx/>
              <a:buNone/>
              <a:tabLst/>
              <a:defRPr/>
            </a:pPr>
            <a:r>
              <a:rPr lang="zh-CN" altLang="en-US" sz="2000"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数据来源</a:t>
            </a:r>
            <a:endParaRPr kumimoji="0" lang="zh-CN" altLang="en-US" sz="2000" b="1" i="0" u="none" strike="noStrike" kern="0" cap="none" spc="0" normalizeH="0" baseline="0" noProof="0" dirty="0">
              <a:ln>
                <a:noFill/>
              </a:ln>
              <a:solidFill>
                <a:prstClr val="black">
                  <a:lumMod val="65000"/>
                  <a:lumOff val="35000"/>
                </a:prstClr>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9" name="文本框 8">
            <a:extLst>
              <a:ext uri="{FF2B5EF4-FFF2-40B4-BE49-F238E27FC236}">
                <a16:creationId xmlns:a16="http://schemas.microsoft.com/office/drawing/2014/main" id="{A4B6D9DC-FC88-1F8F-85D6-03587742DDEE}"/>
              </a:ext>
            </a:extLst>
          </p:cNvPr>
          <p:cNvSpPr txBox="1"/>
          <p:nvPr/>
        </p:nvSpPr>
        <p:spPr>
          <a:xfrm>
            <a:off x="920019" y="1715590"/>
            <a:ext cx="10720069" cy="1542089"/>
          </a:xfrm>
          <a:prstGeom prst="rect">
            <a:avLst/>
          </a:prstGeom>
          <a:noFill/>
        </p:spPr>
        <p:txBody>
          <a:bodyPr wrap="square">
            <a:spAutoFit/>
          </a:bodyPr>
          <a:lstStyle/>
          <a:p>
            <a:pPr indent="304800" algn="just">
              <a:lnSpc>
                <a:spcPts val="2300"/>
              </a:lnSpc>
            </a:pPr>
            <a:r>
              <a:rPr lang="en-US" altLang="zh-CN" sz="1600" kern="100" dirty="0">
                <a:effectLst/>
                <a:latin typeface="Times New Roman" panose="02020603050405020304" pitchFamily="18" charset="0"/>
                <a:ea typeface="字魂58号-创中黑" panose="00000500000000000000"/>
              </a:rPr>
              <a:t>  </a:t>
            </a:r>
            <a:r>
              <a:rPr lang="zh-CN" altLang="zh-CN" sz="1600" kern="100" dirty="0">
                <a:effectLst/>
                <a:latin typeface="Times New Roman" panose="02020603050405020304" pitchFamily="18" charset="0"/>
                <a:ea typeface="字魂58号-创中黑" panose="00000500000000000000"/>
              </a:rPr>
              <a:t>本</a:t>
            </a:r>
            <a:r>
              <a:rPr lang="zh-CN" altLang="en-US" sz="1600" kern="100" dirty="0">
                <a:effectLst/>
                <a:latin typeface="Times New Roman" panose="02020603050405020304" pitchFamily="18" charset="0"/>
                <a:ea typeface="字魂58号-创中黑" panose="00000500000000000000"/>
              </a:rPr>
              <a:t>实验</a:t>
            </a:r>
            <a:r>
              <a:rPr lang="zh-CN" altLang="zh-CN" sz="1600" kern="100" dirty="0">
                <a:effectLst/>
                <a:latin typeface="Times New Roman" panose="02020603050405020304" pitchFamily="18" charset="0"/>
                <a:ea typeface="字魂58号-创中黑" panose="00000500000000000000"/>
              </a:rPr>
              <a:t>所使用的数据取自某钢铁企业</a:t>
            </a:r>
            <a:r>
              <a:rPr lang="en-US" altLang="zh-CN" sz="1600" kern="100" dirty="0">
                <a:effectLst/>
                <a:latin typeface="Times New Roman" panose="02020603050405020304" pitchFamily="18" charset="0"/>
                <a:ea typeface="字魂58号-创中黑" panose="00000500000000000000"/>
              </a:rPr>
              <a:t>2024</a:t>
            </a:r>
            <a:r>
              <a:rPr lang="zh-CN" altLang="zh-CN" sz="1600" kern="100" dirty="0">
                <a:effectLst/>
                <a:latin typeface="Times New Roman" panose="02020603050405020304" pitchFamily="18" charset="0"/>
                <a:ea typeface="字魂58号-创中黑" panose="00000500000000000000"/>
              </a:rPr>
              <a:t>年</a:t>
            </a:r>
            <a:r>
              <a:rPr lang="en-US" altLang="zh-CN" sz="1600" kern="100" dirty="0">
                <a:effectLst/>
                <a:latin typeface="Times New Roman" panose="02020603050405020304" pitchFamily="18" charset="0"/>
                <a:ea typeface="字魂58号-创中黑" panose="00000500000000000000"/>
              </a:rPr>
              <a:t>1—4</a:t>
            </a:r>
            <a:r>
              <a:rPr lang="zh-CN" altLang="zh-CN" sz="1600" kern="100" dirty="0">
                <a:effectLst/>
                <a:latin typeface="Times New Roman" panose="02020603050405020304" pitchFamily="18" charset="0"/>
                <a:ea typeface="字魂58号-创中黑" panose="00000500000000000000"/>
              </a:rPr>
              <a:t>月冷轧连退的整个生产过程中的产品跟踪数据，数据格式为</a:t>
            </a:r>
            <a:r>
              <a:rPr lang="en-US" altLang="zh-CN" sz="1600" kern="100" dirty="0">
                <a:effectLst/>
                <a:latin typeface="Times New Roman" panose="02020603050405020304" pitchFamily="18" charset="0"/>
                <a:ea typeface="字魂58号-创中黑" panose="00000500000000000000"/>
              </a:rPr>
              <a:t>csv</a:t>
            </a:r>
            <a:r>
              <a:rPr lang="zh-CN" altLang="zh-CN" sz="1600" kern="100" dirty="0">
                <a:effectLst/>
                <a:latin typeface="Times New Roman" panose="02020603050405020304" pitchFamily="18" charset="0"/>
                <a:ea typeface="字魂58号-创中黑" panose="00000500000000000000"/>
              </a:rPr>
              <a:t>文件，主要是冷轧带钢在生产过程中各工序的工艺设定、化学成分配方、热处理温度、设备参数和力学性能等数据</a:t>
            </a:r>
            <a:endParaRPr lang="en-US" altLang="zh-CN" sz="1600" kern="100" dirty="0">
              <a:effectLst/>
              <a:latin typeface="Times New Roman" panose="02020603050405020304" pitchFamily="18" charset="0"/>
              <a:ea typeface="字魂58号-创中黑" panose="00000500000000000000"/>
            </a:endParaRPr>
          </a:p>
          <a:p>
            <a:pPr indent="304800" algn="just">
              <a:lnSpc>
                <a:spcPts val="2300"/>
              </a:lnSpc>
            </a:pPr>
            <a:r>
              <a:rPr lang="en-US" altLang="zh-CN" sz="1600" kern="100" dirty="0">
                <a:effectLst/>
                <a:latin typeface="Times New Roman" panose="02020603050405020304" pitchFamily="18" charset="0"/>
                <a:ea typeface="字魂58号-创中黑" panose="00000500000000000000"/>
              </a:rPr>
              <a:t>  </a:t>
            </a:r>
            <a:r>
              <a:rPr lang="zh-CN" altLang="zh-CN" sz="1600" kern="100" dirty="0">
                <a:effectLst/>
                <a:latin typeface="Times New Roman" panose="02020603050405020304" pitchFamily="18" charset="0"/>
                <a:ea typeface="字魂58号-创中黑" panose="00000500000000000000"/>
              </a:rPr>
              <a:t>原始数据共计</a:t>
            </a:r>
            <a:r>
              <a:rPr lang="en-US" altLang="zh-CN" sz="1600" kern="100" dirty="0">
                <a:effectLst/>
                <a:latin typeface="Times New Roman" panose="02020603050405020304" pitchFamily="18" charset="0"/>
                <a:ea typeface="字魂58号-创中黑" panose="00000500000000000000"/>
              </a:rPr>
              <a:t>11348</a:t>
            </a:r>
            <a:r>
              <a:rPr lang="zh-CN" altLang="zh-CN" sz="1600" kern="100" dirty="0">
                <a:effectLst/>
                <a:latin typeface="Times New Roman" panose="02020603050405020304" pitchFamily="18" charset="0"/>
                <a:ea typeface="字魂58号-创中黑" panose="00000500000000000000"/>
              </a:rPr>
              <a:t>组样本数据，包含冶金工艺参数（加热温度、卷曲温度）、机械负载（轧制力、弯辊力）、带钢物理参数（厚度、宽度）、各段温区（</a:t>
            </a:r>
            <a:r>
              <a:rPr lang="en-US" altLang="zh-CN" sz="1600" kern="100" dirty="0" err="1">
                <a:effectLst/>
                <a:latin typeface="Times New Roman" panose="02020603050405020304" pitchFamily="18" charset="0"/>
                <a:ea typeface="字魂58号-创中黑" panose="00000500000000000000"/>
              </a:rPr>
              <a:t>JPF</a:t>
            </a:r>
            <a:r>
              <a:rPr lang="zh-CN" altLang="zh-CN" sz="1600" kern="100" dirty="0">
                <a:effectLst/>
                <a:latin typeface="Times New Roman" panose="02020603050405020304" pitchFamily="18" charset="0"/>
                <a:ea typeface="字魂58号-创中黑" panose="00000500000000000000"/>
              </a:rPr>
              <a:t>、</a:t>
            </a:r>
            <a:r>
              <a:rPr lang="en-US" altLang="zh-CN" sz="1600" kern="100" dirty="0">
                <a:effectLst/>
                <a:latin typeface="Times New Roman" panose="02020603050405020304" pitchFamily="18" charset="0"/>
                <a:ea typeface="字魂58号-创中黑" panose="00000500000000000000"/>
              </a:rPr>
              <a:t>SF</a:t>
            </a:r>
            <a:r>
              <a:rPr lang="zh-CN" altLang="zh-CN" sz="1600" kern="100" dirty="0">
                <a:effectLst/>
                <a:latin typeface="Times New Roman" panose="02020603050405020304" pitchFamily="18" charset="0"/>
                <a:ea typeface="字魂58号-创中黑" panose="00000500000000000000"/>
              </a:rPr>
              <a:t>等）、常见化学元素（</a:t>
            </a:r>
            <a:r>
              <a:rPr lang="en-US" altLang="zh-CN" sz="1600" kern="100" dirty="0">
                <a:effectLst/>
                <a:latin typeface="Times New Roman" panose="02020603050405020304" pitchFamily="18" charset="0"/>
                <a:ea typeface="字魂58号-创中黑" panose="00000500000000000000"/>
              </a:rPr>
              <a:t>C</a:t>
            </a:r>
            <a:r>
              <a:rPr lang="zh-CN" altLang="zh-CN" sz="1600" kern="100" dirty="0">
                <a:effectLst/>
                <a:latin typeface="Times New Roman" panose="02020603050405020304" pitchFamily="18" charset="0"/>
                <a:ea typeface="字魂58号-创中黑" panose="00000500000000000000"/>
              </a:rPr>
              <a:t>、</a:t>
            </a:r>
            <a:r>
              <a:rPr lang="en-US" altLang="zh-CN" sz="1600" kern="100" dirty="0">
                <a:effectLst/>
                <a:latin typeface="Times New Roman" panose="02020603050405020304" pitchFamily="18" charset="0"/>
                <a:ea typeface="字魂58号-创中黑" panose="00000500000000000000"/>
              </a:rPr>
              <a:t>Mn</a:t>
            </a:r>
            <a:r>
              <a:rPr lang="zh-CN" altLang="zh-CN" sz="1600" kern="100" dirty="0">
                <a:effectLst/>
                <a:latin typeface="Times New Roman" panose="02020603050405020304" pitchFamily="18" charset="0"/>
                <a:ea typeface="字魂58号-创中黑" panose="00000500000000000000"/>
              </a:rPr>
              <a:t>、</a:t>
            </a:r>
            <a:r>
              <a:rPr lang="en-US" altLang="zh-CN" sz="1600" kern="100" dirty="0">
                <a:effectLst/>
                <a:latin typeface="Times New Roman" panose="02020603050405020304" pitchFamily="18" charset="0"/>
                <a:ea typeface="字魂58号-创中黑" panose="00000500000000000000"/>
              </a:rPr>
              <a:t>Si</a:t>
            </a:r>
            <a:r>
              <a:rPr lang="zh-CN" altLang="zh-CN" sz="1600" kern="100" dirty="0">
                <a:effectLst/>
                <a:latin typeface="Times New Roman" panose="02020603050405020304" pitchFamily="18" charset="0"/>
                <a:ea typeface="字魂58号-创中黑" panose="00000500000000000000"/>
              </a:rPr>
              <a:t>、</a:t>
            </a:r>
            <a:r>
              <a:rPr lang="en-US" altLang="zh-CN" sz="1600" kern="100" dirty="0">
                <a:effectLst/>
                <a:latin typeface="Times New Roman" panose="02020603050405020304" pitchFamily="18" charset="0"/>
                <a:ea typeface="字魂58号-创中黑" panose="00000500000000000000"/>
              </a:rPr>
              <a:t>P</a:t>
            </a:r>
            <a:r>
              <a:rPr lang="zh-CN" altLang="zh-CN" sz="1600" kern="100" dirty="0">
                <a:effectLst/>
                <a:latin typeface="Times New Roman" panose="02020603050405020304" pitchFamily="18" charset="0"/>
                <a:ea typeface="字魂58号-创中黑" panose="00000500000000000000"/>
              </a:rPr>
              <a:t>、</a:t>
            </a:r>
            <a:r>
              <a:rPr lang="en-US" altLang="zh-CN" sz="1600" kern="100" dirty="0">
                <a:effectLst/>
                <a:latin typeface="Times New Roman" panose="02020603050405020304" pitchFamily="18" charset="0"/>
                <a:ea typeface="字魂58号-创中黑" panose="00000500000000000000"/>
              </a:rPr>
              <a:t>S</a:t>
            </a:r>
            <a:r>
              <a:rPr lang="zh-CN" altLang="zh-CN" sz="1600" kern="100" dirty="0">
                <a:effectLst/>
                <a:latin typeface="Times New Roman" panose="02020603050405020304" pitchFamily="18" charset="0"/>
                <a:ea typeface="字魂58号-创中黑" panose="00000500000000000000"/>
              </a:rPr>
              <a:t>、</a:t>
            </a:r>
            <a:r>
              <a:rPr lang="en-US" altLang="zh-CN" sz="1600" kern="100" dirty="0">
                <a:effectLst/>
                <a:latin typeface="Times New Roman" panose="02020603050405020304" pitchFamily="18" charset="0"/>
                <a:ea typeface="字魂58号-创中黑" panose="00000500000000000000"/>
              </a:rPr>
              <a:t>Cr</a:t>
            </a:r>
            <a:r>
              <a:rPr lang="zh-CN" altLang="zh-CN" sz="1600" kern="100" dirty="0">
                <a:effectLst/>
                <a:latin typeface="Times New Roman" panose="02020603050405020304" pitchFamily="18" charset="0"/>
                <a:ea typeface="字魂58号-创中黑" panose="00000500000000000000"/>
              </a:rPr>
              <a:t>等）组成变量</a:t>
            </a:r>
            <a:r>
              <a:rPr lang="zh-CN" altLang="en-US" sz="1600" kern="100" dirty="0">
                <a:latin typeface="Times New Roman" panose="02020603050405020304" pitchFamily="18" charset="0"/>
                <a:ea typeface="字魂58号-创中黑" panose="00000500000000000000"/>
              </a:rPr>
              <a:t>。</a:t>
            </a:r>
            <a:endParaRPr lang="en-US" altLang="zh-CN" sz="1600" kern="100" dirty="0">
              <a:effectLst/>
              <a:latin typeface="Times New Roman" panose="02020603050405020304" pitchFamily="18" charset="0"/>
              <a:ea typeface="字魂58号-创中黑" panose="00000500000000000000"/>
            </a:endParaRPr>
          </a:p>
          <a:p>
            <a:pPr indent="304800" algn="just">
              <a:lnSpc>
                <a:spcPts val="2300"/>
              </a:lnSpc>
            </a:pPr>
            <a:r>
              <a:rPr lang="zh-CN" altLang="zh-CN" sz="1600" b="1" kern="100" dirty="0">
                <a:effectLst/>
                <a:latin typeface="Times New Roman" panose="02020603050405020304" pitchFamily="18" charset="0"/>
                <a:ea typeface="字魂58号-创中黑" panose="00000500000000000000"/>
              </a:rPr>
              <a:t>目标变量为屈服强度（</a:t>
            </a:r>
            <a:r>
              <a:rPr lang="en-US" altLang="zh-CN" sz="1600" b="1" kern="100" dirty="0">
                <a:effectLst/>
                <a:latin typeface="Times New Roman" panose="02020603050405020304" pitchFamily="18" charset="0"/>
                <a:ea typeface="字魂58号-创中黑" panose="00000500000000000000"/>
              </a:rPr>
              <a:t>YS</a:t>
            </a:r>
            <a:r>
              <a:rPr lang="zh-CN" altLang="zh-CN" sz="1600" b="1" kern="100" dirty="0">
                <a:effectLst/>
                <a:latin typeface="Times New Roman" panose="02020603050405020304" pitchFamily="18" charset="0"/>
                <a:ea typeface="字魂58号-创中黑" panose="00000500000000000000"/>
              </a:rPr>
              <a:t>）、抗拉强度（</a:t>
            </a:r>
            <a:r>
              <a:rPr lang="en-US" altLang="zh-CN" sz="1600" b="1" kern="100" dirty="0">
                <a:effectLst/>
                <a:latin typeface="Times New Roman" panose="02020603050405020304" pitchFamily="18" charset="0"/>
                <a:ea typeface="字魂58号-创中黑" panose="00000500000000000000"/>
              </a:rPr>
              <a:t>TS</a:t>
            </a:r>
            <a:r>
              <a:rPr lang="zh-CN" altLang="zh-CN" sz="1600" b="1" kern="100" dirty="0">
                <a:effectLst/>
                <a:latin typeface="Times New Roman" panose="02020603050405020304" pitchFamily="18" charset="0"/>
                <a:ea typeface="字魂58号-创中黑" panose="00000500000000000000"/>
              </a:rPr>
              <a:t>）、伸长率（</a:t>
            </a:r>
            <a:r>
              <a:rPr lang="en-US" altLang="zh-CN" sz="1600" b="1" kern="100" dirty="0">
                <a:effectLst/>
                <a:latin typeface="Times New Roman" panose="02020603050405020304" pitchFamily="18" charset="0"/>
                <a:ea typeface="字魂58号-创中黑" panose="00000500000000000000"/>
              </a:rPr>
              <a:t>EL</a:t>
            </a:r>
            <a:r>
              <a:rPr lang="zh-CN" altLang="zh-CN" sz="1600" b="1" kern="100" dirty="0">
                <a:effectLst/>
                <a:latin typeface="Times New Roman" panose="02020603050405020304" pitchFamily="18" charset="0"/>
                <a:ea typeface="字魂58号-创中黑" panose="00000500000000000000"/>
              </a:rPr>
              <a:t>）。 </a:t>
            </a:r>
          </a:p>
        </p:txBody>
      </p:sp>
      <p:pic>
        <p:nvPicPr>
          <p:cNvPr id="11" name="图片 10">
            <a:extLst>
              <a:ext uri="{FF2B5EF4-FFF2-40B4-BE49-F238E27FC236}">
                <a16:creationId xmlns:a16="http://schemas.microsoft.com/office/drawing/2014/main" id="{F2D2EBE7-09C4-35AE-C2AC-BF9A7008E667}"/>
              </a:ext>
            </a:extLst>
          </p:cNvPr>
          <p:cNvPicPr>
            <a:picLocks noChangeAspect="1"/>
          </p:cNvPicPr>
          <p:nvPr/>
        </p:nvPicPr>
        <p:blipFill>
          <a:blip r:embed="rId4"/>
          <a:srcRect b="46374"/>
          <a:stretch/>
        </p:blipFill>
        <p:spPr>
          <a:xfrm>
            <a:off x="1426158" y="3784978"/>
            <a:ext cx="9300689" cy="2260365"/>
          </a:xfrm>
          <a:prstGeom prst="rect">
            <a:avLst/>
          </a:prstGeom>
        </p:spPr>
      </p:pic>
      <p:sp>
        <p:nvSpPr>
          <p:cNvPr id="13" name="文本框 12">
            <a:extLst>
              <a:ext uri="{FF2B5EF4-FFF2-40B4-BE49-F238E27FC236}">
                <a16:creationId xmlns:a16="http://schemas.microsoft.com/office/drawing/2014/main" id="{06224F03-69CB-1602-D9AF-C4F197AD7A2F}"/>
              </a:ext>
            </a:extLst>
          </p:cNvPr>
          <p:cNvSpPr txBox="1"/>
          <p:nvPr/>
        </p:nvSpPr>
        <p:spPr>
          <a:xfrm>
            <a:off x="920019" y="3352051"/>
            <a:ext cx="1122258" cy="338554"/>
          </a:xfrm>
          <a:prstGeom prst="rect">
            <a:avLst/>
          </a:prstGeom>
          <a:noFill/>
        </p:spPr>
        <p:txBody>
          <a:bodyPr wrap="square">
            <a:spAutoFit/>
          </a:bodyPr>
          <a:lstStyle/>
          <a:p>
            <a:r>
              <a:rPr lang="zh-CN" altLang="en-US" sz="1600" kern="100" dirty="0">
                <a:latin typeface="Times New Roman" panose="02020603050405020304" pitchFamily="18" charset="0"/>
                <a:ea typeface="字魂58号-创中黑" panose="00000500000000000000"/>
              </a:rPr>
              <a:t>数据节选</a:t>
            </a:r>
            <a:endParaRPr lang="zh-CN" altLang="en-US" sz="1600" dirty="0"/>
          </a:p>
        </p:txBody>
      </p:sp>
    </p:spTree>
    <p:extLst>
      <p:ext uri="{BB962C8B-B14F-4D97-AF65-F5344CB8AC3E}">
        <p14:creationId xmlns:p14="http://schemas.microsoft.com/office/powerpoint/2010/main" val="93940597"/>
      </p:ext>
    </p:extLst>
  </p:cSld>
  <p:clrMapOvr>
    <a:masterClrMapping/>
  </p:clrMapOvr>
  <mc:AlternateContent xmlns:mc="http://schemas.openxmlformats.org/markup-compatibility/2006" xmlns:p14="http://schemas.microsoft.com/office/powerpoint/2010/main">
    <mc:Choice Requires="p14">
      <p:transition spd="slow" p14:dur="1500" advClick="0" advTm="32951">
        <p:random/>
      </p:transition>
    </mc:Choice>
    <mc:Fallback xmlns="">
      <p:transition spd="slow" advClick="0" advTm="32951">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4BD32-AEB2-37DC-50E4-DB8B80D64132}"/>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1195ADE-7084-61A6-C432-75B8FE467405}"/>
              </a:ext>
            </a:extLst>
          </p:cNvPr>
          <p:cNvGrpSpPr/>
          <p:nvPr/>
        </p:nvGrpSpPr>
        <p:grpSpPr>
          <a:xfrm>
            <a:off x="3934731" y="483357"/>
            <a:ext cx="4283545" cy="1569660"/>
            <a:chOff x="3934731" y="483357"/>
            <a:chExt cx="4283545" cy="1569660"/>
          </a:xfrm>
        </p:grpSpPr>
        <p:sp>
          <p:nvSpPr>
            <p:cNvPr id="3" name="文本框 2">
              <a:extLst>
                <a:ext uri="{FF2B5EF4-FFF2-40B4-BE49-F238E27FC236}">
                  <a16:creationId xmlns:a16="http://schemas.microsoft.com/office/drawing/2014/main" id="{9FD49A3D-3E5B-CBCC-ECCE-3F82491B04DA}"/>
                </a:ext>
              </a:extLst>
            </p:cNvPr>
            <p:cNvSpPr txBox="1"/>
            <p:nvPr/>
          </p:nvSpPr>
          <p:spPr>
            <a:xfrm>
              <a:off x="3934731" y="483357"/>
              <a:ext cx="4122516"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三、</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机理模型力学性能预测</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CC8442AC-C1A5-A564-A46C-E28A29AC1A62}"/>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Process Mechanism and Physical Modeling</a:t>
              </a:r>
            </a:p>
          </p:txBody>
        </p:sp>
        <p:cxnSp>
          <p:nvCxnSpPr>
            <p:cNvPr id="5" name="直接连接符 4"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AD978FA4-68ED-D5D1-4C24-998882A0AF3D}"/>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27B54687-E9EA-A82C-6867-9D48295C24BB}"/>
              </a:ext>
            </a:extLst>
          </p:cNvPr>
          <p:cNvSpPr/>
          <p:nvPr/>
        </p:nvSpPr>
        <p:spPr>
          <a:xfrm>
            <a:off x="1057558" y="1185781"/>
            <a:ext cx="2620362" cy="43037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000"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特征选取与字段清洗</a:t>
            </a:r>
          </a:p>
        </p:txBody>
      </p:sp>
      <p:sp>
        <p:nvSpPr>
          <p:cNvPr id="9" name="文本框 8">
            <a:extLst>
              <a:ext uri="{FF2B5EF4-FFF2-40B4-BE49-F238E27FC236}">
                <a16:creationId xmlns:a16="http://schemas.microsoft.com/office/drawing/2014/main" id="{04BABCA6-4FFB-0B80-454E-5D29E7897C0E}"/>
              </a:ext>
            </a:extLst>
          </p:cNvPr>
          <p:cNvSpPr txBox="1"/>
          <p:nvPr/>
        </p:nvSpPr>
        <p:spPr>
          <a:xfrm>
            <a:off x="1227139" y="1756903"/>
            <a:ext cx="9537700" cy="946028"/>
          </a:xfrm>
          <a:prstGeom prst="rect">
            <a:avLst/>
          </a:prstGeom>
          <a:noFill/>
        </p:spPr>
        <p:txBody>
          <a:bodyPr wrap="square">
            <a:spAutoFit/>
          </a:bodyPr>
          <a:lstStyle/>
          <a:p>
            <a:pPr indent="304800" algn="just">
              <a:lnSpc>
                <a:spcPts val="2300"/>
              </a:lnSpc>
            </a:pPr>
            <a:r>
              <a:rPr lang="en-US" altLang="zh-CN" sz="1600" kern="100" dirty="0">
                <a:effectLst/>
                <a:latin typeface="Times New Roman" panose="02020603050405020304" pitchFamily="18" charset="0"/>
                <a:ea typeface="字魂58号-创中黑" panose="00000500000000000000"/>
              </a:rPr>
              <a:t>  </a:t>
            </a:r>
            <a:r>
              <a:rPr lang="zh-CN" altLang="zh-CN" sz="1600" kern="100" dirty="0">
                <a:effectLst/>
                <a:latin typeface="Times New Roman" panose="02020603050405020304" pitchFamily="18" charset="0"/>
                <a:ea typeface="字魂58号-创中黑" panose="00000500000000000000"/>
              </a:rPr>
              <a:t>原始数据中含有部分与预测目标关联度低或缺少较多的特征，在进行数据预处理时首先统一了列名格式，并删除了无效空值以及零值记录以保证后续模型训练使用的数据能足够可靠；又对关键性能指标（屈服强度、抗拉强度、伸长率）为</a:t>
            </a:r>
            <a:r>
              <a:rPr lang="en-US" altLang="zh-CN" sz="1600" kern="100" dirty="0">
                <a:effectLst/>
                <a:latin typeface="Times New Roman" panose="02020603050405020304" pitchFamily="18" charset="0"/>
                <a:ea typeface="字魂58号-创中黑" panose="00000500000000000000"/>
              </a:rPr>
              <a:t>0</a:t>
            </a:r>
            <a:r>
              <a:rPr lang="zh-CN" altLang="zh-CN" sz="1600" kern="100" dirty="0">
                <a:effectLst/>
                <a:latin typeface="Times New Roman" panose="02020603050405020304" pitchFamily="18" charset="0"/>
                <a:ea typeface="字魂58号-创中黑" panose="00000500000000000000"/>
              </a:rPr>
              <a:t>和缺失的部分进行剔除操作，得到大约</a:t>
            </a:r>
            <a:r>
              <a:rPr lang="en-US" altLang="zh-CN" sz="1600" kern="100" dirty="0">
                <a:effectLst/>
                <a:latin typeface="Times New Roman" panose="02020603050405020304" pitchFamily="18" charset="0"/>
                <a:ea typeface="字魂58号-创中黑" panose="00000500000000000000"/>
              </a:rPr>
              <a:t>6000</a:t>
            </a:r>
            <a:r>
              <a:rPr lang="zh-CN" altLang="zh-CN" sz="1600" kern="100" dirty="0">
                <a:effectLst/>
                <a:latin typeface="Times New Roman" panose="02020603050405020304" pitchFamily="18" charset="0"/>
                <a:ea typeface="字魂58号-创中黑" panose="00000500000000000000"/>
              </a:rPr>
              <a:t>组有效数据，用于后期建模。</a:t>
            </a:r>
          </a:p>
        </p:txBody>
      </p:sp>
      <p:pic>
        <p:nvPicPr>
          <p:cNvPr id="10" name="图片 9">
            <a:extLst>
              <a:ext uri="{FF2B5EF4-FFF2-40B4-BE49-F238E27FC236}">
                <a16:creationId xmlns:a16="http://schemas.microsoft.com/office/drawing/2014/main" id="{AC422EFB-5CBC-2E2A-1840-806D89024B6C}"/>
              </a:ext>
            </a:extLst>
          </p:cNvPr>
          <p:cNvPicPr>
            <a:picLocks noChangeAspect="1"/>
          </p:cNvPicPr>
          <p:nvPr/>
        </p:nvPicPr>
        <p:blipFill>
          <a:blip r:embed="rId3"/>
          <a:srcRect b="27184"/>
          <a:stretch/>
        </p:blipFill>
        <p:spPr>
          <a:xfrm>
            <a:off x="1504741" y="3540255"/>
            <a:ext cx="9352280" cy="2505088"/>
          </a:xfrm>
          <a:prstGeom prst="rect">
            <a:avLst/>
          </a:prstGeom>
        </p:spPr>
      </p:pic>
      <p:sp>
        <p:nvSpPr>
          <p:cNvPr id="11" name="文本框 10">
            <a:extLst>
              <a:ext uri="{FF2B5EF4-FFF2-40B4-BE49-F238E27FC236}">
                <a16:creationId xmlns:a16="http://schemas.microsoft.com/office/drawing/2014/main" id="{213C9692-72D6-F270-E1E7-EC29987D25CF}"/>
              </a:ext>
            </a:extLst>
          </p:cNvPr>
          <p:cNvSpPr txBox="1"/>
          <p:nvPr/>
        </p:nvSpPr>
        <p:spPr>
          <a:xfrm>
            <a:off x="943612" y="3091172"/>
            <a:ext cx="1122258" cy="338554"/>
          </a:xfrm>
          <a:prstGeom prst="rect">
            <a:avLst/>
          </a:prstGeom>
          <a:noFill/>
        </p:spPr>
        <p:txBody>
          <a:bodyPr wrap="square">
            <a:spAutoFit/>
          </a:bodyPr>
          <a:lstStyle/>
          <a:p>
            <a:r>
              <a:rPr lang="zh-CN" altLang="en-US" sz="1600" kern="100" dirty="0">
                <a:latin typeface="Times New Roman" panose="02020603050405020304" pitchFamily="18" charset="0"/>
                <a:ea typeface="字魂58号-创中黑" panose="00000500000000000000"/>
              </a:rPr>
              <a:t>数据节选</a:t>
            </a:r>
            <a:endParaRPr lang="zh-CN" altLang="en-US" sz="1600" dirty="0"/>
          </a:p>
        </p:txBody>
      </p:sp>
    </p:spTree>
    <p:extLst>
      <p:ext uri="{BB962C8B-B14F-4D97-AF65-F5344CB8AC3E}">
        <p14:creationId xmlns:p14="http://schemas.microsoft.com/office/powerpoint/2010/main" val="1515441646"/>
      </p:ext>
    </p:extLst>
  </p:cSld>
  <p:clrMapOvr>
    <a:masterClrMapping/>
  </p:clrMapOvr>
  <mc:AlternateContent xmlns:mc="http://schemas.openxmlformats.org/markup-compatibility/2006" xmlns:p14="http://schemas.microsoft.com/office/powerpoint/2010/main">
    <mc:Choice Requires="p14">
      <p:transition spd="slow" p14:dur="1500" advClick="0" advTm="852">
        <p:random/>
      </p:transition>
    </mc:Choice>
    <mc:Fallback xmlns="">
      <p:transition spd="slow" advClick="0" advTm="852">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C4987"/>
        </a:solidFill>
        <a:effectLst/>
      </p:bgPr>
    </p:bg>
    <p:spTree>
      <p:nvGrpSpPr>
        <p:cNvPr id="1" name=""/>
        <p:cNvGrpSpPr/>
        <p:nvPr/>
      </p:nvGrpSpPr>
      <p:grpSpPr>
        <a:xfrm>
          <a:off x="0" y="0"/>
          <a:ext cx="0" cy="0"/>
          <a:chOff x="0" y="0"/>
          <a:chExt cx="0" cy="0"/>
        </a:xfrm>
      </p:grpSpPr>
      <p:sp>
        <p:nvSpPr>
          <p:cNvPr id="6" name="TextBox 11" descr="e7d195523061f1c0f0ec610a92cff745ee13794c7b8d98f8E73673273C9E8BE17CC3D63B9B1D6426C348A354AD505654C28F453CD7C8F90EADD06C08281DAED7140E5AAAED5880ECE414DFB6A93B82BEC1385E9565BC14C748CB3EB434CC0B451F87B3C338E944B78E19862D061FDC13B6571F1FE8C78909071FC2F7F05CF37685F9D5F268FB4FD0">
            <a:extLst>
              <a:ext uri="{FF2B5EF4-FFF2-40B4-BE49-F238E27FC236}">
                <a16:creationId xmlns:a16="http://schemas.microsoft.com/office/drawing/2014/main" id="{BA2C7A06-5E43-4D40-B784-D2852E441BAE}"/>
              </a:ext>
            </a:extLst>
          </p:cNvPr>
          <p:cNvSpPr txBox="1"/>
          <p:nvPr/>
        </p:nvSpPr>
        <p:spPr>
          <a:xfrm>
            <a:off x="1184838" y="1545108"/>
            <a:ext cx="2273300" cy="430374"/>
          </a:xfrm>
          <a:prstGeom prst="rect">
            <a:avLst/>
          </a:prstGeom>
        </p:spPr>
        <p:txBody>
          <a:bodyPr wrap="square">
            <a:spAutoFit/>
            <a:scene3d>
              <a:camera prst="orthographicFront"/>
              <a:lightRig rig="threePt" dir="t"/>
            </a:scene3d>
            <a:sp3d contourW="6350"/>
          </a:bodyPr>
          <a:lstStyle>
            <a:defPPr>
              <a:defRPr lang="zh-CN"/>
            </a:defPPr>
            <a:lvl1pPr algn="r">
              <a:lnSpc>
                <a:spcPct val="120000"/>
              </a:lnSpc>
              <a:defRPr b="1">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ctr"/>
            <a:r>
              <a:rPr lang="zh-CN" altLang="zh-CN" sz="2000" dirty="0"/>
              <a:t>关键机理特征构造</a:t>
            </a:r>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8" name="TextBox 13" descr="e7d195523061f1c0f0ec610a92cff745ee13794c7b8d98f8E73673273C9E8BE17CC3D63B9B1D6426C348A354AD505654C28F453CD7C8F90EADD06C08281DAED7140E5AAAED5880ECE414DFB6A93B82BEC1385E9565BC14C748CB3EB434CC0B451F87B3C338E944B78E19862D061FDC13B6571F1FE8C78909071FC2F7F05CF37685F9D5F268FB4FD0">
            <a:extLst>
              <a:ext uri="{FF2B5EF4-FFF2-40B4-BE49-F238E27FC236}">
                <a16:creationId xmlns:a16="http://schemas.microsoft.com/office/drawing/2014/main" id="{75BCD112-9EC1-443F-9D55-D4AB435FDDAE}"/>
              </a:ext>
            </a:extLst>
          </p:cNvPr>
          <p:cNvSpPr txBox="1"/>
          <p:nvPr/>
        </p:nvSpPr>
        <p:spPr>
          <a:xfrm>
            <a:off x="6509672" y="1545108"/>
            <a:ext cx="1704961" cy="430374"/>
          </a:xfrm>
          <a:prstGeom prst="rect">
            <a:avLst/>
          </a:prstGeom>
        </p:spPr>
        <p:txBody>
          <a:bodyPr wrap="square">
            <a:spAutoFit/>
            <a:scene3d>
              <a:camera prst="orthographicFront"/>
              <a:lightRig rig="threePt" dir="t"/>
            </a:scene3d>
            <a:sp3d contourW="6350"/>
          </a:bodyPr>
          <a:lstStyle>
            <a:defPPr>
              <a:defRPr lang="zh-CN"/>
            </a:defPPr>
            <a:lvl1pPr algn="ctr">
              <a:lnSpc>
                <a:spcPct val="120000"/>
              </a:lnSpc>
              <a:defRPr sz="2000" b="1">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zh-CN" dirty="0"/>
              <a:t>建模方法</a:t>
            </a:r>
            <a:endParaRPr lang="zh-CN" altLang="en-US" dirty="0">
              <a:solidFill>
                <a:srgbClr val="595959"/>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4" name="Content Placeholder 2" descr="e7d195523061f1c0f0ec610a92cff745ee13794c7b8d98f8E73673273C9E8BE17CC3D63B9B1D6426C348A354AD505654C28F453CD7C8F90EADD06C08281DAED7140E5AAAED5880ECE414DFB6A93B82BEC1385E9565BC14C748CB3EB434CC0B451F87B3C338E944B78E19862D061FDC13B6571F1FE8C78909071FC2F7F05CF37685F9D5F268FB4FD0">
            <a:extLst>
              <a:ext uri="{FF2B5EF4-FFF2-40B4-BE49-F238E27FC236}">
                <a16:creationId xmlns:a16="http://schemas.microsoft.com/office/drawing/2014/main" id="{6630FA4F-B689-44D5-83C2-F960FCCD6418}"/>
              </a:ext>
            </a:extLst>
          </p:cNvPr>
          <p:cNvSpPr txBox="1">
            <a:spLocks/>
          </p:cNvSpPr>
          <p:nvPr/>
        </p:nvSpPr>
        <p:spPr>
          <a:xfrm>
            <a:off x="6671150" y="2180996"/>
            <a:ext cx="4668611" cy="1670073"/>
          </a:xfrm>
          <a:prstGeom prst="rect">
            <a:avLst/>
          </a:prstGeom>
        </p:spPr>
        <p:txBody>
          <a:bodyPr wrap="square">
            <a:spAutoFit/>
          </a:bodyPr>
          <a:lstStyle>
            <a:defPPr>
              <a:defRPr lang="zh-CN"/>
            </a:defPPr>
            <a:lvl1pPr algn="ctr" defTabSz="914377">
              <a:lnSpc>
                <a:spcPct val="150000"/>
              </a:lnSpc>
              <a:defRPr sz="1400">
                <a:solidFill>
                  <a:prstClr val="black">
                    <a:lumMod val="85000"/>
                    <a:lumOff val="15000"/>
                  </a:prstClr>
                </a:solidFill>
                <a:latin typeface="微软雅黑" panose="020B0503020204020204" pitchFamily="34" charset="-122"/>
                <a:ea typeface="微软雅黑" panose="020B0503020204020204" pitchFamily="34" charset="-122"/>
              </a:defRPr>
            </a:lvl1pPr>
          </a:lstStyle>
          <a:p>
            <a:pPr algn="l"/>
            <a:r>
              <a:rPr lang="en-US" altLang="zh-CN" dirty="0">
                <a:ea typeface="字魂58号-创中黑" panose="00000500000000000000"/>
              </a:rPr>
              <a:t>       </a:t>
            </a:r>
            <a:r>
              <a:rPr lang="zh-CN" altLang="zh-CN" dirty="0">
                <a:ea typeface="字魂58号-创中黑" panose="00000500000000000000"/>
              </a:rPr>
              <a:t>该阶段利用基于机理特征的机器学习方法（如</a:t>
            </a:r>
            <a:r>
              <a:rPr lang="en-US" altLang="zh-CN" dirty="0">
                <a:ea typeface="字魂58号-创中黑" panose="00000500000000000000"/>
              </a:rPr>
              <a:t>LR</a:t>
            </a:r>
            <a:r>
              <a:rPr lang="zh-CN" altLang="zh-CN" dirty="0">
                <a:ea typeface="字魂58号-创中黑" panose="00000500000000000000"/>
              </a:rPr>
              <a:t>（线性回归）、</a:t>
            </a:r>
            <a:r>
              <a:rPr lang="en-US" altLang="zh-CN" dirty="0" err="1">
                <a:ea typeface="字魂58号-创中黑" panose="00000500000000000000"/>
              </a:rPr>
              <a:t>SVM</a:t>
            </a:r>
            <a:r>
              <a:rPr lang="zh-CN" altLang="zh-CN" dirty="0">
                <a:ea typeface="字魂58号-创中黑" panose="00000500000000000000"/>
              </a:rPr>
              <a:t>（支持向量机）），对力学性能进行预测，并通过机理特征有效性和解释性的验证，最终选择模型效果最好的作为研究对象，在下一章会通过引入智能优化算法实现更优的综合优化。 </a:t>
            </a:r>
          </a:p>
        </p:txBody>
      </p:sp>
      <p:sp>
        <p:nvSpPr>
          <p:cNvPr id="17" name="Content Placeholder 2" descr="e7d195523061f1c0f0ec610a92cff745ee13794c7b8d98f8E73673273C9E8BE17CC3D63B9B1D6426C348A354AD505654C28F453CD7C8F90EADD06C08281DAED7140E5AAAED5880ECE414DFB6A93B82BEC1385E9565BC14C748CB3EB434CC0B451F87B3C338E944B78E19862D061FDC13B6571F1FE8C78909071FC2F7F05CF37685F9D5F268FB4FD0">
            <a:extLst>
              <a:ext uri="{FF2B5EF4-FFF2-40B4-BE49-F238E27FC236}">
                <a16:creationId xmlns:a16="http://schemas.microsoft.com/office/drawing/2014/main" id="{0A47B343-6393-43BC-8006-792F4CA9EACB}"/>
              </a:ext>
            </a:extLst>
          </p:cNvPr>
          <p:cNvSpPr txBox="1">
            <a:spLocks/>
          </p:cNvSpPr>
          <p:nvPr/>
        </p:nvSpPr>
        <p:spPr>
          <a:xfrm>
            <a:off x="1184838" y="2186299"/>
            <a:ext cx="4497491" cy="1996893"/>
          </a:xfrm>
          <a:prstGeom prst="rect">
            <a:avLst/>
          </a:prstGeom>
        </p:spPr>
        <p:txBody>
          <a:bodyPr wrap="square">
            <a:spAutoFit/>
          </a:bodyPr>
          <a:lstStyle>
            <a:defPPr>
              <a:defRPr lang="zh-CN"/>
            </a:defPPr>
            <a:lvl1pPr algn="r" defTabSz="914377">
              <a:lnSpc>
                <a:spcPct val="150000"/>
              </a:lnSpc>
              <a:defRPr sz="1400">
                <a:solidFill>
                  <a:prstClr val="black">
                    <a:lumMod val="85000"/>
                    <a:lumOff val="15000"/>
                  </a:prstClr>
                </a:solidFill>
                <a:latin typeface="Calibri Light"/>
                <a:ea typeface="微软雅黑 Light"/>
              </a:defRPr>
            </a:lvl1pPr>
          </a:lstStyle>
          <a:p>
            <a:pPr algn="l"/>
            <a:r>
              <a:rPr lang="en-US" altLang="zh-CN" dirty="0">
                <a:ea typeface="字魂58号-创中黑" panose="00000500000000000000"/>
              </a:rPr>
              <a:t>         </a:t>
            </a:r>
            <a:r>
              <a:rPr lang="zh-CN" altLang="zh-CN" dirty="0">
                <a:ea typeface="字魂58号-创中黑" panose="00000500000000000000"/>
              </a:rPr>
              <a:t>结合钢铁冶金相关的理论，针对带钢性能的影响因素可以构造多个机理特征，用来提升模型的物理合理性和预测能力。</a:t>
            </a:r>
            <a:endParaRPr lang="en-US" altLang="zh-CN" dirty="0">
              <a:ea typeface="字魂58号-创中黑" panose="00000500000000000000"/>
            </a:endParaRPr>
          </a:p>
          <a:p>
            <a:pPr algn="l"/>
            <a:r>
              <a:rPr lang="en-US" altLang="zh-CN" dirty="0">
                <a:ea typeface="字魂58号-创中黑" panose="00000500000000000000"/>
              </a:rPr>
              <a:t>         </a:t>
            </a:r>
            <a:r>
              <a:rPr lang="zh-CN" altLang="zh-CN" dirty="0">
                <a:ea typeface="字魂58号-创中黑" panose="00000500000000000000"/>
              </a:rPr>
              <a:t>本研究选择机理特征碳当量（</a:t>
            </a:r>
            <a:r>
              <a:rPr lang="en-US" altLang="zh-CN" dirty="0" err="1">
                <a:ea typeface="字魂58号-创中黑" panose="00000500000000000000"/>
              </a:rPr>
              <a:t>Ceq</a:t>
            </a:r>
            <a:r>
              <a:rPr lang="zh-CN" altLang="zh-CN" dirty="0">
                <a:ea typeface="字魂58号-创中黑" panose="00000500000000000000"/>
              </a:rPr>
              <a:t>）、活化能（</a:t>
            </a:r>
            <a:r>
              <a:rPr lang="en-US" altLang="zh-CN" dirty="0">
                <a:ea typeface="字魂58号-创中黑" panose="00000500000000000000"/>
              </a:rPr>
              <a:t>Q</a:t>
            </a:r>
            <a:r>
              <a:rPr lang="zh-CN" altLang="zh-CN" dirty="0">
                <a:ea typeface="字魂58号-创中黑" panose="00000500000000000000"/>
              </a:rPr>
              <a:t>）、晶粒尺寸（</a:t>
            </a:r>
            <a:r>
              <a:rPr lang="en-US" altLang="zh-CN" dirty="0">
                <a:ea typeface="字魂58号-创中黑" panose="00000500000000000000"/>
              </a:rPr>
              <a:t>CD</a:t>
            </a:r>
            <a:r>
              <a:rPr lang="zh-CN" altLang="zh-CN" dirty="0">
                <a:ea typeface="字魂58号-创中黑" panose="00000500000000000000"/>
              </a:rPr>
              <a:t>）作为中间变量，具体公式推导在上一章节有所提及。</a:t>
            </a:r>
          </a:p>
        </p:txBody>
      </p:sp>
      <p:grpSp>
        <p:nvGrpSpPr>
          <p:cNvPr id="9" name="组合 8">
            <a:extLst>
              <a:ext uri="{FF2B5EF4-FFF2-40B4-BE49-F238E27FC236}">
                <a16:creationId xmlns:a16="http://schemas.microsoft.com/office/drawing/2014/main" id="{B783C209-8E70-3528-C3EA-CFDB0BA289CD}"/>
              </a:ext>
            </a:extLst>
          </p:cNvPr>
          <p:cNvGrpSpPr/>
          <p:nvPr/>
        </p:nvGrpSpPr>
        <p:grpSpPr>
          <a:xfrm>
            <a:off x="3954227" y="483357"/>
            <a:ext cx="4283545" cy="1569660"/>
            <a:chOff x="3934731" y="483357"/>
            <a:chExt cx="4283545" cy="1569660"/>
          </a:xfrm>
        </p:grpSpPr>
        <p:sp>
          <p:nvSpPr>
            <p:cNvPr id="11" name="文本框 10">
              <a:extLst>
                <a:ext uri="{FF2B5EF4-FFF2-40B4-BE49-F238E27FC236}">
                  <a16:creationId xmlns:a16="http://schemas.microsoft.com/office/drawing/2014/main" id="{3AE60CDA-C589-21D4-2EC4-C1EDD72D3D68}"/>
                </a:ext>
              </a:extLst>
            </p:cNvPr>
            <p:cNvSpPr txBox="1"/>
            <p:nvPr/>
          </p:nvSpPr>
          <p:spPr>
            <a:xfrm>
              <a:off x="3934731" y="483357"/>
              <a:ext cx="4122516"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三、</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机理模型力学性能预测</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r>
                <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rPr>
                <a:t>              </a:t>
              </a:r>
            </a:p>
          </p:txBody>
        </p:sp>
        <p:sp>
          <p:nvSpPr>
            <p:cNvPr id="13"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1E391194-2F59-E7B6-F6CC-E3124F4BF363}"/>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Process Mechanism and Physical Modeling</a:t>
              </a:r>
            </a:p>
          </p:txBody>
        </p:sp>
        <p:cxnSp>
          <p:nvCxnSpPr>
            <p:cNvPr id="18" name="直接连接符 17"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AF1F5487-2294-86EC-9DF0-FF31A57812F8}"/>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cxnSp>
        <p:nvCxnSpPr>
          <p:cNvPr id="20" name="直接连接符 19">
            <a:extLst>
              <a:ext uri="{FF2B5EF4-FFF2-40B4-BE49-F238E27FC236}">
                <a16:creationId xmlns:a16="http://schemas.microsoft.com/office/drawing/2014/main" id="{2DF226D6-B6C6-4E90-485E-52EBDCDF3573}"/>
              </a:ext>
            </a:extLst>
          </p:cNvPr>
          <p:cNvCxnSpPr>
            <a:cxnSpLocks/>
          </p:cNvCxnSpPr>
          <p:nvPr/>
        </p:nvCxnSpPr>
        <p:spPr>
          <a:xfrm>
            <a:off x="6096000" y="1185781"/>
            <a:ext cx="0" cy="5306459"/>
          </a:xfrm>
          <a:prstGeom prst="line">
            <a:avLst/>
          </a:prstGeom>
        </p:spPr>
        <p:style>
          <a:lnRef idx="1">
            <a:schemeClr val="accent1"/>
          </a:lnRef>
          <a:fillRef idx="0">
            <a:schemeClr val="accent1"/>
          </a:fillRef>
          <a:effectRef idx="0">
            <a:schemeClr val="accent1"/>
          </a:effectRef>
          <a:fontRef idx="minor">
            <a:schemeClr val="tx1"/>
          </a:fontRef>
        </p:style>
      </p:cxnSp>
      <p:sp>
        <p:nvSpPr>
          <p:cNvPr id="30" name="椭圆 29">
            <a:extLst>
              <a:ext uri="{FF2B5EF4-FFF2-40B4-BE49-F238E27FC236}">
                <a16:creationId xmlns:a16="http://schemas.microsoft.com/office/drawing/2014/main" id="{6482A362-0E55-49A1-0CF4-BD8EA7C84AD9}"/>
              </a:ext>
            </a:extLst>
          </p:cNvPr>
          <p:cNvSpPr/>
          <p:nvPr/>
        </p:nvSpPr>
        <p:spPr>
          <a:xfrm>
            <a:off x="1058044" y="4231466"/>
            <a:ext cx="1115357" cy="987078"/>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zh-CN" altLang="en-US" sz="1050" dirty="0"/>
              <a:t>碳当量</a:t>
            </a:r>
          </a:p>
        </p:txBody>
      </p:sp>
      <p:sp>
        <p:nvSpPr>
          <p:cNvPr id="31" name="椭圆 30">
            <a:extLst>
              <a:ext uri="{FF2B5EF4-FFF2-40B4-BE49-F238E27FC236}">
                <a16:creationId xmlns:a16="http://schemas.microsoft.com/office/drawing/2014/main" id="{12756A1B-CF83-E447-8138-B248A79C8F39}"/>
              </a:ext>
            </a:extLst>
          </p:cNvPr>
          <p:cNvSpPr/>
          <p:nvPr/>
        </p:nvSpPr>
        <p:spPr>
          <a:xfrm>
            <a:off x="2625019" y="4226490"/>
            <a:ext cx="1115357" cy="992054"/>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zh-CN" altLang="en-US" sz="1050" dirty="0"/>
              <a:t>活化能</a:t>
            </a:r>
          </a:p>
        </p:txBody>
      </p:sp>
      <p:sp>
        <p:nvSpPr>
          <p:cNvPr id="32" name="椭圆 31">
            <a:extLst>
              <a:ext uri="{FF2B5EF4-FFF2-40B4-BE49-F238E27FC236}">
                <a16:creationId xmlns:a16="http://schemas.microsoft.com/office/drawing/2014/main" id="{BE7F5910-D95D-7FA9-B68A-CBF2F717006A}"/>
              </a:ext>
            </a:extLst>
          </p:cNvPr>
          <p:cNvSpPr/>
          <p:nvPr/>
        </p:nvSpPr>
        <p:spPr>
          <a:xfrm>
            <a:off x="4191994" y="4226491"/>
            <a:ext cx="1115357" cy="992054"/>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zh-CN" altLang="en-US" sz="1050" dirty="0"/>
              <a:t>晶粒尺寸</a:t>
            </a:r>
          </a:p>
        </p:txBody>
      </p:sp>
      <p:cxnSp>
        <p:nvCxnSpPr>
          <p:cNvPr id="34" name="直接箭头连接符 33">
            <a:extLst>
              <a:ext uri="{FF2B5EF4-FFF2-40B4-BE49-F238E27FC236}">
                <a16:creationId xmlns:a16="http://schemas.microsoft.com/office/drawing/2014/main" id="{44C4733B-7D35-19AA-1F64-3BE6C9A705CF}"/>
              </a:ext>
            </a:extLst>
          </p:cNvPr>
          <p:cNvCxnSpPr>
            <a:stCxn id="30" idx="4"/>
          </p:cNvCxnSpPr>
          <p:nvPr/>
        </p:nvCxnSpPr>
        <p:spPr>
          <a:xfrm>
            <a:off x="1615723" y="5218544"/>
            <a:ext cx="1496932" cy="63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0B2EF9D7-D1C5-3762-FAEE-54636E582A38}"/>
              </a:ext>
            </a:extLst>
          </p:cNvPr>
          <p:cNvCxnSpPr>
            <a:stCxn id="31" idx="4"/>
          </p:cNvCxnSpPr>
          <p:nvPr/>
        </p:nvCxnSpPr>
        <p:spPr>
          <a:xfrm>
            <a:off x="3182698" y="5218544"/>
            <a:ext cx="3847" cy="63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FC19D0FA-66CE-2E57-4FD5-95944C0C8005}"/>
              </a:ext>
            </a:extLst>
          </p:cNvPr>
          <p:cNvCxnSpPr>
            <a:stCxn id="32" idx="4"/>
          </p:cNvCxnSpPr>
          <p:nvPr/>
        </p:nvCxnSpPr>
        <p:spPr>
          <a:xfrm flipH="1">
            <a:off x="3315855" y="5218545"/>
            <a:ext cx="1433818" cy="6373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32D81AC0-8D63-D76A-8D30-0CC411FF55D8}"/>
              </a:ext>
            </a:extLst>
          </p:cNvPr>
          <p:cNvSpPr txBox="1"/>
          <p:nvPr/>
        </p:nvSpPr>
        <p:spPr>
          <a:xfrm>
            <a:off x="2731291" y="5897845"/>
            <a:ext cx="902811" cy="307777"/>
          </a:xfrm>
          <a:prstGeom prst="rect">
            <a:avLst/>
          </a:prstGeom>
          <a:noFill/>
        </p:spPr>
        <p:txBody>
          <a:bodyPr wrap="none" rtlCol="0">
            <a:spAutoFit/>
          </a:bodyPr>
          <a:lstStyle/>
          <a:p>
            <a:r>
              <a:rPr lang="zh-CN" altLang="en-US" sz="1400" dirty="0">
                <a:ea typeface="字魂58号-创中黑" panose="00000500000000000000"/>
              </a:rPr>
              <a:t>中间变量</a:t>
            </a:r>
          </a:p>
        </p:txBody>
      </p:sp>
      <p:sp>
        <p:nvSpPr>
          <p:cNvPr id="40" name="椭圆 39">
            <a:extLst>
              <a:ext uri="{FF2B5EF4-FFF2-40B4-BE49-F238E27FC236}">
                <a16:creationId xmlns:a16="http://schemas.microsoft.com/office/drawing/2014/main" id="{7EB0F767-D2C5-3815-A9FA-9DF93DF24315}"/>
              </a:ext>
            </a:extLst>
          </p:cNvPr>
          <p:cNvSpPr/>
          <p:nvPr/>
        </p:nvSpPr>
        <p:spPr>
          <a:xfrm>
            <a:off x="6900158" y="4226490"/>
            <a:ext cx="1084340" cy="9920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50" dirty="0" err="1"/>
              <a:t>XGBOOST</a:t>
            </a:r>
            <a:endParaRPr lang="zh-CN" altLang="en-US" sz="1050" dirty="0"/>
          </a:p>
        </p:txBody>
      </p:sp>
      <p:sp>
        <p:nvSpPr>
          <p:cNvPr id="41" name="椭圆 40">
            <a:extLst>
              <a:ext uri="{FF2B5EF4-FFF2-40B4-BE49-F238E27FC236}">
                <a16:creationId xmlns:a16="http://schemas.microsoft.com/office/drawing/2014/main" id="{D00AF521-402F-F41B-6CD4-00431FFEF30C}"/>
              </a:ext>
            </a:extLst>
          </p:cNvPr>
          <p:cNvSpPr/>
          <p:nvPr/>
        </p:nvSpPr>
        <p:spPr>
          <a:xfrm>
            <a:off x="8399537" y="4226490"/>
            <a:ext cx="1084340" cy="9920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50" dirty="0"/>
              <a:t>RF</a:t>
            </a:r>
            <a:endParaRPr lang="zh-CN" altLang="en-US" sz="1050" dirty="0"/>
          </a:p>
        </p:txBody>
      </p:sp>
      <p:sp>
        <p:nvSpPr>
          <p:cNvPr id="42" name="椭圆 41">
            <a:extLst>
              <a:ext uri="{FF2B5EF4-FFF2-40B4-BE49-F238E27FC236}">
                <a16:creationId xmlns:a16="http://schemas.microsoft.com/office/drawing/2014/main" id="{7250AAB4-E75B-71C8-CD00-9E8142E6BE20}"/>
              </a:ext>
            </a:extLst>
          </p:cNvPr>
          <p:cNvSpPr/>
          <p:nvPr/>
        </p:nvSpPr>
        <p:spPr>
          <a:xfrm>
            <a:off x="9898916" y="4226490"/>
            <a:ext cx="1084340" cy="9920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50" dirty="0" err="1"/>
              <a:t>SVM</a:t>
            </a:r>
            <a:endParaRPr lang="zh-CN" altLang="en-US" sz="1050" dirty="0"/>
          </a:p>
        </p:txBody>
      </p:sp>
    </p:spTree>
    <p:extLst>
      <p:ext uri="{BB962C8B-B14F-4D97-AF65-F5344CB8AC3E}">
        <p14:creationId xmlns:p14="http://schemas.microsoft.com/office/powerpoint/2010/main" val="40932375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advClick="0" advTm="19062">
        <p:random/>
      </p:transition>
    </mc:Choice>
    <mc:Fallback xmlns="">
      <p:transition spd="slow" advClick="0" advTm="19062">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81B6E-38C4-BAC3-334F-3D43704E1C1F}"/>
            </a:ext>
          </a:extLst>
        </p:cNvPr>
        <p:cNvGrpSpPr/>
        <p:nvPr/>
      </p:nvGrpSpPr>
      <p:grpSpPr>
        <a:xfrm>
          <a:off x="0" y="0"/>
          <a:ext cx="0" cy="0"/>
          <a:chOff x="0" y="0"/>
          <a:chExt cx="0" cy="0"/>
        </a:xfrm>
      </p:grpSpPr>
      <p:grpSp>
        <p:nvGrpSpPr>
          <p:cNvPr id="136" name="组合 135">
            <a:extLst>
              <a:ext uri="{FF2B5EF4-FFF2-40B4-BE49-F238E27FC236}">
                <a16:creationId xmlns:a16="http://schemas.microsoft.com/office/drawing/2014/main" id="{3BB30FF9-3B87-4F03-E40F-94AFAEB03611}"/>
              </a:ext>
            </a:extLst>
          </p:cNvPr>
          <p:cNvGrpSpPr/>
          <p:nvPr/>
        </p:nvGrpSpPr>
        <p:grpSpPr>
          <a:xfrm>
            <a:off x="1100328" y="1476847"/>
            <a:ext cx="10281920" cy="3106042"/>
            <a:chOff x="1472939" y="3559710"/>
            <a:chExt cx="10281920" cy="3106042"/>
          </a:xfrm>
        </p:grpSpPr>
        <p:sp>
          <p:nvSpPr>
            <p:cNvPr id="137" name="文本框 42">
              <a:extLst>
                <a:ext uri="{FF2B5EF4-FFF2-40B4-BE49-F238E27FC236}">
                  <a16:creationId xmlns:a16="http://schemas.microsoft.com/office/drawing/2014/main" id="{67119F6D-D251-1277-FBD1-2950AA06CA6D}"/>
                </a:ext>
              </a:extLst>
            </p:cNvPr>
            <p:cNvSpPr txBox="1"/>
            <p:nvPr/>
          </p:nvSpPr>
          <p:spPr>
            <a:xfrm>
              <a:off x="1472939" y="4238806"/>
              <a:ext cx="10281920" cy="2426946"/>
            </a:xfrm>
            <a:prstGeom prst="rect">
              <a:avLst/>
            </a:prstGeom>
          </p:spPr>
          <p:txBody>
            <a:bodyPr wrap="square">
              <a:spAutoFit/>
              <a:scene3d>
                <a:camera prst="orthographicFront"/>
                <a:lightRig rig="threePt" dir="t"/>
              </a:scene3d>
              <a:sp3d contourW="12700"/>
            </a:bodyPr>
            <a:lstStyle>
              <a:defPPr>
                <a:defRPr lang="zh-CN"/>
              </a:defPPr>
              <a:lvl1pPr algn="ctr">
                <a:lnSpc>
                  <a:spcPct val="120000"/>
                </a:lnSpc>
                <a:defRPr sz="1400">
                  <a:latin typeface="Arial"/>
                  <a:ea typeface="微软雅黑"/>
                </a:defRPr>
              </a:lvl1pPr>
            </a:lstStyle>
            <a:p>
              <a:pPr indent="304800" algn="just">
                <a:lnSpc>
                  <a:spcPts val="2300"/>
                </a:lnSpc>
                <a:buNone/>
              </a:pPr>
              <a:r>
                <a:rPr lang="zh-CN" altLang="zh-CN" sz="1600" kern="100" dirty="0">
                  <a:effectLst/>
                  <a:latin typeface="Times New Roman" panose="02020603050405020304" pitchFamily="18" charset="0"/>
                  <a:ea typeface="字魂58号-创中黑" panose="00000500000000000000"/>
                </a:rPr>
                <a:t>根据常用的划分比例（训练集</a:t>
              </a:r>
              <a:r>
                <a:rPr lang="en-US" altLang="zh-CN" sz="1600" kern="100" dirty="0">
                  <a:effectLst/>
                  <a:latin typeface="Times New Roman" panose="02020603050405020304" pitchFamily="18" charset="0"/>
                  <a:ea typeface="字魂58号-创中黑" panose="00000500000000000000"/>
                </a:rPr>
                <a:t>80%</a:t>
              </a:r>
              <a:r>
                <a:rPr lang="zh-CN" altLang="zh-CN" sz="1600" kern="100" dirty="0">
                  <a:effectLst/>
                  <a:latin typeface="Times New Roman" panose="02020603050405020304" pitchFamily="18" charset="0"/>
                  <a:ea typeface="字魂58号-创中黑" panose="00000500000000000000"/>
                </a:rPr>
                <a:t>，测试集</a:t>
              </a:r>
              <a:r>
                <a:rPr lang="en-US" altLang="zh-CN" sz="1600" kern="100" dirty="0">
                  <a:effectLst/>
                  <a:latin typeface="Times New Roman" panose="02020603050405020304" pitchFamily="18" charset="0"/>
                  <a:ea typeface="字魂58号-创中黑" panose="00000500000000000000"/>
                </a:rPr>
                <a:t>20%</a:t>
              </a:r>
              <a:r>
                <a:rPr lang="zh-CN" altLang="zh-CN" sz="1600" kern="100" dirty="0">
                  <a:effectLst/>
                  <a:latin typeface="Times New Roman" panose="02020603050405020304" pitchFamily="18" charset="0"/>
                  <a:ea typeface="字魂58号-创中黑" panose="00000500000000000000"/>
                </a:rPr>
                <a:t>）对处理后的数据集进行</a:t>
              </a:r>
              <a:r>
                <a:rPr lang="zh-CN" altLang="en-US" sz="1600" kern="100" dirty="0">
                  <a:latin typeface="Times New Roman" panose="02020603050405020304" pitchFamily="18" charset="0"/>
                  <a:ea typeface="字魂58号-创中黑" panose="00000500000000000000"/>
                </a:rPr>
                <a:t>划分</a:t>
              </a:r>
              <a:r>
                <a:rPr lang="zh-CN" altLang="zh-CN" sz="1600" kern="100" dirty="0">
                  <a:effectLst/>
                  <a:latin typeface="Times New Roman" panose="02020603050405020304" pitchFamily="18" charset="0"/>
                  <a:ea typeface="字魂58号-创中黑" panose="00000500000000000000"/>
                </a:rPr>
                <a:t>，训练集用于训练学习模型的参数，测试集用于检验模型的泛化能力。 </a:t>
              </a:r>
            </a:p>
            <a:p>
              <a:pPr indent="304800" algn="just">
                <a:lnSpc>
                  <a:spcPts val="2300"/>
                </a:lnSpc>
              </a:pPr>
              <a:r>
                <a:rPr lang="zh-CN" altLang="zh-CN" sz="1600" kern="100" dirty="0">
                  <a:effectLst/>
                  <a:latin typeface="Times New Roman" panose="02020603050405020304" pitchFamily="18" charset="0"/>
                  <a:ea typeface="字魂58号-创中黑" panose="00000500000000000000"/>
                </a:rPr>
                <a:t>模型训练时，将含有化学成分、工艺参数、结构的机理特征作为输入变量，分别用线性回归、多项式回归和支持向量回归（</a:t>
              </a:r>
              <a:r>
                <a:rPr lang="en-US" altLang="zh-CN" sz="1600" kern="100" dirty="0">
                  <a:effectLst/>
                  <a:latin typeface="Times New Roman" panose="02020603050405020304" pitchFamily="18" charset="0"/>
                  <a:ea typeface="字魂58号-创中黑" panose="00000500000000000000"/>
                </a:rPr>
                <a:t>SVR</a:t>
              </a:r>
              <a:r>
                <a:rPr lang="zh-CN" altLang="zh-CN" sz="1600" kern="100" dirty="0">
                  <a:effectLst/>
                  <a:latin typeface="Times New Roman" panose="02020603050405020304" pitchFamily="18" charset="0"/>
                  <a:ea typeface="字魂58号-创中黑" panose="00000500000000000000"/>
                </a:rPr>
                <a:t>）等回归模型进行拟合，在调整超参数的过程中不断地进行学习，并由此达到对模型拟合度的最优化。</a:t>
              </a:r>
              <a:endParaRPr lang="en-US" altLang="zh-CN" sz="1600" kern="100" dirty="0">
                <a:effectLst/>
                <a:latin typeface="Times New Roman" panose="02020603050405020304" pitchFamily="18" charset="0"/>
                <a:ea typeface="字魂58号-创中黑" panose="00000500000000000000"/>
              </a:endParaRPr>
            </a:p>
            <a:p>
              <a:pPr indent="304800" algn="just">
                <a:lnSpc>
                  <a:spcPts val="2300"/>
                </a:lnSpc>
              </a:pPr>
              <a:r>
                <a:rPr lang="zh-CN" altLang="zh-CN" sz="1600" kern="100" dirty="0">
                  <a:effectLst/>
                  <a:latin typeface="Times New Roman" panose="02020603050405020304" pitchFamily="18" charset="0"/>
                  <a:ea typeface="字魂58号-创中黑" panose="00000500000000000000"/>
                </a:rPr>
                <a:t>为了避免过拟合与提高模型的稳定性，在训练过程中使用</a:t>
              </a:r>
              <a:r>
                <a:rPr lang="en-US" altLang="zh-CN" sz="1600" b="1" kern="100" dirty="0">
                  <a:effectLst/>
                  <a:latin typeface="Times New Roman" panose="02020603050405020304" pitchFamily="18" charset="0"/>
                  <a:ea typeface="字魂58号-创中黑" panose="00000500000000000000"/>
                </a:rPr>
                <a:t>5</a:t>
              </a:r>
              <a:r>
                <a:rPr lang="zh-CN" altLang="zh-CN" sz="1600" b="1" kern="100" dirty="0">
                  <a:effectLst/>
                  <a:latin typeface="Times New Roman" panose="02020603050405020304" pitchFamily="18" charset="0"/>
                  <a:ea typeface="字魂58号-创中黑" panose="00000500000000000000"/>
                </a:rPr>
                <a:t>折交叉验证（</a:t>
              </a:r>
              <a:r>
                <a:rPr lang="en-US" altLang="zh-CN" sz="1600" b="1" kern="100" dirty="0">
                  <a:effectLst/>
                  <a:latin typeface="Times New Roman" panose="02020603050405020304" pitchFamily="18" charset="0"/>
                  <a:ea typeface="字魂58号-创中黑" panose="00000500000000000000"/>
                </a:rPr>
                <a:t>K=5</a:t>
              </a:r>
              <a:r>
                <a:rPr lang="zh-CN" altLang="zh-CN" sz="1600" b="1" kern="100" dirty="0">
                  <a:effectLst/>
                  <a:latin typeface="Times New Roman" panose="02020603050405020304" pitchFamily="18" charset="0"/>
                  <a:ea typeface="字魂58号-创中黑" panose="00000500000000000000"/>
                </a:rPr>
                <a:t>）</a:t>
              </a:r>
              <a:r>
                <a:rPr lang="zh-CN" altLang="zh-CN" sz="1600" kern="100" dirty="0">
                  <a:effectLst/>
                  <a:latin typeface="Times New Roman" panose="02020603050405020304" pitchFamily="18" charset="0"/>
                  <a:ea typeface="字魂58号-创中黑" panose="00000500000000000000"/>
                </a:rPr>
                <a:t>以使模型在每一个子样本上都能达到较好的效果。同时，在训练过程中对损失函数的变化情况进行持续性的观察，保证模型在训练期间能达成正确的收敛，从而可以保证最终得到的模型预测结果能够具有较高的精度和良好的鲁棒性。</a:t>
              </a:r>
            </a:p>
          </p:txBody>
        </p:sp>
        <p:sp>
          <p:nvSpPr>
            <p:cNvPr id="138" name="矩形 137">
              <a:extLst>
                <a:ext uri="{FF2B5EF4-FFF2-40B4-BE49-F238E27FC236}">
                  <a16:creationId xmlns:a16="http://schemas.microsoft.com/office/drawing/2014/main" id="{91245306-C793-E4BD-4B52-F2CAF9674A78}"/>
                </a:ext>
              </a:extLst>
            </p:cNvPr>
            <p:cNvSpPr/>
            <p:nvPr/>
          </p:nvSpPr>
          <p:spPr>
            <a:xfrm>
              <a:off x="1472939" y="3559710"/>
              <a:ext cx="2692870" cy="43037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000"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模型训练与结果分析</a:t>
              </a:r>
            </a:p>
          </p:txBody>
        </p:sp>
      </p:grpSp>
      <p:grpSp>
        <p:nvGrpSpPr>
          <p:cNvPr id="2" name="组合 1">
            <a:extLst>
              <a:ext uri="{FF2B5EF4-FFF2-40B4-BE49-F238E27FC236}">
                <a16:creationId xmlns:a16="http://schemas.microsoft.com/office/drawing/2014/main" id="{283CF3DF-F621-5708-B913-31AC80696BA6}"/>
              </a:ext>
            </a:extLst>
          </p:cNvPr>
          <p:cNvGrpSpPr/>
          <p:nvPr/>
        </p:nvGrpSpPr>
        <p:grpSpPr>
          <a:xfrm>
            <a:off x="3954227" y="509137"/>
            <a:ext cx="4283545" cy="1569660"/>
            <a:chOff x="3934731" y="483357"/>
            <a:chExt cx="4283545" cy="1569660"/>
          </a:xfrm>
        </p:grpSpPr>
        <p:sp>
          <p:nvSpPr>
            <p:cNvPr id="3" name="文本框 2">
              <a:extLst>
                <a:ext uri="{FF2B5EF4-FFF2-40B4-BE49-F238E27FC236}">
                  <a16:creationId xmlns:a16="http://schemas.microsoft.com/office/drawing/2014/main" id="{35380531-E8AE-6F3B-7585-0A6EE73A6BF9}"/>
                </a:ext>
              </a:extLst>
            </p:cNvPr>
            <p:cNvSpPr txBox="1"/>
            <p:nvPr/>
          </p:nvSpPr>
          <p:spPr>
            <a:xfrm>
              <a:off x="3934731" y="483357"/>
              <a:ext cx="4122516"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三、</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机理模型力学性能预测</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22785F90-825B-369A-B8CD-DC42B18C5DD7}"/>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Process Mechanism and Physical Modeling</a:t>
              </a:r>
            </a:p>
          </p:txBody>
        </p:sp>
        <p:cxnSp>
          <p:nvCxnSpPr>
            <p:cNvPr id="5" name="直接连接符 4"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EAD728AA-4408-7B26-128F-99E2650CDCD0}"/>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05080982"/>
      </p:ext>
    </p:extLst>
  </p:cSld>
  <p:clrMapOvr>
    <a:masterClrMapping/>
  </p:clrMapOvr>
  <mc:AlternateContent xmlns:mc="http://schemas.openxmlformats.org/markup-compatibility/2006" xmlns:p14="http://schemas.microsoft.com/office/powerpoint/2010/main">
    <mc:Choice Requires="p14">
      <p:transition spd="slow" p14:dur="1500" advClick="0" advTm="19773">
        <p:random/>
      </p:transition>
    </mc:Choice>
    <mc:Fallback xmlns="">
      <p:transition spd="slow" advClick="0" advTm="19773">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7AAD4-F2C8-BCF0-4C99-3BB19FCBD8D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B84652C7-A84C-25E6-647C-F735919CA6DA}"/>
              </a:ext>
            </a:extLst>
          </p:cNvPr>
          <p:cNvGrpSpPr/>
          <p:nvPr/>
        </p:nvGrpSpPr>
        <p:grpSpPr>
          <a:xfrm>
            <a:off x="3934731" y="483357"/>
            <a:ext cx="4283545" cy="1569660"/>
            <a:chOff x="3934731" y="483357"/>
            <a:chExt cx="4283545" cy="1569660"/>
          </a:xfrm>
        </p:grpSpPr>
        <p:sp>
          <p:nvSpPr>
            <p:cNvPr id="3" name="文本框 2">
              <a:extLst>
                <a:ext uri="{FF2B5EF4-FFF2-40B4-BE49-F238E27FC236}">
                  <a16:creationId xmlns:a16="http://schemas.microsoft.com/office/drawing/2014/main" id="{F2AA07D6-3CF0-790C-2990-0A2F9A5492D2}"/>
                </a:ext>
              </a:extLst>
            </p:cNvPr>
            <p:cNvSpPr txBox="1"/>
            <p:nvPr/>
          </p:nvSpPr>
          <p:spPr>
            <a:xfrm>
              <a:off x="3934731" y="483357"/>
              <a:ext cx="4122516"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三、</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机理模型力学性能预测</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5A3D7F18-5837-A5B3-3028-32112044084F}"/>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Process Mechanism and Physical Modeling</a:t>
              </a:r>
            </a:p>
          </p:txBody>
        </p:sp>
        <p:cxnSp>
          <p:nvCxnSpPr>
            <p:cNvPr id="5" name="直接连接符 4"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775C27B2-CC86-79E9-3FC9-FE72E8290B67}"/>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graphicFrame>
        <p:nvGraphicFramePr>
          <p:cNvPr id="10" name="表格 9">
            <a:extLst>
              <a:ext uri="{FF2B5EF4-FFF2-40B4-BE49-F238E27FC236}">
                <a16:creationId xmlns:a16="http://schemas.microsoft.com/office/drawing/2014/main" id="{2CD1E0E5-2E66-14C6-95F9-FCCBAF9D0805}"/>
              </a:ext>
            </a:extLst>
          </p:cNvPr>
          <p:cNvGraphicFramePr>
            <a:graphicFrameLocks noGrp="1"/>
          </p:cNvGraphicFramePr>
          <p:nvPr>
            <p:extLst>
              <p:ext uri="{D42A27DB-BD31-4B8C-83A1-F6EECF244321}">
                <p14:modId xmlns:p14="http://schemas.microsoft.com/office/powerpoint/2010/main" val="1768572906"/>
              </p:ext>
            </p:extLst>
          </p:nvPr>
        </p:nvGraphicFramePr>
        <p:xfrm>
          <a:off x="915460" y="1930759"/>
          <a:ext cx="10530841" cy="4193890"/>
        </p:xfrm>
        <a:graphic>
          <a:graphicData uri="http://schemas.openxmlformats.org/drawingml/2006/table">
            <a:tbl>
              <a:tblPr firstRow="1" firstCol="1" bandRow="1">
                <a:tableStyleId>{5C22544A-7EE6-4342-B048-85BDC9FD1C3A}</a:tableStyleId>
              </a:tblPr>
              <a:tblGrid>
                <a:gridCol w="2356802">
                  <a:extLst>
                    <a:ext uri="{9D8B030D-6E8A-4147-A177-3AD203B41FA5}">
                      <a16:colId xmlns:a16="http://schemas.microsoft.com/office/drawing/2014/main" val="2654026947"/>
                    </a:ext>
                  </a:extLst>
                </a:gridCol>
                <a:gridCol w="2150398">
                  <a:extLst>
                    <a:ext uri="{9D8B030D-6E8A-4147-A177-3AD203B41FA5}">
                      <a16:colId xmlns:a16="http://schemas.microsoft.com/office/drawing/2014/main" val="2617020148"/>
                    </a:ext>
                  </a:extLst>
                </a:gridCol>
                <a:gridCol w="2150398">
                  <a:extLst>
                    <a:ext uri="{9D8B030D-6E8A-4147-A177-3AD203B41FA5}">
                      <a16:colId xmlns:a16="http://schemas.microsoft.com/office/drawing/2014/main" val="3917510761"/>
                    </a:ext>
                  </a:extLst>
                </a:gridCol>
                <a:gridCol w="2181990">
                  <a:extLst>
                    <a:ext uri="{9D8B030D-6E8A-4147-A177-3AD203B41FA5}">
                      <a16:colId xmlns:a16="http://schemas.microsoft.com/office/drawing/2014/main" val="398561857"/>
                    </a:ext>
                  </a:extLst>
                </a:gridCol>
                <a:gridCol w="1691253">
                  <a:extLst>
                    <a:ext uri="{9D8B030D-6E8A-4147-A177-3AD203B41FA5}">
                      <a16:colId xmlns:a16="http://schemas.microsoft.com/office/drawing/2014/main" val="1308271077"/>
                    </a:ext>
                  </a:extLst>
                </a:gridCol>
              </a:tblGrid>
              <a:tr h="419389">
                <a:tc>
                  <a:txBody>
                    <a:bodyPr/>
                    <a:lstStyle/>
                    <a:p>
                      <a:pPr algn="ctr">
                        <a:buNone/>
                      </a:pPr>
                      <a:r>
                        <a:rPr lang="zh-CN" sz="1050" kern="100">
                          <a:effectLst/>
                        </a:rPr>
                        <a:t>模型</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50" kern="100">
                          <a:effectLst/>
                        </a:rPr>
                        <a:t>性能指标</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50" kern="100">
                          <a:effectLst/>
                        </a:rPr>
                        <a:t>抗拉强度</a:t>
                      </a:r>
                      <a:r>
                        <a:rPr lang="en-US" sz="1050" kern="100">
                          <a:effectLst/>
                        </a:rPr>
                        <a:t>TS</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50" kern="100">
                          <a:effectLst/>
                        </a:rPr>
                        <a:t>伸长率</a:t>
                      </a:r>
                      <a:r>
                        <a:rPr lang="en-US" sz="1050" kern="100">
                          <a:effectLst/>
                        </a:rPr>
                        <a:t>EL</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50" kern="100">
                          <a:effectLst/>
                        </a:rPr>
                        <a:t>屈服强度</a:t>
                      </a:r>
                      <a:r>
                        <a:rPr lang="en-US" sz="1050" kern="100">
                          <a:effectLst/>
                        </a:rPr>
                        <a:t>YS</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20757776"/>
                  </a:ext>
                </a:extLst>
              </a:tr>
              <a:tr h="419389">
                <a:tc rowSpan="3">
                  <a:txBody>
                    <a:bodyPr/>
                    <a:lstStyle/>
                    <a:p>
                      <a:pPr algn="ctr">
                        <a:buNone/>
                      </a:pPr>
                      <a:r>
                        <a:rPr lang="en-US" sz="1050" kern="100">
                          <a:effectLst/>
                        </a:rPr>
                        <a:t>XGBoost</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RMSE</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4.55</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1.21</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7.29</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602106192"/>
                  </a:ext>
                </a:extLst>
              </a:tr>
              <a:tr h="419389">
                <a:tc vMerge="1">
                  <a:txBody>
                    <a:bodyPr/>
                    <a:lstStyle/>
                    <a:p>
                      <a:endParaRPr lang="zh-CN" altLang="en-US"/>
                    </a:p>
                  </a:txBody>
                  <a:tcPr/>
                </a:tc>
                <a:tc>
                  <a:txBody>
                    <a:bodyPr/>
                    <a:lstStyle/>
                    <a:p>
                      <a:pPr algn="ctr">
                        <a:buNone/>
                      </a:pPr>
                      <a:r>
                        <a:rPr lang="en-US" sz="1050" kern="100">
                          <a:effectLst/>
                        </a:rPr>
                        <a:t>MAE</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2.89</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0.83</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4.06</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621162671"/>
                  </a:ext>
                </a:extLst>
              </a:tr>
              <a:tr h="419389">
                <a:tc vMerge="1">
                  <a:txBody>
                    <a:bodyPr/>
                    <a:lstStyle/>
                    <a:p>
                      <a:endParaRPr lang="zh-CN" altLang="en-US"/>
                    </a:p>
                  </a:txBody>
                  <a:tcPr/>
                </a:tc>
                <a:tc>
                  <a:txBody>
                    <a:bodyPr/>
                    <a:lstStyle/>
                    <a:p>
                      <a:pPr algn="ctr">
                        <a:buNone/>
                      </a:pPr>
                      <a:r>
                        <a:rPr lang="en-US" sz="1050" kern="100">
                          <a:effectLst/>
                        </a:rPr>
                        <a:t>R²</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0.9554</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0.8283</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dirty="0">
                          <a:effectLst/>
                        </a:rPr>
                        <a:t>0.9631</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74548929"/>
                  </a:ext>
                </a:extLst>
              </a:tr>
              <a:tr h="419389">
                <a:tc rowSpan="3">
                  <a:txBody>
                    <a:bodyPr/>
                    <a:lstStyle/>
                    <a:p>
                      <a:pPr algn="ctr">
                        <a:buNone/>
                      </a:pPr>
                      <a:r>
                        <a:rPr lang="en-US" sz="1050" kern="100">
                          <a:effectLst/>
                        </a:rPr>
                        <a:t>Random Forest</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RMSE</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4.48</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dirty="0">
                          <a:effectLst/>
                        </a:rPr>
                        <a:t>1.11</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7.15</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390740690"/>
                  </a:ext>
                </a:extLst>
              </a:tr>
              <a:tr h="419389">
                <a:tc vMerge="1">
                  <a:txBody>
                    <a:bodyPr/>
                    <a:lstStyle/>
                    <a:p>
                      <a:endParaRPr lang="zh-CN" altLang="en-US"/>
                    </a:p>
                  </a:txBody>
                  <a:tcPr/>
                </a:tc>
                <a:tc>
                  <a:txBody>
                    <a:bodyPr/>
                    <a:lstStyle/>
                    <a:p>
                      <a:pPr algn="ctr">
                        <a:buNone/>
                      </a:pPr>
                      <a:r>
                        <a:rPr lang="en-US" sz="1050" kern="100">
                          <a:effectLst/>
                        </a:rPr>
                        <a:t>MAE</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2.76</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0.75</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3.78</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223912627"/>
                  </a:ext>
                </a:extLst>
              </a:tr>
              <a:tr h="419389">
                <a:tc vMerge="1">
                  <a:txBody>
                    <a:bodyPr/>
                    <a:lstStyle/>
                    <a:p>
                      <a:endParaRPr lang="zh-CN" altLang="en-US"/>
                    </a:p>
                  </a:txBody>
                  <a:tcPr/>
                </a:tc>
                <a:tc>
                  <a:txBody>
                    <a:bodyPr/>
                    <a:lstStyle/>
                    <a:p>
                      <a:pPr algn="ctr">
                        <a:buNone/>
                      </a:pPr>
                      <a:r>
                        <a:rPr lang="en-US" sz="1050" kern="100">
                          <a:effectLst/>
                        </a:rPr>
                        <a:t>R²</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0.9569</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0.8555</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0.9646</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850403686"/>
                  </a:ext>
                </a:extLst>
              </a:tr>
              <a:tr h="419389">
                <a:tc rowSpan="3">
                  <a:txBody>
                    <a:bodyPr/>
                    <a:lstStyle/>
                    <a:p>
                      <a:pPr algn="ctr">
                        <a:buNone/>
                      </a:pPr>
                      <a:r>
                        <a:rPr lang="en-US" sz="1050" kern="100">
                          <a:effectLst/>
                        </a:rPr>
                        <a:t>SVM</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RMSE</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14.60</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1.68</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20.22</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651830254"/>
                  </a:ext>
                </a:extLst>
              </a:tr>
              <a:tr h="419389">
                <a:tc vMerge="1">
                  <a:txBody>
                    <a:bodyPr/>
                    <a:lstStyle/>
                    <a:p>
                      <a:endParaRPr lang="zh-CN" altLang="en-US"/>
                    </a:p>
                  </a:txBody>
                  <a:tcPr/>
                </a:tc>
                <a:tc>
                  <a:txBody>
                    <a:bodyPr/>
                    <a:lstStyle/>
                    <a:p>
                      <a:pPr algn="ctr">
                        <a:buNone/>
                      </a:pPr>
                      <a:r>
                        <a:rPr lang="en-US" sz="1050" kern="100">
                          <a:effectLst/>
                        </a:rPr>
                        <a:t>MAE</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6.66</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1.29</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9.55</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250506093"/>
                  </a:ext>
                </a:extLst>
              </a:tr>
              <a:tr h="419389">
                <a:tc vMerge="1">
                  <a:txBody>
                    <a:bodyPr/>
                    <a:lstStyle/>
                    <a:p>
                      <a:endParaRPr lang="zh-CN" altLang="en-US"/>
                    </a:p>
                  </a:txBody>
                  <a:tcPr/>
                </a:tc>
                <a:tc>
                  <a:txBody>
                    <a:bodyPr/>
                    <a:lstStyle/>
                    <a:p>
                      <a:pPr algn="ctr">
                        <a:buNone/>
                      </a:pPr>
                      <a:r>
                        <a:rPr lang="en-US" sz="1050" kern="100">
                          <a:effectLst/>
                        </a:rPr>
                        <a:t>R²</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0.5412</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0.6707</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dirty="0">
                          <a:effectLst/>
                        </a:rPr>
                        <a:t>0.7166</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580237989"/>
                  </a:ext>
                </a:extLst>
              </a:tr>
            </a:tbl>
          </a:graphicData>
        </a:graphic>
      </p:graphicFrame>
      <p:sp>
        <p:nvSpPr>
          <p:cNvPr id="11" name="矩形 10">
            <a:extLst>
              <a:ext uri="{FF2B5EF4-FFF2-40B4-BE49-F238E27FC236}">
                <a16:creationId xmlns:a16="http://schemas.microsoft.com/office/drawing/2014/main" id="{55CCA05C-DDF6-5652-9FED-E1470149E837}"/>
              </a:ext>
            </a:extLst>
          </p:cNvPr>
          <p:cNvSpPr/>
          <p:nvPr/>
        </p:nvSpPr>
        <p:spPr>
          <a:xfrm>
            <a:off x="937768" y="1358145"/>
            <a:ext cx="2692870" cy="43037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000"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模型训练与结果分析</a:t>
            </a:r>
          </a:p>
        </p:txBody>
      </p:sp>
    </p:spTree>
    <p:extLst>
      <p:ext uri="{BB962C8B-B14F-4D97-AF65-F5344CB8AC3E}">
        <p14:creationId xmlns:p14="http://schemas.microsoft.com/office/powerpoint/2010/main" val="3543312203"/>
      </p:ext>
    </p:extLst>
  </p:cSld>
  <p:clrMapOvr>
    <a:masterClrMapping/>
  </p:clrMapOvr>
  <mc:AlternateContent xmlns:mc="http://schemas.openxmlformats.org/markup-compatibility/2006" xmlns:p14="http://schemas.microsoft.com/office/powerpoint/2010/main">
    <mc:Choice Requires="p14">
      <p:transition spd="slow" p14:dur="1500" advClick="0" advTm="22882">
        <p:random/>
      </p:transition>
    </mc:Choice>
    <mc:Fallback xmlns="">
      <p:transition spd="slow" advClick="0" advTm="22882">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242E2-4676-B893-E139-D27D698D6BCD}"/>
            </a:ext>
          </a:extLst>
        </p:cNvPr>
        <p:cNvGrpSpPr/>
        <p:nvPr/>
      </p:nvGrpSpPr>
      <p:grpSpPr>
        <a:xfrm>
          <a:off x="0" y="0"/>
          <a:ext cx="0" cy="0"/>
          <a:chOff x="0" y="0"/>
          <a:chExt cx="0" cy="0"/>
        </a:xfrm>
      </p:grpSpPr>
      <p:grpSp>
        <p:nvGrpSpPr>
          <p:cNvPr id="136" name="组合 135">
            <a:extLst>
              <a:ext uri="{FF2B5EF4-FFF2-40B4-BE49-F238E27FC236}">
                <a16:creationId xmlns:a16="http://schemas.microsoft.com/office/drawing/2014/main" id="{2089B534-7482-611D-4A64-F69A029D25F1}"/>
              </a:ext>
            </a:extLst>
          </p:cNvPr>
          <p:cNvGrpSpPr/>
          <p:nvPr/>
        </p:nvGrpSpPr>
        <p:grpSpPr>
          <a:xfrm>
            <a:off x="1100328" y="1476847"/>
            <a:ext cx="10281920" cy="1041375"/>
            <a:chOff x="1472939" y="3559710"/>
            <a:chExt cx="10281920" cy="1041375"/>
          </a:xfrm>
        </p:grpSpPr>
        <p:sp>
          <p:nvSpPr>
            <p:cNvPr id="137" name="文本框 42">
              <a:extLst>
                <a:ext uri="{FF2B5EF4-FFF2-40B4-BE49-F238E27FC236}">
                  <a16:creationId xmlns:a16="http://schemas.microsoft.com/office/drawing/2014/main" id="{FA2FC572-7E9F-E7F1-7F9D-F001AC6BB150}"/>
                </a:ext>
              </a:extLst>
            </p:cNvPr>
            <p:cNvSpPr txBox="1"/>
            <p:nvPr/>
          </p:nvSpPr>
          <p:spPr>
            <a:xfrm>
              <a:off x="1472939" y="4238806"/>
              <a:ext cx="10281920" cy="362279"/>
            </a:xfrm>
            <a:prstGeom prst="rect">
              <a:avLst/>
            </a:prstGeom>
          </p:spPr>
          <p:txBody>
            <a:bodyPr wrap="square">
              <a:spAutoFit/>
              <a:scene3d>
                <a:camera prst="orthographicFront"/>
                <a:lightRig rig="threePt" dir="t"/>
              </a:scene3d>
              <a:sp3d contourW="12700"/>
            </a:bodyPr>
            <a:lstStyle>
              <a:defPPr>
                <a:defRPr lang="zh-CN"/>
              </a:defPPr>
              <a:lvl1pPr algn="ctr">
                <a:lnSpc>
                  <a:spcPct val="120000"/>
                </a:lnSpc>
                <a:defRPr sz="1400">
                  <a:latin typeface="Arial"/>
                  <a:ea typeface="微软雅黑"/>
                </a:defRPr>
              </a:lvl1pPr>
            </a:lstStyle>
            <a:p>
              <a:pPr indent="304800" algn="just">
                <a:lnSpc>
                  <a:spcPts val="2300"/>
                </a:lnSpc>
                <a:buNone/>
              </a:pPr>
              <a:endParaRPr lang="zh-CN" altLang="zh-CN" sz="1600" kern="100" dirty="0">
                <a:effectLst/>
                <a:latin typeface="Times New Roman" panose="02020603050405020304" pitchFamily="18" charset="0"/>
                <a:ea typeface="字魂58号-创中黑" panose="00000500000000000000"/>
              </a:endParaRPr>
            </a:p>
          </p:txBody>
        </p:sp>
        <p:sp>
          <p:nvSpPr>
            <p:cNvPr id="138" name="矩形 137">
              <a:extLst>
                <a:ext uri="{FF2B5EF4-FFF2-40B4-BE49-F238E27FC236}">
                  <a16:creationId xmlns:a16="http://schemas.microsoft.com/office/drawing/2014/main" id="{BE58B1F3-8910-8DB5-9511-F35DC642D5FB}"/>
                </a:ext>
              </a:extLst>
            </p:cNvPr>
            <p:cNvSpPr/>
            <p:nvPr/>
          </p:nvSpPr>
          <p:spPr>
            <a:xfrm>
              <a:off x="1472939" y="3559710"/>
              <a:ext cx="2692870" cy="43037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000"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模型训练与结果分析</a:t>
              </a:r>
            </a:p>
          </p:txBody>
        </p:sp>
      </p:grpSp>
      <p:grpSp>
        <p:nvGrpSpPr>
          <p:cNvPr id="2" name="组合 1">
            <a:extLst>
              <a:ext uri="{FF2B5EF4-FFF2-40B4-BE49-F238E27FC236}">
                <a16:creationId xmlns:a16="http://schemas.microsoft.com/office/drawing/2014/main" id="{82F22830-56FE-D0BE-4045-86C48E48B0F6}"/>
              </a:ext>
            </a:extLst>
          </p:cNvPr>
          <p:cNvGrpSpPr/>
          <p:nvPr/>
        </p:nvGrpSpPr>
        <p:grpSpPr>
          <a:xfrm>
            <a:off x="3954227" y="509137"/>
            <a:ext cx="4283545" cy="1569660"/>
            <a:chOff x="3934731" y="483357"/>
            <a:chExt cx="4283545" cy="1569660"/>
          </a:xfrm>
        </p:grpSpPr>
        <p:sp>
          <p:nvSpPr>
            <p:cNvPr id="3" name="文本框 2">
              <a:extLst>
                <a:ext uri="{FF2B5EF4-FFF2-40B4-BE49-F238E27FC236}">
                  <a16:creationId xmlns:a16="http://schemas.microsoft.com/office/drawing/2014/main" id="{4EF783E2-E6AF-9053-C7C5-36C7B5B7FAED}"/>
                </a:ext>
              </a:extLst>
            </p:cNvPr>
            <p:cNvSpPr txBox="1"/>
            <p:nvPr/>
          </p:nvSpPr>
          <p:spPr>
            <a:xfrm>
              <a:off x="3934731" y="483357"/>
              <a:ext cx="4122516"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三、</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机理模型力学性能预测</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BE226F84-084C-0C0D-D1D6-84114025235D}"/>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Process Mechanism and Physical Modeling</a:t>
              </a:r>
            </a:p>
          </p:txBody>
        </p:sp>
        <p:cxnSp>
          <p:nvCxnSpPr>
            <p:cNvPr id="5" name="直接连接符 4"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B542E9A5-6785-7C4E-1517-911950F015DA}"/>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graphicFrame>
        <p:nvGraphicFramePr>
          <p:cNvPr id="6" name="表格 5">
            <a:extLst>
              <a:ext uri="{FF2B5EF4-FFF2-40B4-BE49-F238E27FC236}">
                <a16:creationId xmlns:a16="http://schemas.microsoft.com/office/drawing/2014/main" id="{47292721-DAA9-C7E7-390C-8821661CC5C5}"/>
              </a:ext>
            </a:extLst>
          </p:cNvPr>
          <p:cNvGraphicFramePr>
            <a:graphicFrameLocks noGrp="1"/>
          </p:cNvGraphicFramePr>
          <p:nvPr>
            <p:extLst>
              <p:ext uri="{D42A27DB-BD31-4B8C-83A1-F6EECF244321}">
                <p14:modId xmlns:p14="http://schemas.microsoft.com/office/powerpoint/2010/main" val="2730672891"/>
              </p:ext>
            </p:extLst>
          </p:nvPr>
        </p:nvGraphicFramePr>
        <p:xfrm>
          <a:off x="955276" y="2416799"/>
          <a:ext cx="10490200" cy="2072640"/>
        </p:xfrm>
        <a:graphic>
          <a:graphicData uri="http://schemas.openxmlformats.org/drawingml/2006/table">
            <a:tbl>
              <a:tblPr/>
              <a:tblGrid>
                <a:gridCol w="2077720">
                  <a:extLst>
                    <a:ext uri="{9D8B030D-6E8A-4147-A177-3AD203B41FA5}">
                      <a16:colId xmlns:a16="http://schemas.microsoft.com/office/drawing/2014/main" val="378718846"/>
                    </a:ext>
                  </a:extLst>
                </a:gridCol>
                <a:gridCol w="2103120">
                  <a:extLst>
                    <a:ext uri="{9D8B030D-6E8A-4147-A177-3AD203B41FA5}">
                      <a16:colId xmlns:a16="http://schemas.microsoft.com/office/drawing/2014/main" val="1415549074"/>
                    </a:ext>
                  </a:extLst>
                </a:gridCol>
                <a:gridCol w="2103120">
                  <a:extLst>
                    <a:ext uri="{9D8B030D-6E8A-4147-A177-3AD203B41FA5}">
                      <a16:colId xmlns:a16="http://schemas.microsoft.com/office/drawing/2014/main" val="290008912"/>
                    </a:ext>
                  </a:extLst>
                </a:gridCol>
                <a:gridCol w="2103120">
                  <a:extLst>
                    <a:ext uri="{9D8B030D-6E8A-4147-A177-3AD203B41FA5}">
                      <a16:colId xmlns:a16="http://schemas.microsoft.com/office/drawing/2014/main" val="30122008"/>
                    </a:ext>
                  </a:extLst>
                </a:gridCol>
                <a:gridCol w="2103120">
                  <a:extLst>
                    <a:ext uri="{9D8B030D-6E8A-4147-A177-3AD203B41FA5}">
                      <a16:colId xmlns:a16="http://schemas.microsoft.com/office/drawing/2014/main" val="1589843151"/>
                    </a:ext>
                  </a:extLst>
                </a:gridCol>
              </a:tblGrid>
              <a:tr h="0">
                <a:tc>
                  <a:txBody>
                    <a:bodyPr/>
                    <a:lstStyle/>
                    <a:p>
                      <a:pPr algn="ctr"/>
                      <a:r>
                        <a:rPr lang="zh-CN" altLang="en-US" sz="1600" dirty="0"/>
                        <a:t>模型</a:t>
                      </a:r>
                    </a:p>
                  </a:txBody>
                  <a:tcPr anchor="ctr">
                    <a:lnL>
                      <a:noFill/>
                    </a:lnL>
                    <a:lnR>
                      <a:noFill/>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600"/>
                        <a:t>TS</a:t>
                      </a:r>
                      <a:r>
                        <a:rPr lang="zh-CN" altLang="en-US" sz="1600"/>
                        <a:t>预测效果</a:t>
                      </a:r>
                    </a:p>
                  </a:txBody>
                  <a:tcPr anchor="ctr">
                    <a:lnL>
                      <a:noFill/>
                    </a:lnL>
                    <a:lnR>
                      <a:noFill/>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600"/>
                        <a:t>YS</a:t>
                      </a:r>
                      <a:r>
                        <a:rPr lang="zh-CN" altLang="en-US" sz="1600"/>
                        <a:t>预测效果</a:t>
                      </a:r>
                    </a:p>
                  </a:txBody>
                  <a:tcPr anchor="ctr">
                    <a:lnL>
                      <a:noFill/>
                    </a:lnL>
                    <a:lnR>
                      <a:noFill/>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600"/>
                        <a:t>EL</a:t>
                      </a:r>
                      <a:r>
                        <a:rPr lang="zh-CN" altLang="en-US" sz="1600"/>
                        <a:t>预测效果</a:t>
                      </a:r>
                    </a:p>
                  </a:txBody>
                  <a:tcPr anchor="ctr">
                    <a:lnL>
                      <a:noFill/>
                    </a:lnL>
                    <a:lnR>
                      <a:noFill/>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dirty="0"/>
                        <a:t>综合评价</a:t>
                      </a:r>
                    </a:p>
                  </a:txBody>
                  <a:tcPr anchor="ctr">
                    <a:lnL>
                      <a:noFill/>
                    </a:lnL>
                    <a:lnR>
                      <a:noFill/>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4608267"/>
                  </a:ext>
                </a:extLst>
              </a:tr>
              <a:tr h="0">
                <a:tc>
                  <a:txBody>
                    <a:bodyPr/>
                    <a:lstStyle/>
                    <a:p>
                      <a:pPr algn="ctr"/>
                      <a:r>
                        <a:rPr lang="en-US" sz="1600" b="1" dirty="0" err="1"/>
                        <a:t>XGBoost</a:t>
                      </a:r>
                      <a:endParaRPr lang="en-US" sz="1600" dirty="0"/>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r>
                        <a:rPr lang="en-US" sz="1600" dirty="0" err="1"/>
                        <a:t>RMSE</a:t>
                      </a:r>
                      <a:r>
                        <a:rPr lang="en-US" sz="1600" dirty="0"/>
                        <a:t>/MAE</a:t>
                      </a:r>
                      <a:r>
                        <a:rPr lang="zh-CN" altLang="en-US" sz="1600" dirty="0"/>
                        <a:t>小，</a:t>
                      </a:r>
                      <a:r>
                        <a:rPr lang="en-US" sz="1600" dirty="0" err="1"/>
                        <a:t>R²≈0.96</a:t>
                      </a:r>
                      <a:endParaRPr lang="en-US" sz="1600" dirty="0"/>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r>
                        <a:rPr lang="en-US" sz="1600" dirty="0" err="1"/>
                        <a:t>RMSE</a:t>
                      </a:r>
                      <a:r>
                        <a:rPr lang="en-US" sz="1600" dirty="0"/>
                        <a:t>/MAE</a:t>
                      </a:r>
                      <a:r>
                        <a:rPr lang="zh-CN" altLang="en-US" sz="1600" dirty="0"/>
                        <a:t>小，</a:t>
                      </a:r>
                      <a:r>
                        <a:rPr lang="en-US" sz="1600" dirty="0" err="1"/>
                        <a:t>R²≈0.96</a:t>
                      </a:r>
                      <a:endParaRPr lang="en-US" sz="1600" dirty="0"/>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r>
                        <a:rPr lang="en-US" sz="1600" dirty="0" err="1"/>
                        <a:t>R²≈0.84</a:t>
                      </a:r>
                      <a:endParaRPr lang="en-US" sz="1600" dirty="0"/>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a:r>
                        <a:rPr lang="zh-CN" altLang="en-US" sz="1600" dirty="0"/>
                        <a:t>拟合精度高，整体性能最优</a:t>
                      </a:r>
                    </a:p>
                  </a:txBody>
                  <a:tcPr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781189038"/>
                  </a:ext>
                </a:extLst>
              </a:tr>
              <a:tr h="0">
                <a:tc>
                  <a:txBody>
                    <a:bodyPr/>
                    <a:lstStyle/>
                    <a:p>
                      <a:pPr algn="ctr"/>
                      <a:r>
                        <a:rPr lang="zh-CN" altLang="en-US" sz="1600" b="1" dirty="0"/>
                        <a:t>随机森林</a:t>
                      </a:r>
                      <a:endParaRPr lang="zh-CN" altLang="en-US" sz="1600" dirty="0"/>
                    </a:p>
                  </a:txBody>
                  <a:tcPr anchor="ctr">
                    <a:lnL>
                      <a:noFill/>
                    </a:lnL>
                    <a:lnR>
                      <a:noFill/>
                    </a:lnR>
                    <a:lnT>
                      <a:noFill/>
                    </a:lnT>
                    <a:lnB>
                      <a:noFill/>
                    </a:lnB>
                    <a:noFill/>
                  </a:tcPr>
                </a:tc>
                <a:tc>
                  <a:txBody>
                    <a:bodyPr/>
                    <a:lstStyle/>
                    <a:p>
                      <a:pPr algn="ctr"/>
                      <a:r>
                        <a:rPr lang="zh-CN" altLang="en-US" sz="1600" dirty="0"/>
                        <a:t>略逊于</a:t>
                      </a:r>
                      <a:r>
                        <a:rPr lang="en-US" sz="1600" dirty="0" err="1"/>
                        <a:t>XGBoost</a:t>
                      </a:r>
                      <a:endParaRPr lang="en-US" sz="1600" dirty="0"/>
                    </a:p>
                  </a:txBody>
                  <a:tcPr anchor="ctr">
                    <a:lnL>
                      <a:noFill/>
                    </a:lnL>
                    <a:lnR>
                      <a:noFill/>
                    </a:lnR>
                    <a:lnT>
                      <a:noFill/>
                    </a:lnT>
                    <a:lnB>
                      <a:noFill/>
                    </a:lnB>
                    <a:noFill/>
                  </a:tcPr>
                </a:tc>
                <a:tc>
                  <a:txBody>
                    <a:bodyPr/>
                    <a:lstStyle/>
                    <a:p>
                      <a:pPr algn="ctr"/>
                      <a:r>
                        <a:rPr lang="zh-CN" altLang="en-US" sz="1600" dirty="0"/>
                        <a:t>略逊于</a:t>
                      </a:r>
                      <a:r>
                        <a:rPr lang="en-US" sz="1600" dirty="0" err="1"/>
                        <a:t>XGBoost</a:t>
                      </a:r>
                      <a:endParaRPr lang="en-US" sz="1600" dirty="0"/>
                    </a:p>
                  </a:txBody>
                  <a:tcPr anchor="ctr">
                    <a:lnL>
                      <a:noFill/>
                    </a:lnL>
                    <a:lnR>
                      <a:noFill/>
                    </a:lnR>
                    <a:lnT>
                      <a:noFill/>
                    </a:lnT>
                    <a:lnB>
                      <a:noFill/>
                    </a:lnB>
                    <a:noFill/>
                  </a:tcPr>
                </a:tc>
                <a:tc>
                  <a:txBody>
                    <a:bodyPr/>
                    <a:lstStyle/>
                    <a:p>
                      <a:pPr algn="ctr"/>
                      <a:r>
                        <a:rPr lang="en-US" sz="1600" b="1" dirty="0" err="1"/>
                        <a:t>R²</a:t>
                      </a:r>
                      <a:r>
                        <a:rPr lang="en-US" sz="1600" b="1" dirty="0"/>
                        <a:t>=0.8555</a:t>
                      </a:r>
                      <a:endParaRPr lang="en-US" sz="1600" dirty="0"/>
                    </a:p>
                  </a:txBody>
                  <a:tcPr anchor="ctr">
                    <a:lnL>
                      <a:noFill/>
                    </a:lnL>
                    <a:lnR>
                      <a:noFill/>
                    </a:lnR>
                    <a:lnT>
                      <a:noFill/>
                    </a:lnT>
                    <a:lnB>
                      <a:noFill/>
                    </a:lnB>
                    <a:noFill/>
                  </a:tcPr>
                </a:tc>
                <a:tc>
                  <a:txBody>
                    <a:bodyPr/>
                    <a:lstStyle/>
                    <a:p>
                      <a:pPr algn="ctr"/>
                      <a:r>
                        <a:rPr lang="en-US" altLang="zh-CN" sz="1600" dirty="0"/>
                        <a:t>EL</a:t>
                      </a:r>
                      <a:r>
                        <a:rPr lang="zh-CN" altLang="en-US" sz="1600" dirty="0"/>
                        <a:t>拟合效果最佳，整体稳定</a:t>
                      </a:r>
                    </a:p>
                  </a:txBody>
                  <a:tcPr anchor="ctr">
                    <a:lnL>
                      <a:noFill/>
                    </a:lnL>
                    <a:lnR>
                      <a:noFill/>
                    </a:lnR>
                    <a:lnT>
                      <a:noFill/>
                    </a:lnT>
                    <a:lnB>
                      <a:noFill/>
                    </a:lnB>
                    <a:noFill/>
                  </a:tcPr>
                </a:tc>
                <a:extLst>
                  <a:ext uri="{0D108BD9-81ED-4DB2-BD59-A6C34878D82A}">
                    <a16:rowId xmlns:a16="http://schemas.microsoft.com/office/drawing/2014/main" val="3241837043"/>
                  </a:ext>
                </a:extLst>
              </a:tr>
              <a:tr h="0">
                <a:tc>
                  <a:txBody>
                    <a:bodyPr/>
                    <a:lstStyle/>
                    <a:p>
                      <a:pPr algn="ctr"/>
                      <a:r>
                        <a:rPr lang="en-US" sz="1600" b="1" dirty="0" err="1"/>
                        <a:t>SVM</a:t>
                      </a:r>
                      <a:endParaRPr lang="en-US" sz="1600" dirty="0"/>
                    </a:p>
                  </a:txBody>
                  <a:tcPr anchor="ctr">
                    <a:lnL>
                      <a:noFill/>
                    </a:lnL>
                    <a:lnR>
                      <a:noFill/>
                    </a:lnR>
                    <a:lnT>
                      <a:noFill/>
                    </a:lnT>
                    <a:lnB w="19050" cap="flat" cmpd="sng" algn="ctr">
                      <a:solidFill>
                        <a:schemeClr val="tx1"/>
                      </a:solidFill>
                      <a:prstDash val="solid"/>
                      <a:round/>
                      <a:headEnd type="none" w="med" len="med"/>
                      <a:tailEnd type="none" w="med" len="med"/>
                    </a:lnB>
                    <a:noFill/>
                  </a:tcPr>
                </a:tc>
                <a:tc>
                  <a:txBody>
                    <a:bodyPr/>
                    <a:lstStyle/>
                    <a:p>
                      <a:pPr algn="ctr"/>
                      <a:r>
                        <a:rPr lang="en-US" sz="1600" dirty="0" err="1"/>
                        <a:t>RMSE</a:t>
                      </a:r>
                      <a:r>
                        <a:rPr lang="zh-CN" altLang="en-US" sz="1600" dirty="0"/>
                        <a:t>大，</a:t>
                      </a:r>
                      <a:r>
                        <a:rPr lang="en-US" sz="1600" dirty="0" err="1"/>
                        <a:t>R²</a:t>
                      </a:r>
                      <a:r>
                        <a:rPr lang="zh-CN" altLang="en-US" sz="1600" dirty="0"/>
                        <a:t>偏低</a:t>
                      </a:r>
                    </a:p>
                  </a:txBody>
                  <a:tcPr anchor="ctr">
                    <a:lnL>
                      <a:noFill/>
                    </a:lnL>
                    <a:lnR>
                      <a:noFill/>
                    </a:lnR>
                    <a:lnT>
                      <a:noFill/>
                    </a:lnT>
                    <a:lnB w="19050" cap="flat" cmpd="sng" algn="ctr">
                      <a:solidFill>
                        <a:schemeClr val="tx1"/>
                      </a:solidFill>
                      <a:prstDash val="solid"/>
                      <a:round/>
                      <a:headEnd type="none" w="med" len="med"/>
                      <a:tailEnd type="none" w="med" len="med"/>
                    </a:lnB>
                    <a:noFill/>
                  </a:tcPr>
                </a:tc>
                <a:tc>
                  <a:txBody>
                    <a:bodyPr/>
                    <a:lstStyle/>
                    <a:p>
                      <a:pPr algn="ctr"/>
                      <a:r>
                        <a:rPr lang="en-US" sz="1600" dirty="0" err="1"/>
                        <a:t>RMSE</a:t>
                      </a:r>
                      <a:r>
                        <a:rPr lang="zh-CN" altLang="en-US" sz="1600" dirty="0"/>
                        <a:t>大，</a:t>
                      </a:r>
                      <a:r>
                        <a:rPr lang="en-US" sz="1600" dirty="0" err="1"/>
                        <a:t>R²</a:t>
                      </a:r>
                      <a:r>
                        <a:rPr lang="zh-CN" altLang="en-US" sz="1600" dirty="0"/>
                        <a:t>偏低</a:t>
                      </a:r>
                    </a:p>
                  </a:txBody>
                  <a:tcPr anchor="ctr">
                    <a:lnL>
                      <a:noFill/>
                    </a:lnL>
                    <a:lnR>
                      <a:noFill/>
                    </a:lnR>
                    <a:lnT>
                      <a:noFill/>
                    </a:lnT>
                    <a:lnB w="19050" cap="flat" cmpd="sng" algn="ctr">
                      <a:solidFill>
                        <a:schemeClr val="tx1"/>
                      </a:solidFill>
                      <a:prstDash val="solid"/>
                      <a:round/>
                      <a:headEnd type="none" w="med" len="med"/>
                      <a:tailEnd type="none" w="med" len="med"/>
                    </a:lnB>
                    <a:noFill/>
                  </a:tcPr>
                </a:tc>
                <a:tc>
                  <a:txBody>
                    <a:bodyPr/>
                    <a:lstStyle/>
                    <a:p>
                      <a:pPr algn="ctr"/>
                      <a:r>
                        <a:rPr lang="en-US" sz="1600" dirty="0" err="1"/>
                        <a:t>RMSE</a:t>
                      </a:r>
                      <a:r>
                        <a:rPr lang="zh-CN" altLang="en-US" sz="1600" dirty="0"/>
                        <a:t>大，</a:t>
                      </a:r>
                      <a:r>
                        <a:rPr lang="en-US" sz="1600" dirty="0" err="1"/>
                        <a:t>R²</a:t>
                      </a:r>
                      <a:r>
                        <a:rPr lang="zh-CN" altLang="en-US" sz="1600" dirty="0"/>
                        <a:t>较差</a:t>
                      </a:r>
                    </a:p>
                  </a:txBody>
                  <a:tcPr anchor="ctr">
                    <a:lnL>
                      <a:noFill/>
                    </a:lnL>
                    <a:lnR>
                      <a:noFill/>
                    </a:lnR>
                    <a:lnT>
                      <a:noFill/>
                    </a:lnT>
                    <a:lnB w="19050" cap="flat" cmpd="sng" algn="ctr">
                      <a:solidFill>
                        <a:schemeClr val="tx1"/>
                      </a:solidFill>
                      <a:prstDash val="solid"/>
                      <a:round/>
                      <a:headEnd type="none" w="med" len="med"/>
                      <a:tailEnd type="none" w="med" len="med"/>
                    </a:lnB>
                    <a:noFill/>
                  </a:tcPr>
                </a:tc>
                <a:tc>
                  <a:txBody>
                    <a:bodyPr/>
                    <a:lstStyle/>
                    <a:p>
                      <a:pPr algn="ctr"/>
                      <a:r>
                        <a:rPr lang="zh-CN" altLang="en-US" sz="1600" dirty="0"/>
                        <a:t>拟合能力弱，预测波动大</a:t>
                      </a:r>
                    </a:p>
                  </a:txBody>
                  <a:tcPr anchor="ctr">
                    <a:lnL>
                      <a:noFill/>
                    </a:lnL>
                    <a:lnR>
                      <a:noFill/>
                    </a:lnR>
                    <a:lnT>
                      <a:noFill/>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1209395"/>
                  </a:ext>
                </a:extLst>
              </a:tr>
            </a:tbl>
          </a:graphicData>
        </a:graphic>
      </p:graphicFrame>
      <p:sp>
        <p:nvSpPr>
          <p:cNvPr id="10" name="文本框 9">
            <a:extLst>
              <a:ext uri="{FF2B5EF4-FFF2-40B4-BE49-F238E27FC236}">
                <a16:creationId xmlns:a16="http://schemas.microsoft.com/office/drawing/2014/main" id="{9FFB953C-6C4A-5991-92EE-5E7B0DCCE25C}"/>
              </a:ext>
            </a:extLst>
          </p:cNvPr>
          <p:cNvSpPr txBox="1"/>
          <p:nvPr/>
        </p:nvSpPr>
        <p:spPr>
          <a:xfrm>
            <a:off x="1327757" y="4925907"/>
            <a:ext cx="9745237" cy="584775"/>
          </a:xfrm>
          <a:prstGeom prst="rect">
            <a:avLst/>
          </a:prstGeom>
          <a:noFill/>
        </p:spPr>
        <p:txBody>
          <a:bodyPr wrap="square">
            <a:spAutoFit/>
          </a:bodyPr>
          <a:lstStyle/>
          <a:p>
            <a:pPr indent="457200"/>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根据以上分析可知，本次实验选取</a:t>
            </a:r>
            <a:r>
              <a:rPr lang="en-US" altLang="zh-CN" sz="1600" kern="100" dirty="0" err="1">
                <a:effectLst/>
                <a:latin typeface="Times New Roman" panose="02020603050405020304" pitchFamily="18" charset="0"/>
                <a:ea typeface="字魂58号-创中黑" panose="00000500000000000000"/>
              </a:rPr>
              <a:t>XGBoost</a:t>
            </a:r>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作为后续实验主要采用的模型，并基于机理特征进一步实现模型参数优化、模型性能优化与模型可视化分析等工作</a:t>
            </a:r>
            <a:endParaRPr lang="zh-CN" altLang="en-US" sz="1600" dirty="0">
              <a:ea typeface="字魂58号-创中黑" panose="00000500000000000000"/>
            </a:endParaRPr>
          </a:p>
        </p:txBody>
      </p:sp>
    </p:spTree>
    <p:extLst>
      <p:ext uri="{BB962C8B-B14F-4D97-AF65-F5344CB8AC3E}">
        <p14:creationId xmlns:p14="http://schemas.microsoft.com/office/powerpoint/2010/main" val="1178457378"/>
      </p:ext>
    </p:extLst>
  </p:cSld>
  <p:clrMapOvr>
    <a:masterClrMapping/>
  </p:clrMapOvr>
  <mc:AlternateContent xmlns:mc="http://schemas.openxmlformats.org/markup-compatibility/2006" xmlns:p14="http://schemas.microsoft.com/office/powerpoint/2010/main">
    <mc:Choice Requires="p14">
      <p:transition spd="slow" p14:dur="1500" advClick="0" advTm="12698">
        <p:random/>
      </p:transition>
    </mc:Choice>
    <mc:Fallback xmlns="">
      <p:transition spd="slow" advClick="0" advTm="12698">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81FE3-A0A9-75E9-6060-0F48C978D52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4C8E7C0F-C782-9C2C-8E32-4E9CF557DA95}"/>
              </a:ext>
            </a:extLst>
          </p:cNvPr>
          <p:cNvGrpSpPr/>
          <p:nvPr/>
        </p:nvGrpSpPr>
        <p:grpSpPr>
          <a:xfrm>
            <a:off x="3934731" y="483357"/>
            <a:ext cx="4283545" cy="1569660"/>
            <a:chOff x="3934731" y="483357"/>
            <a:chExt cx="4283545" cy="1569660"/>
          </a:xfrm>
        </p:grpSpPr>
        <p:sp>
          <p:nvSpPr>
            <p:cNvPr id="3" name="文本框 2">
              <a:extLst>
                <a:ext uri="{FF2B5EF4-FFF2-40B4-BE49-F238E27FC236}">
                  <a16:creationId xmlns:a16="http://schemas.microsoft.com/office/drawing/2014/main" id="{6CC6D469-312D-E3B5-BA1C-5AAA9F8E9F29}"/>
                </a:ext>
              </a:extLst>
            </p:cNvPr>
            <p:cNvSpPr txBox="1"/>
            <p:nvPr/>
          </p:nvSpPr>
          <p:spPr>
            <a:xfrm>
              <a:off x="3934731" y="483357"/>
              <a:ext cx="4122516"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三、</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机理模型力学性能预测</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0"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C62A25AC-DDD7-6F0F-5C05-2E01D61921F6}"/>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Process Mechanism and Physical Modeling</a:t>
              </a:r>
            </a:p>
          </p:txBody>
        </p:sp>
        <p:cxnSp>
          <p:nvCxnSpPr>
            <p:cNvPr id="25" name="直接连接符 24"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A096F7B6-FD29-14D0-B1DF-97EF7F9019DB}"/>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48" name="文本框 47">
            <a:extLst>
              <a:ext uri="{FF2B5EF4-FFF2-40B4-BE49-F238E27FC236}">
                <a16:creationId xmlns:a16="http://schemas.microsoft.com/office/drawing/2014/main" id="{46640E32-09C4-35EA-FAC0-5A6363DCFBE0}"/>
              </a:ext>
            </a:extLst>
          </p:cNvPr>
          <p:cNvSpPr txBox="1"/>
          <p:nvPr/>
        </p:nvSpPr>
        <p:spPr>
          <a:xfrm>
            <a:off x="1030025" y="2047834"/>
            <a:ext cx="10116820" cy="954749"/>
          </a:xfrm>
          <a:prstGeom prst="rect">
            <a:avLst/>
          </a:prstGeom>
          <a:noFill/>
        </p:spPr>
        <p:txBody>
          <a:bodyPr wrap="square">
            <a:spAutoFit/>
          </a:bodyPr>
          <a:lstStyle/>
          <a:p>
            <a:pPr indent="304800" algn="just">
              <a:lnSpc>
                <a:spcPts val="2300"/>
              </a:lnSpc>
              <a:tabLst>
                <a:tab pos="457200" algn="l"/>
              </a:tabLst>
            </a:pPr>
            <a:r>
              <a:rPr lang="en-US" altLang="zh-CN" sz="1600" kern="100" dirty="0">
                <a:effectLst/>
                <a:latin typeface="Times New Roman" panose="02020603050405020304" pitchFamily="18" charset="0"/>
                <a:ea typeface="字魂58号-创中黑" panose="00000500000000000000"/>
              </a:rPr>
              <a:t>   </a:t>
            </a:r>
            <a:r>
              <a:rPr lang="zh-CN" altLang="zh-CN" sz="1600" kern="100" dirty="0">
                <a:effectLst/>
                <a:latin typeface="Times New Roman" panose="02020603050405020304" pitchFamily="18" charset="0"/>
                <a:ea typeface="字魂58号-创中黑" panose="00000500000000000000"/>
              </a:rPr>
              <a:t>为了提高模型性能及增强模型的物理可解性，在此引入了包含一定工艺物理意义的中间变量（碳当量、活化能等）来代替桥梁变量，从而用增加桥梁变量数量的方式来丰富模型，即将模型结构从</a:t>
            </a:r>
            <a:r>
              <a:rPr lang="en-US" altLang="zh-CN" sz="1600" kern="100" dirty="0">
                <a:effectLst/>
                <a:latin typeface="Times New Roman" panose="02020603050405020304" pitchFamily="18" charset="0"/>
                <a:ea typeface="字魂58号-创中黑" panose="00000500000000000000"/>
              </a:rPr>
              <a:t>“</a:t>
            </a:r>
            <a:r>
              <a:rPr lang="zh-CN" altLang="zh-CN" sz="1600" kern="100" dirty="0">
                <a:effectLst/>
                <a:latin typeface="Times New Roman" panose="02020603050405020304" pitchFamily="18" charset="0"/>
                <a:ea typeface="字魂58号-创中黑" panose="00000500000000000000"/>
              </a:rPr>
              <a:t>原始工艺特征力学性能</a:t>
            </a:r>
            <a:r>
              <a:rPr lang="en-US" altLang="zh-CN" sz="1600" kern="100" dirty="0">
                <a:effectLst/>
                <a:latin typeface="Times New Roman" panose="02020603050405020304" pitchFamily="18" charset="0"/>
                <a:ea typeface="字魂58号-创中黑" panose="00000500000000000000"/>
              </a:rPr>
              <a:t>”</a:t>
            </a:r>
            <a:r>
              <a:rPr lang="zh-CN" altLang="zh-CN" sz="1600" kern="100" dirty="0">
                <a:effectLst/>
                <a:latin typeface="Times New Roman" panose="02020603050405020304" pitchFamily="18" charset="0"/>
                <a:ea typeface="字魂58号-创中黑" panose="00000500000000000000"/>
              </a:rPr>
              <a:t>扩展至</a:t>
            </a:r>
            <a:r>
              <a:rPr lang="en-US" altLang="zh-CN" sz="1600" kern="100" dirty="0">
                <a:effectLst/>
                <a:latin typeface="Times New Roman" panose="02020603050405020304" pitchFamily="18" charset="0"/>
                <a:ea typeface="字魂58号-创中黑" panose="00000500000000000000"/>
              </a:rPr>
              <a:t>“</a:t>
            </a:r>
            <a:r>
              <a:rPr lang="zh-CN" altLang="zh-CN" sz="1600" kern="100" dirty="0">
                <a:effectLst/>
                <a:latin typeface="Times New Roman" panose="02020603050405020304" pitchFamily="18" charset="0"/>
                <a:ea typeface="字魂58号-创中黑" panose="00000500000000000000"/>
              </a:rPr>
              <a:t>原始工艺特征中间变量力学性能</a:t>
            </a:r>
            <a:r>
              <a:rPr lang="en-US" altLang="zh-CN" sz="1600" kern="100" dirty="0">
                <a:effectLst/>
                <a:latin typeface="Times New Roman" panose="02020603050405020304" pitchFamily="18" charset="0"/>
                <a:ea typeface="字魂58号-创中黑" panose="00000500000000000000"/>
              </a:rPr>
              <a:t>”</a:t>
            </a:r>
            <a:r>
              <a:rPr lang="zh-CN" altLang="zh-CN" sz="1600" kern="100" dirty="0">
                <a:effectLst/>
                <a:latin typeface="Times New Roman" panose="02020603050405020304" pitchFamily="18" charset="0"/>
                <a:ea typeface="字魂58号-创中黑" panose="00000500000000000000"/>
              </a:rPr>
              <a:t>。 </a:t>
            </a:r>
            <a:endParaRPr lang="zh-CN" altLang="zh-CN" sz="1200" kern="100" dirty="0">
              <a:effectLst/>
              <a:latin typeface="Times New Roman" panose="02020603050405020304" pitchFamily="18" charset="0"/>
              <a:ea typeface="字魂58号-创中黑" panose="00000500000000000000"/>
            </a:endParaRPr>
          </a:p>
        </p:txBody>
      </p:sp>
      <p:sp>
        <p:nvSpPr>
          <p:cNvPr id="50" name="文本框 49">
            <a:extLst>
              <a:ext uri="{FF2B5EF4-FFF2-40B4-BE49-F238E27FC236}">
                <a16:creationId xmlns:a16="http://schemas.microsoft.com/office/drawing/2014/main" id="{1B8F0E82-C894-2D50-DB05-3C31DAD135E0}"/>
              </a:ext>
            </a:extLst>
          </p:cNvPr>
          <p:cNvSpPr txBox="1"/>
          <p:nvPr/>
        </p:nvSpPr>
        <p:spPr>
          <a:xfrm>
            <a:off x="1030025" y="1496716"/>
            <a:ext cx="2527300" cy="396583"/>
          </a:xfrm>
          <a:prstGeom prst="rect">
            <a:avLst/>
          </a:prstGeom>
          <a:noFill/>
        </p:spPr>
        <p:txBody>
          <a:bodyPr wrap="square">
            <a:spAutoFit/>
          </a:bodyPr>
          <a:lstStyle/>
          <a:p>
            <a:pPr algn="ctr">
              <a:lnSpc>
                <a:spcPct val="120000"/>
              </a:lnSpc>
            </a:pPr>
            <a:r>
              <a:rPr lang="zh-CN" altLang="en-US" sz="1800"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模型训练与结果分析</a:t>
            </a:r>
          </a:p>
        </p:txBody>
      </p:sp>
      <p:graphicFrame>
        <p:nvGraphicFramePr>
          <p:cNvPr id="52" name="表格 51">
            <a:extLst>
              <a:ext uri="{FF2B5EF4-FFF2-40B4-BE49-F238E27FC236}">
                <a16:creationId xmlns:a16="http://schemas.microsoft.com/office/drawing/2014/main" id="{FCD96ADE-3B94-974B-8103-788834B3A8F4}"/>
              </a:ext>
            </a:extLst>
          </p:cNvPr>
          <p:cNvGraphicFramePr>
            <a:graphicFrameLocks noGrp="1"/>
          </p:cNvGraphicFramePr>
          <p:nvPr>
            <p:extLst>
              <p:ext uri="{D42A27DB-BD31-4B8C-83A1-F6EECF244321}">
                <p14:modId xmlns:p14="http://schemas.microsoft.com/office/powerpoint/2010/main" val="1810332418"/>
              </p:ext>
            </p:extLst>
          </p:nvPr>
        </p:nvGraphicFramePr>
        <p:xfrm>
          <a:off x="838199" y="3316481"/>
          <a:ext cx="10515601" cy="2129280"/>
        </p:xfrm>
        <a:graphic>
          <a:graphicData uri="http://schemas.openxmlformats.org/drawingml/2006/table">
            <a:tbl>
              <a:tblPr firstRow="1" firstCol="1" bandRow="1">
                <a:tableStyleId>{5C22544A-7EE6-4342-B048-85BDC9FD1C3A}</a:tableStyleId>
              </a:tblPr>
              <a:tblGrid>
                <a:gridCol w="4269007">
                  <a:extLst>
                    <a:ext uri="{9D8B030D-6E8A-4147-A177-3AD203B41FA5}">
                      <a16:colId xmlns:a16="http://schemas.microsoft.com/office/drawing/2014/main" val="4038552824"/>
                    </a:ext>
                  </a:extLst>
                </a:gridCol>
                <a:gridCol w="1427302">
                  <a:extLst>
                    <a:ext uri="{9D8B030D-6E8A-4147-A177-3AD203B41FA5}">
                      <a16:colId xmlns:a16="http://schemas.microsoft.com/office/drawing/2014/main" val="1722593064"/>
                    </a:ext>
                  </a:extLst>
                </a:gridCol>
                <a:gridCol w="2491329">
                  <a:extLst>
                    <a:ext uri="{9D8B030D-6E8A-4147-A177-3AD203B41FA5}">
                      <a16:colId xmlns:a16="http://schemas.microsoft.com/office/drawing/2014/main" val="1165267297"/>
                    </a:ext>
                  </a:extLst>
                </a:gridCol>
                <a:gridCol w="2327963">
                  <a:extLst>
                    <a:ext uri="{9D8B030D-6E8A-4147-A177-3AD203B41FA5}">
                      <a16:colId xmlns:a16="http://schemas.microsoft.com/office/drawing/2014/main" val="2674995364"/>
                    </a:ext>
                  </a:extLst>
                </a:gridCol>
              </a:tblGrid>
              <a:tr h="709760">
                <a:tc>
                  <a:txBody>
                    <a:bodyPr/>
                    <a:lstStyle/>
                    <a:p>
                      <a:pPr algn="ctr">
                        <a:buNone/>
                      </a:pPr>
                      <a:r>
                        <a:rPr lang="zh-CN" sz="1000" kern="100">
                          <a:effectLst/>
                        </a:rPr>
                        <a:t>模型结构</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R²</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RMSE (MPa)</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MAE (MPa)</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026782330"/>
                  </a:ext>
                </a:extLst>
              </a:tr>
              <a:tr h="709760">
                <a:tc>
                  <a:txBody>
                    <a:bodyPr/>
                    <a:lstStyle/>
                    <a:p>
                      <a:pPr algn="ctr">
                        <a:buNone/>
                      </a:pPr>
                      <a:r>
                        <a:rPr lang="zh-CN" sz="1000" kern="100">
                          <a:effectLst/>
                        </a:rPr>
                        <a:t>原始特征直连模型</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0.821</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12.37</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8.12</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51560646"/>
                  </a:ext>
                </a:extLst>
              </a:tr>
              <a:tr h="709760">
                <a:tc>
                  <a:txBody>
                    <a:bodyPr/>
                    <a:lstStyle/>
                    <a:p>
                      <a:pPr algn="ctr">
                        <a:buNone/>
                      </a:pPr>
                      <a:r>
                        <a:rPr lang="zh-CN" sz="1000" kern="100">
                          <a:effectLst/>
                        </a:rPr>
                        <a:t>引入中间变量的嵌套模型</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0.912</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9.61</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dirty="0">
                          <a:effectLst/>
                        </a:rPr>
                        <a:t>6.35</a:t>
                      </a:r>
                      <a:endParaRPr 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316441188"/>
                  </a:ext>
                </a:extLst>
              </a:tr>
            </a:tbl>
          </a:graphicData>
        </a:graphic>
      </p:graphicFrame>
    </p:spTree>
    <p:extLst>
      <p:ext uri="{BB962C8B-B14F-4D97-AF65-F5344CB8AC3E}">
        <p14:creationId xmlns:p14="http://schemas.microsoft.com/office/powerpoint/2010/main" val="2190798355"/>
      </p:ext>
    </p:extLst>
  </p:cSld>
  <p:clrMapOvr>
    <a:masterClrMapping/>
  </p:clrMapOvr>
  <mc:AlternateContent xmlns:mc="http://schemas.openxmlformats.org/markup-compatibility/2006" xmlns:p14="http://schemas.microsoft.com/office/powerpoint/2010/main">
    <mc:Choice Requires="p14">
      <p:transition spd="slow" p14:dur="1500" advClick="0" advTm="21865">
        <p:random/>
      </p:transition>
    </mc:Choice>
    <mc:Fallback xmlns="">
      <p:transition spd="slow" advClick="0" advTm="21865">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215EC-F4ED-7317-E53A-D4157B75B668}"/>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FC3CF8C-334A-1954-2854-38501088F7B8}"/>
              </a:ext>
            </a:extLst>
          </p:cNvPr>
          <p:cNvGrpSpPr/>
          <p:nvPr/>
        </p:nvGrpSpPr>
        <p:grpSpPr>
          <a:xfrm>
            <a:off x="3934731" y="483357"/>
            <a:ext cx="4283545" cy="1569660"/>
            <a:chOff x="3934731" y="483357"/>
            <a:chExt cx="4283545" cy="1569660"/>
          </a:xfrm>
        </p:grpSpPr>
        <p:sp>
          <p:nvSpPr>
            <p:cNvPr id="3" name="文本框 2">
              <a:extLst>
                <a:ext uri="{FF2B5EF4-FFF2-40B4-BE49-F238E27FC236}">
                  <a16:creationId xmlns:a16="http://schemas.microsoft.com/office/drawing/2014/main" id="{3B55B7E8-DACC-5F01-BFAB-2DBDC2AD54A8}"/>
                </a:ext>
              </a:extLst>
            </p:cNvPr>
            <p:cNvSpPr txBox="1"/>
            <p:nvPr/>
          </p:nvSpPr>
          <p:spPr>
            <a:xfrm>
              <a:off x="3934731" y="483357"/>
              <a:ext cx="4122516"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三、</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机理模型力学性能预测</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0"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C65E070E-6E28-97D7-8D62-959B91694BFB}"/>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Process Mechanism and Physical Modeling</a:t>
              </a:r>
            </a:p>
          </p:txBody>
        </p:sp>
        <p:cxnSp>
          <p:nvCxnSpPr>
            <p:cNvPr id="25" name="直接连接符 24"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E839B7E2-6439-E37E-C1EA-0367C221EE4C}"/>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50" name="文本框 49">
            <a:extLst>
              <a:ext uri="{FF2B5EF4-FFF2-40B4-BE49-F238E27FC236}">
                <a16:creationId xmlns:a16="http://schemas.microsoft.com/office/drawing/2014/main" id="{A7C0D3A9-EE94-8F9C-C227-B9DEBB3A97C4}"/>
              </a:ext>
            </a:extLst>
          </p:cNvPr>
          <p:cNvSpPr txBox="1"/>
          <p:nvPr/>
        </p:nvSpPr>
        <p:spPr>
          <a:xfrm>
            <a:off x="1030025" y="1496716"/>
            <a:ext cx="2527300" cy="396583"/>
          </a:xfrm>
          <a:prstGeom prst="rect">
            <a:avLst/>
          </a:prstGeom>
          <a:noFill/>
        </p:spPr>
        <p:txBody>
          <a:bodyPr wrap="square">
            <a:spAutoFit/>
          </a:bodyPr>
          <a:lstStyle/>
          <a:p>
            <a:pPr algn="ctr">
              <a:lnSpc>
                <a:spcPct val="120000"/>
              </a:lnSpc>
            </a:pPr>
            <a:r>
              <a:rPr lang="zh-CN" altLang="en-US" sz="1800"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模型训练与结果分析</a:t>
            </a:r>
          </a:p>
        </p:txBody>
      </p:sp>
      <p:pic>
        <p:nvPicPr>
          <p:cNvPr id="4" name="图片 3">
            <a:extLst>
              <a:ext uri="{FF2B5EF4-FFF2-40B4-BE49-F238E27FC236}">
                <a16:creationId xmlns:a16="http://schemas.microsoft.com/office/drawing/2014/main" id="{45B12559-710E-1FC8-97C5-B8E2EDC62197}"/>
              </a:ext>
            </a:extLst>
          </p:cNvPr>
          <p:cNvPicPr>
            <a:picLocks noChangeAspect="1"/>
          </p:cNvPicPr>
          <p:nvPr/>
        </p:nvPicPr>
        <p:blipFill>
          <a:blip r:embed="rId3"/>
          <a:stretch>
            <a:fillRect/>
          </a:stretch>
        </p:blipFill>
        <p:spPr>
          <a:xfrm>
            <a:off x="3077226" y="2053017"/>
            <a:ext cx="6207310" cy="3427381"/>
          </a:xfrm>
          <a:prstGeom prst="rect">
            <a:avLst/>
          </a:prstGeom>
        </p:spPr>
      </p:pic>
      <p:sp>
        <p:nvSpPr>
          <p:cNvPr id="7" name="文本框 6">
            <a:extLst>
              <a:ext uri="{FF2B5EF4-FFF2-40B4-BE49-F238E27FC236}">
                <a16:creationId xmlns:a16="http://schemas.microsoft.com/office/drawing/2014/main" id="{9B808B0B-D55A-C98F-7D23-619DD564A305}"/>
              </a:ext>
            </a:extLst>
          </p:cNvPr>
          <p:cNvSpPr txBox="1"/>
          <p:nvPr/>
        </p:nvSpPr>
        <p:spPr>
          <a:xfrm>
            <a:off x="837991" y="5480398"/>
            <a:ext cx="10685780" cy="615553"/>
          </a:xfrm>
          <a:prstGeom prst="rect">
            <a:avLst/>
          </a:prstGeom>
          <a:noFill/>
        </p:spPr>
        <p:txBody>
          <a:bodyPr wrap="square">
            <a:spAutoFit/>
          </a:bodyPr>
          <a:lstStyle/>
          <a:p>
            <a:pPr indent="457200"/>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中间变量的加入对各单一模型预测准确率均有所提高，并且也大大提高了集成模型的综合性能，证明中间变量在带钢力学性能建立模型中的有效性与重要性</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ea typeface="Times New Roman" panose="02020603050405020304" pitchFamily="18" charset="0"/>
              </a:rPr>
              <a:t> </a:t>
            </a:r>
            <a:endParaRPr lang="zh-CN" altLang="en-US" dirty="0"/>
          </a:p>
        </p:txBody>
      </p:sp>
    </p:spTree>
    <p:extLst>
      <p:ext uri="{BB962C8B-B14F-4D97-AF65-F5344CB8AC3E}">
        <p14:creationId xmlns:p14="http://schemas.microsoft.com/office/powerpoint/2010/main" val="1531584673"/>
      </p:ext>
    </p:extLst>
  </p:cSld>
  <p:clrMapOvr>
    <a:masterClrMapping/>
  </p:clrMapOvr>
  <mc:AlternateContent xmlns:mc="http://schemas.openxmlformats.org/markup-compatibility/2006" xmlns:p14="http://schemas.microsoft.com/office/powerpoint/2010/main">
    <mc:Choice Requires="p14">
      <p:transition spd="slow" p14:dur="1500" advClick="0" advTm="6915">
        <p:random/>
      </p:transition>
    </mc:Choice>
    <mc:Fallback xmlns="">
      <p:transition spd="slow" advClick="0" advTm="6915">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908550" y="1372748"/>
            <a:ext cx="2374901" cy="2374902"/>
            <a:chOff x="3681412" y="1029561"/>
            <a:chExt cx="1781176" cy="1781176"/>
          </a:xfrm>
        </p:grpSpPr>
        <p:grpSp>
          <p:nvGrpSpPr>
            <p:cNvPr id="21" name="组合 20"/>
            <p:cNvGrpSpPr/>
            <p:nvPr/>
          </p:nvGrpSpPr>
          <p:grpSpPr>
            <a:xfrm>
              <a:off x="3681412" y="1029561"/>
              <a:ext cx="1781176" cy="1781176"/>
              <a:chOff x="3163162" y="1286736"/>
              <a:chExt cx="1781176" cy="1781176"/>
            </a:xfrm>
          </p:grpSpPr>
          <p:grpSp>
            <p:nvGrpSpPr>
              <p:cNvPr id="20" name="组合 19"/>
              <p:cNvGrpSpPr/>
              <p:nvPr/>
            </p:nvGrpSpPr>
            <p:grpSpPr>
              <a:xfrm>
                <a:off x="3163162" y="1286736"/>
                <a:ext cx="1781176" cy="1781176"/>
                <a:chOff x="5410200" y="1286736"/>
                <a:chExt cx="1781176" cy="1781176"/>
              </a:xfrm>
            </p:grpSpPr>
            <p:grpSp>
              <p:nvGrpSpPr>
                <p:cNvPr id="14" name="组合 13"/>
                <p:cNvGrpSpPr/>
                <p:nvPr/>
              </p:nvGrpSpPr>
              <p:grpSpPr>
                <a:xfrm flipH="1">
                  <a:off x="5410200" y="1286736"/>
                  <a:ext cx="1781176" cy="1781176"/>
                  <a:chOff x="3333750" y="1457325"/>
                  <a:chExt cx="1440000" cy="1440000"/>
                </a:xfrm>
              </p:grpSpPr>
              <p:sp>
                <p:nvSpPr>
                  <p:cNvPr id="15" name="矩形 14"/>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6" name="矩形 15"/>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7" name="矩形 16"/>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8" name="矩形 17"/>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19" name="矩形 18"/>
                <p:cNvSpPr/>
                <p:nvPr/>
              </p:nvSpPr>
              <p:spPr>
                <a:xfrm>
                  <a:off x="5458688" y="1331325"/>
                  <a:ext cx="1692000" cy="169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nvGrpSpPr>
              <p:cNvPr id="13" name="组合 12"/>
              <p:cNvGrpSpPr/>
              <p:nvPr/>
            </p:nvGrpSpPr>
            <p:grpSpPr>
              <a:xfrm>
                <a:off x="3333750" y="1457325"/>
                <a:ext cx="1440000" cy="1440000"/>
                <a:chOff x="3333750" y="1457325"/>
                <a:chExt cx="1440000" cy="1440000"/>
              </a:xfrm>
            </p:grpSpPr>
            <p:sp>
              <p:nvSpPr>
                <p:cNvPr id="5" name="矩形 4"/>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 name="矩形 5"/>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9" name="矩形 8"/>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0" name="矩形 9"/>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sp>
          <p:nvSpPr>
            <p:cNvPr id="12" name="文本框 11"/>
            <p:cNvSpPr txBox="1"/>
            <p:nvPr/>
          </p:nvSpPr>
          <p:spPr>
            <a:xfrm>
              <a:off x="4126706" y="1135320"/>
              <a:ext cx="812963" cy="1546577"/>
            </a:xfrm>
            <a:prstGeom prst="rect">
              <a:avLst/>
            </a:prstGeom>
            <a:noFill/>
          </p:spPr>
          <p:txBody>
            <a:bodyPr wrap="none" rtlCol="0">
              <a:spAutoFit/>
            </a:bodyPr>
            <a:lstStyle/>
            <a:p>
              <a:r>
                <a:rPr lang="en-US" altLang="zh-CN" sz="128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rPr>
                <a:t>4</a:t>
              </a:r>
              <a:endParaRPr lang="zh-CN" altLang="en-US" sz="128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22" name="矩形 21"/>
          <p:cNvSpPr/>
          <p:nvPr/>
        </p:nvSpPr>
        <p:spPr>
          <a:xfrm>
            <a:off x="2421166" y="4180248"/>
            <a:ext cx="7334629" cy="646331"/>
          </a:xfrm>
          <a:prstGeom prst="rect">
            <a:avLst/>
          </a:prstGeom>
        </p:spPr>
        <p:txBody>
          <a:bodyPr wrap="square">
            <a:spAutoFit/>
          </a:bodyPr>
          <a:lstStyle/>
          <a:p>
            <a:pPr algn="ctr"/>
            <a:r>
              <a:rPr lang="zh-CN" altLang="en-US" sz="3600" dirty="0">
                <a:latin typeface="字魂58号-创中黑" panose="00000500000000000000" pitchFamily="2" charset="-122"/>
                <a:ea typeface="字魂58号-创中黑" panose="00000500000000000000" pitchFamily="2" charset="-122"/>
                <a:sym typeface="字魂58号-创中黑" panose="00000500000000000000" pitchFamily="2" charset="-122"/>
              </a:rPr>
              <a:t>数据融合与进化学习建模</a:t>
            </a:r>
          </a:p>
        </p:txBody>
      </p:sp>
      <p:cxnSp>
        <p:nvCxnSpPr>
          <p:cNvPr id="25" name="直接连接符 24"/>
          <p:cNvCxnSpPr>
            <a:cxnSpLocks/>
          </p:cNvCxnSpPr>
          <p:nvPr/>
        </p:nvCxnSpPr>
        <p:spPr>
          <a:xfrm>
            <a:off x="328921" y="4961696"/>
            <a:ext cx="11523643" cy="0"/>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1877446" y="4961696"/>
            <a:ext cx="8437108" cy="336695"/>
          </a:xfrm>
          <a:prstGeom prst="rect">
            <a:avLst/>
          </a:prstGeom>
          <a:noFill/>
        </p:spPr>
        <p:txBody>
          <a:bodyPr wrap="square" rtlCol="0">
            <a:spAutoFit/>
            <a:scene3d>
              <a:camera prst="orthographicFront"/>
              <a:lightRig rig="threePt" dir="t"/>
            </a:scene3d>
            <a:sp3d contourW="12700"/>
          </a:bodyPr>
          <a:lstStyle/>
          <a:p>
            <a:pPr algn="ctr" defTabSz="457200">
              <a:lnSpc>
                <a:spcPct val="150000"/>
              </a:lnSpc>
            </a:pPr>
            <a:r>
              <a:rPr lang="en-US" altLang="zh-CN" sz="12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Data Fusion and Evolutionary Learning Modeling</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37057" y="446446"/>
            <a:ext cx="1591597" cy="533480"/>
          </a:xfrm>
          <a:prstGeom prst="rect">
            <a:avLst/>
          </a:prstGeom>
        </p:spPr>
      </p:pic>
    </p:spTree>
    <p:extLst>
      <p:ext uri="{BB962C8B-B14F-4D97-AF65-F5344CB8AC3E}">
        <p14:creationId xmlns:p14="http://schemas.microsoft.com/office/powerpoint/2010/main" val="751372970"/>
      </p:ext>
    </p:extLst>
  </p:cSld>
  <p:clrMapOvr>
    <a:masterClrMapping/>
  </p:clrMapOvr>
  <mc:AlternateContent xmlns:mc="http://schemas.openxmlformats.org/markup-compatibility/2006" xmlns:p14="http://schemas.microsoft.com/office/powerpoint/2010/main">
    <mc:Choice Requires="p14">
      <p:transition spd="slow" p14:dur="1500" advClick="0" advTm="7567">
        <p:random/>
      </p:transition>
    </mc:Choice>
    <mc:Fallback xmlns="">
      <p:transition spd="slow" advClick="0" advTm="7567">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CAD616AF-4FCA-42E8-B6FF-8088A9DFF2C2}"/>
              </a:ext>
            </a:extLst>
          </p:cNvPr>
          <p:cNvSpPr/>
          <p:nvPr/>
        </p:nvSpPr>
        <p:spPr>
          <a:xfrm>
            <a:off x="819896" y="4230423"/>
            <a:ext cx="2587220" cy="1104533"/>
          </a:xfrm>
          <a:prstGeom prst="rect">
            <a:avLst/>
          </a:prstGeom>
        </p:spPr>
        <p:txBody>
          <a:bodyPr wrap="square">
            <a:spAutoFit/>
            <a:scene3d>
              <a:camera prst="orthographicFront"/>
              <a:lightRig rig="threePt" dir="t"/>
            </a:scene3d>
            <a:sp3d contourW="12700"/>
          </a:bodyPr>
          <a:lstStyle/>
          <a:p>
            <a:pPr indent="457200">
              <a:lnSpc>
                <a:spcPct val="120000"/>
              </a:lnSpc>
            </a:pP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基于特征列的有条件剔除法处理。只删掉目标列（比如力学性能指标和核心工艺变量）</a:t>
            </a:r>
            <a:endParaRPr lang="zh-CN" altLang="en-US" sz="1100" dirty="0">
              <a:latin typeface="字魂58号-创中黑" panose="00000500000000000000" pitchFamily="2" charset="-122"/>
              <a:ea typeface="字魂58号-创中黑" panose="00000500000000000000"/>
              <a:sym typeface="字魂58号-创中黑" panose="00000500000000000000" pitchFamily="2" charset="-122"/>
            </a:endParaRPr>
          </a:p>
        </p:txBody>
      </p:sp>
      <p:sp>
        <p:nvSpPr>
          <p:cNvPr id="28" name="矩形 27">
            <a:extLst>
              <a:ext uri="{FF2B5EF4-FFF2-40B4-BE49-F238E27FC236}">
                <a16:creationId xmlns:a16="http://schemas.microsoft.com/office/drawing/2014/main" id="{AA5ADFFF-E899-4EA8-89A0-8014CFBDD6E7}"/>
              </a:ext>
            </a:extLst>
          </p:cNvPr>
          <p:cNvSpPr/>
          <p:nvPr/>
        </p:nvSpPr>
        <p:spPr>
          <a:xfrm>
            <a:off x="3565646" y="4213966"/>
            <a:ext cx="2587220" cy="1104533"/>
          </a:xfrm>
          <a:prstGeom prst="rect">
            <a:avLst/>
          </a:prstGeom>
        </p:spPr>
        <p:txBody>
          <a:bodyPr wrap="square">
            <a:spAutoFit/>
            <a:scene3d>
              <a:camera prst="orthographicFront"/>
              <a:lightRig rig="threePt" dir="t"/>
            </a:scene3d>
            <a:sp3d contourW="12700"/>
          </a:bodyPr>
          <a:lstStyle/>
          <a:p>
            <a:pPr indent="457200">
              <a:lnSpc>
                <a:spcPct val="120000"/>
              </a:lnSpc>
            </a:pP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最小</a:t>
            </a:r>
            <a:r>
              <a:rPr lang="en-US" altLang="zh-CN" sz="1400" kern="100" dirty="0">
                <a:effectLst/>
                <a:latin typeface="Times New Roman" panose="02020603050405020304" pitchFamily="18" charset="0"/>
                <a:ea typeface="字魂58号-创中黑" panose="00000500000000000000"/>
              </a:rPr>
              <a:t>-</a:t>
            </a: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最大归一化（</a:t>
            </a:r>
            <a:r>
              <a:rPr lang="en-US" altLang="zh-CN" sz="1400" kern="100" dirty="0">
                <a:effectLst/>
                <a:latin typeface="Times New Roman" panose="02020603050405020304" pitchFamily="18" charset="0"/>
                <a:ea typeface="字魂58号-创中黑" panose="00000500000000000000"/>
              </a:rPr>
              <a:t>Min-Max Normalization</a:t>
            </a: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）方法将所有的数值型输入变量都进行缩放处理</a:t>
            </a:r>
            <a:endParaRPr lang="zh-CN" altLang="en-US" sz="1100" dirty="0">
              <a:latin typeface="字魂58号-创中黑" panose="00000500000000000000" pitchFamily="2" charset="-122"/>
              <a:ea typeface="字魂58号-创中黑" panose="00000500000000000000"/>
              <a:sym typeface="字魂58号-创中黑" panose="00000500000000000000" pitchFamily="2" charset="-122"/>
            </a:endParaRPr>
          </a:p>
        </p:txBody>
      </p:sp>
      <p:sp>
        <p:nvSpPr>
          <p:cNvPr id="31" name="矩形 30">
            <a:extLst>
              <a:ext uri="{FF2B5EF4-FFF2-40B4-BE49-F238E27FC236}">
                <a16:creationId xmlns:a16="http://schemas.microsoft.com/office/drawing/2014/main" id="{A138CB74-E955-4370-B01C-25EBE8E97482}"/>
              </a:ext>
            </a:extLst>
          </p:cNvPr>
          <p:cNvSpPr/>
          <p:nvPr/>
        </p:nvSpPr>
        <p:spPr>
          <a:xfrm>
            <a:off x="6390660" y="4230423"/>
            <a:ext cx="2587220" cy="1104533"/>
          </a:xfrm>
          <a:prstGeom prst="rect">
            <a:avLst/>
          </a:prstGeom>
        </p:spPr>
        <p:txBody>
          <a:bodyPr wrap="square">
            <a:spAutoFit/>
            <a:scene3d>
              <a:camera prst="orthographicFront"/>
              <a:lightRig rig="threePt" dir="t"/>
            </a:scene3d>
            <a:sp3d contourW="12700"/>
          </a:bodyPr>
          <a:lstStyle/>
          <a:p>
            <a:pPr indent="457200">
              <a:lnSpc>
                <a:spcPct val="120000"/>
              </a:lnSpc>
            </a:pP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建立基于机器学习的回归建模框架，根据工业数据的特点及物理机制的影响因素，设计模型结构和输入特征结构</a:t>
            </a:r>
            <a:endParaRPr lang="zh-CN" altLang="en-US" sz="1100" dirty="0">
              <a:latin typeface="字魂58号-创中黑" panose="00000500000000000000" pitchFamily="2" charset="-122"/>
              <a:ea typeface="字魂58号-创中黑" panose="00000500000000000000"/>
              <a:sym typeface="字魂58号-创中黑" panose="00000500000000000000" pitchFamily="2" charset="-122"/>
            </a:endParaRPr>
          </a:p>
        </p:txBody>
      </p:sp>
      <p:sp>
        <p:nvSpPr>
          <p:cNvPr id="34" name="矩形 33">
            <a:extLst>
              <a:ext uri="{FF2B5EF4-FFF2-40B4-BE49-F238E27FC236}">
                <a16:creationId xmlns:a16="http://schemas.microsoft.com/office/drawing/2014/main" id="{A3A69DB5-C1D5-49DA-8674-3EA0F2316E74}"/>
              </a:ext>
            </a:extLst>
          </p:cNvPr>
          <p:cNvSpPr/>
          <p:nvPr/>
        </p:nvSpPr>
        <p:spPr>
          <a:xfrm>
            <a:off x="9028680" y="4230423"/>
            <a:ext cx="2730470" cy="846001"/>
          </a:xfrm>
          <a:prstGeom prst="rect">
            <a:avLst/>
          </a:prstGeom>
        </p:spPr>
        <p:txBody>
          <a:bodyPr wrap="square">
            <a:spAutoFit/>
            <a:scene3d>
              <a:camera prst="orthographicFront"/>
              <a:lightRig rig="threePt" dir="t"/>
            </a:scene3d>
            <a:sp3d contourW="12700"/>
          </a:bodyPr>
          <a:lstStyle/>
          <a:p>
            <a:pPr indent="457200">
              <a:lnSpc>
                <a:spcPct val="120000"/>
              </a:lnSpc>
            </a:pP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采用</a:t>
            </a:r>
            <a:r>
              <a:rPr lang="en-US" altLang="zh-CN" sz="1400" kern="100" dirty="0">
                <a:effectLst/>
                <a:latin typeface="Times New Roman" panose="02020603050405020304" pitchFamily="18" charset="0"/>
                <a:ea typeface="字魂58号-创中黑" panose="00000500000000000000"/>
              </a:rPr>
              <a:t>“</a:t>
            </a: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多输出回归（</a:t>
            </a:r>
            <a:r>
              <a:rPr lang="en-US" altLang="zh-CN" sz="1400" kern="100" dirty="0">
                <a:effectLst/>
                <a:latin typeface="Times New Roman" panose="02020603050405020304" pitchFamily="18" charset="0"/>
                <a:ea typeface="字魂58号-创中黑" panose="00000500000000000000"/>
              </a:rPr>
              <a:t>Multi-output Regression</a:t>
            </a: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a:t>
            </a:r>
            <a:r>
              <a:rPr lang="en-US" altLang="zh-CN" sz="1400" kern="100" dirty="0">
                <a:effectLst/>
                <a:latin typeface="Times New Roman" panose="02020603050405020304" pitchFamily="18" charset="0"/>
                <a:ea typeface="字魂58号-创中黑" panose="00000500000000000000"/>
              </a:rPr>
              <a:t>”</a:t>
            </a: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的方式将三个目标变量合成联合输出向量</a:t>
            </a:r>
            <a:endParaRPr lang="zh-CN" altLang="en-US" sz="1100" dirty="0">
              <a:latin typeface="字魂58号-创中黑" panose="00000500000000000000" pitchFamily="2" charset="-122"/>
              <a:ea typeface="字魂58号-创中黑" panose="00000500000000000000"/>
              <a:sym typeface="字魂58号-创中黑" panose="00000500000000000000" pitchFamily="2" charset="-122"/>
            </a:endParaRPr>
          </a:p>
        </p:txBody>
      </p:sp>
      <p:grpSp>
        <p:nvGrpSpPr>
          <p:cNvPr id="3" name="组合 2">
            <a:extLst>
              <a:ext uri="{FF2B5EF4-FFF2-40B4-BE49-F238E27FC236}">
                <a16:creationId xmlns:a16="http://schemas.microsoft.com/office/drawing/2014/main" id="{0CFD14A7-E3DF-FEBF-EDD4-9B05A9EAA475}"/>
              </a:ext>
            </a:extLst>
          </p:cNvPr>
          <p:cNvGrpSpPr/>
          <p:nvPr/>
        </p:nvGrpSpPr>
        <p:grpSpPr>
          <a:xfrm>
            <a:off x="3934731" y="483357"/>
            <a:ext cx="4283545" cy="1569660"/>
            <a:chOff x="3934731" y="483357"/>
            <a:chExt cx="4283545" cy="1569660"/>
          </a:xfrm>
        </p:grpSpPr>
        <p:sp>
          <p:nvSpPr>
            <p:cNvPr id="4" name="文本框 3">
              <a:extLst>
                <a:ext uri="{FF2B5EF4-FFF2-40B4-BE49-F238E27FC236}">
                  <a16:creationId xmlns:a16="http://schemas.microsoft.com/office/drawing/2014/main" id="{15568B47-18DC-6FB5-721C-6579434CE736}"/>
                </a:ext>
              </a:extLst>
            </p:cNvPr>
            <p:cNvSpPr txBox="1"/>
            <p:nvPr/>
          </p:nvSpPr>
          <p:spPr>
            <a:xfrm>
              <a:off x="3934731" y="483357"/>
              <a:ext cx="4200192"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四、</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数据融合与进化学习建模</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5"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5277145A-26C0-C960-9A7E-CA81E85E6600}"/>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Data Fusion and Evolutionary Learning Modeling</a:t>
              </a:r>
            </a:p>
          </p:txBody>
        </p:sp>
        <p:cxnSp>
          <p:nvCxnSpPr>
            <p:cNvPr id="6" name="直接连接符 5"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250A9988-D87E-F74B-B1F4-9EE9773500ED}"/>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7" name="椭圆 6">
            <a:extLst>
              <a:ext uri="{FF2B5EF4-FFF2-40B4-BE49-F238E27FC236}">
                <a16:creationId xmlns:a16="http://schemas.microsoft.com/office/drawing/2014/main" id="{88CC0476-2CD2-0E17-D0AC-9A5F75731697}"/>
              </a:ext>
            </a:extLst>
          </p:cNvPr>
          <p:cNvSpPr/>
          <p:nvPr/>
        </p:nvSpPr>
        <p:spPr>
          <a:xfrm>
            <a:off x="1232454" y="2050128"/>
            <a:ext cx="1920633" cy="1412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600" kern="100" dirty="0">
                <a:effectLst/>
                <a:ea typeface="字魂58号-创中黑" panose="00000500000000000000"/>
                <a:cs typeface="黑体" panose="02010609060101010101" pitchFamily="49" charset="-122"/>
              </a:rPr>
              <a:t>数据清洗与缺失值处理</a:t>
            </a:r>
            <a:endParaRPr lang="zh-CN" altLang="en-US" sz="1600" dirty="0">
              <a:ea typeface="字魂58号-创中黑" panose="00000500000000000000"/>
            </a:endParaRPr>
          </a:p>
        </p:txBody>
      </p:sp>
      <p:sp>
        <p:nvSpPr>
          <p:cNvPr id="8" name="椭圆 7">
            <a:extLst>
              <a:ext uri="{FF2B5EF4-FFF2-40B4-BE49-F238E27FC236}">
                <a16:creationId xmlns:a16="http://schemas.microsoft.com/office/drawing/2014/main" id="{0FF0A8BC-E5F2-3B13-DBA3-7C04B2081C8A}"/>
              </a:ext>
            </a:extLst>
          </p:cNvPr>
          <p:cNvSpPr/>
          <p:nvPr/>
        </p:nvSpPr>
        <p:spPr>
          <a:xfrm>
            <a:off x="9744252" y="2050128"/>
            <a:ext cx="1543508" cy="13581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600" kern="100" dirty="0">
                <a:effectLst/>
                <a:ea typeface="字魂58号-创中黑" panose="00000500000000000000"/>
                <a:cs typeface="黑体" panose="02010609060101010101" pitchFamily="49" charset="-122"/>
              </a:rPr>
              <a:t>进化学习优化</a:t>
            </a:r>
            <a:endParaRPr lang="zh-CN" altLang="en-US" sz="1600" dirty="0">
              <a:ea typeface="字魂58号-创中黑" panose="00000500000000000000"/>
            </a:endParaRPr>
          </a:p>
        </p:txBody>
      </p:sp>
      <p:sp>
        <p:nvSpPr>
          <p:cNvPr id="9" name="椭圆 8">
            <a:extLst>
              <a:ext uri="{FF2B5EF4-FFF2-40B4-BE49-F238E27FC236}">
                <a16:creationId xmlns:a16="http://schemas.microsoft.com/office/drawing/2014/main" id="{6C49B36D-5FC6-842C-98DF-A636E53FBA19}"/>
              </a:ext>
            </a:extLst>
          </p:cNvPr>
          <p:cNvSpPr/>
          <p:nvPr/>
        </p:nvSpPr>
        <p:spPr>
          <a:xfrm>
            <a:off x="6691198" y="2050128"/>
            <a:ext cx="1986145" cy="1412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设计模型结构和输入特征结构</a:t>
            </a:r>
            <a:endParaRPr lang="zh-CN" altLang="en-US" sz="1600" dirty="0">
              <a:ea typeface="字魂58号-创中黑" panose="00000500000000000000"/>
            </a:endParaRPr>
          </a:p>
        </p:txBody>
      </p:sp>
      <p:sp>
        <p:nvSpPr>
          <p:cNvPr id="10" name="椭圆 9">
            <a:extLst>
              <a:ext uri="{FF2B5EF4-FFF2-40B4-BE49-F238E27FC236}">
                <a16:creationId xmlns:a16="http://schemas.microsoft.com/office/drawing/2014/main" id="{01EA6F5B-E2AC-3F70-5912-29BFC10ECE67}"/>
              </a:ext>
            </a:extLst>
          </p:cNvPr>
          <p:cNvSpPr/>
          <p:nvPr/>
        </p:nvSpPr>
        <p:spPr>
          <a:xfrm>
            <a:off x="4080032" y="2104265"/>
            <a:ext cx="1716977" cy="13039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600" kern="100" dirty="0">
                <a:effectLst/>
                <a:ea typeface="字魂58号-创中黑" panose="00000500000000000000"/>
                <a:cs typeface="黑体" panose="02010609060101010101" pitchFamily="49" charset="-122"/>
              </a:rPr>
              <a:t>特征归一化与选择</a:t>
            </a:r>
            <a:endParaRPr lang="zh-CN" altLang="en-US" sz="1600" dirty="0">
              <a:ea typeface="字魂58号-创中黑" panose="00000500000000000000"/>
            </a:endParaRPr>
          </a:p>
        </p:txBody>
      </p:sp>
      <p:cxnSp>
        <p:nvCxnSpPr>
          <p:cNvPr id="18" name="直接箭头连接符 17">
            <a:extLst>
              <a:ext uri="{FF2B5EF4-FFF2-40B4-BE49-F238E27FC236}">
                <a16:creationId xmlns:a16="http://schemas.microsoft.com/office/drawing/2014/main" id="{1B91FF2F-A7AF-9453-E62A-A14AE6AF3EEF}"/>
              </a:ext>
            </a:extLst>
          </p:cNvPr>
          <p:cNvCxnSpPr>
            <a:stCxn id="7" idx="6"/>
            <a:endCxn id="10" idx="2"/>
          </p:cNvCxnSpPr>
          <p:nvPr/>
        </p:nvCxnSpPr>
        <p:spPr>
          <a:xfrm>
            <a:off x="3153087" y="2756248"/>
            <a:ext cx="92694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E9E4A52F-3135-ECF8-B14A-7D9DF67BADEB}"/>
              </a:ext>
            </a:extLst>
          </p:cNvPr>
          <p:cNvCxnSpPr>
            <a:cxnSpLocks/>
            <a:stCxn id="10" idx="6"/>
            <a:endCxn id="9" idx="2"/>
          </p:cNvCxnSpPr>
          <p:nvPr/>
        </p:nvCxnSpPr>
        <p:spPr>
          <a:xfrm flipV="1">
            <a:off x="5797009" y="2756248"/>
            <a:ext cx="89418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1298296E-E8AB-7BC2-B93E-1ED3CFE4BDAF}"/>
              </a:ext>
            </a:extLst>
          </p:cNvPr>
          <p:cNvCxnSpPr>
            <a:stCxn id="9" idx="6"/>
            <a:endCxn id="8" idx="2"/>
          </p:cNvCxnSpPr>
          <p:nvPr/>
        </p:nvCxnSpPr>
        <p:spPr>
          <a:xfrm flipV="1">
            <a:off x="8677343" y="2729180"/>
            <a:ext cx="1066909" cy="27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0484274"/>
      </p:ext>
    </p:extLst>
  </p:cSld>
  <p:clrMapOvr>
    <a:masterClrMapping/>
  </p:clrMapOvr>
  <mc:AlternateContent xmlns:mc="http://schemas.openxmlformats.org/markup-compatibility/2006" xmlns:p14="http://schemas.microsoft.com/office/powerpoint/2010/main">
    <mc:Choice Requires="p14">
      <p:transition spd="slow" p14:dur="1500" advClick="0" advTm="11709">
        <p:random/>
      </p:transition>
    </mc:Choice>
    <mc:Fallback xmlns="">
      <p:transition spd="slow" advClick="0" advTm="11709">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D18AB-EF2A-B200-C282-EC4E64962B68}"/>
            </a:ext>
          </a:extLst>
        </p:cNvPr>
        <p:cNvGrpSpPr/>
        <p:nvPr/>
      </p:nvGrpSpPr>
      <p:grpSpPr>
        <a:xfrm>
          <a:off x="0" y="0"/>
          <a:ext cx="0" cy="0"/>
          <a:chOff x="0" y="0"/>
          <a:chExt cx="0" cy="0"/>
        </a:xfrm>
      </p:grpSpPr>
      <p:grpSp>
        <p:nvGrpSpPr>
          <p:cNvPr id="17" name="Group 124">
            <a:extLst>
              <a:ext uri="{FF2B5EF4-FFF2-40B4-BE49-F238E27FC236}">
                <a16:creationId xmlns:a16="http://schemas.microsoft.com/office/drawing/2014/main" id="{88C9EEBE-BC11-DB08-7584-33E66E34E7DA}"/>
              </a:ext>
            </a:extLst>
          </p:cNvPr>
          <p:cNvGrpSpPr>
            <a:grpSpLocks noChangeAspect="1"/>
          </p:cNvGrpSpPr>
          <p:nvPr/>
        </p:nvGrpSpPr>
        <p:grpSpPr>
          <a:xfrm>
            <a:off x="4405647" y="2789663"/>
            <a:ext cx="2976849" cy="1886319"/>
            <a:chOff x="1906244" y="2908919"/>
            <a:chExt cx="4019216" cy="2843952"/>
          </a:xfrm>
        </p:grpSpPr>
        <p:sp>
          <p:nvSpPr>
            <p:cNvPr id="18" name="Freeform: Shape 125">
              <a:extLst>
                <a:ext uri="{FF2B5EF4-FFF2-40B4-BE49-F238E27FC236}">
                  <a16:creationId xmlns:a16="http://schemas.microsoft.com/office/drawing/2014/main" id="{5D9597A1-663F-ACF5-7790-B9045E826F63}"/>
                </a:ext>
              </a:extLst>
            </p:cNvPr>
            <p:cNvSpPr/>
            <p:nvPr/>
          </p:nvSpPr>
          <p:spPr>
            <a:xfrm>
              <a:off x="3054712" y="3800857"/>
              <a:ext cx="1952014" cy="1952014"/>
            </a:xfrm>
            <a:custGeom>
              <a:avLst/>
              <a:gdLst>
                <a:gd name="connsiteX0" fmla="*/ 0 w 1952015"/>
                <a:gd name="connsiteY0" fmla="*/ 976008 h 1952015"/>
                <a:gd name="connsiteX1" fmla="*/ 976008 w 1952015"/>
                <a:gd name="connsiteY1" fmla="*/ 0 h 1952015"/>
                <a:gd name="connsiteX2" fmla="*/ 1952016 w 1952015"/>
                <a:gd name="connsiteY2" fmla="*/ 976008 h 1952015"/>
                <a:gd name="connsiteX3" fmla="*/ 976008 w 1952015"/>
                <a:gd name="connsiteY3" fmla="*/ 1952016 h 1952015"/>
                <a:gd name="connsiteX4" fmla="*/ 0 w 1952015"/>
                <a:gd name="connsiteY4" fmla="*/ 976008 h 1952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015" h="1952015">
                  <a:moveTo>
                    <a:pt x="0" y="976008"/>
                  </a:moveTo>
                  <a:cubicBezTo>
                    <a:pt x="0" y="436974"/>
                    <a:pt x="436974" y="0"/>
                    <a:pt x="976008" y="0"/>
                  </a:cubicBezTo>
                  <a:cubicBezTo>
                    <a:pt x="1515042" y="0"/>
                    <a:pt x="1952016" y="436974"/>
                    <a:pt x="1952016" y="976008"/>
                  </a:cubicBezTo>
                  <a:cubicBezTo>
                    <a:pt x="1952016" y="1515042"/>
                    <a:pt x="1515042" y="1952016"/>
                    <a:pt x="976008" y="1952016"/>
                  </a:cubicBezTo>
                  <a:cubicBezTo>
                    <a:pt x="436974" y="1952016"/>
                    <a:pt x="0" y="1515042"/>
                    <a:pt x="0" y="976008"/>
                  </a:cubicBezTo>
                  <a:close/>
                </a:path>
              </a:pathLst>
            </a:custGeom>
            <a:solidFill>
              <a:srgbClr val="0070C0"/>
            </a:solidFill>
            <a:ln w="25400" cap="flat" cmpd="sng" algn="ctr">
              <a:noFill/>
              <a:prstDash val="solid"/>
            </a:ln>
            <a:effectLst/>
          </p:spPr>
          <p:txBody>
            <a:bodyPr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a:ln>
                  <a:noFill/>
                </a:ln>
                <a:solidFill>
                  <a:srgbClr val="FFFFFF"/>
                </a:solidFill>
                <a:effectLst/>
                <a:uLnTx/>
                <a:uFillTx/>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19" name="Freeform: Shape 126">
              <a:extLst>
                <a:ext uri="{FF2B5EF4-FFF2-40B4-BE49-F238E27FC236}">
                  <a16:creationId xmlns:a16="http://schemas.microsoft.com/office/drawing/2014/main" id="{64F28790-7FD4-1FAB-3028-1F29B00AAB94}"/>
                </a:ext>
              </a:extLst>
            </p:cNvPr>
            <p:cNvSpPr/>
            <p:nvPr/>
          </p:nvSpPr>
          <p:spPr>
            <a:xfrm>
              <a:off x="1906244" y="3075166"/>
              <a:ext cx="1703577" cy="1537332"/>
            </a:xfrm>
            <a:custGeom>
              <a:avLst/>
              <a:gdLst>
                <a:gd name="connsiteX0" fmla="*/ 0 w 1419647"/>
                <a:gd name="connsiteY0" fmla="*/ 709824 h 1419647"/>
                <a:gd name="connsiteX1" fmla="*/ 709824 w 1419647"/>
                <a:gd name="connsiteY1" fmla="*/ 0 h 1419647"/>
                <a:gd name="connsiteX2" fmla="*/ 1419648 w 1419647"/>
                <a:gd name="connsiteY2" fmla="*/ 709824 h 1419647"/>
                <a:gd name="connsiteX3" fmla="*/ 709824 w 1419647"/>
                <a:gd name="connsiteY3" fmla="*/ 1419648 h 1419647"/>
                <a:gd name="connsiteX4" fmla="*/ 0 w 1419647"/>
                <a:gd name="connsiteY4" fmla="*/ 709824 h 1419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647" h="1419647">
                  <a:moveTo>
                    <a:pt x="0" y="709824"/>
                  </a:moveTo>
                  <a:cubicBezTo>
                    <a:pt x="0" y="317799"/>
                    <a:pt x="317799" y="0"/>
                    <a:pt x="709824" y="0"/>
                  </a:cubicBezTo>
                  <a:cubicBezTo>
                    <a:pt x="1101849" y="0"/>
                    <a:pt x="1419648" y="317799"/>
                    <a:pt x="1419648" y="709824"/>
                  </a:cubicBezTo>
                  <a:cubicBezTo>
                    <a:pt x="1419648" y="1101849"/>
                    <a:pt x="1101849" y="1419648"/>
                    <a:pt x="709824" y="1419648"/>
                  </a:cubicBezTo>
                  <a:cubicBezTo>
                    <a:pt x="317799" y="1419648"/>
                    <a:pt x="0" y="1101849"/>
                    <a:pt x="0" y="709824"/>
                  </a:cubicBezTo>
                  <a:close/>
                </a:path>
              </a:pathLst>
            </a:custGeom>
            <a:solidFill>
              <a:srgbClr val="7F7F7F"/>
            </a:solidFill>
            <a:ln w="25400" cap="flat" cmpd="sng" algn="ctr">
              <a:noFill/>
              <a:prstDash val="solid"/>
            </a:ln>
            <a:effectLst/>
          </p:spPr>
          <p:txBody>
            <a:bodyPr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dirty="0">
                <a:ln>
                  <a:noFill/>
                </a:ln>
                <a:solidFill>
                  <a:srgbClr val="FFFFFF"/>
                </a:solidFill>
                <a:effectLst/>
                <a:uLnTx/>
                <a:uFillTx/>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sp>
          <p:nvSpPr>
            <p:cNvPr id="20" name="Freeform: Shape 127">
              <a:extLst>
                <a:ext uri="{FF2B5EF4-FFF2-40B4-BE49-F238E27FC236}">
                  <a16:creationId xmlns:a16="http://schemas.microsoft.com/office/drawing/2014/main" id="{6680D9C5-96B5-8E48-CC0E-A7A5394675E3}"/>
                </a:ext>
              </a:extLst>
            </p:cNvPr>
            <p:cNvSpPr/>
            <p:nvPr/>
          </p:nvSpPr>
          <p:spPr>
            <a:xfrm>
              <a:off x="4221883" y="2908919"/>
              <a:ext cx="1703577" cy="1703578"/>
            </a:xfrm>
            <a:custGeom>
              <a:avLst/>
              <a:gdLst>
                <a:gd name="connsiteX0" fmla="*/ 0 w 1390964"/>
                <a:gd name="connsiteY0" fmla="*/ 695482 h 1390964"/>
                <a:gd name="connsiteX1" fmla="*/ 695482 w 1390964"/>
                <a:gd name="connsiteY1" fmla="*/ 0 h 1390964"/>
                <a:gd name="connsiteX2" fmla="*/ 1390964 w 1390964"/>
                <a:gd name="connsiteY2" fmla="*/ 695482 h 1390964"/>
                <a:gd name="connsiteX3" fmla="*/ 695482 w 1390964"/>
                <a:gd name="connsiteY3" fmla="*/ 1390964 h 1390964"/>
                <a:gd name="connsiteX4" fmla="*/ 0 w 1390964"/>
                <a:gd name="connsiteY4" fmla="*/ 695482 h 139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0964" h="1390964">
                  <a:moveTo>
                    <a:pt x="146973" y="842454"/>
                  </a:moveTo>
                  <a:cubicBezTo>
                    <a:pt x="65803" y="539522"/>
                    <a:pt x="245577" y="228144"/>
                    <a:pt x="548510" y="146973"/>
                  </a:cubicBezTo>
                  <a:cubicBezTo>
                    <a:pt x="851442" y="65803"/>
                    <a:pt x="1162820" y="245577"/>
                    <a:pt x="1243991" y="548510"/>
                  </a:cubicBezTo>
                  <a:cubicBezTo>
                    <a:pt x="1325161" y="851442"/>
                    <a:pt x="1145387" y="1162820"/>
                    <a:pt x="842454" y="1243991"/>
                  </a:cubicBezTo>
                  <a:cubicBezTo>
                    <a:pt x="539522" y="1325161"/>
                    <a:pt x="228144" y="1145387"/>
                    <a:pt x="146973" y="842454"/>
                  </a:cubicBezTo>
                  <a:close/>
                </a:path>
              </a:pathLst>
            </a:custGeom>
            <a:solidFill>
              <a:srgbClr val="0070C0"/>
            </a:solidFill>
            <a:ln w="25400" cap="flat" cmpd="sng" algn="ctr">
              <a:noFill/>
              <a:prstDash val="solid"/>
            </a:ln>
            <a:effectLst/>
          </p:spPr>
          <p:txBody>
            <a:bodyPr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sz="2400" b="0" i="0" u="none" strike="noStrike" kern="0" cap="none" spc="0" normalizeH="0" baseline="0" noProof="0" dirty="0">
                <a:ln>
                  <a:noFill/>
                </a:ln>
                <a:solidFill>
                  <a:srgbClr val="FFFFFF"/>
                </a:solidFill>
                <a:effectLst/>
                <a:uLnTx/>
                <a:uFillTx/>
                <a:latin typeface="字魂58号-创中黑" panose="00000500000000000000" pitchFamily="2" charset="-122"/>
                <a:ea typeface="字魂58号-创中黑" panose="00000500000000000000" pitchFamily="2" charset="-122"/>
                <a:cs typeface="+mn-ea"/>
                <a:sym typeface="字魂58号-创中黑" panose="00000500000000000000" pitchFamily="2" charset="-122"/>
              </a:endParaRPr>
            </a:p>
          </p:txBody>
        </p:sp>
      </p:grpSp>
      <p:grpSp>
        <p:nvGrpSpPr>
          <p:cNvPr id="28" name="组合 27">
            <a:extLst>
              <a:ext uri="{FF2B5EF4-FFF2-40B4-BE49-F238E27FC236}">
                <a16:creationId xmlns:a16="http://schemas.microsoft.com/office/drawing/2014/main" id="{7226B1AD-5A2D-362B-009F-99F0D5CAC637}"/>
              </a:ext>
            </a:extLst>
          </p:cNvPr>
          <p:cNvGrpSpPr/>
          <p:nvPr/>
        </p:nvGrpSpPr>
        <p:grpSpPr>
          <a:xfrm>
            <a:off x="753538" y="2632388"/>
            <a:ext cx="4406252" cy="1582695"/>
            <a:chOff x="233726" y="2682017"/>
            <a:chExt cx="3304690" cy="1187021"/>
          </a:xfrm>
        </p:grpSpPr>
        <p:grpSp>
          <p:nvGrpSpPr>
            <p:cNvPr id="29" name="Group 137">
              <a:extLst>
                <a:ext uri="{FF2B5EF4-FFF2-40B4-BE49-F238E27FC236}">
                  <a16:creationId xmlns:a16="http://schemas.microsoft.com/office/drawing/2014/main" id="{0E7AC388-D4F4-A7F6-C823-586A4988A842}"/>
                </a:ext>
              </a:extLst>
            </p:cNvPr>
            <p:cNvGrpSpPr/>
            <p:nvPr/>
          </p:nvGrpSpPr>
          <p:grpSpPr>
            <a:xfrm>
              <a:off x="2341146" y="2682017"/>
              <a:ext cx="1197270" cy="824967"/>
              <a:chOff x="3672114" y="3735695"/>
              <a:chExt cx="1313359" cy="904957"/>
            </a:xfrm>
          </p:grpSpPr>
          <p:cxnSp>
            <p:nvCxnSpPr>
              <p:cNvPr id="39" name="Straight Connector 138">
                <a:extLst>
                  <a:ext uri="{FF2B5EF4-FFF2-40B4-BE49-F238E27FC236}">
                    <a16:creationId xmlns:a16="http://schemas.microsoft.com/office/drawing/2014/main" id="{60166447-2B5D-06C9-1B9E-6E932BFA928E}"/>
                  </a:ext>
                </a:extLst>
              </p:cNvPr>
              <p:cNvCxnSpPr>
                <a:cxnSpLocks/>
              </p:cNvCxnSpPr>
              <p:nvPr/>
            </p:nvCxnSpPr>
            <p:spPr>
              <a:xfrm flipH="1" flipV="1">
                <a:off x="4412341" y="3735695"/>
                <a:ext cx="573132" cy="904957"/>
              </a:xfrm>
              <a:prstGeom prst="line">
                <a:avLst/>
              </a:prstGeom>
              <a:noFill/>
              <a:ln w="12700" cap="flat" cmpd="sng" algn="ctr">
                <a:solidFill>
                  <a:srgbClr val="000000">
                    <a:lumMod val="50000"/>
                    <a:lumOff val="50000"/>
                  </a:srgbClr>
                </a:solidFill>
                <a:prstDash val="solid"/>
              </a:ln>
              <a:effectLst/>
            </p:spPr>
          </p:cxnSp>
          <p:cxnSp>
            <p:nvCxnSpPr>
              <p:cNvPr id="40" name="Straight Connector 139">
                <a:extLst>
                  <a:ext uri="{FF2B5EF4-FFF2-40B4-BE49-F238E27FC236}">
                    <a16:creationId xmlns:a16="http://schemas.microsoft.com/office/drawing/2014/main" id="{7B721EF4-F234-D493-0CE3-0C73E43F4A5E}"/>
                  </a:ext>
                </a:extLst>
              </p:cNvPr>
              <p:cNvCxnSpPr/>
              <p:nvPr/>
            </p:nvCxnSpPr>
            <p:spPr>
              <a:xfrm flipH="1">
                <a:off x="3672114" y="3744355"/>
                <a:ext cx="740227" cy="0"/>
              </a:xfrm>
              <a:prstGeom prst="line">
                <a:avLst/>
              </a:prstGeom>
              <a:noFill/>
              <a:ln w="12700" cap="flat" cmpd="sng" algn="ctr">
                <a:solidFill>
                  <a:srgbClr val="000000">
                    <a:lumMod val="50000"/>
                    <a:lumOff val="50000"/>
                  </a:srgbClr>
                </a:solidFill>
                <a:prstDash val="solid"/>
                <a:tailEnd type="oval" w="lg" len="lg"/>
              </a:ln>
              <a:effectLst/>
            </p:spPr>
          </p:cxnSp>
        </p:grpSp>
        <p:sp>
          <p:nvSpPr>
            <p:cNvPr id="34" name="Rectangle 43">
              <a:extLst>
                <a:ext uri="{FF2B5EF4-FFF2-40B4-BE49-F238E27FC236}">
                  <a16:creationId xmlns:a16="http://schemas.microsoft.com/office/drawing/2014/main" id="{E24BECD5-6D28-BEEC-A035-03F72172C95B}"/>
                </a:ext>
              </a:extLst>
            </p:cNvPr>
            <p:cNvSpPr/>
            <p:nvPr/>
          </p:nvSpPr>
          <p:spPr>
            <a:xfrm>
              <a:off x="233726" y="2846739"/>
              <a:ext cx="2534720" cy="1022299"/>
            </a:xfrm>
            <a:prstGeom prst="rect">
              <a:avLst/>
            </a:prstGeom>
          </p:spPr>
          <p:txBody>
            <a:bodyPr wrap="square">
              <a:spAutoFit/>
              <a:scene3d>
                <a:camera prst="orthographicFront"/>
                <a:lightRig rig="threePt" dir="t"/>
              </a:scene3d>
              <a:sp3d contourW="12700"/>
            </a:bodyPr>
            <a:lstStyle/>
            <a:p>
              <a:pPr indent="457200">
                <a:lnSpc>
                  <a:spcPct val="120000"/>
                </a:lnSpc>
              </a:pP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在解空间中通过群体中每个粒子不停地搜索来尝试找到最优的位置，然后根据每个粒子过去的经验及整个群体过去的经历不断修正自身的位置来进行全局优化</a:t>
              </a:r>
              <a:endParaRPr lang="zh-CN" altLang="en-US" sz="1400" dirty="0">
                <a:latin typeface="字魂58号-创中黑" panose="00000500000000000000" pitchFamily="2" charset="-122"/>
                <a:ea typeface="字魂58号-创中黑" panose="00000500000000000000"/>
                <a:sym typeface="字魂58号-创中黑" panose="00000500000000000000" pitchFamily="2" charset="-122"/>
              </a:endParaRPr>
            </a:p>
          </p:txBody>
        </p:sp>
      </p:grpSp>
      <p:grpSp>
        <p:nvGrpSpPr>
          <p:cNvPr id="41" name="组合 40">
            <a:extLst>
              <a:ext uri="{FF2B5EF4-FFF2-40B4-BE49-F238E27FC236}">
                <a16:creationId xmlns:a16="http://schemas.microsoft.com/office/drawing/2014/main" id="{6D3B8DB2-C384-AA3A-9169-F68702EA4428}"/>
              </a:ext>
            </a:extLst>
          </p:cNvPr>
          <p:cNvGrpSpPr/>
          <p:nvPr/>
        </p:nvGrpSpPr>
        <p:grpSpPr>
          <a:xfrm>
            <a:off x="5802894" y="1441539"/>
            <a:ext cx="5769346" cy="4685864"/>
            <a:chOff x="4539574" y="1062530"/>
            <a:chExt cx="4327009" cy="3514397"/>
          </a:xfrm>
        </p:grpSpPr>
        <p:grpSp>
          <p:nvGrpSpPr>
            <p:cNvPr id="42" name="Group 140">
              <a:extLst>
                <a:ext uri="{FF2B5EF4-FFF2-40B4-BE49-F238E27FC236}">
                  <a16:creationId xmlns:a16="http://schemas.microsoft.com/office/drawing/2014/main" id="{628D9580-ED37-7C21-6272-226F9A24E90D}"/>
                </a:ext>
              </a:extLst>
            </p:cNvPr>
            <p:cNvGrpSpPr/>
            <p:nvPr/>
          </p:nvGrpSpPr>
          <p:grpSpPr>
            <a:xfrm flipH="1">
              <a:off x="5236117" y="1630116"/>
              <a:ext cx="1097519" cy="739583"/>
              <a:chOff x="4158348" y="2581800"/>
              <a:chExt cx="1203936" cy="811294"/>
            </a:xfrm>
          </p:grpSpPr>
          <p:cxnSp>
            <p:nvCxnSpPr>
              <p:cNvPr id="52" name="Straight Connector 141">
                <a:extLst>
                  <a:ext uri="{FF2B5EF4-FFF2-40B4-BE49-F238E27FC236}">
                    <a16:creationId xmlns:a16="http://schemas.microsoft.com/office/drawing/2014/main" id="{6F863EFE-21E8-F393-97AA-EA2F5F617DC4}"/>
                  </a:ext>
                </a:extLst>
              </p:cNvPr>
              <p:cNvCxnSpPr>
                <a:cxnSpLocks/>
              </p:cNvCxnSpPr>
              <p:nvPr/>
            </p:nvCxnSpPr>
            <p:spPr>
              <a:xfrm flipH="1" flipV="1">
                <a:off x="4898575" y="2581800"/>
                <a:ext cx="463709" cy="811294"/>
              </a:xfrm>
              <a:prstGeom prst="line">
                <a:avLst/>
              </a:prstGeom>
              <a:noFill/>
              <a:ln w="12700" cap="flat" cmpd="sng" algn="ctr">
                <a:solidFill>
                  <a:srgbClr val="000000">
                    <a:lumMod val="50000"/>
                    <a:lumOff val="50000"/>
                  </a:srgbClr>
                </a:solidFill>
                <a:prstDash val="solid"/>
              </a:ln>
              <a:effectLst/>
            </p:spPr>
          </p:cxnSp>
          <p:cxnSp>
            <p:nvCxnSpPr>
              <p:cNvPr id="53" name="Straight Connector 142">
                <a:extLst>
                  <a:ext uri="{FF2B5EF4-FFF2-40B4-BE49-F238E27FC236}">
                    <a16:creationId xmlns:a16="http://schemas.microsoft.com/office/drawing/2014/main" id="{D5DEC5DC-1E35-2C28-7FF8-1973A3C0D349}"/>
                  </a:ext>
                </a:extLst>
              </p:cNvPr>
              <p:cNvCxnSpPr/>
              <p:nvPr/>
            </p:nvCxnSpPr>
            <p:spPr>
              <a:xfrm flipH="1">
                <a:off x="4158348" y="2585814"/>
                <a:ext cx="740227" cy="0"/>
              </a:xfrm>
              <a:prstGeom prst="line">
                <a:avLst/>
              </a:prstGeom>
              <a:noFill/>
              <a:ln w="12700" cap="flat" cmpd="sng" algn="ctr">
                <a:solidFill>
                  <a:srgbClr val="000000">
                    <a:lumMod val="50000"/>
                    <a:lumOff val="50000"/>
                  </a:srgbClr>
                </a:solidFill>
                <a:prstDash val="solid"/>
                <a:tailEnd type="oval" w="lg" len="lg"/>
              </a:ln>
              <a:effectLst/>
            </p:spPr>
          </p:cxnSp>
        </p:grpSp>
        <p:grpSp>
          <p:nvGrpSpPr>
            <p:cNvPr id="43" name="Group 143">
              <a:extLst>
                <a:ext uri="{FF2B5EF4-FFF2-40B4-BE49-F238E27FC236}">
                  <a16:creationId xmlns:a16="http://schemas.microsoft.com/office/drawing/2014/main" id="{54753EEA-28CC-D1E2-A230-F082875B0BEB}"/>
                </a:ext>
              </a:extLst>
            </p:cNvPr>
            <p:cNvGrpSpPr/>
            <p:nvPr/>
          </p:nvGrpSpPr>
          <p:grpSpPr>
            <a:xfrm flipH="1">
              <a:off x="4539574" y="3263250"/>
              <a:ext cx="1083550" cy="705578"/>
              <a:chOff x="4103934" y="3363859"/>
              <a:chExt cx="1188615" cy="773992"/>
            </a:xfrm>
          </p:grpSpPr>
          <p:cxnSp>
            <p:nvCxnSpPr>
              <p:cNvPr id="50" name="Straight Connector 144">
                <a:extLst>
                  <a:ext uri="{FF2B5EF4-FFF2-40B4-BE49-F238E27FC236}">
                    <a16:creationId xmlns:a16="http://schemas.microsoft.com/office/drawing/2014/main" id="{10042817-28CA-1A0E-01B1-25CAC432E427}"/>
                  </a:ext>
                </a:extLst>
              </p:cNvPr>
              <p:cNvCxnSpPr/>
              <p:nvPr/>
            </p:nvCxnSpPr>
            <p:spPr>
              <a:xfrm flipH="1">
                <a:off x="4844161" y="3363859"/>
                <a:ext cx="448388" cy="773992"/>
              </a:xfrm>
              <a:prstGeom prst="line">
                <a:avLst/>
              </a:prstGeom>
              <a:noFill/>
              <a:ln w="12700" cap="flat" cmpd="sng" algn="ctr">
                <a:solidFill>
                  <a:srgbClr val="000000">
                    <a:lumMod val="50000"/>
                    <a:lumOff val="50000"/>
                  </a:srgbClr>
                </a:solidFill>
                <a:prstDash val="solid"/>
              </a:ln>
              <a:effectLst/>
            </p:spPr>
          </p:cxnSp>
          <p:cxnSp>
            <p:nvCxnSpPr>
              <p:cNvPr id="51" name="Straight Connector 145">
                <a:extLst>
                  <a:ext uri="{FF2B5EF4-FFF2-40B4-BE49-F238E27FC236}">
                    <a16:creationId xmlns:a16="http://schemas.microsoft.com/office/drawing/2014/main" id="{3D0861A7-1117-37EC-5DF5-E6827C5294AD}"/>
                  </a:ext>
                </a:extLst>
              </p:cNvPr>
              <p:cNvCxnSpPr/>
              <p:nvPr/>
            </p:nvCxnSpPr>
            <p:spPr>
              <a:xfrm flipH="1">
                <a:off x="4103934" y="4137851"/>
                <a:ext cx="740227" cy="0"/>
              </a:xfrm>
              <a:prstGeom prst="line">
                <a:avLst/>
              </a:prstGeom>
              <a:noFill/>
              <a:ln w="12700" cap="flat" cmpd="sng" algn="ctr">
                <a:solidFill>
                  <a:srgbClr val="000000">
                    <a:lumMod val="50000"/>
                    <a:lumOff val="50000"/>
                  </a:srgbClr>
                </a:solidFill>
                <a:prstDash val="solid"/>
                <a:tailEnd type="oval" w="lg" len="lg"/>
              </a:ln>
              <a:effectLst/>
            </p:spPr>
          </p:cxnSp>
        </p:grpSp>
        <p:sp>
          <p:nvSpPr>
            <p:cNvPr id="49" name="Rectangle 47">
              <a:extLst>
                <a:ext uri="{FF2B5EF4-FFF2-40B4-BE49-F238E27FC236}">
                  <a16:creationId xmlns:a16="http://schemas.microsoft.com/office/drawing/2014/main" id="{E0590E8A-A8C9-F60B-518C-B5BFBCCAD5DE}"/>
                </a:ext>
              </a:extLst>
            </p:cNvPr>
            <p:cNvSpPr/>
            <p:nvPr/>
          </p:nvSpPr>
          <p:spPr>
            <a:xfrm>
              <a:off x="6444984" y="1062530"/>
              <a:ext cx="2421599" cy="1410097"/>
            </a:xfrm>
            <a:prstGeom prst="rect">
              <a:avLst/>
            </a:prstGeom>
          </p:spPr>
          <p:txBody>
            <a:bodyPr wrap="square">
              <a:spAutoFit/>
              <a:scene3d>
                <a:camera prst="orthographicFront"/>
                <a:lightRig rig="threePt" dir="t"/>
              </a:scene3d>
              <a:sp3d contourW="12700"/>
            </a:bodyPr>
            <a:lstStyle/>
            <a:p>
              <a:pPr indent="457200">
                <a:lnSpc>
                  <a:spcPct val="120000"/>
                </a:lnSpc>
              </a:pP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利用模拟自然选择与自然遗传机制的原理设计出的解决最优化问题的一种随机化搜索方法。</a:t>
              </a:r>
              <a:endParaRPr lang="en-US" altLang="zh-CN" sz="1400" kern="100" dirty="0">
                <a:effectLst/>
                <a:latin typeface="Times New Roman" panose="02020603050405020304" pitchFamily="18" charset="0"/>
                <a:ea typeface="字魂58号-创中黑" panose="00000500000000000000"/>
                <a:cs typeface="Times New Roman" panose="02020603050405020304" pitchFamily="18" charset="0"/>
              </a:endParaRPr>
            </a:p>
            <a:p>
              <a:pPr indent="457200">
                <a:lnSpc>
                  <a:spcPct val="120000"/>
                </a:lnSpc>
              </a:pP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基于进化的思想，从一组随机生成的初始解出发，不断地应用自然选择、交叉和变异操作，在解空间中寻找全局最优解</a:t>
              </a:r>
              <a:endParaRPr lang="zh-CN" altLang="en-US" sz="1100" dirty="0">
                <a:latin typeface="字魂58号-创中黑" panose="00000500000000000000" pitchFamily="2" charset="-122"/>
                <a:ea typeface="字魂58号-创中黑" panose="00000500000000000000"/>
                <a:sym typeface="字魂58号-创中黑" panose="00000500000000000000" pitchFamily="2" charset="-122"/>
              </a:endParaRPr>
            </a:p>
          </p:txBody>
        </p:sp>
        <p:sp>
          <p:nvSpPr>
            <p:cNvPr id="47" name="Rectangle 49">
              <a:extLst>
                <a:ext uri="{FF2B5EF4-FFF2-40B4-BE49-F238E27FC236}">
                  <a16:creationId xmlns:a16="http://schemas.microsoft.com/office/drawing/2014/main" id="{5DCC0582-6F01-A325-A776-8C691EF85AC4}"/>
                </a:ext>
              </a:extLst>
            </p:cNvPr>
            <p:cNvSpPr/>
            <p:nvPr/>
          </p:nvSpPr>
          <p:spPr>
            <a:xfrm>
              <a:off x="5773003" y="3360729"/>
              <a:ext cx="2755621" cy="1216198"/>
            </a:xfrm>
            <a:prstGeom prst="rect">
              <a:avLst/>
            </a:prstGeom>
          </p:spPr>
          <p:txBody>
            <a:bodyPr wrap="square">
              <a:spAutoFit/>
              <a:scene3d>
                <a:camera prst="orthographicFront"/>
                <a:lightRig rig="threePt" dir="t"/>
              </a:scene3d>
              <a:sp3d contourW="12700"/>
            </a:bodyPr>
            <a:lstStyle/>
            <a:p>
              <a:pPr indent="457200">
                <a:lnSpc>
                  <a:spcPct val="120000"/>
                </a:lnSpc>
              </a:pP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全局优化方法，专门用于优化那些计算代价昂贵、黑盒且无法获取解析表达式或梯度信息的目标函数</a:t>
              </a:r>
              <a:r>
                <a:rPr lang="zh-CN" altLang="en-US" sz="1400" kern="100" dirty="0">
                  <a:effectLst/>
                  <a:latin typeface="Times New Roman" panose="02020603050405020304" pitchFamily="18" charset="0"/>
                  <a:ea typeface="字魂58号-创中黑" panose="00000500000000000000"/>
                  <a:cs typeface="Times New Roman" panose="02020603050405020304" pitchFamily="18" charset="0"/>
                </a:rPr>
                <a:t>。</a:t>
              </a:r>
              <a:endParaRPr lang="en-US" altLang="zh-CN" sz="1400" kern="100" dirty="0">
                <a:effectLst/>
                <a:latin typeface="Times New Roman" panose="02020603050405020304" pitchFamily="18" charset="0"/>
                <a:ea typeface="字魂58号-创中黑" panose="00000500000000000000"/>
                <a:cs typeface="Times New Roman" panose="02020603050405020304" pitchFamily="18" charset="0"/>
              </a:endParaRPr>
            </a:p>
            <a:p>
              <a:pPr indent="457200">
                <a:lnSpc>
                  <a:spcPct val="120000"/>
                </a:lnSpc>
              </a:pP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通过构建目标函数的代理模型，并利用这个模型来决定下一个查询点，以最小化目标函数的评估次数</a:t>
              </a:r>
              <a:endParaRPr lang="zh-CN" altLang="en-US" sz="1100" dirty="0">
                <a:latin typeface="字魂58号-创中黑" panose="00000500000000000000" pitchFamily="2" charset="-122"/>
                <a:ea typeface="字魂58号-创中黑" panose="00000500000000000000"/>
                <a:sym typeface="字魂58号-创中黑" panose="00000500000000000000" pitchFamily="2" charset="-122"/>
              </a:endParaRPr>
            </a:p>
          </p:txBody>
        </p:sp>
      </p:grpSp>
      <p:sp>
        <p:nvSpPr>
          <p:cNvPr id="6" name="矩形 5">
            <a:extLst>
              <a:ext uri="{FF2B5EF4-FFF2-40B4-BE49-F238E27FC236}">
                <a16:creationId xmlns:a16="http://schemas.microsoft.com/office/drawing/2014/main" id="{337B6082-9A06-4840-ACF7-BB71C84AC474}"/>
              </a:ext>
            </a:extLst>
          </p:cNvPr>
          <p:cNvSpPr/>
          <p:nvPr/>
        </p:nvSpPr>
        <p:spPr>
          <a:xfrm>
            <a:off x="964321" y="1213096"/>
            <a:ext cx="1702082" cy="396583"/>
          </a:xfrm>
          <a:prstGeom prst="rect">
            <a:avLst/>
          </a:prstGeom>
        </p:spPr>
        <p:txBody>
          <a:bodyPr wrap="square">
            <a:spAutoFit/>
            <a:scene3d>
              <a:camera prst="orthographicFront"/>
              <a:lightRig rig="threePt" dir="t"/>
            </a:scene3d>
            <a:sp3d contourW="12700"/>
          </a:bodyPr>
          <a:lstStyle/>
          <a:p>
            <a:pPr marL="0" marR="0" lvl="0" indent="0" algn="ctr" defTabSz="914400" eaLnBrk="1" fontAlgn="auto" latinLnBrk="0" hangingPunct="1">
              <a:lnSpc>
                <a:spcPct val="120000"/>
              </a:lnSpc>
              <a:spcBef>
                <a:spcPts val="0"/>
              </a:spcBef>
              <a:spcAft>
                <a:spcPts val="0"/>
              </a:spcAft>
              <a:buClrTx/>
              <a:buSzTx/>
              <a:buFontTx/>
              <a:buNone/>
              <a:tabLst/>
              <a:defRPr/>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智能优化算法</a:t>
            </a:r>
            <a:endParaRPr kumimoji="0" lang="zh-CN" altLang="en-US" sz="1800" b="1" i="0" u="none" strike="noStrike" kern="0" cap="none" spc="0" normalizeH="0" baseline="0" noProof="0" dirty="0">
              <a:ln>
                <a:noFill/>
              </a:ln>
              <a:solidFill>
                <a:prstClr val="black">
                  <a:lumMod val="65000"/>
                  <a:lumOff val="35000"/>
                </a:prstClr>
              </a:solidFill>
              <a:effectLst/>
              <a:uLnTx/>
              <a:uFillTx/>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2" name="文本框 31">
            <a:extLst>
              <a:ext uri="{FF2B5EF4-FFF2-40B4-BE49-F238E27FC236}">
                <a16:creationId xmlns:a16="http://schemas.microsoft.com/office/drawing/2014/main" id="{7A174672-4262-E583-3449-9925704867C5}"/>
              </a:ext>
            </a:extLst>
          </p:cNvPr>
          <p:cNvSpPr txBox="1"/>
          <p:nvPr/>
        </p:nvSpPr>
        <p:spPr>
          <a:xfrm>
            <a:off x="4559738" y="3153657"/>
            <a:ext cx="1211254" cy="523220"/>
          </a:xfrm>
          <a:prstGeom prst="rect">
            <a:avLst/>
          </a:prstGeom>
          <a:noFill/>
        </p:spPr>
        <p:txBody>
          <a:bodyPr wrap="square" rtlCol="0">
            <a:spAutoFit/>
          </a:bodyPr>
          <a:lstStyle/>
          <a:p>
            <a:r>
              <a:rPr lang="zh-CN" altLang="en-US" sz="1400" dirty="0">
                <a:solidFill>
                  <a:schemeClr val="bg1"/>
                </a:solidFill>
                <a:ea typeface="字魂58号-创中黑" panose="00000500000000000000"/>
              </a:rPr>
              <a:t>粒子群优化（</a:t>
            </a:r>
            <a:r>
              <a:rPr lang="en-US" altLang="zh-CN" sz="1400" dirty="0" err="1">
                <a:solidFill>
                  <a:schemeClr val="bg1"/>
                </a:solidFill>
                <a:ea typeface="字魂58号-创中黑" panose="00000500000000000000"/>
              </a:rPr>
              <a:t>PSO</a:t>
            </a:r>
            <a:r>
              <a:rPr lang="zh-CN" altLang="en-US" sz="1400" dirty="0">
                <a:solidFill>
                  <a:schemeClr val="bg1"/>
                </a:solidFill>
                <a:ea typeface="字魂58号-创中黑" panose="00000500000000000000"/>
              </a:rPr>
              <a:t>）</a:t>
            </a:r>
          </a:p>
        </p:txBody>
      </p:sp>
      <p:grpSp>
        <p:nvGrpSpPr>
          <p:cNvPr id="56" name="组合 55">
            <a:extLst>
              <a:ext uri="{FF2B5EF4-FFF2-40B4-BE49-F238E27FC236}">
                <a16:creationId xmlns:a16="http://schemas.microsoft.com/office/drawing/2014/main" id="{68349D61-5BAC-5166-C39E-8ADB7504733E}"/>
              </a:ext>
            </a:extLst>
          </p:cNvPr>
          <p:cNvGrpSpPr/>
          <p:nvPr/>
        </p:nvGrpSpPr>
        <p:grpSpPr>
          <a:xfrm>
            <a:off x="3934731" y="483357"/>
            <a:ext cx="4283545" cy="1569660"/>
            <a:chOff x="3934731" y="483357"/>
            <a:chExt cx="4283545" cy="1569660"/>
          </a:xfrm>
        </p:grpSpPr>
        <p:sp>
          <p:nvSpPr>
            <p:cNvPr id="57" name="文本框 56">
              <a:extLst>
                <a:ext uri="{FF2B5EF4-FFF2-40B4-BE49-F238E27FC236}">
                  <a16:creationId xmlns:a16="http://schemas.microsoft.com/office/drawing/2014/main" id="{25F935C8-3810-3DF0-C68A-7B3DFBA77D11}"/>
                </a:ext>
              </a:extLst>
            </p:cNvPr>
            <p:cNvSpPr txBox="1"/>
            <p:nvPr/>
          </p:nvSpPr>
          <p:spPr>
            <a:xfrm>
              <a:off x="3934731" y="483357"/>
              <a:ext cx="4200192"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四、</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数据融合与进化学习建模</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58"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0B6F2E5B-5DFD-02A3-C5EE-D9BB6546D5D4}"/>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Data Fusion and Evolutionary Learning Modeling</a:t>
              </a:r>
            </a:p>
          </p:txBody>
        </p:sp>
        <p:cxnSp>
          <p:nvCxnSpPr>
            <p:cNvPr id="59" name="直接连接符 58"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269C4BA7-2C53-5692-160F-BE832CF6F111}"/>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graphicFrame>
        <p:nvGraphicFramePr>
          <p:cNvPr id="60" name="对象 59">
            <a:extLst>
              <a:ext uri="{FF2B5EF4-FFF2-40B4-BE49-F238E27FC236}">
                <a16:creationId xmlns:a16="http://schemas.microsoft.com/office/drawing/2014/main" id="{A6313D9A-C57B-26FC-B334-4A9DDFE9D24C}"/>
              </a:ext>
            </a:extLst>
          </p:cNvPr>
          <p:cNvGraphicFramePr>
            <a:graphicFrameLocks noChangeAspect="1"/>
          </p:cNvGraphicFramePr>
          <p:nvPr>
            <p:extLst>
              <p:ext uri="{D42A27DB-BD31-4B8C-83A1-F6EECF244321}">
                <p14:modId xmlns:p14="http://schemas.microsoft.com/office/powerpoint/2010/main" val="237354014"/>
              </p:ext>
            </p:extLst>
          </p:nvPr>
        </p:nvGraphicFramePr>
        <p:xfrm>
          <a:off x="812062" y="1778608"/>
          <a:ext cx="5854700" cy="304800"/>
        </p:xfrm>
        <a:graphic>
          <a:graphicData uri="http://schemas.openxmlformats.org/presentationml/2006/ole">
            <mc:AlternateContent xmlns:mc="http://schemas.openxmlformats.org/markup-compatibility/2006">
              <mc:Choice xmlns:v="urn:schemas-microsoft-com:vml" Requires="v">
                <p:oleObj name="Equation" r:id="rId3" imgW="5854680" imgH="304560" progId="Equation.DSMT4">
                  <p:embed/>
                </p:oleObj>
              </mc:Choice>
              <mc:Fallback>
                <p:oleObj name="Equation" r:id="rId3" imgW="5854680" imgH="304560" progId="Equation.DSMT4">
                  <p:embed/>
                  <p:pic>
                    <p:nvPicPr>
                      <p:cNvPr id="0" name=""/>
                      <p:cNvPicPr/>
                      <p:nvPr/>
                    </p:nvPicPr>
                    <p:blipFill>
                      <a:blip r:embed="rId4"/>
                      <a:stretch>
                        <a:fillRect/>
                      </a:stretch>
                    </p:blipFill>
                    <p:spPr>
                      <a:xfrm>
                        <a:off x="812062" y="1778608"/>
                        <a:ext cx="5854700" cy="304800"/>
                      </a:xfrm>
                      <a:prstGeom prst="rect">
                        <a:avLst/>
                      </a:prstGeom>
                    </p:spPr>
                  </p:pic>
                </p:oleObj>
              </mc:Fallback>
            </mc:AlternateContent>
          </a:graphicData>
        </a:graphic>
      </p:graphicFrame>
      <p:graphicFrame>
        <p:nvGraphicFramePr>
          <p:cNvPr id="61" name="对象 60">
            <a:extLst>
              <a:ext uri="{FF2B5EF4-FFF2-40B4-BE49-F238E27FC236}">
                <a16:creationId xmlns:a16="http://schemas.microsoft.com/office/drawing/2014/main" id="{AE1D47E0-E8AE-58A3-5A74-CD76C1DB10BC}"/>
              </a:ext>
            </a:extLst>
          </p:cNvPr>
          <p:cNvGraphicFramePr>
            <a:graphicFrameLocks noChangeAspect="1"/>
          </p:cNvGraphicFramePr>
          <p:nvPr>
            <p:extLst>
              <p:ext uri="{D42A27DB-BD31-4B8C-83A1-F6EECF244321}">
                <p14:modId xmlns:p14="http://schemas.microsoft.com/office/powerpoint/2010/main" val="123005109"/>
              </p:ext>
            </p:extLst>
          </p:nvPr>
        </p:nvGraphicFramePr>
        <p:xfrm>
          <a:off x="812062" y="2252337"/>
          <a:ext cx="2006600" cy="279400"/>
        </p:xfrm>
        <a:graphic>
          <a:graphicData uri="http://schemas.openxmlformats.org/presentationml/2006/ole">
            <mc:AlternateContent xmlns:mc="http://schemas.openxmlformats.org/markup-compatibility/2006">
              <mc:Choice xmlns:v="urn:schemas-microsoft-com:vml" Requires="v">
                <p:oleObj name="Equation" r:id="rId5" imgW="2006280" imgH="279360" progId="Equation.DSMT4">
                  <p:embed/>
                </p:oleObj>
              </mc:Choice>
              <mc:Fallback>
                <p:oleObj name="Equation" r:id="rId5" imgW="2006280" imgH="279360" progId="Equation.DSMT4">
                  <p:embed/>
                  <p:pic>
                    <p:nvPicPr>
                      <p:cNvPr id="0" name=""/>
                      <p:cNvPicPr/>
                      <p:nvPr/>
                    </p:nvPicPr>
                    <p:blipFill>
                      <a:blip r:embed="rId6"/>
                      <a:stretch>
                        <a:fillRect/>
                      </a:stretch>
                    </p:blipFill>
                    <p:spPr>
                      <a:xfrm>
                        <a:off x="812062" y="2252337"/>
                        <a:ext cx="2006600" cy="279400"/>
                      </a:xfrm>
                      <a:prstGeom prst="rect">
                        <a:avLst/>
                      </a:prstGeom>
                    </p:spPr>
                  </p:pic>
                </p:oleObj>
              </mc:Fallback>
            </mc:AlternateContent>
          </a:graphicData>
        </a:graphic>
      </p:graphicFrame>
      <p:sp>
        <p:nvSpPr>
          <p:cNvPr id="65" name="文本框 64">
            <a:extLst>
              <a:ext uri="{FF2B5EF4-FFF2-40B4-BE49-F238E27FC236}">
                <a16:creationId xmlns:a16="http://schemas.microsoft.com/office/drawing/2014/main" id="{7E1876FD-76BD-17EE-794E-55AACEDDDF4D}"/>
              </a:ext>
            </a:extLst>
          </p:cNvPr>
          <p:cNvSpPr txBox="1"/>
          <p:nvPr/>
        </p:nvSpPr>
        <p:spPr>
          <a:xfrm>
            <a:off x="6348728" y="3117049"/>
            <a:ext cx="1098738" cy="523220"/>
          </a:xfrm>
          <a:prstGeom prst="rect">
            <a:avLst/>
          </a:prstGeom>
          <a:noFill/>
        </p:spPr>
        <p:txBody>
          <a:bodyPr wrap="square">
            <a:spAutoFit/>
          </a:bodyPr>
          <a:lstStyle/>
          <a:p>
            <a:r>
              <a:rPr lang="zh-CN" altLang="zh-CN" sz="1400" kern="100" dirty="0">
                <a:solidFill>
                  <a:schemeClr val="bg1"/>
                </a:solidFill>
                <a:effectLst/>
                <a:latin typeface="Times New Roman" panose="02020603050405020304" pitchFamily="18" charset="0"/>
                <a:ea typeface="字魂58号-创中黑" panose="00000500000000000000"/>
                <a:cs typeface="Times New Roman" panose="02020603050405020304" pitchFamily="18" charset="0"/>
              </a:rPr>
              <a:t>遗传算法（</a:t>
            </a:r>
            <a:r>
              <a:rPr lang="en-US" altLang="zh-CN" sz="1400" kern="100" dirty="0">
                <a:solidFill>
                  <a:schemeClr val="bg1"/>
                </a:solidFill>
                <a:effectLst/>
                <a:latin typeface="Times New Roman" panose="02020603050405020304" pitchFamily="18" charset="0"/>
                <a:ea typeface="字魂58号-创中黑" panose="00000500000000000000"/>
              </a:rPr>
              <a:t>GA</a:t>
            </a:r>
            <a:r>
              <a:rPr lang="zh-CN" altLang="zh-CN" sz="1400" kern="100" dirty="0">
                <a:solidFill>
                  <a:schemeClr val="bg1"/>
                </a:solidFill>
                <a:effectLst/>
                <a:latin typeface="Times New Roman" panose="02020603050405020304" pitchFamily="18" charset="0"/>
                <a:ea typeface="字魂58号-创中黑" panose="00000500000000000000"/>
                <a:cs typeface="Times New Roman" panose="02020603050405020304" pitchFamily="18" charset="0"/>
              </a:rPr>
              <a:t>）</a:t>
            </a:r>
            <a:endParaRPr lang="zh-CN" altLang="en-US" sz="1400" dirty="0">
              <a:solidFill>
                <a:schemeClr val="bg1"/>
              </a:solidFill>
              <a:ea typeface="字魂58号-创中黑" panose="00000500000000000000"/>
            </a:endParaRPr>
          </a:p>
        </p:txBody>
      </p:sp>
      <p:sp>
        <p:nvSpPr>
          <p:cNvPr id="68" name="文本框 67">
            <a:extLst>
              <a:ext uri="{FF2B5EF4-FFF2-40B4-BE49-F238E27FC236}">
                <a16:creationId xmlns:a16="http://schemas.microsoft.com/office/drawing/2014/main" id="{A88DAFB2-90E3-C7A7-7C2D-79C4B6C5C44B}"/>
              </a:ext>
            </a:extLst>
          </p:cNvPr>
          <p:cNvSpPr txBox="1"/>
          <p:nvPr/>
        </p:nvSpPr>
        <p:spPr>
          <a:xfrm>
            <a:off x="5509533" y="3832200"/>
            <a:ext cx="1098738" cy="523220"/>
          </a:xfrm>
          <a:prstGeom prst="rect">
            <a:avLst/>
          </a:prstGeom>
          <a:noFill/>
        </p:spPr>
        <p:txBody>
          <a:bodyPr wrap="square">
            <a:spAutoFit/>
          </a:bodyPr>
          <a:lstStyle/>
          <a:p>
            <a:r>
              <a:rPr lang="zh-CN" altLang="zh-CN" sz="1400" kern="100" dirty="0">
                <a:solidFill>
                  <a:schemeClr val="bg1"/>
                </a:solidFill>
                <a:effectLst/>
                <a:latin typeface="Times New Roman" panose="02020603050405020304" pitchFamily="18" charset="0"/>
                <a:ea typeface="字魂58号-创中黑" panose="00000500000000000000"/>
                <a:cs typeface="Times New Roman" panose="02020603050405020304" pitchFamily="18" charset="0"/>
              </a:rPr>
              <a:t>贝叶斯优化</a:t>
            </a:r>
            <a:r>
              <a:rPr lang="en-US" altLang="zh-CN" sz="1400" kern="100" dirty="0">
                <a:solidFill>
                  <a:schemeClr val="bg1"/>
                </a:solidFill>
                <a:effectLst/>
                <a:latin typeface="Times New Roman" panose="02020603050405020304" pitchFamily="18" charset="0"/>
                <a:ea typeface="字魂58号-创中黑" panose="00000500000000000000"/>
                <a:cs typeface="Times New Roman" panose="02020603050405020304" pitchFamily="18" charset="0"/>
              </a:rPr>
              <a:t>  </a:t>
            </a:r>
            <a:r>
              <a:rPr lang="zh-CN" altLang="zh-CN" sz="1400" kern="100" dirty="0">
                <a:solidFill>
                  <a:schemeClr val="bg1"/>
                </a:solidFill>
                <a:effectLst/>
                <a:latin typeface="Times New Roman" panose="02020603050405020304" pitchFamily="18" charset="0"/>
                <a:ea typeface="字魂58号-创中黑" panose="00000500000000000000"/>
                <a:cs typeface="Times New Roman" panose="02020603050405020304" pitchFamily="18" charset="0"/>
              </a:rPr>
              <a:t>（</a:t>
            </a:r>
            <a:r>
              <a:rPr lang="en-US" altLang="zh-CN" sz="1400" kern="100" dirty="0">
                <a:solidFill>
                  <a:schemeClr val="bg1"/>
                </a:solidFill>
                <a:effectLst/>
                <a:latin typeface="Times New Roman" panose="02020603050405020304" pitchFamily="18" charset="0"/>
                <a:ea typeface="字魂58号-创中黑" panose="00000500000000000000"/>
              </a:rPr>
              <a:t>BO</a:t>
            </a:r>
            <a:r>
              <a:rPr lang="zh-CN" altLang="zh-CN" sz="1400" kern="100" dirty="0">
                <a:solidFill>
                  <a:schemeClr val="bg1"/>
                </a:solidFill>
                <a:effectLst/>
                <a:latin typeface="Times New Roman" panose="02020603050405020304" pitchFamily="18" charset="0"/>
                <a:ea typeface="字魂58号-创中黑" panose="00000500000000000000"/>
                <a:cs typeface="Times New Roman" panose="02020603050405020304" pitchFamily="18" charset="0"/>
              </a:rPr>
              <a:t>）</a:t>
            </a:r>
            <a:endParaRPr lang="zh-CN" altLang="en-US" sz="1400" dirty="0">
              <a:solidFill>
                <a:schemeClr val="bg1"/>
              </a:solidFill>
              <a:ea typeface="字魂58号-创中黑" panose="00000500000000000000"/>
            </a:endParaRPr>
          </a:p>
        </p:txBody>
      </p:sp>
    </p:spTree>
    <p:extLst>
      <p:ext uri="{BB962C8B-B14F-4D97-AF65-F5344CB8AC3E}">
        <p14:creationId xmlns:p14="http://schemas.microsoft.com/office/powerpoint/2010/main" val="3791832412"/>
      </p:ext>
    </p:extLst>
  </p:cSld>
  <p:clrMapOvr>
    <a:masterClrMapping/>
  </p:clrMapOvr>
  <mc:AlternateContent xmlns:mc="http://schemas.openxmlformats.org/markup-compatibility/2006" xmlns:p14="http://schemas.microsoft.com/office/powerpoint/2010/main">
    <mc:Choice Requires="p14">
      <p:transition spd="slow" p14:dur="1500" advClick="0" advTm="7560">
        <p:random/>
      </p:transition>
    </mc:Choice>
    <mc:Fallback xmlns="">
      <p:transition spd="slow" advClick="0" advTm="7560">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C53EE-482D-C964-B090-74EFAF2BDE88}"/>
            </a:ext>
          </a:extLst>
        </p:cNvPr>
        <p:cNvGrpSpPr/>
        <p:nvPr/>
      </p:nvGrpSpPr>
      <p:grpSpPr>
        <a:xfrm>
          <a:off x="0" y="0"/>
          <a:ext cx="0" cy="0"/>
          <a:chOff x="0" y="0"/>
          <a:chExt cx="0" cy="0"/>
        </a:xfrm>
      </p:grpSpPr>
      <p:grpSp>
        <p:nvGrpSpPr>
          <p:cNvPr id="136" name="组合 135">
            <a:extLst>
              <a:ext uri="{FF2B5EF4-FFF2-40B4-BE49-F238E27FC236}">
                <a16:creationId xmlns:a16="http://schemas.microsoft.com/office/drawing/2014/main" id="{2E3E627D-EDE3-552A-3F48-8C47AE7F9FD6}"/>
              </a:ext>
            </a:extLst>
          </p:cNvPr>
          <p:cNvGrpSpPr/>
          <p:nvPr/>
        </p:nvGrpSpPr>
        <p:grpSpPr>
          <a:xfrm>
            <a:off x="1244116" y="1431464"/>
            <a:ext cx="9503746" cy="3938904"/>
            <a:chOff x="1384801" y="2838350"/>
            <a:chExt cx="3445116" cy="3938904"/>
          </a:xfrm>
        </p:grpSpPr>
        <p:sp>
          <p:nvSpPr>
            <p:cNvPr id="137" name="文本框 42">
              <a:extLst>
                <a:ext uri="{FF2B5EF4-FFF2-40B4-BE49-F238E27FC236}">
                  <a16:creationId xmlns:a16="http://schemas.microsoft.com/office/drawing/2014/main" id="{C2403739-BB5E-8198-B3EA-B560738798D8}"/>
                </a:ext>
              </a:extLst>
            </p:cNvPr>
            <p:cNvSpPr txBox="1"/>
            <p:nvPr/>
          </p:nvSpPr>
          <p:spPr>
            <a:xfrm>
              <a:off x="1448804" y="3567529"/>
              <a:ext cx="3381113" cy="3209725"/>
            </a:xfrm>
            <a:prstGeom prst="rect">
              <a:avLst/>
            </a:prstGeom>
          </p:spPr>
          <p:txBody>
            <a:bodyPr wrap="square">
              <a:spAutoFit/>
              <a:scene3d>
                <a:camera prst="orthographicFront"/>
                <a:lightRig rig="threePt" dir="t"/>
              </a:scene3d>
              <a:sp3d contourW="12700"/>
            </a:bodyPr>
            <a:lstStyle>
              <a:defPPr>
                <a:defRPr lang="zh-CN"/>
              </a:defPPr>
              <a:lvl1pPr algn="ctr">
                <a:lnSpc>
                  <a:spcPct val="120000"/>
                </a:lnSpc>
                <a:defRPr sz="1400">
                  <a:latin typeface="Arial"/>
                  <a:ea typeface="微软雅黑"/>
                </a:defRPr>
              </a:lvl1pPr>
            </a:lstStyle>
            <a:p>
              <a:pPr indent="457200" algn="l">
                <a:lnSpc>
                  <a:spcPct val="150000"/>
                </a:lnSpc>
              </a:pPr>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传统的网格搜索（</a:t>
              </a:r>
              <a:r>
                <a:rPr lang="en-US" altLang="zh-CN" sz="1600" kern="100" dirty="0">
                  <a:effectLst/>
                  <a:latin typeface="Times New Roman" panose="02020603050405020304" pitchFamily="18" charset="0"/>
                  <a:ea typeface="字魂58号-创中黑" panose="00000500000000000000"/>
                </a:rPr>
                <a:t>Grid Search</a:t>
              </a:r>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）或随机搜索（</a:t>
              </a:r>
              <a:r>
                <a:rPr lang="en-US" altLang="zh-CN" sz="1600" kern="100" dirty="0">
                  <a:effectLst/>
                  <a:latin typeface="Times New Roman" panose="02020603050405020304" pitchFamily="18" charset="0"/>
                  <a:ea typeface="字魂58号-创中黑" panose="00000500000000000000"/>
                </a:rPr>
                <a:t>Random Search</a:t>
              </a:r>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）在高维超参数空间中搜索效率低、成本高。</a:t>
              </a:r>
              <a:endParaRPr lang="en-US" altLang="zh-CN" sz="1600" kern="100" dirty="0">
                <a:effectLst/>
                <a:latin typeface="Times New Roman" panose="02020603050405020304" pitchFamily="18" charset="0"/>
                <a:ea typeface="字魂58号-创中黑" panose="00000500000000000000"/>
                <a:cs typeface="Times New Roman" panose="02020603050405020304" pitchFamily="18" charset="0"/>
              </a:endParaRPr>
            </a:p>
            <a:p>
              <a:pPr indent="457200" algn="l">
                <a:lnSpc>
                  <a:spcPct val="150000"/>
                </a:lnSpc>
              </a:pPr>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由此本研究引入贝叶斯优化（</a:t>
              </a:r>
              <a:r>
                <a:rPr lang="en-US" altLang="zh-CN" sz="1600" kern="100" dirty="0">
                  <a:effectLst/>
                  <a:latin typeface="Times New Roman" panose="02020603050405020304" pitchFamily="18" charset="0"/>
                  <a:ea typeface="字魂58号-创中黑" panose="00000500000000000000"/>
                </a:rPr>
                <a:t>BO</a:t>
              </a:r>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）作为进化学习策略，基于概率模型的方法对目标函数进行迭代优化。</a:t>
              </a:r>
              <a:endParaRPr lang="en-US" altLang="zh-CN" sz="1600" kern="100" dirty="0">
                <a:effectLst/>
                <a:latin typeface="Times New Roman" panose="02020603050405020304" pitchFamily="18" charset="0"/>
                <a:ea typeface="字魂58号-创中黑" panose="00000500000000000000"/>
                <a:cs typeface="Times New Roman" panose="02020603050405020304" pitchFamily="18" charset="0"/>
              </a:endParaRPr>
            </a:p>
            <a:p>
              <a:pPr indent="457200" algn="l">
                <a:lnSpc>
                  <a:spcPct val="150000"/>
                </a:lnSpc>
              </a:pPr>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通过采集函数（</a:t>
              </a:r>
              <a:r>
                <a:rPr lang="en-US" altLang="zh-CN" sz="1600" kern="100" dirty="0">
                  <a:effectLst/>
                  <a:latin typeface="Times New Roman" panose="02020603050405020304" pitchFamily="18" charset="0"/>
                  <a:ea typeface="字魂58号-创中黑" panose="00000500000000000000"/>
                </a:rPr>
                <a:t>Acquisition Function</a:t>
              </a:r>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引导下一个最有可能取得最优结果的超参数组合，从而在最少评估次数下找到最优解。其核心思想是构建一个代理模型（通常为高斯过程）对真实目标函数进行逼近，然后在此代理模型上选择下一个评估点，从而逐步逼近最优解。</a:t>
              </a:r>
              <a:endParaRPr lang="en-US" altLang="zh-CN" sz="1600" kern="100" dirty="0">
                <a:effectLst/>
                <a:latin typeface="Times New Roman" panose="02020603050405020304" pitchFamily="18" charset="0"/>
                <a:ea typeface="字魂58号-创中黑" panose="00000500000000000000"/>
                <a:cs typeface="Times New Roman" panose="02020603050405020304" pitchFamily="18" charset="0"/>
              </a:endParaRPr>
            </a:p>
            <a:p>
              <a:pPr indent="457200" algn="l"/>
              <a:endParaRPr lang="en-US" alt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457200" algn="l"/>
              <a:endPar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38" name="矩形 137">
              <a:extLst>
                <a:ext uri="{FF2B5EF4-FFF2-40B4-BE49-F238E27FC236}">
                  <a16:creationId xmlns:a16="http://schemas.microsoft.com/office/drawing/2014/main" id="{BABA3950-7537-C37A-D35A-1FD73AD9201C}"/>
                </a:ext>
              </a:extLst>
            </p:cNvPr>
            <p:cNvSpPr/>
            <p:nvPr/>
          </p:nvSpPr>
          <p:spPr>
            <a:xfrm>
              <a:off x="1384801" y="2838350"/>
              <a:ext cx="793639" cy="396583"/>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进化学习优化方法</a:t>
              </a:r>
            </a:p>
          </p:txBody>
        </p:sp>
      </p:grpSp>
      <p:grpSp>
        <p:nvGrpSpPr>
          <p:cNvPr id="2" name="组合 1">
            <a:extLst>
              <a:ext uri="{FF2B5EF4-FFF2-40B4-BE49-F238E27FC236}">
                <a16:creationId xmlns:a16="http://schemas.microsoft.com/office/drawing/2014/main" id="{5194B2DB-8AAA-51F6-FB60-0D5CC4A0056C}"/>
              </a:ext>
            </a:extLst>
          </p:cNvPr>
          <p:cNvGrpSpPr/>
          <p:nvPr/>
        </p:nvGrpSpPr>
        <p:grpSpPr>
          <a:xfrm>
            <a:off x="3934731" y="483357"/>
            <a:ext cx="4283545" cy="1569660"/>
            <a:chOff x="3934731" y="483357"/>
            <a:chExt cx="4283545" cy="1569660"/>
          </a:xfrm>
        </p:grpSpPr>
        <p:sp>
          <p:nvSpPr>
            <p:cNvPr id="3" name="文本框 2">
              <a:extLst>
                <a:ext uri="{FF2B5EF4-FFF2-40B4-BE49-F238E27FC236}">
                  <a16:creationId xmlns:a16="http://schemas.microsoft.com/office/drawing/2014/main" id="{1D0EDA23-B01C-3A8C-1684-3FB8A5E54554}"/>
                </a:ext>
              </a:extLst>
            </p:cNvPr>
            <p:cNvSpPr txBox="1"/>
            <p:nvPr/>
          </p:nvSpPr>
          <p:spPr>
            <a:xfrm>
              <a:off x="3934731" y="483357"/>
              <a:ext cx="4200192"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四、</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数据融合与进化学习建模</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4"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FE7B3170-2519-DC82-C80F-61462BBBAE36}"/>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Data Fusion and Evolutionary Learning Modeling</a:t>
              </a:r>
            </a:p>
          </p:txBody>
        </p:sp>
        <p:cxnSp>
          <p:nvCxnSpPr>
            <p:cNvPr id="5" name="直接连接符 4"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0F6C55BC-2D5E-3576-532A-ED9A923C67FB}"/>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11" name="Rectangle 3">
            <a:extLst>
              <a:ext uri="{FF2B5EF4-FFF2-40B4-BE49-F238E27FC236}">
                <a16:creationId xmlns:a16="http://schemas.microsoft.com/office/drawing/2014/main" id="{B856317F-DD43-4248-F363-CE45A12D07E1}"/>
              </a:ext>
            </a:extLst>
          </p:cNvPr>
          <p:cNvSpPr>
            <a:spLocks noChangeArrowheads="1"/>
          </p:cNvSpPr>
          <p:nvPr/>
        </p:nvSpPr>
        <p:spPr bwMode="auto">
          <a:xfrm>
            <a:off x="0" y="8763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794000" algn="ctr"/>
                <a:tab pos="5575300" algn="r"/>
              </a:tabLst>
              <a:defRPr>
                <a:solidFill>
                  <a:schemeClr val="tx1"/>
                </a:solidFill>
                <a:latin typeface="Arial" panose="020B0604020202020204" pitchFamily="34" charset="0"/>
              </a:defRPr>
            </a:lvl1pPr>
            <a:lvl2pPr eaLnBrk="0" fontAlgn="base" hangingPunct="0">
              <a:spcBef>
                <a:spcPct val="0"/>
              </a:spcBef>
              <a:spcAft>
                <a:spcPct val="0"/>
              </a:spcAft>
              <a:tabLst>
                <a:tab pos="2794000" algn="ctr"/>
                <a:tab pos="5575300" algn="r"/>
              </a:tabLst>
              <a:defRPr>
                <a:solidFill>
                  <a:schemeClr val="tx1"/>
                </a:solidFill>
                <a:latin typeface="Arial" panose="020B0604020202020204" pitchFamily="34" charset="0"/>
              </a:defRPr>
            </a:lvl2pPr>
            <a:lvl3pPr eaLnBrk="0" fontAlgn="base" hangingPunct="0">
              <a:spcBef>
                <a:spcPct val="0"/>
              </a:spcBef>
              <a:spcAft>
                <a:spcPct val="0"/>
              </a:spcAft>
              <a:tabLst>
                <a:tab pos="2794000" algn="ctr"/>
                <a:tab pos="5575300" algn="r"/>
              </a:tabLst>
              <a:defRPr>
                <a:solidFill>
                  <a:schemeClr val="tx1"/>
                </a:solidFill>
                <a:latin typeface="Arial" panose="020B0604020202020204" pitchFamily="34" charset="0"/>
              </a:defRPr>
            </a:lvl3pPr>
            <a:lvl4pPr eaLnBrk="0" fontAlgn="base" hangingPunct="0">
              <a:spcBef>
                <a:spcPct val="0"/>
              </a:spcBef>
              <a:spcAft>
                <a:spcPct val="0"/>
              </a:spcAft>
              <a:tabLst>
                <a:tab pos="2794000" algn="ctr"/>
                <a:tab pos="5575300" algn="r"/>
              </a:tabLst>
              <a:defRPr>
                <a:solidFill>
                  <a:schemeClr val="tx1"/>
                </a:solidFill>
                <a:latin typeface="Arial" panose="020B0604020202020204" pitchFamily="34" charset="0"/>
              </a:defRPr>
            </a:lvl4pPr>
            <a:lvl5pPr eaLnBrk="0" fontAlgn="base" hangingPunct="0">
              <a:spcBef>
                <a:spcPct val="0"/>
              </a:spcBef>
              <a:spcAft>
                <a:spcPct val="0"/>
              </a:spcAft>
              <a:tabLst>
                <a:tab pos="2794000" algn="ctr"/>
                <a:tab pos="5575300" algn="r"/>
              </a:tabLst>
              <a:defRPr>
                <a:solidFill>
                  <a:schemeClr val="tx1"/>
                </a:solidFill>
                <a:latin typeface="Arial" panose="020B0604020202020204" pitchFamily="34" charset="0"/>
              </a:defRPr>
            </a:lvl5pPr>
            <a:lvl6pPr eaLnBrk="0" fontAlgn="base" hangingPunct="0">
              <a:spcBef>
                <a:spcPct val="0"/>
              </a:spcBef>
              <a:spcAft>
                <a:spcPct val="0"/>
              </a:spcAft>
              <a:tabLst>
                <a:tab pos="2794000" algn="ctr"/>
                <a:tab pos="5575300" algn="r"/>
              </a:tabLst>
              <a:defRPr>
                <a:solidFill>
                  <a:schemeClr val="tx1"/>
                </a:solidFill>
                <a:latin typeface="Arial" panose="020B0604020202020204" pitchFamily="34" charset="0"/>
              </a:defRPr>
            </a:lvl6pPr>
            <a:lvl7pPr eaLnBrk="0" fontAlgn="base" hangingPunct="0">
              <a:spcBef>
                <a:spcPct val="0"/>
              </a:spcBef>
              <a:spcAft>
                <a:spcPct val="0"/>
              </a:spcAft>
              <a:tabLst>
                <a:tab pos="2794000" algn="ctr"/>
                <a:tab pos="5575300" algn="r"/>
              </a:tabLst>
              <a:defRPr>
                <a:solidFill>
                  <a:schemeClr val="tx1"/>
                </a:solidFill>
                <a:latin typeface="Arial" panose="020B0604020202020204" pitchFamily="34" charset="0"/>
              </a:defRPr>
            </a:lvl7pPr>
            <a:lvl8pPr eaLnBrk="0" fontAlgn="base" hangingPunct="0">
              <a:spcBef>
                <a:spcPct val="0"/>
              </a:spcBef>
              <a:spcAft>
                <a:spcPct val="0"/>
              </a:spcAft>
              <a:tabLst>
                <a:tab pos="2794000" algn="ctr"/>
                <a:tab pos="5575300" algn="r"/>
              </a:tabLst>
              <a:defRPr>
                <a:solidFill>
                  <a:schemeClr val="tx1"/>
                </a:solidFill>
                <a:latin typeface="Arial" panose="020B0604020202020204" pitchFamily="34" charset="0"/>
              </a:defRPr>
            </a:lvl8pPr>
            <a:lvl9pPr eaLnBrk="0" fontAlgn="base" hangingPunct="0">
              <a:spcBef>
                <a:spcPct val="0"/>
              </a:spcBef>
              <a:spcAft>
                <a:spcPct val="0"/>
              </a:spcAft>
              <a:tabLst>
                <a:tab pos="2794000" algn="ctr"/>
                <a:tab pos="5575300" algn="r"/>
              </a:tabLst>
              <a:defRPr>
                <a:solidFill>
                  <a:schemeClr val="tx1"/>
                </a:solidFill>
                <a:latin typeface="Arial" panose="020B0604020202020204" pitchFamily="34" charset="0"/>
              </a:defRPr>
            </a:lvl9pPr>
          </a:lstStyle>
          <a:p>
            <a:pPr marL="0" marR="0" lvl="0" indent="304800" algn="l" defTabSz="914400" rtl="0" eaLnBrk="0" fontAlgn="base" latinLnBrk="0" hangingPunct="0">
              <a:lnSpc>
                <a:spcPct val="100000"/>
              </a:lnSpc>
              <a:spcBef>
                <a:spcPct val="0"/>
              </a:spcBef>
              <a:spcAft>
                <a:spcPct val="0"/>
              </a:spcAft>
              <a:buClrTx/>
              <a:buSzTx/>
              <a:buFontTx/>
              <a:buNone/>
              <a:tabLst>
                <a:tab pos="2794000" algn="ctr"/>
                <a:tab pos="5575300" algn="r"/>
              </a:tabLst>
            </a:pPr>
            <a:r>
              <a:rPr kumimoji="0" lang="en-GB"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GB"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2369476"/>
      </p:ext>
    </p:extLst>
  </p:cSld>
  <p:clrMapOvr>
    <a:masterClrMapping/>
  </p:clrMapOvr>
  <mc:AlternateContent xmlns:mc="http://schemas.openxmlformats.org/markup-compatibility/2006" xmlns:p14="http://schemas.microsoft.com/office/powerpoint/2010/main">
    <mc:Choice Requires="p14">
      <p:transition spd="slow" p14:dur="1500" advClick="0" advTm="8995">
        <p:random/>
      </p:transition>
    </mc:Choice>
    <mc:Fallback xmlns="">
      <p:transition spd="slow" advClick="0" advTm="8995">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2D833-A5B3-8966-F42C-04AD0693ED01}"/>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40F6B11-D613-21FD-E3F3-F32036C53E8D}"/>
              </a:ext>
            </a:extLst>
          </p:cNvPr>
          <p:cNvGrpSpPr/>
          <p:nvPr/>
        </p:nvGrpSpPr>
        <p:grpSpPr>
          <a:xfrm>
            <a:off x="3934731" y="483357"/>
            <a:ext cx="4283545" cy="1569660"/>
            <a:chOff x="3934731" y="483357"/>
            <a:chExt cx="4283545" cy="1569660"/>
          </a:xfrm>
        </p:grpSpPr>
        <p:sp>
          <p:nvSpPr>
            <p:cNvPr id="3" name="文本框 2">
              <a:extLst>
                <a:ext uri="{FF2B5EF4-FFF2-40B4-BE49-F238E27FC236}">
                  <a16:creationId xmlns:a16="http://schemas.microsoft.com/office/drawing/2014/main" id="{0DAC68B7-AE9E-336D-B660-93749BCE618E}"/>
                </a:ext>
              </a:extLst>
            </p:cNvPr>
            <p:cNvSpPr txBox="1"/>
            <p:nvPr/>
          </p:nvSpPr>
          <p:spPr>
            <a:xfrm>
              <a:off x="3934731" y="483357"/>
              <a:ext cx="4200192"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四、</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数据融合与进化学习建模</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1"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7A7976F4-B4E0-5478-21A8-46143E11B64E}"/>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Data Fusion and Evolutionary Learning Modeling</a:t>
              </a:r>
            </a:p>
          </p:txBody>
        </p:sp>
        <p:cxnSp>
          <p:nvCxnSpPr>
            <p:cNvPr id="32" name="直接连接符 31"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8949BE18-3BF6-FA8B-8087-EF9D99C9AC36}"/>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graphicFrame>
        <p:nvGraphicFramePr>
          <p:cNvPr id="4" name="对象 3">
            <a:extLst>
              <a:ext uri="{FF2B5EF4-FFF2-40B4-BE49-F238E27FC236}">
                <a16:creationId xmlns:a16="http://schemas.microsoft.com/office/drawing/2014/main" id="{7E7C1024-C668-2C2B-43A4-7842F18D25D8}"/>
              </a:ext>
            </a:extLst>
          </p:cNvPr>
          <p:cNvGraphicFramePr>
            <a:graphicFrameLocks noChangeAspect="1"/>
          </p:cNvGraphicFramePr>
          <p:nvPr>
            <p:extLst>
              <p:ext uri="{D42A27DB-BD31-4B8C-83A1-F6EECF244321}">
                <p14:modId xmlns:p14="http://schemas.microsoft.com/office/powerpoint/2010/main" val="3732589861"/>
              </p:ext>
            </p:extLst>
          </p:nvPr>
        </p:nvGraphicFramePr>
        <p:xfrm>
          <a:off x="3282157" y="2517775"/>
          <a:ext cx="5427663" cy="603250"/>
        </p:xfrm>
        <a:graphic>
          <a:graphicData uri="http://schemas.openxmlformats.org/presentationml/2006/ole">
            <mc:AlternateContent xmlns:mc="http://schemas.openxmlformats.org/markup-compatibility/2006">
              <mc:Choice xmlns:v="urn:schemas-microsoft-com:vml" Requires="v">
                <p:oleObj name="Equation" r:id="rId3" imgW="5427045" imgH="603742" progId="Equation.DSMT4">
                  <p:embed/>
                </p:oleObj>
              </mc:Choice>
              <mc:Fallback>
                <p:oleObj name="Equation" r:id="rId3" imgW="5427045" imgH="603742" progId="Equation.DSMT4">
                  <p:embed/>
                  <p:pic>
                    <p:nvPicPr>
                      <p:cNvPr id="0" name=""/>
                      <p:cNvPicPr/>
                      <p:nvPr/>
                    </p:nvPicPr>
                    <p:blipFill>
                      <a:blip r:embed="rId4"/>
                      <a:stretch>
                        <a:fillRect/>
                      </a:stretch>
                    </p:blipFill>
                    <p:spPr>
                      <a:xfrm>
                        <a:off x="3282157" y="2517775"/>
                        <a:ext cx="5427663" cy="603250"/>
                      </a:xfrm>
                      <a:prstGeom prst="rect">
                        <a:avLst/>
                      </a:prstGeom>
                    </p:spPr>
                  </p:pic>
                </p:oleObj>
              </mc:Fallback>
            </mc:AlternateContent>
          </a:graphicData>
        </a:graphic>
      </p:graphicFrame>
      <p:sp>
        <p:nvSpPr>
          <p:cNvPr id="5" name="矩形 4">
            <a:extLst>
              <a:ext uri="{FF2B5EF4-FFF2-40B4-BE49-F238E27FC236}">
                <a16:creationId xmlns:a16="http://schemas.microsoft.com/office/drawing/2014/main" id="{B0B202BB-4297-AEB0-C662-04E0DEB59F51}"/>
              </a:ext>
            </a:extLst>
          </p:cNvPr>
          <p:cNvSpPr/>
          <p:nvPr/>
        </p:nvSpPr>
        <p:spPr>
          <a:xfrm>
            <a:off x="1194674" y="1400984"/>
            <a:ext cx="2189344" cy="396583"/>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进化学习优化方法</a:t>
            </a:r>
          </a:p>
        </p:txBody>
      </p:sp>
      <p:sp>
        <p:nvSpPr>
          <p:cNvPr id="8" name="文本框 7">
            <a:extLst>
              <a:ext uri="{FF2B5EF4-FFF2-40B4-BE49-F238E27FC236}">
                <a16:creationId xmlns:a16="http://schemas.microsoft.com/office/drawing/2014/main" id="{9296A805-9B41-FC98-C638-4C2A40457FE8}"/>
              </a:ext>
            </a:extLst>
          </p:cNvPr>
          <p:cNvSpPr txBox="1"/>
          <p:nvPr/>
        </p:nvSpPr>
        <p:spPr>
          <a:xfrm>
            <a:off x="1009118" y="2053017"/>
            <a:ext cx="2842260" cy="364843"/>
          </a:xfrm>
          <a:prstGeom prst="rect">
            <a:avLst/>
          </a:prstGeom>
          <a:noFill/>
        </p:spPr>
        <p:txBody>
          <a:bodyPr wrap="square">
            <a:spAutoFit/>
          </a:bodyPr>
          <a:lstStyle/>
          <a:p>
            <a:pPr indent="304800" algn="just">
              <a:lnSpc>
                <a:spcPts val="2300"/>
              </a:lnSpc>
              <a:tabLst>
                <a:tab pos="457200" algn="l"/>
              </a:tabLst>
            </a:pPr>
            <a:r>
              <a:rPr lang="zh-CN" altLang="zh-CN" sz="1600" kern="100" dirty="0">
                <a:effectLst/>
                <a:latin typeface="Times New Roman" panose="02020603050405020304" pitchFamily="18" charset="0"/>
                <a:ea typeface="字魂58号-创中黑" panose="00000500000000000000"/>
              </a:rPr>
              <a:t>目标函数的定义如下：</a:t>
            </a:r>
            <a:endParaRPr lang="zh-CN" altLang="zh-CN" sz="1200" kern="100" dirty="0">
              <a:effectLst/>
              <a:latin typeface="Times New Roman" panose="02020603050405020304" pitchFamily="18" charset="0"/>
              <a:ea typeface="字魂58号-创中黑" panose="00000500000000000000"/>
            </a:endParaRP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6BD1E2F-B837-B05A-CB29-5A4DEE14E42E}"/>
                  </a:ext>
                </a:extLst>
              </p:cNvPr>
              <p:cNvSpPr txBox="1"/>
              <p:nvPr/>
            </p:nvSpPr>
            <p:spPr>
              <a:xfrm>
                <a:off x="1246212" y="3429000"/>
                <a:ext cx="9222740" cy="1837041"/>
              </a:xfrm>
              <a:prstGeom prst="rect">
                <a:avLst/>
              </a:prstGeom>
              <a:noFill/>
            </p:spPr>
            <p:txBody>
              <a:bodyPr wrap="square">
                <a:spAutoFit/>
              </a:bodyPr>
              <a:lstStyle/>
              <a:p>
                <a:pPr indent="304800" algn="just">
                  <a:lnSpc>
                    <a:spcPts val="2300"/>
                  </a:lnSpc>
                  <a:tabLst>
                    <a:tab pos="457200" algn="l"/>
                  </a:tabLst>
                </a:pPr>
                <a:r>
                  <a:rPr lang="zh-CN" altLang="zh-CN" sz="1600" kern="100" dirty="0">
                    <a:effectLst/>
                    <a:latin typeface="Times New Roman" panose="02020603050405020304" pitchFamily="18" charset="0"/>
                    <a:ea typeface="字魂58号-创中黑" panose="00000500000000000000"/>
                  </a:rPr>
                  <a:t>其中</a:t>
                </a:r>
                <a:r>
                  <a:rPr lang="en-US" altLang="zh-CN" sz="1600" kern="100" dirty="0">
                    <a:effectLst/>
                    <a:latin typeface="Times New Roman" panose="02020603050405020304" pitchFamily="18" charset="0"/>
                    <a:ea typeface="字魂58号-创中黑" panose="00000500000000000000"/>
                  </a:rPr>
                  <a:t>:</a:t>
                </a:r>
              </a:p>
              <a:p>
                <a:pPr indent="304800" algn="just">
                  <a:lnSpc>
                    <a:spcPts val="2300"/>
                  </a:lnSpc>
                  <a:tabLst>
                    <a:tab pos="457200" algn="l"/>
                  </a:tabLst>
                </a:pPr>
                <a14:m>
                  <m:oMath xmlns:m="http://schemas.openxmlformats.org/officeDocument/2006/math">
                    <m:r>
                      <a:rPr lang="en-US" altLang="zh-CN" sz="1600" i="1" kern="100">
                        <a:effectLst/>
                        <a:latin typeface="Cambria Math" panose="02040503050406030204" pitchFamily="18" charset="0"/>
                        <a:ea typeface="宋体" panose="02010600030101010101" pitchFamily="2" charset="-122"/>
                      </a:rPr>
                      <m:t>𝜃</m:t>
                    </m:r>
                  </m:oMath>
                </a14:m>
                <a:r>
                  <a:rPr lang="zh-CN" altLang="zh-CN" sz="1600" kern="100" dirty="0">
                    <a:effectLst/>
                    <a:latin typeface="Times New Roman" panose="02020603050405020304" pitchFamily="18" charset="0"/>
                    <a:ea typeface="字魂58号-创中黑" panose="00000500000000000000"/>
                  </a:rPr>
                  <a:t>为模型待优化的超参数集合；</a:t>
                </a:r>
                <a:endParaRPr lang="en-US" altLang="zh-CN" sz="1600" kern="100" dirty="0">
                  <a:effectLst/>
                  <a:latin typeface="Times New Roman" panose="02020603050405020304" pitchFamily="18" charset="0"/>
                  <a:ea typeface="字魂58号-创中黑" panose="00000500000000000000"/>
                </a:endParaRPr>
              </a:p>
              <a:p>
                <a:pPr indent="304800" algn="just">
                  <a:lnSpc>
                    <a:spcPts val="2300"/>
                  </a:lnSpc>
                  <a:tabLst>
                    <a:tab pos="457200" algn="l"/>
                  </a:tabLst>
                </a:pPr>
                <a14:m>
                  <m:oMath xmlns:m="http://schemas.openxmlformats.org/officeDocument/2006/math">
                    <m:sSubSup>
                      <m:sSubSupPr>
                        <m:ctrlPr>
                          <a:rPr lang="zh-CN" altLang="zh-CN" sz="1600" i="1" kern="100">
                            <a:effectLst/>
                            <a:latin typeface="Cambria Math" panose="02040503050406030204" pitchFamily="18" charset="0"/>
                            <a:ea typeface="Cambria Math" panose="02040503050406030204" pitchFamily="18" charset="0"/>
                          </a:rPr>
                        </m:ctrlPr>
                      </m:sSubSupPr>
                      <m:e>
                        <m:r>
                          <m:rPr>
                            <m:sty m:val="p"/>
                          </m:rPr>
                          <a:rPr lang="en-US" altLang="zh-CN" sz="1600" kern="100">
                            <a:effectLst/>
                            <a:latin typeface="Cambria Math" panose="02040503050406030204" pitchFamily="18" charset="0"/>
                            <a:ea typeface="宋体" panose="02010600030101010101" pitchFamily="2" charset="-122"/>
                          </a:rPr>
                          <m:t>RMSE</m:t>
                        </m:r>
                      </m:e>
                      <m:sub>
                        <m:r>
                          <m:rPr>
                            <m:sty m:val="p"/>
                          </m:rPr>
                          <a:rPr lang="en-US" altLang="zh-CN" sz="1600" kern="100">
                            <a:effectLst/>
                            <a:latin typeface="Cambria Math" panose="02040503050406030204" pitchFamily="18" charset="0"/>
                            <a:ea typeface="宋体" panose="02010600030101010101" pitchFamily="2" charset="-122"/>
                          </a:rPr>
                          <m:t>YS</m:t>
                        </m:r>
                      </m:sub>
                      <m:sup>
                        <m:d>
                          <m:dPr>
                            <m:ctrlPr>
                              <a:rPr lang="zh-CN" altLang="zh-CN" sz="1600" i="1" kern="100">
                                <a:effectLst/>
                                <a:latin typeface="Cambria Math" panose="02040503050406030204" pitchFamily="18" charset="0"/>
                                <a:ea typeface="Cambria Math" panose="02040503050406030204" pitchFamily="18" charset="0"/>
                              </a:rPr>
                            </m:ctrlPr>
                          </m:dPr>
                          <m:e>
                            <m:r>
                              <m:rPr>
                                <m:sty m:val="p"/>
                              </m:rPr>
                              <a:rPr lang="en-US" altLang="zh-CN" sz="1600" kern="100">
                                <a:effectLst/>
                                <a:latin typeface="Cambria Math" panose="02040503050406030204" pitchFamily="18" charset="0"/>
                                <a:ea typeface="宋体" panose="02010600030101010101" pitchFamily="2" charset="-122"/>
                              </a:rPr>
                              <m:t>i</m:t>
                            </m:r>
                          </m:e>
                        </m:d>
                      </m:sup>
                    </m:sSubSup>
                  </m:oMath>
                </a14:m>
                <a:r>
                  <a:rPr lang="zh-CN" altLang="zh-CN" sz="1600" kern="100" dirty="0">
                    <a:effectLst/>
                    <a:latin typeface="Times New Roman" panose="02020603050405020304" pitchFamily="18" charset="0"/>
                    <a:ea typeface="字魂58号-创中黑" panose="00000500000000000000"/>
                  </a:rPr>
                  <a:t>、</a:t>
                </a:r>
                <a14:m>
                  <m:oMath xmlns:m="http://schemas.openxmlformats.org/officeDocument/2006/math">
                    <m:sSubSup>
                      <m:sSubSupPr>
                        <m:ctrlPr>
                          <a:rPr lang="zh-CN" altLang="zh-CN" sz="1600" i="1" kern="100">
                            <a:effectLst/>
                            <a:latin typeface="Cambria Math" panose="02040503050406030204" pitchFamily="18" charset="0"/>
                            <a:ea typeface="Cambria Math" panose="02040503050406030204" pitchFamily="18" charset="0"/>
                          </a:rPr>
                        </m:ctrlPr>
                      </m:sSubSupPr>
                      <m:e>
                        <m:r>
                          <m:rPr>
                            <m:sty m:val="p"/>
                          </m:rPr>
                          <a:rPr lang="en-US" altLang="zh-CN" sz="1600" kern="100">
                            <a:effectLst/>
                            <a:latin typeface="Cambria Math" panose="02040503050406030204" pitchFamily="18" charset="0"/>
                            <a:ea typeface="宋体" panose="02010600030101010101" pitchFamily="2" charset="-122"/>
                          </a:rPr>
                          <m:t>RMSE</m:t>
                        </m:r>
                      </m:e>
                      <m:sub>
                        <m:r>
                          <m:rPr>
                            <m:sty m:val="p"/>
                          </m:rPr>
                          <a:rPr lang="en-US" altLang="zh-CN" sz="1600" kern="100">
                            <a:effectLst/>
                            <a:latin typeface="Cambria Math" panose="02040503050406030204" pitchFamily="18" charset="0"/>
                            <a:ea typeface="宋体" panose="02010600030101010101" pitchFamily="2" charset="-122"/>
                          </a:rPr>
                          <m:t>TS</m:t>
                        </m:r>
                      </m:sub>
                      <m:sup>
                        <m:d>
                          <m:dPr>
                            <m:ctrlPr>
                              <a:rPr lang="zh-CN" altLang="zh-CN" sz="1600" i="1" kern="100">
                                <a:effectLst/>
                                <a:latin typeface="Cambria Math" panose="02040503050406030204" pitchFamily="18" charset="0"/>
                                <a:ea typeface="Cambria Math" panose="02040503050406030204" pitchFamily="18" charset="0"/>
                              </a:rPr>
                            </m:ctrlPr>
                          </m:dPr>
                          <m:e>
                            <m:r>
                              <m:rPr>
                                <m:sty m:val="p"/>
                              </m:rPr>
                              <a:rPr lang="en-US" altLang="zh-CN" sz="1600" kern="100">
                                <a:effectLst/>
                                <a:latin typeface="Cambria Math" panose="02040503050406030204" pitchFamily="18" charset="0"/>
                                <a:ea typeface="宋体" panose="02010600030101010101" pitchFamily="2" charset="-122"/>
                              </a:rPr>
                              <m:t>i</m:t>
                            </m:r>
                          </m:e>
                        </m:d>
                      </m:sup>
                    </m:sSubSup>
                  </m:oMath>
                </a14:m>
                <a:r>
                  <a:rPr lang="zh-CN" altLang="zh-CN" sz="1600" kern="100" dirty="0">
                    <a:effectLst/>
                    <a:latin typeface="Times New Roman" panose="02020603050405020304" pitchFamily="18" charset="0"/>
                    <a:ea typeface="字魂58号-创中黑" panose="00000500000000000000"/>
                  </a:rPr>
                  <a:t>、</a:t>
                </a:r>
                <a14:m>
                  <m:oMath xmlns:m="http://schemas.openxmlformats.org/officeDocument/2006/math">
                    <m:sSubSup>
                      <m:sSubSupPr>
                        <m:ctrlPr>
                          <a:rPr lang="zh-CN" altLang="zh-CN" sz="1600" i="1" kern="100">
                            <a:effectLst/>
                            <a:latin typeface="Cambria Math" panose="02040503050406030204" pitchFamily="18" charset="0"/>
                            <a:ea typeface="Cambria Math" panose="02040503050406030204" pitchFamily="18" charset="0"/>
                          </a:rPr>
                        </m:ctrlPr>
                      </m:sSubSupPr>
                      <m:e>
                        <m:r>
                          <m:rPr>
                            <m:sty m:val="p"/>
                          </m:rPr>
                          <a:rPr lang="en-US" altLang="zh-CN" sz="1600" kern="100">
                            <a:effectLst/>
                            <a:latin typeface="Cambria Math" panose="02040503050406030204" pitchFamily="18" charset="0"/>
                            <a:ea typeface="宋体" panose="02010600030101010101" pitchFamily="2" charset="-122"/>
                          </a:rPr>
                          <m:t>RMSE</m:t>
                        </m:r>
                      </m:e>
                      <m:sub>
                        <m:r>
                          <m:rPr>
                            <m:sty m:val="p"/>
                          </m:rPr>
                          <a:rPr lang="en-US" altLang="zh-CN" sz="1600" kern="100">
                            <a:effectLst/>
                            <a:latin typeface="Cambria Math" panose="02040503050406030204" pitchFamily="18" charset="0"/>
                            <a:ea typeface="宋体" panose="02010600030101010101" pitchFamily="2" charset="-122"/>
                          </a:rPr>
                          <m:t>EL</m:t>
                        </m:r>
                      </m:sub>
                      <m:sup>
                        <m:d>
                          <m:dPr>
                            <m:ctrlPr>
                              <a:rPr lang="zh-CN" altLang="zh-CN" sz="1600" i="1" kern="100">
                                <a:effectLst/>
                                <a:latin typeface="Cambria Math" panose="02040503050406030204" pitchFamily="18" charset="0"/>
                                <a:ea typeface="Cambria Math" panose="02040503050406030204" pitchFamily="18" charset="0"/>
                              </a:rPr>
                            </m:ctrlPr>
                          </m:dPr>
                          <m:e>
                            <m:r>
                              <m:rPr>
                                <m:sty m:val="p"/>
                              </m:rPr>
                              <a:rPr lang="en-US" altLang="zh-CN" sz="1600" kern="100">
                                <a:effectLst/>
                                <a:latin typeface="Cambria Math" panose="02040503050406030204" pitchFamily="18" charset="0"/>
                                <a:ea typeface="宋体" panose="02010600030101010101" pitchFamily="2" charset="-122"/>
                              </a:rPr>
                              <m:t>i</m:t>
                            </m:r>
                          </m:e>
                        </m:d>
                      </m:sup>
                    </m:sSubSup>
                  </m:oMath>
                </a14:m>
                <a:r>
                  <a:rPr lang="zh-CN" altLang="zh-CN" sz="1600" kern="100" dirty="0">
                    <a:effectLst/>
                    <a:latin typeface="Times New Roman" panose="02020603050405020304" pitchFamily="18" charset="0"/>
                    <a:ea typeface="字魂58号-创中黑" panose="00000500000000000000"/>
                  </a:rPr>
                  <a:t>分别为模型在第</a:t>
                </a:r>
                <a:r>
                  <a:rPr lang="en-US" altLang="zh-CN" sz="1600" kern="100" dirty="0" err="1">
                    <a:effectLst/>
                    <a:latin typeface="Times New Roman" panose="02020603050405020304" pitchFamily="18" charset="0"/>
                    <a:ea typeface="字魂58号-创中黑" panose="00000500000000000000"/>
                  </a:rPr>
                  <a:t>i</a:t>
                </a:r>
                <a:r>
                  <a:rPr lang="zh-CN" altLang="zh-CN" sz="1600" kern="100" dirty="0">
                    <a:effectLst/>
                    <a:latin typeface="Times New Roman" panose="02020603050405020304" pitchFamily="18" charset="0"/>
                    <a:ea typeface="字魂58号-创中黑" panose="00000500000000000000"/>
                  </a:rPr>
                  <a:t>次交叉验证中对屈服强度（</a:t>
                </a:r>
                <a:r>
                  <a:rPr lang="en-US" altLang="zh-CN" sz="1600" kern="100" dirty="0">
                    <a:effectLst/>
                    <a:latin typeface="Times New Roman" panose="02020603050405020304" pitchFamily="18" charset="0"/>
                    <a:ea typeface="字魂58号-创中黑" panose="00000500000000000000"/>
                  </a:rPr>
                  <a:t>YS</a:t>
                </a:r>
                <a:r>
                  <a:rPr lang="zh-CN" altLang="zh-CN" sz="1600" kern="100" dirty="0">
                    <a:effectLst/>
                    <a:latin typeface="Times New Roman" panose="02020603050405020304" pitchFamily="18" charset="0"/>
                    <a:ea typeface="字魂58号-创中黑" panose="00000500000000000000"/>
                  </a:rPr>
                  <a:t>）、抗拉强度（</a:t>
                </a:r>
                <a:r>
                  <a:rPr lang="en-US" altLang="zh-CN" sz="1600" kern="100" dirty="0">
                    <a:effectLst/>
                    <a:latin typeface="Times New Roman" panose="02020603050405020304" pitchFamily="18" charset="0"/>
                    <a:ea typeface="字魂58号-创中黑" panose="00000500000000000000"/>
                  </a:rPr>
                  <a:t>TS</a:t>
                </a:r>
                <a:r>
                  <a:rPr lang="zh-CN" altLang="zh-CN" sz="1600" kern="100" dirty="0">
                    <a:effectLst/>
                    <a:latin typeface="Times New Roman" panose="02020603050405020304" pitchFamily="18" charset="0"/>
                    <a:ea typeface="字魂58号-创中黑" panose="00000500000000000000"/>
                  </a:rPr>
                  <a:t>）、</a:t>
                </a:r>
                <a:r>
                  <a:rPr lang="en-US" altLang="zh-CN" sz="1600" kern="100" dirty="0">
                    <a:effectLst/>
                    <a:latin typeface="Times New Roman" panose="02020603050405020304" pitchFamily="18" charset="0"/>
                    <a:ea typeface="字魂58号-创中黑" panose="00000500000000000000"/>
                  </a:rPr>
                  <a:t>      </a:t>
                </a:r>
                <a:r>
                  <a:rPr lang="zh-CN" altLang="zh-CN" sz="1600" kern="100" dirty="0">
                    <a:effectLst/>
                    <a:latin typeface="Times New Roman" panose="02020603050405020304" pitchFamily="18" charset="0"/>
                    <a:ea typeface="字魂58号-创中黑" panose="00000500000000000000"/>
                  </a:rPr>
                  <a:t>延伸率（</a:t>
                </a:r>
                <a:r>
                  <a:rPr lang="en-US" altLang="zh-CN" sz="1600" kern="100" dirty="0">
                    <a:effectLst/>
                    <a:latin typeface="Times New Roman" panose="02020603050405020304" pitchFamily="18" charset="0"/>
                    <a:ea typeface="字魂58号-创中黑" panose="00000500000000000000"/>
                  </a:rPr>
                  <a:t>EL</a:t>
                </a:r>
                <a:r>
                  <a:rPr lang="zh-CN" altLang="zh-CN" sz="1600" kern="100" dirty="0">
                    <a:effectLst/>
                    <a:latin typeface="Times New Roman" panose="02020603050405020304" pitchFamily="18" charset="0"/>
                    <a:ea typeface="字魂58号-创中黑" panose="00000500000000000000"/>
                  </a:rPr>
                  <a:t>）的均方根误差；</a:t>
                </a:r>
                <a:endParaRPr lang="en-US" altLang="zh-CN" sz="1600" kern="100" dirty="0">
                  <a:effectLst/>
                  <a:latin typeface="Times New Roman" panose="02020603050405020304" pitchFamily="18" charset="0"/>
                  <a:ea typeface="字魂58号-创中黑" panose="00000500000000000000"/>
                </a:endParaRPr>
              </a:p>
              <a:p>
                <a:pPr indent="304800" algn="just">
                  <a:lnSpc>
                    <a:spcPts val="2300"/>
                  </a:lnSpc>
                  <a:tabLst>
                    <a:tab pos="457200" algn="l"/>
                  </a:tabLst>
                </a:pPr>
                <a14:m>
                  <m:oMath xmlns:m="http://schemas.openxmlformats.org/officeDocument/2006/math">
                    <m:sSub>
                      <m:sSubPr>
                        <m:ctrlPr>
                          <a:rPr lang="zh-CN" altLang="zh-CN" sz="1600" i="1" kern="100">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rPr>
                          <m:t>𝛼</m:t>
                        </m:r>
                      </m:e>
                      <m:sub>
                        <m:r>
                          <a:rPr lang="en-US" altLang="zh-CN" sz="1600" i="1" kern="100">
                            <a:effectLst/>
                            <a:latin typeface="Cambria Math" panose="02040503050406030204" pitchFamily="18" charset="0"/>
                            <a:ea typeface="宋体" panose="02010600030101010101" pitchFamily="2" charset="-122"/>
                          </a:rPr>
                          <m:t>1</m:t>
                        </m:r>
                      </m:sub>
                    </m:sSub>
                    <m:r>
                      <a:rPr lang="zh-CN" altLang="zh-CN" sz="1600" i="1" kern="100">
                        <a:effectLst/>
                        <a:latin typeface="Cambria Math" panose="02040503050406030204" pitchFamily="18" charset="0"/>
                        <a:ea typeface="宋体" panose="02010600030101010101" pitchFamily="2" charset="-122"/>
                      </a:rPr>
                      <m:t>、</m:t>
                    </m:r>
                    <m:sSub>
                      <m:sSubPr>
                        <m:ctrlPr>
                          <a:rPr lang="zh-CN" altLang="zh-CN" sz="1600" i="1" kern="100">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rPr>
                          <m:t>𝛼</m:t>
                        </m:r>
                      </m:e>
                      <m:sub>
                        <m:r>
                          <a:rPr lang="en-US" altLang="zh-CN" sz="1600" i="1" kern="100">
                            <a:effectLst/>
                            <a:latin typeface="Cambria Math" panose="02040503050406030204" pitchFamily="18" charset="0"/>
                            <a:ea typeface="宋体" panose="02010600030101010101" pitchFamily="2" charset="-122"/>
                          </a:rPr>
                          <m:t>2</m:t>
                        </m:r>
                      </m:sub>
                    </m:sSub>
                  </m:oMath>
                </a14:m>
                <a:r>
                  <a:rPr lang="zh-CN" altLang="zh-CN" sz="1600" kern="100" dirty="0">
                    <a:effectLst/>
                    <a:latin typeface="Times New Roman" panose="02020603050405020304" pitchFamily="18" charset="0"/>
                    <a:ea typeface="字魂58号-创中黑" panose="00000500000000000000"/>
                  </a:rPr>
                  <a:t>、</a:t>
                </a:r>
                <a14:m>
                  <m:oMath xmlns:m="http://schemas.openxmlformats.org/officeDocument/2006/math">
                    <m:sSub>
                      <m:sSubPr>
                        <m:ctrlPr>
                          <a:rPr lang="zh-CN" altLang="zh-CN" sz="1600" i="1" kern="100">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rPr>
                          <m:t>𝛼</m:t>
                        </m:r>
                      </m:e>
                      <m:sub>
                        <m:r>
                          <a:rPr lang="en-US" altLang="zh-CN" sz="1600" i="1" kern="100">
                            <a:effectLst/>
                            <a:latin typeface="Cambria Math" panose="02040503050406030204" pitchFamily="18" charset="0"/>
                            <a:ea typeface="宋体" panose="02010600030101010101" pitchFamily="2" charset="-122"/>
                          </a:rPr>
                          <m:t>3</m:t>
                        </m:r>
                      </m:sub>
                    </m:sSub>
                  </m:oMath>
                </a14:m>
                <a:r>
                  <a:rPr lang="zh-CN" altLang="zh-CN" sz="1600" kern="100" dirty="0">
                    <a:effectLst/>
                    <a:latin typeface="Times New Roman" panose="02020603050405020304" pitchFamily="18" charset="0"/>
                    <a:ea typeface="字魂58号-创中黑" panose="00000500000000000000"/>
                  </a:rPr>
                  <a:t>为对应指标的权重因子，需满足三者和为一；</a:t>
                </a:r>
                <a:endParaRPr lang="en-US" altLang="zh-CN" sz="1600" kern="100" dirty="0">
                  <a:effectLst/>
                  <a:latin typeface="Times New Roman" panose="02020603050405020304" pitchFamily="18" charset="0"/>
                  <a:ea typeface="字魂58号-创中黑" panose="00000500000000000000"/>
                </a:endParaRPr>
              </a:p>
              <a:p>
                <a:pPr indent="304800" algn="just">
                  <a:lnSpc>
                    <a:spcPts val="2300"/>
                  </a:lnSpc>
                  <a:tabLst>
                    <a:tab pos="457200" algn="l"/>
                  </a:tabLst>
                </a:pPr>
                <a:r>
                  <a:rPr lang="en-US" altLang="zh-CN" sz="1600" kern="100" dirty="0">
                    <a:effectLst/>
                    <a:latin typeface="Times New Roman" panose="02020603050405020304" pitchFamily="18" charset="0"/>
                    <a:ea typeface="字魂58号-创中黑" panose="00000500000000000000"/>
                  </a:rPr>
                  <a:t>n </a:t>
                </a:r>
                <a:r>
                  <a:rPr lang="zh-CN" altLang="zh-CN" sz="1600" kern="100" dirty="0">
                    <a:effectLst/>
                    <a:latin typeface="Times New Roman" panose="02020603050405020304" pitchFamily="18" charset="0"/>
                    <a:ea typeface="字魂58号-创中黑" panose="00000500000000000000"/>
                  </a:rPr>
                  <a:t>为交叉验证折数，本次研究选择</a:t>
                </a:r>
                <a:r>
                  <a:rPr lang="en-US" altLang="zh-CN" sz="1600" kern="100" dirty="0">
                    <a:effectLst/>
                    <a:latin typeface="Times New Roman" panose="02020603050405020304" pitchFamily="18" charset="0"/>
                    <a:ea typeface="字魂58号-创中黑" panose="00000500000000000000"/>
                  </a:rPr>
                  <a:t>n = 5</a:t>
                </a:r>
                <a:r>
                  <a:rPr lang="zh-CN" altLang="zh-CN" sz="1600" kern="100" dirty="0">
                    <a:effectLst/>
                    <a:latin typeface="Times New Roman" panose="02020603050405020304" pitchFamily="18" charset="0"/>
                    <a:ea typeface="字魂58号-创中黑" panose="00000500000000000000"/>
                  </a:rPr>
                  <a:t>。</a:t>
                </a:r>
                <a:endParaRPr lang="zh-CN" altLang="zh-CN" sz="1200" kern="100" dirty="0">
                  <a:effectLst/>
                  <a:latin typeface="Times New Roman" panose="02020603050405020304" pitchFamily="18" charset="0"/>
                  <a:ea typeface="字魂58号-创中黑" panose="00000500000000000000"/>
                </a:endParaRPr>
              </a:p>
            </p:txBody>
          </p:sp>
        </mc:Choice>
        <mc:Fallback xmlns="">
          <p:sp>
            <p:nvSpPr>
              <p:cNvPr id="11" name="文本框 10">
                <a:extLst>
                  <a:ext uri="{FF2B5EF4-FFF2-40B4-BE49-F238E27FC236}">
                    <a16:creationId xmlns:a16="http://schemas.microsoft.com/office/drawing/2014/main" id="{16BD1E2F-B837-B05A-CB29-5A4DEE14E42E}"/>
                  </a:ext>
                </a:extLst>
              </p:cNvPr>
              <p:cNvSpPr txBox="1">
                <a:spLocks noRot="1" noChangeAspect="1" noMove="1" noResize="1" noEditPoints="1" noAdjustHandles="1" noChangeArrowheads="1" noChangeShapeType="1" noTextEdit="1"/>
              </p:cNvSpPr>
              <p:nvPr/>
            </p:nvSpPr>
            <p:spPr>
              <a:xfrm>
                <a:off x="1246212" y="3429000"/>
                <a:ext cx="9222740" cy="1837041"/>
              </a:xfrm>
              <a:prstGeom prst="rect">
                <a:avLst/>
              </a:prstGeom>
              <a:blipFill>
                <a:blip r:embed="rId5"/>
                <a:stretch>
                  <a:fillRect l="-330" r="-2578" b="-33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89235589"/>
      </p:ext>
    </p:extLst>
  </p:cSld>
  <p:clrMapOvr>
    <a:masterClrMapping/>
  </p:clrMapOvr>
  <mc:AlternateContent xmlns:mc="http://schemas.openxmlformats.org/markup-compatibility/2006" xmlns:p14="http://schemas.microsoft.com/office/powerpoint/2010/main">
    <mc:Choice Requires="p14">
      <p:transition spd="slow" p14:dur="1500" advClick="0" advTm="10961">
        <p:random/>
      </p:transition>
    </mc:Choice>
    <mc:Fallback xmlns="">
      <p:transition spd="slow" advClick="0" advTm="10961">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2EFBD-1E37-B296-3FFD-25668993800C}"/>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733D6BC-48A9-03A2-0047-3AF784AC33C1}"/>
              </a:ext>
            </a:extLst>
          </p:cNvPr>
          <p:cNvGrpSpPr/>
          <p:nvPr/>
        </p:nvGrpSpPr>
        <p:grpSpPr>
          <a:xfrm>
            <a:off x="3934731" y="483357"/>
            <a:ext cx="4283545" cy="1569660"/>
            <a:chOff x="3934731" y="483357"/>
            <a:chExt cx="4283545" cy="1569660"/>
          </a:xfrm>
        </p:grpSpPr>
        <p:sp>
          <p:nvSpPr>
            <p:cNvPr id="3" name="文本框 2">
              <a:extLst>
                <a:ext uri="{FF2B5EF4-FFF2-40B4-BE49-F238E27FC236}">
                  <a16:creationId xmlns:a16="http://schemas.microsoft.com/office/drawing/2014/main" id="{B9ADAA44-0EBC-2812-0062-34FFE9459A4F}"/>
                </a:ext>
              </a:extLst>
            </p:cNvPr>
            <p:cNvSpPr txBox="1"/>
            <p:nvPr/>
          </p:nvSpPr>
          <p:spPr>
            <a:xfrm>
              <a:off x="3934731" y="483357"/>
              <a:ext cx="4200192"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四、</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数据融合与进化学习建模</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1"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E8DADC8E-C482-C5CB-44FB-C82A0B60F54E}"/>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Data Fusion and Evolutionary Learning Modeling</a:t>
              </a:r>
            </a:p>
          </p:txBody>
        </p:sp>
        <p:cxnSp>
          <p:nvCxnSpPr>
            <p:cNvPr id="32" name="直接连接符 31"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AC47B552-095E-881B-200B-D8482C676707}"/>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7" name="矩形 6">
            <a:extLst>
              <a:ext uri="{FF2B5EF4-FFF2-40B4-BE49-F238E27FC236}">
                <a16:creationId xmlns:a16="http://schemas.microsoft.com/office/drawing/2014/main" id="{54A7A845-88F2-8EAE-EEF6-8A4BB6983D9C}"/>
              </a:ext>
            </a:extLst>
          </p:cNvPr>
          <p:cNvSpPr/>
          <p:nvPr/>
        </p:nvSpPr>
        <p:spPr>
          <a:xfrm>
            <a:off x="1194674" y="1400984"/>
            <a:ext cx="2564526" cy="396583"/>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模型训练与评估方法</a:t>
            </a:r>
          </a:p>
        </p:txBody>
      </p:sp>
      <p:sp>
        <p:nvSpPr>
          <p:cNvPr id="10" name="文本框 9">
            <a:extLst>
              <a:ext uri="{FF2B5EF4-FFF2-40B4-BE49-F238E27FC236}">
                <a16:creationId xmlns:a16="http://schemas.microsoft.com/office/drawing/2014/main" id="{DB35A647-2C79-4D6E-B3A9-B4E59B797038}"/>
              </a:ext>
            </a:extLst>
          </p:cNvPr>
          <p:cNvSpPr txBox="1"/>
          <p:nvPr/>
        </p:nvSpPr>
        <p:spPr>
          <a:xfrm>
            <a:off x="1374140" y="1883740"/>
            <a:ext cx="1117871" cy="338554"/>
          </a:xfrm>
          <a:prstGeom prst="rect">
            <a:avLst/>
          </a:prstGeom>
          <a:noFill/>
        </p:spPr>
        <p:txBody>
          <a:bodyPr wrap="square">
            <a:spAutoFit/>
          </a:bodyPr>
          <a:lstStyle/>
          <a:p>
            <a:r>
              <a:rPr lang="zh-CN" altLang="zh-CN" sz="1600" kern="100" dirty="0">
                <a:effectLst/>
                <a:ea typeface="字魂58号-创中黑" panose="00000500000000000000"/>
                <a:cs typeface="黑体" panose="02010609060101010101" pitchFamily="49" charset="-122"/>
              </a:rPr>
              <a:t>参数设置</a:t>
            </a:r>
            <a:endParaRPr lang="zh-CN" altLang="en-US" sz="1600" dirty="0">
              <a:ea typeface="字魂58号-创中黑" panose="00000500000000000000"/>
            </a:endParaRPr>
          </a:p>
        </p:txBody>
      </p:sp>
      <p:graphicFrame>
        <p:nvGraphicFramePr>
          <p:cNvPr id="12" name="表格 11">
            <a:extLst>
              <a:ext uri="{FF2B5EF4-FFF2-40B4-BE49-F238E27FC236}">
                <a16:creationId xmlns:a16="http://schemas.microsoft.com/office/drawing/2014/main" id="{67231100-0A5D-3865-8B21-541866C37049}"/>
              </a:ext>
            </a:extLst>
          </p:cNvPr>
          <p:cNvGraphicFramePr>
            <a:graphicFrameLocks noGrp="1"/>
          </p:cNvGraphicFramePr>
          <p:nvPr>
            <p:extLst>
              <p:ext uri="{D42A27DB-BD31-4B8C-83A1-F6EECF244321}">
                <p14:modId xmlns:p14="http://schemas.microsoft.com/office/powerpoint/2010/main" val="635821752"/>
              </p:ext>
            </p:extLst>
          </p:nvPr>
        </p:nvGraphicFramePr>
        <p:xfrm>
          <a:off x="956101" y="2382317"/>
          <a:ext cx="10449560" cy="3302109"/>
        </p:xfrm>
        <a:graphic>
          <a:graphicData uri="http://schemas.openxmlformats.org/drawingml/2006/table">
            <a:tbl>
              <a:tblPr firstRow="1" firstCol="1" bandRow="1">
                <a:tableStyleId>{5C22544A-7EE6-4342-B048-85BDC9FD1C3A}</a:tableStyleId>
              </a:tblPr>
              <a:tblGrid>
                <a:gridCol w="2758378">
                  <a:extLst>
                    <a:ext uri="{9D8B030D-6E8A-4147-A177-3AD203B41FA5}">
                      <a16:colId xmlns:a16="http://schemas.microsoft.com/office/drawing/2014/main" val="2799330698"/>
                    </a:ext>
                  </a:extLst>
                </a:gridCol>
                <a:gridCol w="5308656">
                  <a:extLst>
                    <a:ext uri="{9D8B030D-6E8A-4147-A177-3AD203B41FA5}">
                      <a16:colId xmlns:a16="http://schemas.microsoft.com/office/drawing/2014/main" val="3366695833"/>
                    </a:ext>
                  </a:extLst>
                </a:gridCol>
                <a:gridCol w="2382526">
                  <a:extLst>
                    <a:ext uri="{9D8B030D-6E8A-4147-A177-3AD203B41FA5}">
                      <a16:colId xmlns:a16="http://schemas.microsoft.com/office/drawing/2014/main" val="1010270651"/>
                    </a:ext>
                  </a:extLst>
                </a:gridCol>
              </a:tblGrid>
              <a:tr h="366901">
                <a:tc>
                  <a:txBody>
                    <a:bodyPr/>
                    <a:lstStyle/>
                    <a:p>
                      <a:pPr algn="ctr">
                        <a:buNone/>
                      </a:pPr>
                      <a:r>
                        <a:rPr lang="zh-CN" sz="1000" kern="100">
                          <a:effectLst/>
                        </a:rPr>
                        <a:t>参数名称</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a:effectLst/>
                        </a:rPr>
                        <a:t>说明</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a:effectLst/>
                        </a:rPr>
                        <a:t>最优取值示例</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900987551"/>
                  </a:ext>
                </a:extLst>
              </a:tr>
              <a:tr h="366901">
                <a:tc>
                  <a:txBody>
                    <a:bodyPr/>
                    <a:lstStyle/>
                    <a:p>
                      <a:pPr algn="ctr">
                        <a:buNone/>
                      </a:pPr>
                      <a:r>
                        <a:rPr lang="en-US" sz="1000" kern="100">
                          <a:effectLst/>
                        </a:rPr>
                        <a:t>learning_rate</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dirty="0">
                          <a:effectLst/>
                        </a:rPr>
                        <a:t>学习率，控制每棵树的权重更新速率</a:t>
                      </a:r>
                      <a:endParaRPr 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0.07 ~ 0.15</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821529320"/>
                  </a:ext>
                </a:extLst>
              </a:tr>
              <a:tr h="366901">
                <a:tc>
                  <a:txBody>
                    <a:bodyPr/>
                    <a:lstStyle/>
                    <a:p>
                      <a:pPr algn="ctr">
                        <a:buNone/>
                      </a:pPr>
                      <a:r>
                        <a:rPr lang="en-US" sz="1000" kern="100">
                          <a:effectLst/>
                        </a:rPr>
                        <a:t>n_estimators</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a:effectLst/>
                        </a:rPr>
                        <a:t>弱学习器（树）的数量</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200 ~ 500</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393298624"/>
                  </a:ext>
                </a:extLst>
              </a:tr>
              <a:tr h="366901">
                <a:tc>
                  <a:txBody>
                    <a:bodyPr/>
                    <a:lstStyle/>
                    <a:p>
                      <a:pPr algn="ctr">
                        <a:buNone/>
                      </a:pPr>
                      <a:r>
                        <a:rPr lang="en-US" sz="1000" kern="100">
                          <a:effectLst/>
                        </a:rPr>
                        <a:t>max_depth</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a:effectLst/>
                        </a:rPr>
                        <a:t>树的最大深度</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4 ~ 8</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507167884"/>
                  </a:ext>
                </a:extLst>
              </a:tr>
              <a:tr h="366901">
                <a:tc>
                  <a:txBody>
                    <a:bodyPr/>
                    <a:lstStyle/>
                    <a:p>
                      <a:pPr algn="ctr">
                        <a:buNone/>
                      </a:pPr>
                      <a:r>
                        <a:rPr lang="en-US" sz="1000" kern="100">
                          <a:effectLst/>
                        </a:rPr>
                        <a:t>min_child_weight</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a:effectLst/>
                        </a:rPr>
                        <a:t>子节点最小样本权重和</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1 ~ 5</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2872741"/>
                  </a:ext>
                </a:extLst>
              </a:tr>
              <a:tr h="366901">
                <a:tc>
                  <a:txBody>
                    <a:bodyPr/>
                    <a:lstStyle/>
                    <a:p>
                      <a:pPr algn="ctr">
                        <a:buNone/>
                      </a:pPr>
                      <a:r>
                        <a:rPr lang="en-US" sz="1000" kern="100">
                          <a:effectLst/>
                        </a:rPr>
                        <a:t>subsample</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a:effectLst/>
                        </a:rPr>
                        <a:t>每棵树使用的样本比例</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0.6 ~ 0.9</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688891160"/>
                  </a:ext>
                </a:extLst>
              </a:tr>
              <a:tr h="366901">
                <a:tc>
                  <a:txBody>
                    <a:bodyPr/>
                    <a:lstStyle/>
                    <a:p>
                      <a:pPr algn="ctr">
                        <a:buNone/>
                      </a:pPr>
                      <a:r>
                        <a:rPr lang="en-US" sz="1000" kern="100">
                          <a:effectLst/>
                        </a:rPr>
                        <a:t>colsample_bytree</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a:effectLst/>
                        </a:rPr>
                        <a:t>每棵树使用的特征比例</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0.6 ~ 1.0</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675741271"/>
                  </a:ext>
                </a:extLst>
              </a:tr>
              <a:tr h="366901">
                <a:tc>
                  <a:txBody>
                    <a:bodyPr/>
                    <a:lstStyle/>
                    <a:p>
                      <a:pPr algn="ctr">
                        <a:buNone/>
                      </a:pPr>
                      <a:r>
                        <a:rPr lang="en-US" sz="1000" kern="100">
                          <a:effectLst/>
                        </a:rPr>
                        <a:t>reg_alpha</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L1 </a:t>
                      </a:r>
                      <a:r>
                        <a:rPr lang="zh-CN" sz="1000" kern="100">
                          <a:effectLst/>
                        </a:rPr>
                        <a:t>正则化项系数</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0 ~ 1</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399102095"/>
                  </a:ext>
                </a:extLst>
              </a:tr>
              <a:tr h="366901">
                <a:tc>
                  <a:txBody>
                    <a:bodyPr/>
                    <a:lstStyle/>
                    <a:p>
                      <a:pPr algn="ctr">
                        <a:buNone/>
                      </a:pPr>
                      <a:r>
                        <a:rPr lang="en-US" sz="1000" kern="100">
                          <a:effectLst/>
                        </a:rPr>
                        <a:t>reg_lambda</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dirty="0" err="1">
                          <a:effectLst/>
                        </a:rPr>
                        <a:t>L2</a:t>
                      </a:r>
                      <a:r>
                        <a:rPr lang="en-US" sz="1000" kern="100" dirty="0">
                          <a:effectLst/>
                        </a:rPr>
                        <a:t> </a:t>
                      </a:r>
                      <a:r>
                        <a:rPr lang="zh-CN" sz="1000" kern="100" dirty="0">
                          <a:effectLst/>
                        </a:rPr>
                        <a:t>正则化项系数</a:t>
                      </a:r>
                      <a:endParaRPr 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dirty="0">
                          <a:effectLst/>
                        </a:rPr>
                        <a:t>0 ~ 5</a:t>
                      </a:r>
                      <a:endParaRPr 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294656920"/>
                  </a:ext>
                </a:extLst>
              </a:tr>
            </a:tbl>
          </a:graphicData>
        </a:graphic>
      </p:graphicFrame>
      <p:sp>
        <p:nvSpPr>
          <p:cNvPr id="13" name="Rectangle 1">
            <a:extLst>
              <a:ext uri="{FF2B5EF4-FFF2-40B4-BE49-F238E27FC236}">
                <a16:creationId xmlns:a16="http://schemas.microsoft.com/office/drawing/2014/main" id="{E094EBC0-BC82-3889-F544-A74384AB3CDE}"/>
              </a:ext>
            </a:extLst>
          </p:cNvPr>
          <p:cNvSpPr>
            <a:spLocks noChangeArrowheads="1"/>
          </p:cNvSpPr>
          <p:nvPr/>
        </p:nvSpPr>
        <p:spPr bwMode="auto">
          <a:xfrm>
            <a:off x="5136396" y="2063491"/>
            <a:ext cx="233120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XGBoost</a:t>
            </a:r>
            <a:r>
              <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核心参数设置</a:t>
            </a:r>
            <a:endParaRPr kumimoji="0" lang="zh-CN" altLang="en-US" sz="1050" b="0" i="0" u="none" strike="noStrike" cap="none" normalizeH="0" baseline="0" dirty="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4217814"/>
      </p:ext>
    </p:extLst>
  </p:cSld>
  <p:clrMapOvr>
    <a:masterClrMapping/>
  </p:clrMapOvr>
  <mc:AlternateContent xmlns:mc="http://schemas.openxmlformats.org/markup-compatibility/2006" xmlns:p14="http://schemas.microsoft.com/office/powerpoint/2010/main">
    <mc:Choice Requires="p14">
      <p:transition spd="slow" p14:dur="1500" advClick="0" advTm="5826">
        <p:random/>
      </p:transition>
    </mc:Choice>
    <mc:Fallback xmlns="">
      <p:transition spd="slow" advClick="0" advTm="5826">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F9D78-A434-0D5A-C446-A260A6686BBA}"/>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083ECAF-6727-B8CE-4540-A625C2033679}"/>
              </a:ext>
            </a:extLst>
          </p:cNvPr>
          <p:cNvGrpSpPr/>
          <p:nvPr/>
        </p:nvGrpSpPr>
        <p:grpSpPr>
          <a:xfrm>
            <a:off x="3934731" y="483357"/>
            <a:ext cx="4283545" cy="1569660"/>
            <a:chOff x="3934731" y="483357"/>
            <a:chExt cx="4283545" cy="1569660"/>
          </a:xfrm>
        </p:grpSpPr>
        <p:sp>
          <p:nvSpPr>
            <p:cNvPr id="3" name="文本框 2">
              <a:extLst>
                <a:ext uri="{FF2B5EF4-FFF2-40B4-BE49-F238E27FC236}">
                  <a16:creationId xmlns:a16="http://schemas.microsoft.com/office/drawing/2014/main" id="{0D29242C-5E7E-685E-0FCB-6A3A17724D96}"/>
                </a:ext>
              </a:extLst>
            </p:cNvPr>
            <p:cNvSpPr txBox="1"/>
            <p:nvPr/>
          </p:nvSpPr>
          <p:spPr>
            <a:xfrm>
              <a:off x="3934731" y="483357"/>
              <a:ext cx="4200192"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四、</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数据融合与进化学习建模</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1"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801E343C-9450-021B-60FF-CF880D2FF169}"/>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Data Fusion and Evolutionary Learning Modeling</a:t>
              </a:r>
            </a:p>
          </p:txBody>
        </p:sp>
        <p:cxnSp>
          <p:nvCxnSpPr>
            <p:cNvPr id="32" name="直接连接符 31"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16FE02C6-CD30-961A-DA26-788F2AF51D90}"/>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5" name="矩形 4">
            <a:extLst>
              <a:ext uri="{FF2B5EF4-FFF2-40B4-BE49-F238E27FC236}">
                <a16:creationId xmlns:a16="http://schemas.microsoft.com/office/drawing/2014/main" id="{DA0DAD35-0DE0-2D99-A842-C133224E01E8}"/>
              </a:ext>
            </a:extLst>
          </p:cNvPr>
          <p:cNvSpPr/>
          <p:nvPr/>
        </p:nvSpPr>
        <p:spPr>
          <a:xfrm>
            <a:off x="1194674" y="1400984"/>
            <a:ext cx="2564526" cy="396583"/>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模型训练与评估方法</a:t>
            </a:r>
          </a:p>
        </p:txBody>
      </p:sp>
      <p:sp>
        <p:nvSpPr>
          <p:cNvPr id="6" name="文本框 5">
            <a:extLst>
              <a:ext uri="{FF2B5EF4-FFF2-40B4-BE49-F238E27FC236}">
                <a16:creationId xmlns:a16="http://schemas.microsoft.com/office/drawing/2014/main" id="{D98D66CC-49C1-0F54-82F1-5AEB9498BF39}"/>
              </a:ext>
            </a:extLst>
          </p:cNvPr>
          <p:cNvSpPr txBox="1"/>
          <p:nvPr/>
        </p:nvSpPr>
        <p:spPr>
          <a:xfrm>
            <a:off x="1374140" y="1883740"/>
            <a:ext cx="1117871" cy="338554"/>
          </a:xfrm>
          <a:prstGeom prst="rect">
            <a:avLst/>
          </a:prstGeom>
          <a:noFill/>
        </p:spPr>
        <p:txBody>
          <a:bodyPr wrap="square">
            <a:spAutoFit/>
          </a:bodyPr>
          <a:lstStyle/>
          <a:p>
            <a:r>
              <a:rPr lang="zh-CN" altLang="zh-CN" sz="1600" kern="100" dirty="0">
                <a:effectLst/>
                <a:ea typeface="字魂58号-创中黑" panose="00000500000000000000"/>
                <a:cs typeface="黑体" panose="02010609060101010101" pitchFamily="49" charset="-122"/>
              </a:rPr>
              <a:t>参数设置</a:t>
            </a:r>
            <a:endParaRPr lang="zh-CN" altLang="en-US" sz="1600" dirty="0">
              <a:ea typeface="字魂58号-创中黑" panose="00000500000000000000"/>
            </a:endParaRPr>
          </a:p>
        </p:txBody>
      </p:sp>
      <p:sp>
        <p:nvSpPr>
          <p:cNvPr id="7" name="Rectangle 1">
            <a:extLst>
              <a:ext uri="{FF2B5EF4-FFF2-40B4-BE49-F238E27FC236}">
                <a16:creationId xmlns:a16="http://schemas.microsoft.com/office/drawing/2014/main" id="{CA0F0888-FA41-025A-9777-CC51E103B896}"/>
              </a:ext>
            </a:extLst>
          </p:cNvPr>
          <p:cNvSpPr>
            <a:spLocks noChangeArrowheads="1"/>
          </p:cNvSpPr>
          <p:nvPr/>
        </p:nvSpPr>
        <p:spPr bwMode="auto">
          <a:xfrm>
            <a:off x="5136396" y="2127504"/>
            <a:ext cx="23312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CatBoost</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核心参数设置</a:t>
            </a:r>
            <a:endParaRPr kumimoji="0" lang="zh-CN" altLang="en-US" sz="1050" b="0" i="0" u="none" strike="noStrike" cap="none" normalizeH="0" baseline="0" dirty="0">
              <a:ln>
                <a:noFill/>
              </a:ln>
              <a:solidFill>
                <a:schemeClr val="tx1"/>
              </a:solidFill>
              <a:effectLst/>
            </a:endParaRPr>
          </a:p>
        </p:txBody>
      </p:sp>
      <p:graphicFrame>
        <p:nvGraphicFramePr>
          <p:cNvPr id="10" name="表格 9">
            <a:extLst>
              <a:ext uri="{FF2B5EF4-FFF2-40B4-BE49-F238E27FC236}">
                <a16:creationId xmlns:a16="http://schemas.microsoft.com/office/drawing/2014/main" id="{A091BD74-1B7A-BC56-F708-8CF67EB40C57}"/>
              </a:ext>
            </a:extLst>
          </p:cNvPr>
          <p:cNvGraphicFramePr>
            <a:graphicFrameLocks noGrp="1"/>
          </p:cNvGraphicFramePr>
          <p:nvPr>
            <p:extLst>
              <p:ext uri="{D42A27DB-BD31-4B8C-83A1-F6EECF244321}">
                <p14:modId xmlns:p14="http://schemas.microsoft.com/office/powerpoint/2010/main" val="4170961968"/>
              </p:ext>
            </p:extLst>
          </p:nvPr>
        </p:nvGraphicFramePr>
        <p:xfrm>
          <a:off x="952821" y="2478990"/>
          <a:ext cx="10456119" cy="3291894"/>
        </p:xfrm>
        <a:graphic>
          <a:graphicData uri="http://schemas.openxmlformats.org/drawingml/2006/table">
            <a:tbl>
              <a:tblPr firstRow="1" firstCol="1" bandRow="1">
                <a:tableStyleId>{5C22544A-7EE6-4342-B048-85BDC9FD1C3A}</a:tableStyleId>
              </a:tblPr>
              <a:tblGrid>
                <a:gridCol w="3323181">
                  <a:extLst>
                    <a:ext uri="{9D8B030D-6E8A-4147-A177-3AD203B41FA5}">
                      <a16:colId xmlns:a16="http://schemas.microsoft.com/office/drawing/2014/main" val="4185802839"/>
                    </a:ext>
                  </a:extLst>
                </a:gridCol>
                <a:gridCol w="3860753">
                  <a:extLst>
                    <a:ext uri="{9D8B030D-6E8A-4147-A177-3AD203B41FA5}">
                      <a16:colId xmlns:a16="http://schemas.microsoft.com/office/drawing/2014/main" val="155160864"/>
                    </a:ext>
                  </a:extLst>
                </a:gridCol>
                <a:gridCol w="3272185">
                  <a:extLst>
                    <a:ext uri="{9D8B030D-6E8A-4147-A177-3AD203B41FA5}">
                      <a16:colId xmlns:a16="http://schemas.microsoft.com/office/drawing/2014/main" val="1479235983"/>
                    </a:ext>
                  </a:extLst>
                </a:gridCol>
              </a:tblGrid>
              <a:tr h="365766">
                <a:tc>
                  <a:txBody>
                    <a:bodyPr/>
                    <a:lstStyle/>
                    <a:p>
                      <a:pPr algn="ctr">
                        <a:buNone/>
                      </a:pPr>
                      <a:r>
                        <a:rPr lang="zh-CN" sz="1000" kern="100">
                          <a:effectLst/>
                        </a:rPr>
                        <a:t>参数名称</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dirty="0">
                          <a:effectLst/>
                        </a:rPr>
                        <a:t>说明</a:t>
                      </a:r>
                      <a:endParaRPr 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a:effectLst/>
                        </a:rPr>
                        <a:t>最优取值示例</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280863778"/>
                  </a:ext>
                </a:extLst>
              </a:tr>
              <a:tr h="365766">
                <a:tc>
                  <a:txBody>
                    <a:bodyPr/>
                    <a:lstStyle/>
                    <a:p>
                      <a:pPr algn="ctr">
                        <a:buNone/>
                      </a:pPr>
                      <a:r>
                        <a:rPr lang="en-US" sz="1000" kern="100">
                          <a:effectLst/>
                        </a:rPr>
                        <a:t>iterations</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a:effectLst/>
                        </a:rPr>
                        <a:t>最大迭代次数</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1000</a:t>
                      </a:r>
                      <a:r>
                        <a:rPr lang="zh-CN" sz="1000" kern="100">
                          <a:effectLst/>
                        </a:rPr>
                        <a:t>（含早停机制）</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055072871"/>
                  </a:ext>
                </a:extLst>
              </a:tr>
              <a:tr h="365766">
                <a:tc>
                  <a:txBody>
                    <a:bodyPr/>
                    <a:lstStyle/>
                    <a:p>
                      <a:pPr algn="ctr">
                        <a:buNone/>
                      </a:pPr>
                      <a:r>
                        <a:rPr lang="en-US" sz="1000" kern="100">
                          <a:effectLst/>
                        </a:rPr>
                        <a:t>learning_rate</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a:effectLst/>
                        </a:rPr>
                        <a:t>学习率</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0.01 ~ 0.2</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190841194"/>
                  </a:ext>
                </a:extLst>
              </a:tr>
              <a:tr h="365766">
                <a:tc>
                  <a:txBody>
                    <a:bodyPr/>
                    <a:lstStyle/>
                    <a:p>
                      <a:pPr algn="ctr">
                        <a:buNone/>
                      </a:pPr>
                      <a:r>
                        <a:rPr lang="en-US" sz="1000" kern="100">
                          <a:effectLst/>
                        </a:rPr>
                        <a:t>depth</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a:effectLst/>
                        </a:rPr>
                        <a:t>树深度</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4 ~ 10</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549574172"/>
                  </a:ext>
                </a:extLst>
              </a:tr>
              <a:tr h="365766">
                <a:tc>
                  <a:txBody>
                    <a:bodyPr/>
                    <a:lstStyle/>
                    <a:p>
                      <a:pPr algn="ctr">
                        <a:buNone/>
                      </a:pPr>
                      <a:r>
                        <a:rPr lang="en-US" sz="1000" kern="100">
                          <a:effectLst/>
                        </a:rPr>
                        <a:t>l2_leaf_reg</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L2 </a:t>
                      </a:r>
                      <a:r>
                        <a:rPr lang="zh-CN" sz="1000" kern="100">
                          <a:effectLst/>
                        </a:rPr>
                        <a:t>正则化系数</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0.5 ~ 5</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068688410"/>
                  </a:ext>
                </a:extLst>
              </a:tr>
              <a:tr h="365766">
                <a:tc>
                  <a:txBody>
                    <a:bodyPr/>
                    <a:lstStyle/>
                    <a:p>
                      <a:pPr algn="ctr">
                        <a:buNone/>
                      </a:pPr>
                      <a:r>
                        <a:rPr lang="en-US" sz="1000" kern="100">
                          <a:effectLst/>
                        </a:rPr>
                        <a:t>border_count</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a:effectLst/>
                        </a:rPr>
                        <a:t>类别特征离散化边界数量</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32 ~ 255</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619728734"/>
                  </a:ext>
                </a:extLst>
              </a:tr>
              <a:tr h="365766">
                <a:tc>
                  <a:txBody>
                    <a:bodyPr/>
                    <a:lstStyle/>
                    <a:p>
                      <a:pPr algn="ctr">
                        <a:buNone/>
                      </a:pPr>
                      <a:r>
                        <a:rPr lang="en-US" sz="1000" kern="100">
                          <a:effectLst/>
                        </a:rPr>
                        <a:t>subsample</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a:effectLst/>
                        </a:rPr>
                        <a:t>子样本比例</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0.5 ~ 1.0</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803509061"/>
                  </a:ext>
                </a:extLst>
              </a:tr>
              <a:tr h="365766">
                <a:tc>
                  <a:txBody>
                    <a:bodyPr/>
                    <a:lstStyle/>
                    <a:p>
                      <a:pPr algn="ctr">
                        <a:buNone/>
                      </a:pPr>
                      <a:r>
                        <a:rPr lang="en-US" sz="1000" kern="100">
                          <a:effectLst/>
                        </a:rPr>
                        <a:t>random_strength</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a:effectLst/>
                        </a:rPr>
                        <a:t>控制模型随机性的强度</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0.5 ~ 5</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821872981"/>
                  </a:ext>
                </a:extLst>
              </a:tr>
              <a:tr h="365766">
                <a:tc>
                  <a:txBody>
                    <a:bodyPr/>
                    <a:lstStyle/>
                    <a:p>
                      <a:pPr algn="ctr">
                        <a:buNone/>
                      </a:pPr>
                      <a:r>
                        <a:rPr lang="en-US" sz="1000" kern="100">
                          <a:effectLst/>
                        </a:rPr>
                        <a:t>early_stopping_rounds</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00" kern="100" dirty="0">
                          <a:effectLst/>
                        </a:rPr>
                        <a:t>提前停止的轮数</a:t>
                      </a:r>
                      <a:endParaRPr 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dirty="0">
                          <a:effectLst/>
                        </a:rPr>
                        <a:t>50</a:t>
                      </a:r>
                      <a:r>
                        <a:rPr lang="zh-CN" sz="1000" kern="100" dirty="0">
                          <a:effectLst/>
                        </a:rPr>
                        <a:t>（固定）</a:t>
                      </a:r>
                      <a:endParaRPr 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699007914"/>
                  </a:ext>
                </a:extLst>
              </a:tr>
            </a:tbl>
          </a:graphicData>
        </a:graphic>
      </p:graphicFrame>
    </p:spTree>
    <p:extLst>
      <p:ext uri="{BB962C8B-B14F-4D97-AF65-F5344CB8AC3E}">
        <p14:creationId xmlns:p14="http://schemas.microsoft.com/office/powerpoint/2010/main" val="1490203137"/>
      </p:ext>
    </p:extLst>
  </p:cSld>
  <p:clrMapOvr>
    <a:masterClrMapping/>
  </p:clrMapOvr>
  <mc:AlternateContent xmlns:mc="http://schemas.openxmlformats.org/markup-compatibility/2006" xmlns:p14="http://schemas.microsoft.com/office/powerpoint/2010/main">
    <mc:Choice Requires="p14">
      <p:transition spd="slow" p14:dur="1500" advClick="0" advTm="370">
        <p:random/>
      </p:transition>
    </mc:Choice>
    <mc:Fallback xmlns="">
      <p:transition spd="slow" advClick="0" advTm="370">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B9D47-7E49-B346-425D-DB3AB116DDE5}"/>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69AF437-371D-3F61-350E-4C9D0607B519}"/>
              </a:ext>
            </a:extLst>
          </p:cNvPr>
          <p:cNvGrpSpPr/>
          <p:nvPr/>
        </p:nvGrpSpPr>
        <p:grpSpPr>
          <a:xfrm>
            <a:off x="3934731" y="483357"/>
            <a:ext cx="4283545" cy="1569660"/>
            <a:chOff x="3934731" y="483357"/>
            <a:chExt cx="4283545" cy="1569660"/>
          </a:xfrm>
        </p:grpSpPr>
        <p:sp>
          <p:nvSpPr>
            <p:cNvPr id="3" name="文本框 2">
              <a:extLst>
                <a:ext uri="{FF2B5EF4-FFF2-40B4-BE49-F238E27FC236}">
                  <a16:creationId xmlns:a16="http://schemas.microsoft.com/office/drawing/2014/main" id="{A5D270D9-F75E-0B24-A963-4967ADA2C772}"/>
                </a:ext>
              </a:extLst>
            </p:cNvPr>
            <p:cNvSpPr txBox="1"/>
            <p:nvPr/>
          </p:nvSpPr>
          <p:spPr>
            <a:xfrm>
              <a:off x="3934731" y="483357"/>
              <a:ext cx="4200192"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四、</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数据融合与进化学习建模</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1"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7AB8F869-486D-175B-580E-E92B5179ABD7}"/>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Data Fusion and Evolutionary Learning Modeling</a:t>
              </a:r>
            </a:p>
          </p:txBody>
        </p:sp>
        <p:cxnSp>
          <p:nvCxnSpPr>
            <p:cNvPr id="32" name="直接连接符 31"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FB4CB255-2DB0-2F54-AA91-7555A89B3E17}"/>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4" name="矩形 3">
            <a:extLst>
              <a:ext uri="{FF2B5EF4-FFF2-40B4-BE49-F238E27FC236}">
                <a16:creationId xmlns:a16="http://schemas.microsoft.com/office/drawing/2014/main" id="{1E60C7C9-E8A8-C9A2-1194-4CE538B405D7}"/>
              </a:ext>
            </a:extLst>
          </p:cNvPr>
          <p:cNvSpPr/>
          <p:nvPr/>
        </p:nvSpPr>
        <p:spPr>
          <a:xfrm>
            <a:off x="1194674" y="1400984"/>
            <a:ext cx="2564526" cy="396583"/>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模型训练与评估方法</a:t>
            </a:r>
          </a:p>
        </p:txBody>
      </p:sp>
      <p:sp>
        <p:nvSpPr>
          <p:cNvPr id="5" name="文本框 4">
            <a:extLst>
              <a:ext uri="{FF2B5EF4-FFF2-40B4-BE49-F238E27FC236}">
                <a16:creationId xmlns:a16="http://schemas.microsoft.com/office/drawing/2014/main" id="{A61CDD34-940F-EC42-4970-7BE54016DDE8}"/>
              </a:ext>
            </a:extLst>
          </p:cNvPr>
          <p:cNvSpPr txBox="1"/>
          <p:nvPr/>
        </p:nvSpPr>
        <p:spPr>
          <a:xfrm>
            <a:off x="1374140" y="1883740"/>
            <a:ext cx="1117871" cy="338554"/>
          </a:xfrm>
          <a:prstGeom prst="rect">
            <a:avLst/>
          </a:prstGeom>
          <a:noFill/>
        </p:spPr>
        <p:txBody>
          <a:bodyPr wrap="square">
            <a:spAutoFit/>
          </a:bodyPr>
          <a:lstStyle/>
          <a:p>
            <a:r>
              <a:rPr lang="zh-CN" altLang="zh-CN" sz="1600" kern="100" dirty="0">
                <a:effectLst/>
                <a:ea typeface="字魂58号-创中黑" panose="00000500000000000000"/>
                <a:cs typeface="黑体" panose="02010609060101010101" pitchFamily="49" charset="-122"/>
              </a:rPr>
              <a:t>参数设置</a:t>
            </a:r>
            <a:endParaRPr lang="zh-CN" altLang="en-US" sz="1600" dirty="0">
              <a:ea typeface="字魂58号-创中黑" panose="00000500000000000000"/>
            </a:endParaRPr>
          </a:p>
        </p:txBody>
      </p:sp>
      <p:sp>
        <p:nvSpPr>
          <p:cNvPr id="6" name="Rectangle 1">
            <a:extLst>
              <a:ext uri="{FF2B5EF4-FFF2-40B4-BE49-F238E27FC236}">
                <a16:creationId xmlns:a16="http://schemas.microsoft.com/office/drawing/2014/main" id="{953DEE6B-72D7-C5FE-047E-CD2D1F30E52C}"/>
              </a:ext>
            </a:extLst>
          </p:cNvPr>
          <p:cNvSpPr>
            <a:spLocks noChangeArrowheads="1"/>
          </p:cNvSpPr>
          <p:nvPr/>
        </p:nvSpPr>
        <p:spPr bwMode="auto">
          <a:xfrm>
            <a:off x="5136396" y="2063491"/>
            <a:ext cx="233120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TabNet</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核心参数设置</a:t>
            </a:r>
            <a:endParaRPr kumimoji="0" lang="zh-CN" altLang="en-US" sz="1050" b="0" i="0" u="none" strike="noStrike" cap="none" normalizeH="0" baseline="0" dirty="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9" name="表格 8">
            <a:extLst>
              <a:ext uri="{FF2B5EF4-FFF2-40B4-BE49-F238E27FC236}">
                <a16:creationId xmlns:a16="http://schemas.microsoft.com/office/drawing/2014/main" id="{A4580BFE-BD21-B219-CE80-970503D8153A}"/>
              </a:ext>
            </a:extLst>
          </p:cNvPr>
          <p:cNvGraphicFramePr>
            <a:graphicFrameLocks noGrp="1"/>
          </p:cNvGraphicFramePr>
          <p:nvPr>
            <p:extLst>
              <p:ext uri="{D42A27DB-BD31-4B8C-83A1-F6EECF244321}">
                <p14:modId xmlns:p14="http://schemas.microsoft.com/office/powerpoint/2010/main" val="2443035105"/>
              </p:ext>
            </p:extLst>
          </p:nvPr>
        </p:nvGraphicFramePr>
        <p:xfrm>
          <a:off x="844341" y="2442489"/>
          <a:ext cx="10673080" cy="3229728"/>
        </p:xfrm>
        <a:graphic>
          <a:graphicData uri="http://schemas.openxmlformats.org/drawingml/2006/table">
            <a:tbl>
              <a:tblPr firstRow="1" firstCol="1" bandRow="1">
                <a:tableStyleId>{5C22544A-7EE6-4342-B048-85BDC9FD1C3A}</a:tableStyleId>
              </a:tblPr>
              <a:tblGrid>
                <a:gridCol w="3711712">
                  <a:extLst>
                    <a:ext uri="{9D8B030D-6E8A-4147-A177-3AD203B41FA5}">
                      <a16:colId xmlns:a16="http://schemas.microsoft.com/office/drawing/2014/main" val="3029970164"/>
                    </a:ext>
                  </a:extLst>
                </a:gridCol>
                <a:gridCol w="4526851">
                  <a:extLst>
                    <a:ext uri="{9D8B030D-6E8A-4147-A177-3AD203B41FA5}">
                      <a16:colId xmlns:a16="http://schemas.microsoft.com/office/drawing/2014/main" val="4029568419"/>
                    </a:ext>
                  </a:extLst>
                </a:gridCol>
                <a:gridCol w="2434517">
                  <a:extLst>
                    <a:ext uri="{9D8B030D-6E8A-4147-A177-3AD203B41FA5}">
                      <a16:colId xmlns:a16="http://schemas.microsoft.com/office/drawing/2014/main" val="2286803404"/>
                    </a:ext>
                  </a:extLst>
                </a:gridCol>
              </a:tblGrid>
              <a:tr h="403716">
                <a:tc>
                  <a:txBody>
                    <a:bodyPr/>
                    <a:lstStyle/>
                    <a:p>
                      <a:pPr algn="ctr">
                        <a:buNone/>
                      </a:pPr>
                      <a:r>
                        <a:rPr lang="zh-CN" sz="1050" kern="100">
                          <a:effectLst/>
                        </a:rPr>
                        <a:t>参数名称</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50" kern="100" dirty="0">
                          <a:effectLst/>
                        </a:rPr>
                        <a:t>说明</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50" kern="100">
                          <a:effectLst/>
                        </a:rPr>
                        <a:t>设置值</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471719190"/>
                  </a:ext>
                </a:extLst>
              </a:tr>
              <a:tr h="403716">
                <a:tc>
                  <a:txBody>
                    <a:bodyPr/>
                    <a:lstStyle/>
                    <a:p>
                      <a:pPr algn="ctr">
                        <a:buNone/>
                      </a:pPr>
                      <a:r>
                        <a:rPr lang="en-US" sz="1050" kern="100">
                          <a:effectLst/>
                        </a:rPr>
                        <a:t>n_d, n_a</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50" kern="100">
                          <a:effectLst/>
                        </a:rPr>
                        <a:t>决策</a:t>
                      </a:r>
                      <a:r>
                        <a:rPr lang="en-US" sz="1050" kern="100">
                          <a:effectLst/>
                        </a:rPr>
                        <a:t>/</a:t>
                      </a:r>
                      <a:r>
                        <a:rPr lang="zh-CN" sz="1050" kern="100">
                          <a:effectLst/>
                        </a:rPr>
                        <a:t>注意力单元维度</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8</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043748194"/>
                  </a:ext>
                </a:extLst>
              </a:tr>
              <a:tr h="403716">
                <a:tc>
                  <a:txBody>
                    <a:bodyPr/>
                    <a:lstStyle/>
                    <a:p>
                      <a:pPr algn="ctr">
                        <a:buNone/>
                      </a:pPr>
                      <a:r>
                        <a:rPr lang="en-US" sz="1050" kern="100">
                          <a:effectLst/>
                        </a:rPr>
                        <a:t>n_steps</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50" kern="100">
                          <a:effectLst/>
                        </a:rPr>
                        <a:t>决策步骤数</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3</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46055645"/>
                  </a:ext>
                </a:extLst>
              </a:tr>
              <a:tr h="403716">
                <a:tc>
                  <a:txBody>
                    <a:bodyPr/>
                    <a:lstStyle/>
                    <a:p>
                      <a:pPr algn="ctr">
                        <a:buNone/>
                      </a:pPr>
                      <a:r>
                        <a:rPr lang="en-US" sz="1050" kern="100">
                          <a:effectLst/>
                        </a:rPr>
                        <a:t>max_epochs</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50" kern="100">
                          <a:effectLst/>
                        </a:rPr>
                        <a:t>最大训练轮数</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200</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360025239"/>
                  </a:ext>
                </a:extLst>
              </a:tr>
              <a:tr h="403716">
                <a:tc>
                  <a:txBody>
                    <a:bodyPr/>
                    <a:lstStyle/>
                    <a:p>
                      <a:pPr algn="ctr">
                        <a:buNone/>
                      </a:pPr>
                      <a:r>
                        <a:rPr lang="en-US" sz="1050" kern="100">
                          <a:effectLst/>
                        </a:rPr>
                        <a:t>patience</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50" kern="100">
                          <a:effectLst/>
                        </a:rPr>
                        <a:t>早停容忍轮数</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10</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727331137"/>
                  </a:ext>
                </a:extLst>
              </a:tr>
              <a:tr h="403716">
                <a:tc>
                  <a:txBody>
                    <a:bodyPr/>
                    <a:lstStyle/>
                    <a:p>
                      <a:pPr algn="ctr">
                        <a:buNone/>
                      </a:pPr>
                      <a:r>
                        <a:rPr lang="en-US" sz="1050" kern="100">
                          <a:effectLst/>
                        </a:rPr>
                        <a:t>optimizer_fn</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50" kern="100">
                          <a:effectLst/>
                        </a:rPr>
                        <a:t>优化器</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Adam</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027308399"/>
                  </a:ext>
                </a:extLst>
              </a:tr>
              <a:tr h="403716">
                <a:tc>
                  <a:txBody>
                    <a:bodyPr/>
                    <a:lstStyle/>
                    <a:p>
                      <a:pPr algn="ctr">
                        <a:buNone/>
                      </a:pPr>
                      <a:r>
                        <a:rPr lang="en-US" sz="1050" kern="100">
                          <a:effectLst/>
                        </a:rPr>
                        <a:t>scheduler_params</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50" kern="100">
                          <a:effectLst/>
                        </a:rPr>
                        <a:t>学习率调度器参数</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100</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146358364"/>
                  </a:ext>
                </a:extLst>
              </a:tr>
              <a:tr h="403716">
                <a:tc>
                  <a:txBody>
                    <a:bodyPr/>
                    <a:lstStyle/>
                    <a:p>
                      <a:pPr algn="ctr">
                        <a:buNone/>
                      </a:pPr>
                      <a:r>
                        <a:rPr lang="en-US" sz="1050" kern="100">
                          <a:effectLst/>
                        </a:rPr>
                        <a:t>verbose</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50" kern="100">
                          <a:effectLst/>
                        </a:rPr>
                        <a:t>输出频率</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50" kern="100" dirty="0">
                          <a:effectLst/>
                        </a:rPr>
                        <a:t>默认关闭</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634337518"/>
                  </a:ext>
                </a:extLst>
              </a:tr>
            </a:tbl>
          </a:graphicData>
        </a:graphic>
      </p:graphicFrame>
    </p:spTree>
    <p:extLst>
      <p:ext uri="{BB962C8B-B14F-4D97-AF65-F5344CB8AC3E}">
        <p14:creationId xmlns:p14="http://schemas.microsoft.com/office/powerpoint/2010/main" val="132539267"/>
      </p:ext>
    </p:extLst>
  </p:cSld>
  <p:clrMapOvr>
    <a:masterClrMapping/>
  </p:clrMapOvr>
  <mc:AlternateContent xmlns:mc="http://schemas.openxmlformats.org/markup-compatibility/2006" xmlns:p14="http://schemas.microsoft.com/office/powerpoint/2010/main">
    <mc:Choice Requires="p14">
      <p:transition spd="slow" p14:dur="1500" advClick="0" advTm="1375">
        <p:random/>
      </p:transition>
    </mc:Choice>
    <mc:Fallback xmlns="">
      <p:transition spd="slow" advClick="0" advTm="1375">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16DD1EA-8558-ED19-C6CE-7623ED16D1B7}"/>
              </a:ext>
            </a:extLst>
          </p:cNvPr>
          <p:cNvGrpSpPr/>
          <p:nvPr/>
        </p:nvGrpSpPr>
        <p:grpSpPr>
          <a:xfrm>
            <a:off x="3934731" y="483357"/>
            <a:ext cx="4283545" cy="1569660"/>
            <a:chOff x="3934731" y="483357"/>
            <a:chExt cx="4283545" cy="1569660"/>
          </a:xfrm>
        </p:grpSpPr>
        <p:sp>
          <p:nvSpPr>
            <p:cNvPr id="3" name="文本框 2">
              <a:extLst>
                <a:ext uri="{FF2B5EF4-FFF2-40B4-BE49-F238E27FC236}">
                  <a16:creationId xmlns:a16="http://schemas.microsoft.com/office/drawing/2014/main" id="{157E1BA3-C243-99E3-6BCB-5BB68C87BB25}"/>
                </a:ext>
              </a:extLst>
            </p:cNvPr>
            <p:cNvSpPr txBox="1"/>
            <p:nvPr/>
          </p:nvSpPr>
          <p:spPr>
            <a:xfrm>
              <a:off x="3934731" y="483357"/>
              <a:ext cx="4200192"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四、</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数据融合与进化学习建模</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1"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712B8FAB-F07C-3910-1B47-77E5B09194BE}"/>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Data Fusion and Evolutionary Learning Modeling</a:t>
              </a:r>
            </a:p>
          </p:txBody>
        </p:sp>
        <p:cxnSp>
          <p:nvCxnSpPr>
            <p:cNvPr id="32" name="直接连接符 31"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0E765A5D-10F5-07C5-DD6F-5FFA5F4E9B0D}"/>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46" name="矩形 45">
            <a:extLst>
              <a:ext uri="{FF2B5EF4-FFF2-40B4-BE49-F238E27FC236}">
                <a16:creationId xmlns:a16="http://schemas.microsoft.com/office/drawing/2014/main" id="{930CC0BA-8C35-EEF2-AD4B-FC59C1DCF42D}"/>
              </a:ext>
            </a:extLst>
          </p:cNvPr>
          <p:cNvSpPr/>
          <p:nvPr/>
        </p:nvSpPr>
        <p:spPr>
          <a:xfrm>
            <a:off x="1347074" y="1421304"/>
            <a:ext cx="1985406" cy="396583"/>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模型对比与分析</a:t>
            </a:r>
          </a:p>
        </p:txBody>
      </p:sp>
      <p:sp>
        <p:nvSpPr>
          <p:cNvPr id="55" name="文本框 54">
            <a:extLst>
              <a:ext uri="{FF2B5EF4-FFF2-40B4-BE49-F238E27FC236}">
                <a16:creationId xmlns:a16="http://schemas.microsoft.com/office/drawing/2014/main" id="{4C4EA4FE-B90D-C6E3-93D1-8B46F204D4EC}"/>
              </a:ext>
            </a:extLst>
          </p:cNvPr>
          <p:cNvSpPr txBox="1"/>
          <p:nvPr/>
        </p:nvSpPr>
        <p:spPr>
          <a:xfrm>
            <a:off x="1437911" y="1922313"/>
            <a:ext cx="2496820" cy="338554"/>
          </a:xfrm>
          <a:prstGeom prst="rect">
            <a:avLst/>
          </a:prstGeom>
          <a:noFill/>
        </p:spPr>
        <p:txBody>
          <a:bodyPr wrap="square">
            <a:spAutoFit/>
          </a:bodyPr>
          <a:lstStyle/>
          <a:p>
            <a:r>
              <a:rPr lang="zh-CN" altLang="zh-CN" sz="1600" kern="100" dirty="0">
                <a:effectLst/>
                <a:ea typeface="字魂58号-创中黑" panose="00000500000000000000"/>
                <a:cs typeface="黑体" panose="02010609060101010101" pitchFamily="49" charset="-122"/>
              </a:rPr>
              <a:t>单一模型与融合模型对比</a:t>
            </a:r>
            <a:endParaRPr lang="zh-CN" altLang="en-US" sz="1600" dirty="0">
              <a:ea typeface="字魂58号-创中黑" panose="00000500000000000000"/>
            </a:endParaRPr>
          </a:p>
        </p:txBody>
      </p:sp>
      <p:graphicFrame>
        <p:nvGraphicFramePr>
          <p:cNvPr id="59" name="表格 58">
            <a:extLst>
              <a:ext uri="{FF2B5EF4-FFF2-40B4-BE49-F238E27FC236}">
                <a16:creationId xmlns:a16="http://schemas.microsoft.com/office/drawing/2014/main" id="{6ADD220E-7A78-96A1-8C67-3E8247D908E6}"/>
              </a:ext>
            </a:extLst>
          </p:cNvPr>
          <p:cNvGraphicFramePr>
            <a:graphicFrameLocks noGrp="1"/>
          </p:cNvGraphicFramePr>
          <p:nvPr>
            <p:extLst>
              <p:ext uri="{D42A27DB-BD31-4B8C-83A1-F6EECF244321}">
                <p14:modId xmlns:p14="http://schemas.microsoft.com/office/powerpoint/2010/main" val="4240826882"/>
              </p:ext>
            </p:extLst>
          </p:nvPr>
        </p:nvGraphicFramePr>
        <p:xfrm>
          <a:off x="1105863" y="2547591"/>
          <a:ext cx="10150035" cy="3315888"/>
        </p:xfrm>
        <a:graphic>
          <a:graphicData uri="http://schemas.openxmlformats.org/drawingml/2006/table">
            <a:tbl>
              <a:tblPr firstRow="1" firstCol="1" bandRow="1">
                <a:tableStyleId>{5C22544A-7EE6-4342-B048-85BDC9FD1C3A}</a:tableStyleId>
              </a:tblPr>
              <a:tblGrid>
                <a:gridCol w="4543466">
                  <a:extLst>
                    <a:ext uri="{9D8B030D-6E8A-4147-A177-3AD203B41FA5}">
                      <a16:colId xmlns:a16="http://schemas.microsoft.com/office/drawing/2014/main" val="3973524643"/>
                    </a:ext>
                  </a:extLst>
                </a:gridCol>
                <a:gridCol w="1861975">
                  <a:extLst>
                    <a:ext uri="{9D8B030D-6E8A-4147-A177-3AD203B41FA5}">
                      <a16:colId xmlns:a16="http://schemas.microsoft.com/office/drawing/2014/main" val="1075768692"/>
                    </a:ext>
                  </a:extLst>
                </a:gridCol>
                <a:gridCol w="1872297">
                  <a:extLst>
                    <a:ext uri="{9D8B030D-6E8A-4147-A177-3AD203B41FA5}">
                      <a16:colId xmlns:a16="http://schemas.microsoft.com/office/drawing/2014/main" val="4099279198"/>
                    </a:ext>
                  </a:extLst>
                </a:gridCol>
                <a:gridCol w="1872297">
                  <a:extLst>
                    <a:ext uri="{9D8B030D-6E8A-4147-A177-3AD203B41FA5}">
                      <a16:colId xmlns:a16="http://schemas.microsoft.com/office/drawing/2014/main" val="1346968610"/>
                    </a:ext>
                  </a:extLst>
                </a:gridCol>
              </a:tblGrid>
              <a:tr h="725824">
                <a:tc>
                  <a:txBody>
                    <a:bodyPr/>
                    <a:lstStyle/>
                    <a:p>
                      <a:pPr algn="ctr">
                        <a:buNone/>
                      </a:pPr>
                      <a:r>
                        <a:rPr lang="zh-CN" sz="1000" kern="100" dirty="0">
                          <a:effectLst/>
                        </a:rPr>
                        <a:t>模型</a:t>
                      </a:r>
                      <a:endParaRPr 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TS (RMSE / R²)</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EL (RMSE / R²)</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YS (RMSE / R²)</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425262555"/>
                  </a:ext>
                </a:extLst>
              </a:tr>
              <a:tr h="647516">
                <a:tc>
                  <a:txBody>
                    <a:bodyPr/>
                    <a:lstStyle/>
                    <a:p>
                      <a:pPr algn="ctr">
                        <a:buNone/>
                      </a:pPr>
                      <a:r>
                        <a:rPr lang="en-US" sz="1000" kern="100">
                          <a:effectLst/>
                        </a:rPr>
                        <a:t>XGBoost</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5.21 / 0.941</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1.87 / 0.875</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4.73 / 0.936</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686152598"/>
                  </a:ext>
                </a:extLst>
              </a:tr>
              <a:tr h="647516">
                <a:tc>
                  <a:txBody>
                    <a:bodyPr/>
                    <a:lstStyle/>
                    <a:p>
                      <a:pPr algn="ctr">
                        <a:buNone/>
                      </a:pPr>
                      <a:r>
                        <a:rPr lang="en-US" sz="1000" kern="100" dirty="0" err="1">
                          <a:effectLst/>
                        </a:rPr>
                        <a:t>CatBoost</a:t>
                      </a:r>
                      <a:endParaRPr 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5.45 / 0.936</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1.94 / 0.861</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5.02 / 0.923</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723332010"/>
                  </a:ext>
                </a:extLst>
              </a:tr>
              <a:tr h="647516">
                <a:tc>
                  <a:txBody>
                    <a:bodyPr/>
                    <a:lstStyle/>
                    <a:p>
                      <a:pPr algn="ctr">
                        <a:buNone/>
                      </a:pPr>
                      <a:r>
                        <a:rPr lang="en-US" sz="1000" kern="100">
                          <a:effectLst/>
                        </a:rPr>
                        <a:t>TabNet</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6.02 / 0.913</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2.13 / 0.838</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5.34 / 0.909</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965743428"/>
                  </a:ext>
                </a:extLst>
              </a:tr>
              <a:tr h="647516">
                <a:tc>
                  <a:txBody>
                    <a:bodyPr/>
                    <a:lstStyle/>
                    <a:p>
                      <a:pPr algn="ctr">
                        <a:buNone/>
                      </a:pPr>
                      <a:r>
                        <a:rPr lang="zh-CN" sz="1000" kern="100">
                          <a:effectLst/>
                        </a:rPr>
                        <a:t>融合模型（</a:t>
                      </a:r>
                      <a:r>
                        <a:rPr lang="en-US" sz="1000" kern="100">
                          <a:effectLst/>
                        </a:rPr>
                        <a:t>XGBoost + </a:t>
                      </a:r>
                      <a:r>
                        <a:rPr lang="zh-CN" sz="1000" kern="100">
                          <a:effectLst/>
                        </a:rPr>
                        <a:t>机理特征</a:t>
                      </a:r>
                      <a:r>
                        <a:rPr lang="en-US" sz="1000" kern="100">
                          <a:effectLst/>
                        </a:rPr>
                        <a:t> + BO</a:t>
                      </a:r>
                      <a:r>
                        <a:rPr lang="zh-CN" sz="1000" kern="100">
                          <a:effectLst/>
                        </a:rPr>
                        <a:t>）</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3.99 / 0.966</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a:effectLst/>
                        </a:rPr>
                        <a:t>1.75 / 0.891</a:t>
                      </a:r>
                      <a:endParaRPr lang="zh-CN" sz="1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00" kern="100" dirty="0">
                          <a:effectLst/>
                        </a:rPr>
                        <a:t>4.12 / 0.961</a:t>
                      </a:r>
                      <a:endParaRPr lang="zh-CN" sz="1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269221423"/>
                  </a:ext>
                </a:extLst>
              </a:tr>
            </a:tbl>
          </a:graphicData>
        </a:graphic>
      </p:graphicFrame>
    </p:spTree>
    <p:extLst>
      <p:ext uri="{BB962C8B-B14F-4D97-AF65-F5344CB8AC3E}">
        <p14:creationId xmlns:p14="http://schemas.microsoft.com/office/powerpoint/2010/main" val="496332364"/>
      </p:ext>
    </p:extLst>
  </p:cSld>
  <p:clrMapOvr>
    <a:masterClrMapping/>
  </p:clrMapOvr>
  <mc:AlternateContent xmlns:mc="http://schemas.openxmlformats.org/markup-compatibility/2006" xmlns:p14="http://schemas.microsoft.com/office/powerpoint/2010/main">
    <mc:Choice Requires="p14">
      <p:transition spd="slow" p14:dur="1500" advClick="0" advTm="12042">
        <p:random/>
      </p:transition>
    </mc:Choice>
    <mc:Fallback xmlns="">
      <p:transition spd="slow" advClick="0" advTm="12042">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18B2B-5721-8318-A5D5-CF591E85ACFD}"/>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074520A1-8235-DB1F-4047-9D6707486EAA}"/>
              </a:ext>
            </a:extLst>
          </p:cNvPr>
          <p:cNvGrpSpPr/>
          <p:nvPr/>
        </p:nvGrpSpPr>
        <p:grpSpPr>
          <a:xfrm>
            <a:off x="3934731" y="483357"/>
            <a:ext cx="4283545" cy="1569660"/>
            <a:chOff x="3934731" y="483357"/>
            <a:chExt cx="4283545" cy="1569660"/>
          </a:xfrm>
        </p:grpSpPr>
        <p:sp>
          <p:nvSpPr>
            <p:cNvPr id="3" name="文本框 2">
              <a:extLst>
                <a:ext uri="{FF2B5EF4-FFF2-40B4-BE49-F238E27FC236}">
                  <a16:creationId xmlns:a16="http://schemas.microsoft.com/office/drawing/2014/main" id="{1D027149-6ED8-B541-4D87-22F7B199BBAE}"/>
                </a:ext>
              </a:extLst>
            </p:cNvPr>
            <p:cNvSpPr txBox="1"/>
            <p:nvPr/>
          </p:nvSpPr>
          <p:spPr>
            <a:xfrm>
              <a:off x="3934731" y="483357"/>
              <a:ext cx="4200192"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四、</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数据融合与进化学习建模</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1"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C087FDCA-293B-7FE2-770E-5C473D5427B4}"/>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Data Fusion and Evolutionary Learning Modeling</a:t>
              </a:r>
            </a:p>
          </p:txBody>
        </p:sp>
        <p:cxnSp>
          <p:nvCxnSpPr>
            <p:cNvPr id="32" name="直接连接符 31"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A0A3C16B-B800-3F95-352C-D5CAD6AAF2D3}"/>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graphicFrame>
        <p:nvGraphicFramePr>
          <p:cNvPr id="46" name="表格 45">
            <a:extLst>
              <a:ext uri="{FF2B5EF4-FFF2-40B4-BE49-F238E27FC236}">
                <a16:creationId xmlns:a16="http://schemas.microsoft.com/office/drawing/2014/main" id="{D39BABF1-0DDB-AF67-1B75-B774242D4156}"/>
              </a:ext>
            </a:extLst>
          </p:cNvPr>
          <p:cNvGraphicFramePr>
            <a:graphicFrameLocks noGrp="1"/>
          </p:cNvGraphicFramePr>
          <p:nvPr>
            <p:extLst>
              <p:ext uri="{D42A27DB-BD31-4B8C-83A1-F6EECF244321}">
                <p14:modId xmlns:p14="http://schemas.microsoft.com/office/powerpoint/2010/main" val="1133305592"/>
              </p:ext>
            </p:extLst>
          </p:nvPr>
        </p:nvGraphicFramePr>
        <p:xfrm>
          <a:off x="2286454" y="2570203"/>
          <a:ext cx="7419069" cy="3102016"/>
        </p:xfrm>
        <a:graphic>
          <a:graphicData uri="http://schemas.openxmlformats.org/drawingml/2006/table">
            <a:tbl>
              <a:tblPr firstRow="1" firstCol="1" bandRow="1">
                <a:tableStyleId>{5C22544A-7EE6-4342-B048-85BDC9FD1C3A}</a:tableStyleId>
              </a:tblPr>
              <a:tblGrid>
                <a:gridCol w="5873106">
                  <a:extLst>
                    <a:ext uri="{9D8B030D-6E8A-4147-A177-3AD203B41FA5}">
                      <a16:colId xmlns:a16="http://schemas.microsoft.com/office/drawing/2014/main" val="1862848306"/>
                    </a:ext>
                  </a:extLst>
                </a:gridCol>
                <a:gridCol w="1545963">
                  <a:extLst>
                    <a:ext uri="{9D8B030D-6E8A-4147-A177-3AD203B41FA5}">
                      <a16:colId xmlns:a16="http://schemas.microsoft.com/office/drawing/2014/main" val="956298858"/>
                    </a:ext>
                  </a:extLst>
                </a:gridCol>
              </a:tblGrid>
              <a:tr h="387752">
                <a:tc>
                  <a:txBody>
                    <a:bodyPr/>
                    <a:lstStyle/>
                    <a:p>
                      <a:pPr algn="ctr">
                        <a:buNone/>
                      </a:pPr>
                      <a:r>
                        <a:rPr lang="zh-CN" sz="1050" kern="100">
                          <a:effectLst/>
                        </a:rPr>
                        <a:t>超参数</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zh-CN" sz="1050" kern="100">
                          <a:effectLst/>
                        </a:rPr>
                        <a:t>值</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064343647"/>
                  </a:ext>
                </a:extLst>
              </a:tr>
              <a:tr h="387752">
                <a:tc>
                  <a:txBody>
                    <a:bodyPr/>
                    <a:lstStyle/>
                    <a:p>
                      <a:pPr algn="ctr">
                        <a:buNone/>
                      </a:pPr>
                      <a:r>
                        <a:rPr lang="en-US" sz="1050" kern="100">
                          <a:effectLst/>
                        </a:rPr>
                        <a:t>n_estimators</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460</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08313686"/>
                  </a:ext>
                </a:extLst>
              </a:tr>
              <a:tr h="387752">
                <a:tc>
                  <a:txBody>
                    <a:bodyPr/>
                    <a:lstStyle/>
                    <a:p>
                      <a:pPr algn="ctr">
                        <a:buNone/>
                      </a:pPr>
                      <a:r>
                        <a:rPr lang="en-US" sz="1050" kern="100">
                          <a:effectLst/>
                        </a:rPr>
                        <a:t>max_depth</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6</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79653416"/>
                  </a:ext>
                </a:extLst>
              </a:tr>
              <a:tr h="387752">
                <a:tc>
                  <a:txBody>
                    <a:bodyPr/>
                    <a:lstStyle/>
                    <a:p>
                      <a:pPr algn="ctr">
                        <a:buNone/>
                      </a:pPr>
                      <a:r>
                        <a:rPr lang="en-US" sz="1050" kern="100">
                          <a:effectLst/>
                        </a:rPr>
                        <a:t>learning_rate</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0.07</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134453580"/>
                  </a:ext>
                </a:extLst>
              </a:tr>
              <a:tr h="387752">
                <a:tc>
                  <a:txBody>
                    <a:bodyPr/>
                    <a:lstStyle/>
                    <a:p>
                      <a:pPr algn="ctr">
                        <a:buNone/>
                      </a:pPr>
                      <a:r>
                        <a:rPr lang="en-US" sz="1050" kern="100">
                          <a:effectLst/>
                        </a:rPr>
                        <a:t>subsample</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0.84</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292305314"/>
                  </a:ext>
                </a:extLst>
              </a:tr>
              <a:tr h="387752">
                <a:tc>
                  <a:txBody>
                    <a:bodyPr/>
                    <a:lstStyle/>
                    <a:p>
                      <a:pPr algn="ctr">
                        <a:buNone/>
                      </a:pPr>
                      <a:r>
                        <a:rPr lang="en-US" sz="1050" kern="100">
                          <a:effectLst/>
                        </a:rPr>
                        <a:t>colsample_bytree</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0.91</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709729815"/>
                  </a:ext>
                </a:extLst>
              </a:tr>
              <a:tr h="387752">
                <a:tc>
                  <a:txBody>
                    <a:bodyPr/>
                    <a:lstStyle/>
                    <a:p>
                      <a:pPr algn="ctr">
                        <a:buNone/>
                      </a:pPr>
                      <a:r>
                        <a:rPr lang="en-US" sz="1050" kern="100">
                          <a:effectLst/>
                        </a:rPr>
                        <a:t>reg_alpha</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a:effectLst/>
                        </a:rPr>
                        <a:t>0.14</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19389503"/>
                  </a:ext>
                </a:extLst>
              </a:tr>
              <a:tr h="387752">
                <a:tc>
                  <a:txBody>
                    <a:bodyPr/>
                    <a:lstStyle/>
                    <a:p>
                      <a:pPr algn="ctr">
                        <a:buNone/>
                      </a:pPr>
                      <a:r>
                        <a:rPr lang="en-US" sz="1050" kern="100">
                          <a:effectLst/>
                        </a:rPr>
                        <a:t>reg_lambda</a:t>
                      </a:r>
                      <a:endParaRPr lang="zh-CN"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tc>
                  <a:txBody>
                    <a:bodyPr/>
                    <a:lstStyle/>
                    <a:p>
                      <a:pPr algn="ctr">
                        <a:buNone/>
                      </a:pPr>
                      <a:r>
                        <a:rPr lang="en-US" sz="1050" kern="100" dirty="0">
                          <a:effectLst/>
                        </a:rPr>
                        <a:t>0.28</a:t>
                      </a:r>
                      <a:endParaRPr lang="zh-CN"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530783130"/>
                  </a:ext>
                </a:extLst>
              </a:tr>
            </a:tbl>
          </a:graphicData>
        </a:graphic>
      </p:graphicFrame>
      <p:sp>
        <p:nvSpPr>
          <p:cNvPr id="48" name="矩形 47">
            <a:extLst>
              <a:ext uri="{FF2B5EF4-FFF2-40B4-BE49-F238E27FC236}">
                <a16:creationId xmlns:a16="http://schemas.microsoft.com/office/drawing/2014/main" id="{DF673B85-3B69-1273-6DE3-EAD57878AC16}"/>
              </a:ext>
            </a:extLst>
          </p:cNvPr>
          <p:cNvSpPr/>
          <p:nvPr/>
        </p:nvSpPr>
        <p:spPr>
          <a:xfrm>
            <a:off x="1293751" y="1350239"/>
            <a:ext cx="1985406" cy="396583"/>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超参数优化</a:t>
            </a:r>
          </a:p>
        </p:txBody>
      </p:sp>
      <p:sp>
        <p:nvSpPr>
          <p:cNvPr id="54" name="文本框 53">
            <a:extLst>
              <a:ext uri="{FF2B5EF4-FFF2-40B4-BE49-F238E27FC236}">
                <a16:creationId xmlns:a16="http://schemas.microsoft.com/office/drawing/2014/main" id="{EE4D85DB-DA49-98F9-1B70-6BE5F43D8576}"/>
              </a:ext>
            </a:extLst>
          </p:cNvPr>
          <p:cNvSpPr txBox="1"/>
          <p:nvPr/>
        </p:nvSpPr>
        <p:spPr>
          <a:xfrm>
            <a:off x="1620455" y="1883740"/>
            <a:ext cx="5622052" cy="338554"/>
          </a:xfrm>
          <a:prstGeom prst="rect">
            <a:avLst/>
          </a:prstGeom>
          <a:noFill/>
        </p:spPr>
        <p:txBody>
          <a:bodyPr wrap="none" rtlCol="0">
            <a:spAutoFit/>
          </a:bodyPr>
          <a:lstStyle/>
          <a:p>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贝叶斯优化共执行</a:t>
            </a:r>
            <a:r>
              <a:rPr lang="en-US" altLang="zh-CN" sz="1600" kern="100" dirty="0">
                <a:effectLst/>
                <a:latin typeface="Times New Roman" panose="02020603050405020304" pitchFamily="18" charset="0"/>
                <a:ea typeface="字魂58号-创中黑" panose="00000500000000000000"/>
              </a:rPr>
              <a:t>100</a:t>
            </a:r>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次评估，最终获得最优参数组合</a:t>
            </a:r>
            <a:r>
              <a:rPr lang="zh-CN" altLang="en-US" sz="1600" kern="100" dirty="0">
                <a:effectLst/>
                <a:latin typeface="Times New Roman" panose="02020603050405020304" pitchFamily="18" charset="0"/>
                <a:ea typeface="字魂58号-创中黑" panose="00000500000000000000"/>
                <a:cs typeface="Times New Roman" panose="02020603050405020304" pitchFamily="18" charset="0"/>
              </a:rPr>
              <a:t>如下：</a:t>
            </a:r>
            <a:endParaRPr lang="zh-CN" altLang="en-US" sz="1600" dirty="0">
              <a:ea typeface="字魂58号-创中黑" panose="00000500000000000000"/>
            </a:endParaRPr>
          </a:p>
        </p:txBody>
      </p:sp>
    </p:spTree>
    <p:extLst>
      <p:ext uri="{BB962C8B-B14F-4D97-AF65-F5344CB8AC3E}">
        <p14:creationId xmlns:p14="http://schemas.microsoft.com/office/powerpoint/2010/main" val="2233833177"/>
      </p:ext>
    </p:extLst>
  </p:cSld>
  <p:clrMapOvr>
    <a:masterClrMapping/>
  </p:clrMapOvr>
  <mc:AlternateContent xmlns:mc="http://schemas.openxmlformats.org/markup-compatibility/2006" xmlns:p14="http://schemas.microsoft.com/office/powerpoint/2010/main">
    <mc:Choice Requires="p14">
      <p:transition spd="slow" p14:dur="1500" advClick="0" advTm="8850">
        <p:random/>
      </p:transition>
    </mc:Choice>
    <mc:Fallback xmlns="">
      <p:transition spd="slow" advClick="0" advTm="8850">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24D42-116F-75B3-8847-D6B323D9BC45}"/>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62D82428-CEC8-505D-25DC-2272AD29FF7E}"/>
              </a:ext>
            </a:extLst>
          </p:cNvPr>
          <p:cNvGrpSpPr/>
          <p:nvPr/>
        </p:nvGrpSpPr>
        <p:grpSpPr>
          <a:xfrm>
            <a:off x="3934731" y="483357"/>
            <a:ext cx="4283545" cy="1569660"/>
            <a:chOff x="3934731" y="483357"/>
            <a:chExt cx="4283545" cy="1569660"/>
          </a:xfrm>
        </p:grpSpPr>
        <p:sp>
          <p:nvSpPr>
            <p:cNvPr id="3" name="文本框 2">
              <a:extLst>
                <a:ext uri="{FF2B5EF4-FFF2-40B4-BE49-F238E27FC236}">
                  <a16:creationId xmlns:a16="http://schemas.microsoft.com/office/drawing/2014/main" id="{CCF9677B-0D69-B035-D4EE-8665228D2460}"/>
                </a:ext>
              </a:extLst>
            </p:cNvPr>
            <p:cNvSpPr txBox="1"/>
            <p:nvPr/>
          </p:nvSpPr>
          <p:spPr>
            <a:xfrm>
              <a:off x="3934731" y="483357"/>
              <a:ext cx="4200192"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四、</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数据融合与进化学习建模</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1"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168206BB-790B-C145-FB56-D792267453E6}"/>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Data Fusion and Evolutionary Learning Modeling</a:t>
              </a:r>
            </a:p>
          </p:txBody>
        </p:sp>
        <p:cxnSp>
          <p:nvCxnSpPr>
            <p:cNvPr id="32" name="直接连接符 31"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7D8BA5FA-15CB-9976-C4C2-DD269700FAED}"/>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6" name="文本框 5">
            <a:extLst>
              <a:ext uri="{FF2B5EF4-FFF2-40B4-BE49-F238E27FC236}">
                <a16:creationId xmlns:a16="http://schemas.microsoft.com/office/drawing/2014/main" id="{C409A9EE-3CCC-C16C-EB00-3622A83E1BAF}"/>
              </a:ext>
            </a:extLst>
          </p:cNvPr>
          <p:cNvSpPr txBox="1"/>
          <p:nvPr/>
        </p:nvSpPr>
        <p:spPr>
          <a:xfrm>
            <a:off x="1542402" y="5385547"/>
            <a:ext cx="9277997" cy="659796"/>
          </a:xfrm>
          <a:prstGeom prst="rect">
            <a:avLst/>
          </a:prstGeom>
          <a:noFill/>
        </p:spPr>
        <p:txBody>
          <a:bodyPr wrap="square">
            <a:spAutoFit/>
          </a:bodyPr>
          <a:lstStyle/>
          <a:p>
            <a:pPr indent="304800" algn="just">
              <a:lnSpc>
                <a:spcPts val="2300"/>
              </a:lnSpc>
              <a:tabLst>
                <a:tab pos="457200" algn="l"/>
              </a:tabLst>
            </a:pPr>
            <a:r>
              <a:rPr lang="en-US" altLang="zh-CN" sz="1600" kern="100" dirty="0">
                <a:latin typeface="Times New Roman" panose="02020603050405020304" pitchFamily="18" charset="0"/>
                <a:ea typeface="字魂58号-创中黑" panose="00000500000000000000"/>
              </a:rPr>
              <a:t>  </a:t>
            </a:r>
            <a:r>
              <a:rPr lang="zh-CN" altLang="zh-CN" sz="1600" kern="100" dirty="0">
                <a:effectLst/>
                <a:latin typeface="Times New Roman" panose="02020603050405020304" pitchFamily="18" charset="0"/>
                <a:ea typeface="字魂58号-创中黑" panose="00000500000000000000"/>
              </a:rPr>
              <a:t>模型在测试集上的预测性能得到了大幅提高，较之默认参数而言，</a:t>
            </a:r>
            <a:r>
              <a:rPr lang="en-US" altLang="zh-CN" sz="1600" kern="100" dirty="0" err="1">
                <a:effectLst/>
                <a:latin typeface="Times New Roman" panose="02020603050405020304" pitchFamily="18" charset="0"/>
                <a:ea typeface="字魂58号-创中黑" panose="00000500000000000000"/>
              </a:rPr>
              <a:t>R²</a:t>
            </a:r>
            <a:r>
              <a:rPr lang="zh-CN" altLang="zh-CN" sz="1600" kern="100" dirty="0">
                <a:effectLst/>
                <a:latin typeface="Times New Roman" panose="02020603050405020304" pitchFamily="18" charset="0"/>
                <a:ea typeface="字魂58号-创中黑" panose="00000500000000000000"/>
              </a:rPr>
              <a:t>提高了约</a:t>
            </a:r>
            <a:r>
              <a:rPr lang="en-US" altLang="zh-CN" sz="1600" kern="100" dirty="0">
                <a:effectLst/>
                <a:latin typeface="Times New Roman" panose="02020603050405020304" pitchFamily="18" charset="0"/>
                <a:ea typeface="字魂58号-创中黑" panose="00000500000000000000"/>
              </a:rPr>
              <a:t>3.1%</a:t>
            </a:r>
            <a:r>
              <a:rPr lang="zh-CN" altLang="zh-CN" sz="1600" kern="100" dirty="0">
                <a:effectLst/>
                <a:latin typeface="Times New Roman" panose="02020603050405020304" pitchFamily="18" charset="0"/>
                <a:ea typeface="字魂58号-创中黑" panose="00000500000000000000"/>
              </a:rPr>
              <a:t>，</a:t>
            </a:r>
            <a:r>
              <a:rPr lang="en-US" altLang="zh-CN" sz="1600" kern="100" dirty="0" err="1">
                <a:effectLst/>
                <a:latin typeface="Times New Roman" panose="02020603050405020304" pitchFamily="18" charset="0"/>
                <a:ea typeface="字魂58号-创中黑" panose="00000500000000000000"/>
              </a:rPr>
              <a:t>RMSE</a:t>
            </a:r>
            <a:r>
              <a:rPr lang="zh-CN" altLang="zh-CN" sz="1600" kern="100" dirty="0">
                <a:effectLst/>
                <a:latin typeface="Times New Roman" panose="02020603050405020304" pitchFamily="18" charset="0"/>
                <a:ea typeface="字魂58号-创中黑" panose="00000500000000000000"/>
              </a:rPr>
              <a:t>下降了约</a:t>
            </a:r>
            <a:r>
              <a:rPr lang="en-US" altLang="zh-CN" sz="1600" kern="100" dirty="0">
                <a:effectLst/>
                <a:latin typeface="Times New Roman" panose="02020603050405020304" pitchFamily="18" charset="0"/>
                <a:ea typeface="字魂58号-创中黑" panose="00000500000000000000"/>
              </a:rPr>
              <a:t>9.4%</a:t>
            </a:r>
            <a:r>
              <a:rPr lang="zh-CN" altLang="zh-CN" sz="1600" kern="100" dirty="0">
                <a:effectLst/>
                <a:latin typeface="Times New Roman" panose="02020603050405020304" pitchFamily="18" charset="0"/>
                <a:ea typeface="字魂58号-创中黑" panose="00000500000000000000"/>
              </a:rPr>
              <a:t>，并且优化后模型更具有鲁棒性，并且训练的收敛速度更快。 </a:t>
            </a:r>
            <a:endParaRPr lang="zh-CN" altLang="zh-CN" sz="1200" kern="100" dirty="0">
              <a:effectLst/>
              <a:latin typeface="Times New Roman" panose="02020603050405020304" pitchFamily="18" charset="0"/>
              <a:ea typeface="字魂58号-创中黑" panose="00000500000000000000"/>
            </a:endParaRPr>
          </a:p>
        </p:txBody>
      </p:sp>
      <p:pic>
        <p:nvPicPr>
          <p:cNvPr id="7" name="图片 6">
            <a:extLst>
              <a:ext uri="{FF2B5EF4-FFF2-40B4-BE49-F238E27FC236}">
                <a16:creationId xmlns:a16="http://schemas.microsoft.com/office/drawing/2014/main" id="{ED8B86D1-40CB-4C2C-EBAB-BA3B119CA914}"/>
              </a:ext>
            </a:extLst>
          </p:cNvPr>
          <p:cNvPicPr>
            <a:picLocks noChangeAspect="1"/>
          </p:cNvPicPr>
          <p:nvPr/>
        </p:nvPicPr>
        <p:blipFill>
          <a:blip r:embed="rId3"/>
          <a:stretch>
            <a:fillRect/>
          </a:stretch>
        </p:blipFill>
        <p:spPr>
          <a:xfrm>
            <a:off x="1967509" y="2214851"/>
            <a:ext cx="8256982" cy="3008861"/>
          </a:xfrm>
          <a:prstGeom prst="rect">
            <a:avLst/>
          </a:prstGeom>
        </p:spPr>
      </p:pic>
      <p:sp>
        <p:nvSpPr>
          <p:cNvPr id="8" name="矩形 7">
            <a:extLst>
              <a:ext uri="{FF2B5EF4-FFF2-40B4-BE49-F238E27FC236}">
                <a16:creationId xmlns:a16="http://schemas.microsoft.com/office/drawing/2014/main" id="{19A35DB3-35C2-139C-2480-F37802AC26C9}"/>
              </a:ext>
            </a:extLst>
          </p:cNvPr>
          <p:cNvSpPr/>
          <p:nvPr/>
        </p:nvSpPr>
        <p:spPr>
          <a:xfrm>
            <a:off x="1436854" y="1265159"/>
            <a:ext cx="2551510" cy="396583"/>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优化效果评估与可视化</a:t>
            </a:r>
          </a:p>
        </p:txBody>
      </p:sp>
      <p:sp>
        <p:nvSpPr>
          <p:cNvPr id="9" name="文本框 8">
            <a:extLst>
              <a:ext uri="{FF2B5EF4-FFF2-40B4-BE49-F238E27FC236}">
                <a16:creationId xmlns:a16="http://schemas.microsoft.com/office/drawing/2014/main" id="{DADD83D9-F674-6863-893F-0A350E815A60}"/>
              </a:ext>
            </a:extLst>
          </p:cNvPr>
          <p:cNvSpPr txBox="1"/>
          <p:nvPr/>
        </p:nvSpPr>
        <p:spPr>
          <a:xfrm>
            <a:off x="1517348" y="1714463"/>
            <a:ext cx="3478837" cy="338554"/>
          </a:xfrm>
          <a:prstGeom prst="rect">
            <a:avLst/>
          </a:prstGeom>
          <a:noFill/>
        </p:spPr>
        <p:txBody>
          <a:bodyPr wrap="none" rtlCol="0">
            <a:spAutoFit/>
          </a:bodyPr>
          <a:lstStyle/>
          <a:p>
            <a:r>
              <a:rPr lang="zh-CN" altLang="en-US" sz="1600" dirty="0">
                <a:ea typeface="字魂58号-创中黑" panose="00000500000000000000"/>
              </a:rPr>
              <a:t>（</a:t>
            </a:r>
            <a:r>
              <a:rPr lang="en-US" altLang="zh-CN" sz="1600" dirty="0">
                <a:ea typeface="字魂58号-创中黑" panose="00000500000000000000"/>
              </a:rPr>
              <a:t>TS</a:t>
            </a:r>
            <a:r>
              <a:rPr lang="zh-CN" altLang="en-US" sz="1600" dirty="0">
                <a:ea typeface="字魂58号-创中黑" panose="00000500000000000000"/>
              </a:rPr>
              <a:t>、</a:t>
            </a:r>
            <a:r>
              <a:rPr lang="en-US" altLang="zh-CN" sz="1600" dirty="0">
                <a:ea typeface="字魂58号-创中黑" panose="00000500000000000000"/>
              </a:rPr>
              <a:t>EL</a:t>
            </a:r>
            <a:r>
              <a:rPr lang="zh-CN" altLang="en-US" sz="1600" dirty="0">
                <a:ea typeface="字魂58号-创中黑" panose="00000500000000000000"/>
              </a:rPr>
              <a:t>、</a:t>
            </a:r>
            <a:r>
              <a:rPr lang="en-US" altLang="zh-CN" sz="1600" dirty="0">
                <a:ea typeface="字魂58号-创中黑" panose="00000500000000000000"/>
              </a:rPr>
              <a:t>YS</a:t>
            </a:r>
            <a:r>
              <a:rPr lang="zh-CN" altLang="en-US" sz="1600" dirty="0">
                <a:ea typeface="字魂58号-创中黑" panose="00000500000000000000"/>
              </a:rPr>
              <a:t>）预测值与真实值比较</a:t>
            </a:r>
          </a:p>
        </p:txBody>
      </p:sp>
    </p:spTree>
    <p:extLst>
      <p:ext uri="{BB962C8B-B14F-4D97-AF65-F5344CB8AC3E}">
        <p14:creationId xmlns:p14="http://schemas.microsoft.com/office/powerpoint/2010/main" val="1004022760"/>
      </p:ext>
    </p:extLst>
  </p:cSld>
  <p:clrMapOvr>
    <a:masterClrMapping/>
  </p:clrMapOvr>
  <mc:AlternateContent xmlns:mc="http://schemas.openxmlformats.org/markup-compatibility/2006" xmlns:p14="http://schemas.microsoft.com/office/powerpoint/2010/main">
    <mc:Choice Requires="p14">
      <p:transition spd="slow" p14:dur="1500" advClick="0" advTm="26493">
        <p:random/>
      </p:transition>
    </mc:Choice>
    <mc:Fallback xmlns="">
      <p:transition spd="slow" advClick="0" advTm="26493">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1C6F9-7756-B09D-B32C-21DF3D6989FE}"/>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EFC828AF-7F04-9E82-C346-E96FF2CD3A80}"/>
              </a:ext>
            </a:extLst>
          </p:cNvPr>
          <p:cNvGrpSpPr/>
          <p:nvPr/>
        </p:nvGrpSpPr>
        <p:grpSpPr>
          <a:xfrm>
            <a:off x="3934731" y="483357"/>
            <a:ext cx="4283545" cy="1569660"/>
            <a:chOff x="3934731" y="483357"/>
            <a:chExt cx="4283545" cy="1569660"/>
          </a:xfrm>
        </p:grpSpPr>
        <p:sp>
          <p:nvSpPr>
            <p:cNvPr id="3" name="文本框 2">
              <a:extLst>
                <a:ext uri="{FF2B5EF4-FFF2-40B4-BE49-F238E27FC236}">
                  <a16:creationId xmlns:a16="http://schemas.microsoft.com/office/drawing/2014/main" id="{7E1E6102-AD59-6FB6-65B7-97AAFA695720}"/>
                </a:ext>
              </a:extLst>
            </p:cNvPr>
            <p:cNvSpPr txBox="1"/>
            <p:nvPr/>
          </p:nvSpPr>
          <p:spPr>
            <a:xfrm>
              <a:off x="3934731" y="483357"/>
              <a:ext cx="4200192" cy="1569660"/>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四、</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数据融合与进化学习建模</a:t>
              </a:r>
            </a:p>
            <a:p>
              <a:endParaRPr lang="zh-CN" altLang="en-US" sz="2400" dirty="0">
                <a:solidFill>
                  <a:srgbClr val="0170BD"/>
                </a:solidFill>
                <a:ea typeface="字魂58号-创中黑" panose="00000500000000000000" pitchFamily="2" charset="-122"/>
                <a:sym typeface="字魂58号-创中黑" panose="00000500000000000000" pitchFamily="2" charset="-122"/>
              </a:endParaRPr>
            </a:p>
            <a:p>
              <a:endPar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endParaRP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1"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63E1ACEA-E7A1-CC2C-D3DD-41A6C9D0D578}"/>
                </a:ext>
              </a:extLst>
            </p:cNvPr>
            <p:cNvSpPr txBox="1">
              <a:spLocks noChangeArrowheads="1"/>
            </p:cNvSpPr>
            <p:nvPr/>
          </p:nvSpPr>
          <p:spPr bwMode="auto">
            <a:xfrm>
              <a:off x="3934731" y="81265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Data Fusion and Evolutionary Learning Modeling</a:t>
              </a:r>
            </a:p>
          </p:txBody>
        </p:sp>
        <p:cxnSp>
          <p:nvCxnSpPr>
            <p:cNvPr id="32" name="直接连接符 31"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F89F0FE9-C0AA-D52A-2660-49623E274D70}"/>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4" name="矩形 3">
            <a:extLst>
              <a:ext uri="{FF2B5EF4-FFF2-40B4-BE49-F238E27FC236}">
                <a16:creationId xmlns:a16="http://schemas.microsoft.com/office/drawing/2014/main" id="{057934B3-5386-0DFF-501B-09D02EBE0EF2}"/>
              </a:ext>
            </a:extLst>
          </p:cNvPr>
          <p:cNvSpPr/>
          <p:nvPr/>
        </p:nvSpPr>
        <p:spPr>
          <a:xfrm>
            <a:off x="1436854" y="1265159"/>
            <a:ext cx="2551510" cy="396583"/>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优化效果评估与可视化</a:t>
            </a:r>
          </a:p>
        </p:txBody>
      </p:sp>
      <p:pic>
        <p:nvPicPr>
          <p:cNvPr id="5" name="图片 4">
            <a:extLst>
              <a:ext uri="{FF2B5EF4-FFF2-40B4-BE49-F238E27FC236}">
                <a16:creationId xmlns:a16="http://schemas.microsoft.com/office/drawing/2014/main" id="{406FAC34-E880-F2BA-1D5C-B1AC501FD20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9032" y="2026021"/>
            <a:ext cx="4629208" cy="2778963"/>
          </a:xfrm>
          <a:prstGeom prst="rect">
            <a:avLst/>
          </a:prstGeom>
          <a:noFill/>
          <a:ln>
            <a:noFill/>
          </a:ln>
        </p:spPr>
      </p:pic>
      <p:pic>
        <p:nvPicPr>
          <p:cNvPr id="6" name="图片 5">
            <a:extLst>
              <a:ext uri="{FF2B5EF4-FFF2-40B4-BE49-F238E27FC236}">
                <a16:creationId xmlns:a16="http://schemas.microsoft.com/office/drawing/2014/main" id="{09D5A2FD-EEA6-8209-84CF-80803FCC93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13762" y="2039518"/>
            <a:ext cx="4654211" cy="2778963"/>
          </a:xfrm>
          <a:prstGeom prst="rect">
            <a:avLst/>
          </a:prstGeom>
          <a:noFill/>
          <a:ln>
            <a:noFill/>
          </a:ln>
        </p:spPr>
      </p:pic>
      <p:sp>
        <p:nvSpPr>
          <p:cNvPr id="9" name="文本框 8">
            <a:extLst>
              <a:ext uri="{FF2B5EF4-FFF2-40B4-BE49-F238E27FC236}">
                <a16:creationId xmlns:a16="http://schemas.microsoft.com/office/drawing/2014/main" id="{FBD98C63-6829-84F4-103C-D24F4AEAEA47}"/>
              </a:ext>
            </a:extLst>
          </p:cNvPr>
          <p:cNvSpPr txBox="1"/>
          <p:nvPr/>
        </p:nvSpPr>
        <p:spPr>
          <a:xfrm>
            <a:off x="2837180" y="5083294"/>
            <a:ext cx="1440180" cy="338554"/>
          </a:xfrm>
          <a:prstGeom prst="rect">
            <a:avLst/>
          </a:prstGeom>
          <a:noFill/>
        </p:spPr>
        <p:txBody>
          <a:bodyPr wrap="square">
            <a:spAutoFit/>
          </a:bodyPr>
          <a:lstStyle/>
          <a:p>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模型评估结果</a:t>
            </a:r>
            <a:endParaRPr lang="zh-CN" altLang="en-US" sz="1600" dirty="0">
              <a:ea typeface="字魂58号-创中黑" panose="00000500000000000000"/>
            </a:endParaRPr>
          </a:p>
        </p:txBody>
      </p:sp>
      <p:sp>
        <p:nvSpPr>
          <p:cNvPr id="12" name="文本框 11">
            <a:extLst>
              <a:ext uri="{FF2B5EF4-FFF2-40B4-BE49-F238E27FC236}">
                <a16:creationId xmlns:a16="http://schemas.microsoft.com/office/drawing/2014/main" id="{996F7E17-6101-56DC-BE30-1DBD06BFA24F}"/>
              </a:ext>
            </a:extLst>
          </p:cNvPr>
          <p:cNvSpPr txBox="1"/>
          <p:nvPr/>
        </p:nvSpPr>
        <p:spPr>
          <a:xfrm>
            <a:off x="7825502" y="4991854"/>
            <a:ext cx="2059940" cy="338554"/>
          </a:xfrm>
          <a:prstGeom prst="rect">
            <a:avLst/>
          </a:prstGeom>
          <a:noFill/>
        </p:spPr>
        <p:txBody>
          <a:bodyPr wrap="square">
            <a:spAutoFit/>
          </a:bodyPr>
          <a:lstStyle/>
          <a:p>
            <a:r>
              <a:rPr lang="zh-CN" altLang="zh-CN" sz="1600" kern="100" dirty="0">
                <a:latin typeface="Times New Roman" panose="02020603050405020304" pitchFamily="18" charset="0"/>
                <a:ea typeface="字魂58号-创中黑" panose="00000500000000000000"/>
                <a:cs typeface="Times New Roman" panose="02020603050405020304" pitchFamily="18" charset="0"/>
              </a:rPr>
              <a:t>贝叶斯优化迭代曲线</a:t>
            </a:r>
            <a:endParaRPr lang="zh-CN" altLang="en-US" sz="1600" kern="100" dirty="0">
              <a:latin typeface="Times New Roman" panose="02020603050405020304" pitchFamily="18" charset="0"/>
              <a:ea typeface="字魂58号-创中黑" panose="00000500000000000000"/>
              <a:cs typeface="Times New Roman" panose="02020603050405020304" pitchFamily="18" charset="0"/>
            </a:endParaRPr>
          </a:p>
        </p:txBody>
      </p:sp>
      <p:sp>
        <p:nvSpPr>
          <p:cNvPr id="15" name="文本框 14">
            <a:extLst>
              <a:ext uri="{FF2B5EF4-FFF2-40B4-BE49-F238E27FC236}">
                <a16:creationId xmlns:a16="http://schemas.microsoft.com/office/drawing/2014/main" id="{5FB75862-A0F5-9AB3-EC82-DA3CB8A435F6}"/>
              </a:ext>
            </a:extLst>
          </p:cNvPr>
          <p:cNvSpPr txBox="1"/>
          <p:nvPr/>
        </p:nvSpPr>
        <p:spPr>
          <a:xfrm>
            <a:off x="2200287" y="5502942"/>
            <a:ext cx="7791426" cy="338554"/>
          </a:xfrm>
          <a:prstGeom prst="rect">
            <a:avLst/>
          </a:prstGeom>
          <a:noFill/>
        </p:spPr>
        <p:txBody>
          <a:bodyPr wrap="square">
            <a:spAutoFit/>
          </a:bodyPr>
          <a:lstStyle/>
          <a:p>
            <a:r>
              <a:rPr lang="zh-CN" altLang="zh-CN" sz="1600" kern="100" dirty="0">
                <a:effectLst/>
                <a:latin typeface="Times New Roman" panose="02020603050405020304" pitchFamily="18" charset="0"/>
                <a:ea typeface="字魂58号-创中黑" panose="00000500000000000000"/>
                <a:cs typeface="Times New Roman" panose="02020603050405020304" pitchFamily="18" charset="0"/>
              </a:rPr>
              <a:t>从不同的测试集中模型的预测值可以看出，优化后的模型性能表现稳定，准确度</a:t>
            </a:r>
            <a:r>
              <a:rPr lang="zh-CN" altLang="en-US" sz="1600" kern="100" dirty="0">
                <a:effectLst/>
                <a:latin typeface="Times New Roman" panose="02020603050405020304" pitchFamily="18" charset="0"/>
                <a:ea typeface="字魂58号-创中黑" panose="00000500000000000000"/>
                <a:cs typeface="Times New Roman" panose="02020603050405020304" pitchFamily="18" charset="0"/>
              </a:rPr>
              <a:t>较高</a:t>
            </a:r>
            <a:endParaRPr lang="zh-CN" altLang="en-US" sz="1600" dirty="0">
              <a:ea typeface="字魂58号-创中黑" panose="00000500000000000000"/>
            </a:endParaRPr>
          </a:p>
        </p:txBody>
      </p:sp>
    </p:spTree>
    <p:extLst>
      <p:ext uri="{BB962C8B-B14F-4D97-AF65-F5344CB8AC3E}">
        <p14:creationId xmlns:p14="http://schemas.microsoft.com/office/powerpoint/2010/main" val="3423161381"/>
      </p:ext>
    </p:extLst>
  </p:cSld>
  <p:clrMapOvr>
    <a:masterClrMapping/>
  </p:clrMapOvr>
  <mc:AlternateContent xmlns:mc="http://schemas.openxmlformats.org/markup-compatibility/2006" xmlns:p14="http://schemas.microsoft.com/office/powerpoint/2010/main">
    <mc:Choice Requires="p14">
      <p:transition spd="slow" p14:dur="1500" advClick="0" advTm="9219">
        <p:random/>
      </p:transition>
    </mc:Choice>
    <mc:Fallback xmlns="">
      <p:transition spd="slow" advClick="0" advTm="9219">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DA2D8-237F-4890-FACB-305A7E82FCF2}"/>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1BA0DE7-1F76-B5FA-8B99-37FF29451DC5}"/>
              </a:ext>
            </a:extLst>
          </p:cNvPr>
          <p:cNvGrpSpPr/>
          <p:nvPr/>
        </p:nvGrpSpPr>
        <p:grpSpPr>
          <a:xfrm>
            <a:off x="4908550" y="1372748"/>
            <a:ext cx="2374901" cy="2374902"/>
            <a:chOff x="3681412" y="1029561"/>
            <a:chExt cx="1781176" cy="1781176"/>
          </a:xfrm>
        </p:grpSpPr>
        <p:grpSp>
          <p:nvGrpSpPr>
            <p:cNvPr id="21" name="组合 20">
              <a:extLst>
                <a:ext uri="{FF2B5EF4-FFF2-40B4-BE49-F238E27FC236}">
                  <a16:creationId xmlns:a16="http://schemas.microsoft.com/office/drawing/2014/main" id="{E8705A79-48A3-E96D-7711-F7AEA2FC5AB4}"/>
                </a:ext>
              </a:extLst>
            </p:cNvPr>
            <p:cNvGrpSpPr/>
            <p:nvPr/>
          </p:nvGrpSpPr>
          <p:grpSpPr>
            <a:xfrm>
              <a:off x="3681412" y="1029561"/>
              <a:ext cx="1781176" cy="1781176"/>
              <a:chOff x="3163162" y="1286736"/>
              <a:chExt cx="1781176" cy="1781176"/>
            </a:xfrm>
          </p:grpSpPr>
          <p:grpSp>
            <p:nvGrpSpPr>
              <p:cNvPr id="20" name="组合 19">
                <a:extLst>
                  <a:ext uri="{FF2B5EF4-FFF2-40B4-BE49-F238E27FC236}">
                    <a16:creationId xmlns:a16="http://schemas.microsoft.com/office/drawing/2014/main" id="{1C7F877A-9832-2DBB-2C57-7DE0D1545255}"/>
                  </a:ext>
                </a:extLst>
              </p:cNvPr>
              <p:cNvGrpSpPr/>
              <p:nvPr/>
            </p:nvGrpSpPr>
            <p:grpSpPr>
              <a:xfrm>
                <a:off x="3163162" y="1286736"/>
                <a:ext cx="1781176" cy="1781176"/>
                <a:chOff x="5410200" y="1286736"/>
                <a:chExt cx="1781176" cy="1781176"/>
              </a:xfrm>
            </p:grpSpPr>
            <p:grpSp>
              <p:nvGrpSpPr>
                <p:cNvPr id="14" name="组合 13">
                  <a:extLst>
                    <a:ext uri="{FF2B5EF4-FFF2-40B4-BE49-F238E27FC236}">
                      <a16:creationId xmlns:a16="http://schemas.microsoft.com/office/drawing/2014/main" id="{81C6C71B-58A1-2114-4110-3CCAF0F271B1}"/>
                    </a:ext>
                  </a:extLst>
                </p:cNvPr>
                <p:cNvGrpSpPr/>
                <p:nvPr/>
              </p:nvGrpSpPr>
              <p:grpSpPr>
                <a:xfrm flipH="1">
                  <a:off x="5410200" y="1286736"/>
                  <a:ext cx="1781176" cy="1781176"/>
                  <a:chOff x="3333750" y="1457325"/>
                  <a:chExt cx="1440000" cy="1440000"/>
                </a:xfrm>
              </p:grpSpPr>
              <p:sp>
                <p:nvSpPr>
                  <p:cNvPr id="15" name="矩形 14">
                    <a:extLst>
                      <a:ext uri="{FF2B5EF4-FFF2-40B4-BE49-F238E27FC236}">
                        <a16:creationId xmlns:a16="http://schemas.microsoft.com/office/drawing/2014/main" id="{D7B1224B-4909-55D0-E158-5225E400A1CE}"/>
                      </a:ext>
                    </a:extLst>
                  </p:cNvPr>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6" name="矩形 15">
                    <a:extLst>
                      <a:ext uri="{FF2B5EF4-FFF2-40B4-BE49-F238E27FC236}">
                        <a16:creationId xmlns:a16="http://schemas.microsoft.com/office/drawing/2014/main" id="{BE1B6810-B3CC-C51B-E1B8-32CBD41395D2}"/>
                      </a:ext>
                    </a:extLst>
                  </p:cNvPr>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7" name="矩形 16">
                    <a:extLst>
                      <a:ext uri="{FF2B5EF4-FFF2-40B4-BE49-F238E27FC236}">
                        <a16:creationId xmlns:a16="http://schemas.microsoft.com/office/drawing/2014/main" id="{0AAF93E0-4B99-8729-D9C0-F878334D12A5}"/>
                      </a:ext>
                    </a:extLst>
                  </p:cNvPr>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8" name="矩形 17">
                    <a:extLst>
                      <a:ext uri="{FF2B5EF4-FFF2-40B4-BE49-F238E27FC236}">
                        <a16:creationId xmlns:a16="http://schemas.microsoft.com/office/drawing/2014/main" id="{0E90DBCB-E7B1-BD88-597A-C5858CF88E95}"/>
                      </a:ext>
                    </a:extLst>
                  </p:cNvPr>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19" name="矩形 18">
                  <a:extLst>
                    <a:ext uri="{FF2B5EF4-FFF2-40B4-BE49-F238E27FC236}">
                      <a16:creationId xmlns:a16="http://schemas.microsoft.com/office/drawing/2014/main" id="{9E9D96E5-6195-467F-C3CB-09741B9D18A3}"/>
                    </a:ext>
                  </a:extLst>
                </p:cNvPr>
                <p:cNvSpPr/>
                <p:nvPr/>
              </p:nvSpPr>
              <p:spPr>
                <a:xfrm>
                  <a:off x="5458688" y="1331325"/>
                  <a:ext cx="1692000" cy="169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nvGrpSpPr>
              <p:cNvPr id="13" name="组合 12">
                <a:extLst>
                  <a:ext uri="{FF2B5EF4-FFF2-40B4-BE49-F238E27FC236}">
                    <a16:creationId xmlns:a16="http://schemas.microsoft.com/office/drawing/2014/main" id="{CFB99ADC-0866-794C-7BAC-A13986E87F48}"/>
                  </a:ext>
                </a:extLst>
              </p:cNvPr>
              <p:cNvGrpSpPr/>
              <p:nvPr/>
            </p:nvGrpSpPr>
            <p:grpSpPr>
              <a:xfrm>
                <a:off x="3333750" y="1457325"/>
                <a:ext cx="1440000" cy="1440000"/>
                <a:chOff x="3333750" y="1457325"/>
                <a:chExt cx="1440000" cy="1440000"/>
              </a:xfrm>
            </p:grpSpPr>
            <p:sp>
              <p:nvSpPr>
                <p:cNvPr id="5" name="矩形 4">
                  <a:extLst>
                    <a:ext uri="{FF2B5EF4-FFF2-40B4-BE49-F238E27FC236}">
                      <a16:creationId xmlns:a16="http://schemas.microsoft.com/office/drawing/2014/main" id="{5BDE3A9C-B993-0101-12DC-4B6D52DED73B}"/>
                    </a:ext>
                  </a:extLst>
                </p:cNvPr>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 name="矩形 5">
                  <a:extLst>
                    <a:ext uri="{FF2B5EF4-FFF2-40B4-BE49-F238E27FC236}">
                      <a16:creationId xmlns:a16="http://schemas.microsoft.com/office/drawing/2014/main" id="{B8AFAFA3-412C-F259-A37C-8F8468454117}"/>
                    </a:ext>
                  </a:extLst>
                </p:cNvPr>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9" name="矩形 8">
                  <a:extLst>
                    <a:ext uri="{FF2B5EF4-FFF2-40B4-BE49-F238E27FC236}">
                      <a16:creationId xmlns:a16="http://schemas.microsoft.com/office/drawing/2014/main" id="{141AC83B-42E2-4EE7-09A8-67EACEB9BEA1}"/>
                    </a:ext>
                  </a:extLst>
                </p:cNvPr>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0" name="矩形 9">
                  <a:extLst>
                    <a:ext uri="{FF2B5EF4-FFF2-40B4-BE49-F238E27FC236}">
                      <a16:creationId xmlns:a16="http://schemas.microsoft.com/office/drawing/2014/main" id="{E1C78C3F-E6F6-D683-6233-78484BC20BEC}"/>
                    </a:ext>
                  </a:extLst>
                </p:cNvPr>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sp>
          <p:nvSpPr>
            <p:cNvPr id="12" name="文本框 11">
              <a:extLst>
                <a:ext uri="{FF2B5EF4-FFF2-40B4-BE49-F238E27FC236}">
                  <a16:creationId xmlns:a16="http://schemas.microsoft.com/office/drawing/2014/main" id="{0A9F6D62-2314-E259-6170-3549C20FF43A}"/>
                </a:ext>
              </a:extLst>
            </p:cNvPr>
            <p:cNvSpPr txBox="1"/>
            <p:nvPr/>
          </p:nvSpPr>
          <p:spPr>
            <a:xfrm>
              <a:off x="4126706" y="1135320"/>
              <a:ext cx="861053" cy="1546577"/>
            </a:xfrm>
            <a:prstGeom prst="rect">
              <a:avLst/>
            </a:prstGeom>
            <a:noFill/>
          </p:spPr>
          <p:txBody>
            <a:bodyPr wrap="none" rtlCol="0">
              <a:spAutoFit/>
            </a:bodyPr>
            <a:lstStyle/>
            <a:p>
              <a:r>
                <a:rPr lang="en-US" altLang="zh-CN" sz="128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rPr>
                <a:t>5</a:t>
              </a:r>
              <a:endParaRPr lang="zh-CN" altLang="en-US" sz="128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22" name="矩形 21">
            <a:extLst>
              <a:ext uri="{FF2B5EF4-FFF2-40B4-BE49-F238E27FC236}">
                <a16:creationId xmlns:a16="http://schemas.microsoft.com/office/drawing/2014/main" id="{8A1E36E3-2677-6CCF-E698-CC95A0C0F2B0}"/>
              </a:ext>
            </a:extLst>
          </p:cNvPr>
          <p:cNvSpPr/>
          <p:nvPr/>
        </p:nvSpPr>
        <p:spPr>
          <a:xfrm>
            <a:off x="2421166" y="4180248"/>
            <a:ext cx="7334629" cy="646331"/>
          </a:xfrm>
          <a:prstGeom prst="rect">
            <a:avLst/>
          </a:prstGeom>
        </p:spPr>
        <p:txBody>
          <a:bodyPr wrap="square">
            <a:spAutoFit/>
          </a:bodyPr>
          <a:lstStyle/>
          <a:p>
            <a:pPr algn="ctr"/>
            <a:r>
              <a:rPr lang="zh-CN" altLang="en-US" sz="3600" dirty="0">
                <a:latin typeface="字魂58号-创中黑" panose="00000500000000000000" pitchFamily="2" charset="-122"/>
                <a:ea typeface="字魂58号-创中黑" panose="00000500000000000000" pitchFamily="2" charset="-122"/>
                <a:sym typeface="字魂58号-创中黑" panose="00000500000000000000" pitchFamily="2" charset="-122"/>
              </a:rPr>
              <a:t>数字孪生系统实现</a:t>
            </a:r>
          </a:p>
        </p:txBody>
      </p:sp>
      <p:cxnSp>
        <p:nvCxnSpPr>
          <p:cNvPr id="25" name="直接连接符 24">
            <a:extLst>
              <a:ext uri="{FF2B5EF4-FFF2-40B4-BE49-F238E27FC236}">
                <a16:creationId xmlns:a16="http://schemas.microsoft.com/office/drawing/2014/main" id="{36335FDF-6F25-5646-88FA-A8A321A9D441}"/>
              </a:ext>
            </a:extLst>
          </p:cNvPr>
          <p:cNvCxnSpPr>
            <a:cxnSpLocks/>
          </p:cNvCxnSpPr>
          <p:nvPr/>
        </p:nvCxnSpPr>
        <p:spPr>
          <a:xfrm>
            <a:off x="328921" y="4961696"/>
            <a:ext cx="11523643" cy="0"/>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07395351-0807-5EDF-A9B5-6B87A4D5DD86}"/>
              </a:ext>
            </a:extLst>
          </p:cNvPr>
          <p:cNvSpPr/>
          <p:nvPr/>
        </p:nvSpPr>
        <p:spPr>
          <a:xfrm>
            <a:off x="1857756" y="4971903"/>
            <a:ext cx="8437108" cy="3366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377">
              <a:lnSpc>
                <a:spcPct val="150000"/>
              </a:lnSpc>
              <a:spcBef>
                <a:spcPct val="20000"/>
              </a:spcBef>
            </a:pPr>
            <a:r>
              <a:rPr lang="en-US" altLang="zh-CN" sz="12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Digital Twin System Implementation</a:t>
            </a:r>
          </a:p>
        </p:txBody>
      </p:sp>
      <p:pic>
        <p:nvPicPr>
          <p:cNvPr id="3" name="图片 2">
            <a:extLst>
              <a:ext uri="{FF2B5EF4-FFF2-40B4-BE49-F238E27FC236}">
                <a16:creationId xmlns:a16="http://schemas.microsoft.com/office/drawing/2014/main" id="{8F957D1D-CF5E-78DE-ED9A-96D3AEC736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37057" y="446446"/>
            <a:ext cx="1591597" cy="533480"/>
          </a:xfrm>
          <a:prstGeom prst="rect">
            <a:avLst/>
          </a:prstGeom>
        </p:spPr>
      </p:pic>
    </p:spTree>
    <p:extLst>
      <p:ext uri="{BB962C8B-B14F-4D97-AF65-F5344CB8AC3E}">
        <p14:creationId xmlns:p14="http://schemas.microsoft.com/office/powerpoint/2010/main" val="4065762084"/>
      </p:ext>
    </p:extLst>
  </p:cSld>
  <p:clrMapOvr>
    <a:masterClrMapping/>
  </p:clrMapOvr>
  <mc:AlternateContent xmlns:mc="http://schemas.openxmlformats.org/markup-compatibility/2006" xmlns:p14="http://schemas.microsoft.com/office/powerpoint/2010/main">
    <mc:Choice Requires="p14">
      <p:transition spd="slow" p14:dur="1500" advClick="0" advTm="1674">
        <p:random/>
      </p:transition>
    </mc:Choice>
    <mc:Fallback xmlns="">
      <p:transition spd="slow" advClick="0" advTm="1674">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33052-E724-C8B1-EBB2-4024F86B8D69}"/>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2ECF8DC4-1FB2-6BDC-5921-7F0F2E5CD55A}"/>
              </a:ext>
            </a:extLst>
          </p:cNvPr>
          <p:cNvGrpSpPr/>
          <p:nvPr/>
        </p:nvGrpSpPr>
        <p:grpSpPr>
          <a:xfrm>
            <a:off x="3954227" y="538222"/>
            <a:ext cx="4328485" cy="830997"/>
            <a:chOff x="3954227" y="538222"/>
            <a:chExt cx="4328485" cy="830997"/>
          </a:xfrm>
        </p:grpSpPr>
        <p:sp>
          <p:nvSpPr>
            <p:cNvPr id="5" name="文本框 4">
              <a:extLst>
                <a:ext uri="{FF2B5EF4-FFF2-40B4-BE49-F238E27FC236}">
                  <a16:creationId xmlns:a16="http://schemas.microsoft.com/office/drawing/2014/main" id="{7BB8953F-2F55-3CEC-CA79-C35D27F7EC2F}"/>
                </a:ext>
              </a:extLst>
            </p:cNvPr>
            <p:cNvSpPr txBox="1"/>
            <p:nvPr/>
          </p:nvSpPr>
          <p:spPr>
            <a:xfrm>
              <a:off x="4034742" y="538222"/>
              <a:ext cx="4247970" cy="830997"/>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五、</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数字孪生系统实现</a:t>
              </a: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1A7DF7F9-87B5-75FF-83CD-2B3CAF2D9CF2}"/>
                </a:ext>
              </a:extLst>
            </p:cNvPr>
            <p:cNvSpPr txBox="1">
              <a:spLocks noChangeArrowheads="1"/>
            </p:cNvSpPr>
            <p:nvPr/>
          </p:nvSpPr>
          <p:spPr bwMode="auto">
            <a:xfrm>
              <a:off x="3954227" y="86994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algn="ctr" defTabSz="914377">
                <a:lnSpc>
                  <a:spcPct val="150000"/>
                </a:lnSpc>
                <a:spcBef>
                  <a:spcPct val="20000"/>
                </a:spcBef>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Digital Twin System Implementation</a:t>
              </a:r>
            </a:p>
          </p:txBody>
        </p:sp>
        <p:cxnSp>
          <p:nvCxnSpPr>
            <p:cNvPr id="7" name="直接连接符 6"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C7C9F34D-3EBF-ED72-3321-3F1BCE3CF6D6}"/>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9" name="矩形 8">
            <a:extLst>
              <a:ext uri="{FF2B5EF4-FFF2-40B4-BE49-F238E27FC236}">
                <a16:creationId xmlns:a16="http://schemas.microsoft.com/office/drawing/2014/main" id="{8E890DCA-8846-916C-DA56-B953C45D1DE7}"/>
              </a:ext>
            </a:extLst>
          </p:cNvPr>
          <p:cNvSpPr/>
          <p:nvPr/>
        </p:nvSpPr>
        <p:spPr>
          <a:xfrm>
            <a:off x="1436854" y="1265159"/>
            <a:ext cx="1885466" cy="396583"/>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设计架构及流程</a:t>
            </a:r>
          </a:p>
        </p:txBody>
      </p:sp>
      <p:pic>
        <p:nvPicPr>
          <p:cNvPr id="10" name="图片 9">
            <a:extLst>
              <a:ext uri="{FF2B5EF4-FFF2-40B4-BE49-F238E27FC236}">
                <a16:creationId xmlns:a16="http://schemas.microsoft.com/office/drawing/2014/main" id="{C7AF67B7-62FD-3CFD-6318-61BBA455FA76}"/>
              </a:ext>
            </a:extLst>
          </p:cNvPr>
          <p:cNvPicPr>
            <a:picLocks noChangeAspect="1"/>
          </p:cNvPicPr>
          <p:nvPr/>
        </p:nvPicPr>
        <p:blipFill>
          <a:blip r:embed="rId3"/>
          <a:stretch>
            <a:fillRect/>
          </a:stretch>
        </p:blipFill>
        <p:spPr>
          <a:xfrm>
            <a:off x="2196465" y="1836644"/>
            <a:ext cx="2462586" cy="4151409"/>
          </a:xfrm>
          <a:prstGeom prst="rect">
            <a:avLst/>
          </a:prstGeom>
        </p:spPr>
      </p:pic>
      <p:pic>
        <p:nvPicPr>
          <p:cNvPr id="11" name="图片 10">
            <a:extLst>
              <a:ext uri="{FF2B5EF4-FFF2-40B4-BE49-F238E27FC236}">
                <a16:creationId xmlns:a16="http://schemas.microsoft.com/office/drawing/2014/main" id="{1F0A2027-E482-93E6-A690-8D11B3D6307C}"/>
              </a:ext>
            </a:extLst>
          </p:cNvPr>
          <p:cNvPicPr>
            <a:picLocks noChangeAspect="1"/>
          </p:cNvPicPr>
          <p:nvPr/>
        </p:nvPicPr>
        <p:blipFill>
          <a:blip r:embed="rId4"/>
          <a:stretch>
            <a:fillRect/>
          </a:stretch>
        </p:blipFill>
        <p:spPr>
          <a:xfrm>
            <a:off x="5791201" y="2081844"/>
            <a:ext cx="5514202" cy="2347359"/>
          </a:xfrm>
          <a:prstGeom prst="rect">
            <a:avLst/>
          </a:prstGeom>
        </p:spPr>
      </p:pic>
      <p:sp>
        <p:nvSpPr>
          <p:cNvPr id="14" name="文本框 13">
            <a:extLst>
              <a:ext uri="{FF2B5EF4-FFF2-40B4-BE49-F238E27FC236}">
                <a16:creationId xmlns:a16="http://schemas.microsoft.com/office/drawing/2014/main" id="{F5CFF67E-EBAF-3D9B-76C7-89E461F9A8E3}"/>
              </a:ext>
            </a:extLst>
          </p:cNvPr>
          <p:cNvSpPr txBox="1"/>
          <p:nvPr/>
        </p:nvSpPr>
        <p:spPr>
          <a:xfrm>
            <a:off x="2570508" y="5988053"/>
            <a:ext cx="1714500" cy="307777"/>
          </a:xfrm>
          <a:prstGeom prst="rect">
            <a:avLst/>
          </a:prstGeom>
          <a:noFill/>
        </p:spPr>
        <p:txBody>
          <a:bodyPr wrap="square">
            <a:spAutoFit/>
          </a:bodyPr>
          <a:lstStyle/>
          <a:p>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数字孪生系统架构</a:t>
            </a:r>
            <a:endParaRPr lang="zh-CN" altLang="en-US" sz="1400" dirty="0">
              <a:ea typeface="字魂58号-创中黑" panose="00000500000000000000"/>
            </a:endParaRPr>
          </a:p>
        </p:txBody>
      </p:sp>
      <p:sp>
        <p:nvSpPr>
          <p:cNvPr id="17" name="文本框 16">
            <a:extLst>
              <a:ext uri="{FF2B5EF4-FFF2-40B4-BE49-F238E27FC236}">
                <a16:creationId xmlns:a16="http://schemas.microsoft.com/office/drawing/2014/main" id="{7AECE370-B7F2-0DEC-A6D8-E988DB9AB62F}"/>
              </a:ext>
            </a:extLst>
          </p:cNvPr>
          <p:cNvSpPr txBox="1"/>
          <p:nvPr/>
        </p:nvSpPr>
        <p:spPr>
          <a:xfrm>
            <a:off x="7977670" y="4612640"/>
            <a:ext cx="1468148" cy="307777"/>
          </a:xfrm>
          <a:prstGeom prst="rect">
            <a:avLst/>
          </a:prstGeom>
          <a:noFill/>
        </p:spPr>
        <p:txBody>
          <a:bodyPr wrap="square">
            <a:spAutoFit/>
          </a:bodyPr>
          <a:lstStyle/>
          <a:p>
            <a:r>
              <a:rPr lang="en-US" altLang="zh-CN" sz="1400" kern="100" dirty="0">
                <a:effectLst/>
                <a:latin typeface="Times New Roman" panose="02020603050405020304" pitchFamily="18" charset="0"/>
                <a:ea typeface="字魂58号-创中黑" panose="00000500000000000000"/>
              </a:rPr>
              <a:t>Unity</a:t>
            </a:r>
            <a:r>
              <a:rPr lang="zh-CN" altLang="zh-CN" sz="1400" kern="100" dirty="0">
                <a:effectLst/>
                <a:latin typeface="Times New Roman" panose="02020603050405020304" pitchFamily="18" charset="0"/>
                <a:ea typeface="字魂58号-创中黑" panose="00000500000000000000"/>
                <a:cs typeface="Times New Roman" panose="02020603050405020304" pitchFamily="18" charset="0"/>
              </a:rPr>
              <a:t>开发流程</a:t>
            </a:r>
            <a:endParaRPr lang="zh-CN" altLang="en-US" sz="1400" dirty="0">
              <a:ea typeface="字魂58号-创中黑" panose="00000500000000000000"/>
            </a:endParaRPr>
          </a:p>
        </p:txBody>
      </p:sp>
    </p:spTree>
    <p:extLst>
      <p:ext uri="{BB962C8B-B14F-4D97-AF65-F5344CB8AC3E}">
        <p14:creationId xmlns:p14="http://schemas.microsoft.com/office/powerpoint/2010/main" val="2989941487"/>
      </p:ext>
    </p:extLst>
  </p:cSld>
  <p:clrMapOvr>
    <a:masterClrMapping/>
  </p:clrMapOvr>
  <mc:AlternateContent xmlns:mc="http://schemas.openxmlformats.org/markup-compatibility/2006" xmlns:p14="http://schemas.microsoft.com/office/powerpoint/2010/main">
    <mc:Choice Requires="p14">
      <p:transition spd="slow" p14:dur="1500" advClick="0" advTm="7546">
        <p:random/>
      </p:transition>
    </mc:Choice>
    <mc:Fallback xmlns="">
      <p:transition spd="slow" advClick="0" advTm="7546">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4E97D-8BC4-5E38-D698-7B83727F971A}"/>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41B5672-7553-F65E-34AB-6391E720EBAC}"/>
              </a:ext>
            </a:extLst>
          </p:cNvPr>
          <p:cNvGrpSpPr/>
          <p:nvPr/>
        </p:nvGrpSpPr>
        <p:grpSpPr>
          <a:xfrm>
            <a:off x="3954227" y="538222"/>
            <a:ext cx="4328485" cy="830997"/>
            <a:chOff x="3954227" y="538222"/>
            <a:chExt cx="4328485" cy="830997"/>
          </a:xfrm>
        </p:grpSpPr>
        <p:sp>
          <p:nvSpPr>
            <p:cNvPr id="3" name="文本框 2">
              <a:extLst>
                <a:ext uri="{FF2B5EF4-FFF2-40B4-BE49-F238E27FC236}">
                  <a16:creationId xmlns:a16="http://schemas.microsoft.com/office/drawing/2014/main" id="{A9AB60AB-E28C-5AA0-0EEC-E36E78E3A63C}"/>
                </a:ext>
              </a:extLst>
            </p:cNvPr>
            <p:cNvSpPr txBox="1"/>
            <p:nvPr/>
          </p:nvSpPr>
          <p:spPr>
            <a:xfrm>
              <a:off x="4034742" y="538222"/>
              <a:ext cx="4247970" cy="830997"/>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五、</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数字孪生系统实现</a:t>
              </a: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8"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7C5AF711-BB8E-6722-9832-85E3F9018264}"/>
                </a:ext>
              </a:extLst>
            </p:cNvPr>
            <p:cNvSpPr txBox="1">
              <a:spLocks noChangeArrowheads="1"/>
            </p:cNvSpPr>
            <p:nvPr/>
          </p:nvSpPr>
          <p:spPr bwMode="auto">
            <a:xfrm>
              <a:off x="3954227" y="86994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algn="ctr" defTabSz="914377">
                <a:lnSpc>
                  <a:spcPct val="150000"/>
                </a:lnSpc>
                <a:spcBef>
                  <a:spcPct val="20000"/>
                </a:spcBef>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Digital Twin System Implementation</a:t>
              </a:r>
            </a:p>
          </p:txBody>
        </p:sp>
        <p:cxnSp>
          <p:nvCxnSpPr>
            <p:cNvPr id="9" name="直接连接符 8"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53C0653B-A0B5-C660-EC8D-A09F173A8E8F}"/>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pic>
        <p:nvPicPr>
          <p:cNvPr id="11" name="图片 10">
            <a:extLst>
              <a:ext uri="{FF2B5EF4-FFF2-40B4-BE49-F238E27FC236}">
                <a16:creationId xmlns:a16="http://schemas.microsoft.com/office/drawing/2014/main" id="{5D46AA4B-3365-D8A4-7715-DB46A93CEE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8623" y="1594514"/>
            <a:ext cx="8104516" cy="4531965"/>
          </a:xfrm>
          <a:prstGeom prst="rect">
            <a:avLst/>
          </a:prstGeom>
        </p:spPr>
      </p:pic>
      <p:sp>
        <p:nvSpPr>
          <p:cNvPr id="12" name="矩形 11">
            <a:extLst>
              <a:ext uri="{FF2B5EF4-FFF2-40B4-BE49-F238E27FC236}">
                <a16:creationId xmlns:a16="http://schemas.microsoft.com/office/drawing/2014/main" id="{AC179382-AC74-F01A-D71C-E9307E2FCB86}"/>
              </a:ext>
            </a:extLst>
          </p:cNvPr>
          <p:cNvSpPr/>
          <p:nvPr/>
        </p:nvSpPr>
        <p:spPr>
          <a:xfrm>
            <a:off x="1168653" y="1100523"/>
            <a:ext cx="1885466" cy="396583"/>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效果展示</a:t>
            </a:r>
          </a:p>
        </p:txBody>
      </p:sp>
    </p:spTree>
    <p:extLst>
      <p:ext uri="{BB962C8B-B14F-4D97-AF65-F5344CB8AC3E}">
        <p14:creationId xmlns:p14="http://schemas.microsoft.com/office/powerpoint/2010/main" val="1067949002"/>
      </p:ext>
    </p:extLst>
  </p:cSld>
  <p:clrMapOvr>
    <a:masterClrMapping/>
  </p:clrMapOvr>
  <mc:AlternateContent xmlns:mc="http://schemas.openxmlformats.org/markup-compatibility/2006" xmlns:p14="http://schemas.microsoft.com/office/powerpoint/2010/main">
    <mc:Choice Requires="p14">
      <p:transition spd="slow" p14:dur="1500" advClick="0" advTm="32833">
        <p:random/>
      </p:transition>
    </mc:Choice>
    <mc:Fallback xmlns="">
      <p:transition spd="slow" advClick="0" advTm="32833">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6CD8D-5376-A8FF-17B7-F622F75B81C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22DDC98-04EA-0418-BDD2-CFE3582E2066}"/>
              </a:ext>
            </a:extLst>
          </p:cNvPr>
          <p:cNvGrpSpPr/>
          <p:nvPr/>
        </p:nvGrpSpPr>
        <p:grpSpPr>
          <a:xfrm>
            <a:off x="4908550" y="1372748"/>
            <a:ext cx="2374901" cy="2374902"/>
            <a:chOff x="3681412" y="1029561"/>
            <a:chExt cx="1781176" cy="1781176"/>
          </a:xfrm>
        </p:grpSpPr>
        <p:grpSp>
          <p:nvGrpSpPr>
            <p:cNvPr id="21" name="组合 20">
              <a:extLst>
                <a:ext uri="{FF2B5EF4-FFF2-40B4-BE49-F238E27FC236}">
                  <a16:creationId xmlns:a16="http://schemas.microsoft.com/office/drawing/2014/main" id="{387108C2-F8F7-7190-653A-3B2319E79391}"/>
                </a:ext>
              </a:extLst>
            </p:cNvPr>
            <p:cNvGrpSpPr/>
            <p:nvPr/>
          </p:nvGrpSpPr>
          <p:grpSpPr>
            <a:xfrm>
              <a:off x="3681412" y="1029561"/>
              <a:ext cx="1781176" cy="1781176"/>
              <a:chOff x="3163162" y="1286736"/>
              <a:chExt cx="1781176" cy="1781176"/>
            </a:xfrm>
          </p:grpSpPr>
          <p:grpSp>
            <p:nvGrpSpPr>
              <p:cNvPr id="20" name="组合 19">
                <a:extLst>
                  <a:ext uri="{FF2B5EF4-FFF2-40B4-BE49-F238E27FC236}">
                    <a16:creationId xmlns:a16="http://schemas.microsoft.com/office/drawing/2014/main" id="{49C57B8E-F78E-2709-5403-B7502F5E8D14}"/>
                  </a:ext>
                </a:extLst>
              </p:cNvPr>
              <p:cNvGrpSpPr/>
              <p:nvPr/>
            </p:nvGrpSpPr>
            <p:grpSpPr>
              <a:xfrm>
                <a:off x="3163162" y="1286736"/>
                <a:ext cx="1781176" cy="1781176"/>
                <a:chOff x="5410200" y="1286736"/>
                <a:chExt cx="1781176" cy="1781176"/>
              </a:xfrm>
            </p:grpSpPr>
            <p:grpSp>
              <p:nvGrpSpPr>
                <p:cNvPr id="14" name="组合 13">
                  <a:extLst>
                    <a:ext uri="{FF2B5EF4-FFF2-40B4-BE49-F238E27FC236}">
                      <a16:creationId xmlns:a16="http://schemas.microsoft.com/office/drawing/2014/main" id="{517E33E3-F70C-654B-BA31-8E04D6580979}"/>
                    </a:ext>
                  </a:extLst>
                </p:cNvPr>
                <p:cNvGrpSpPr/>
                <p:nvPr/>
              </p:nvGrpSpPr>
              <p:grpSpPr>
                <a:xfrm flipH="1">
                  <a:off x="5410200" y="1286736"/>
                  <a:ext cx="1781176" cy="1781176"/>
                  <a:chOff x="3333750" y="1457325"/>
                  <a:chExt cx="1440000" cy="1440000"/>
                </a:xfrm>
              </p:grpSpPr>
              <p:sp>
                <p:nvSpPr>
                  <p:cNvPr id="15" name="矩形 14">
                    <a:extLst>
                      <a:ext uri="{FF2B5EF4-FFF2-40B4-BE49-F238E27FC236}">
                        <a16:creationId xmlns:a16="http://schemas.microsoft.com/office/drawing/2014/main" id="{164A8FD4-644B-7100-970C-4AEE7932FE90}"/>
                      </a:ext>
                    </a:extLst>
                  </p:cNvPr>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6" name="矩形 15">
                    <a:extLst>
                      <a:ext uri="{FF2B5EF4-FFF2-40B4-BE49-F238E27FC236}">
                        <a16:creationId xmlns:a16="http://schemas.microsoft.com/office/drawing/2014/main" id="{7AE08D62-41C5-B21A-6F6B-06076DFC9337}"/>
                      </a:ext>
                    </a:extLst>
                  </p:cNvPr>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7" name="矩形 16">
                    <a:extLst>
                      <a:ext uri="{FF2B5EF4-FFF2-40B4-BE49-F238E27FC236}">
                        <a16:creationId xmlns:a16="http://schemas.microsoft.com/office/drawing/2014/main" id="{76ABF922-5B65-5914-98BE-E0210A0ACB71}"/>
                      </a:ext>
                    </a:extLst>
                  </p:cNvPr>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8" name="矩形 17">
                    <a:extLst>
                      <a:ext uri="{FF2B5EF4-FFF2-40B4-BE49-F238E27FC236}">
                        <a16:creationId xmlns:a16="http://schemas.microsoft.com/office/drawing/2014/main" id="{7EFC45EB-2B00-2D7B-B908-7714070C259C}"/>
                      </a:ext>
                    </a:extLst>
                  </p:cNvPr>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19" name="矩形 18">
                  <a:extLst>
                    <a:ext uri="{FF2B5EF4-FFF2-40B4-BE49-F238E27FC236}">
                      <a16:creationId xmlns:a16="http://schemas.microsoft.com/office/drawing/2014/main" id="{99A8E6D2-3D57-0912-1A2F-4167245A9CF2}"/>
                    </a:ext>
                  </a:extLst>
                </p:cNvPr>
                <p:cNvSpPr/>
                <p:nvPr/>
              </p:nvSpPr>
              <p:spPr>
                <a:xfrm>
                  <a:off x="5458688" y="1331325"/>
                  <a:ext cx="1692000" cy="169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nvGrpSpPr>
              <p:cNvPr id="13" name="组合 12">
                <a:extLst>
                  <a:ext uri="{FF2B5EF4-FFF2-40B4-BE49-F238E27FC236}">
                    <a16:creationId xmlns:a16="http://schemas.microsoft.com/office/drawing/2014/main" id="{66655BD5-A016-74E3-6B78-050B38C625C8}"/>
                  </a:ext>
                </a:extLst>
              </p:cNvPr>
              <p:cNvGrpSpPr/>
              <p:nvPr/>
            </p:nvGrpSpPr>
            <p:grpSpPr>
              <a:xfrm>
                <a:off x="3333750" y="1457325"/>
                <a:ext cx="1440000" cy="1440000"/>
                <a:chOff x="3333750" y="1457325"/>
                <a:chExt cx="1440000" cy="1440000"/>
              </a:xfrm>
            </p:grpSpPr>
            <p:sp>
              <p:nvSpPr>
                <p:cNvPr id="5" name="矩形 4">
                  <a:extLst>
                    <a:ext uri="{FF2B5EF4-FFF2-40B4-BE49-F238E27FC236}">
                      <a16:creationId xmlns:a16="http://schemas.microsoft.com/office/drawing/2014/main" id="{72D0687B-FC3A-6605-2E7D-66675BD356C4}"/>
                    </a:ext>
                  </a:extLst>
                </p:cNvPr>
                <p:cNvSpPr/>
                <p:nvPr/>
              </p:nvSpPr>
              <p:spPr>
                <a:xfrm>
                  <a:off x="3333750" y="145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 name="矩形 5">
                  <a:extLst>
                    <a:ext uri="{FF2B5EF4-FFF2-40B4-BE49-F238E27FC236}">
                      <a16:creationId xmlns:a16="http://schemas.microsoft.com/office/drawing/2014/main" id="{2CA1F3D0-E7EE-F9B5-80EE-834EACEA2DED}"/>
                    </a:ext>
                  </a:extLst>
                </p:cNvPr>
                <p:cNvSpPr/>
                <p:nvPr/>
              </p:nvSpPr>
              <p:spPr>
                <a:xfrm>
                  <a:off x="4053750" y="145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9" name="矩形 8">
                  <a:extLst>
                    <a:ext uri="{FF2B5EF4-FFF2-40B4-BE49-F238E27FC236}">
                      <a16:creationId xmlns:a16="http://schemas.microsoft.com/office/drawing/2014/main" id="{706B679A-F7ED-DFF6-7B91-E46E26FED5E8}"/>
                    </a:ext>
                  </a:extLst>
                </p:cNvPr>
                <p:cNvSpPr/>
                <p:nvPr/>
              </p:nvSpPr>
              <p:spPr>
                <a:xfrm>
                  <a:off x="4053750" y="2177325"/>
                  <a:ext cx="720000" cy="720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10" name="矩形 9">
                  <a:extLst>
                    <a:ext uri="{FF2B5EF4-FFF2-40B4-BE49-F238E27FC236}">
                      <a16:creationId xmlns:a16="http://schemas.microsoft.com/office/drawing/2014/main" id="{AA33BF48-1938-2943-1FB4-22EB938D7C7C}"/>
                    </a:ext>
                  </a:extLst>
                </p:cNvPr>
                <p:cNvSpPr/>
                <p:nvPr/>
              </p:nvSpPr>
              <p:spPr>
                <a:xfrm>
                  <a:off x="3333750" y="2177325"/>
                  <a:ext cx="720000" cy="720000"/>
                </a:xfrm>
                <a:prstGeom prst="rect">
                  <a:avLst/>
                </a:prstGeom>
                <a:solidFill>
                  <a:srgbClr val="1C49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grpSp>
        <p:sp>
          <p:nvSpPr>
            <p:cNvPr id="12" name="文本框 11">
              <a:extLst>
                <a:ext uri="{FF2B5EF4-FFF2-40B4-BE49-F238E27FC236}">
                  <a16:creationId xmlns:a16="http://schemas.microsoft.com/office/drawing/2014/main" id="{E98BFB15-6329-A3EB-EB57-79C79659CE38}"/>
                </a:ext>
              </a:extLst>
            </p:cNvPr>
            <p:cNvSpPr txBox="1"/>
            <p:nvPr/>
          </p:nvSpPr>
          <p:spPr>
            <a:xfrm>
              <a:off x="4126706" y="1135320"/>
              <a:ext cx="861053" cy="1546577"/>
            </a:xfrm>
            <a:prstGeom prst="rect">
              <a:avLst/>
            </a:prstGeom>
            <a:noFill/>
          </p:spPr>
          <p:txBody>
            <a:bodyPr wrap="none" rtlCol="0">
              <a:spAutoFit/>
            </a:bodyPr>
            <a:lstStyle/>
            <a:p>
              <a:r>
                <a:rPr lang="en-US" altLang="zh-CN" sz="128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rPr>
                <a:t>6</a:t>
              </a:r>
              <a:endParaRPr lang="zh-CN" altLang="en-US" sz="12800" dirty="0">
                <a:solidFill>
                  <a:prstClr val="white"/>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sp>
        <p:nvSpPr>
          <p:cNvPr id="22" name="矩形 21">
            <a:extLst>
              <a:ext uri="{FF2B5EF4-FFF2-40B4-BE49-F238E27FC236}">
                <a16:creationId xmlns:a16="http://schemas.microsoft.com/office/drawing/2014/main" id="{F3C9B3E8-1DC8-9E87-AEAB-E456D25EE18D}"/>
              </a:ext>
            </a:extLst>
          </p:cNvPr>
          <p:cNvSpPr/>
          <p:nvPr/>
        </p:nvSpPr>
        <p:spPr>
          <a:xfrm>
            <a:off x="2421166" y="4180248"/>
            <a:ext cx="7334629" cy="646331"/>
          </a:xfrm>
          <a:prstGeom prst="rect">
            <a:avLst/>
          </a:prstGeom>
        </p:spPr>
        <p:txBody>
          <a:bodyPr wrap="square">
            <a:spAutoFit/>
          </a:bodyPr>
          <a:lstStyle/>
          <a:p>
            <a:pPr algn="ctr"/>
            <a:r>
              <a:rPr lang="zh-CN" altLang="en-US" sz="3600" dirty="0">
                <a:latin typeface="字魂58号-创中黑" panose="00000500000000000000" pitchFamily="2" charset="-122"/>
                <a:ea typeface="字魂58号-创中黑" panose="00000500000000000000" pitchFamily="2" charset="-122"/>
                <a:sym typeface="字魂58号-创中黑" panose="00000500000000000000" pitchFamily="2" charset="-122"/>
              </a:rPr>
              <a:t>总结与展望</a:t>
            </a:r>
          </a:p>
        </p:txBody>
      </p:sp>
      <p:cxnSp>
        <p:nvCxnSpPr>
          <p:cNvPr id="25" name="直接连接符 24">
            <a:extLst>
              <a:ext uri="{FF2B5EF4-FFF2-40B4-BE49-F238E27FC236}">
                <a16:creationId xmlns:a16="http://schemas.microsoft.com/office/drawing/2014/main" id="{8D4E7605-2CB4-BFBA-C62F-6518798520ED}"/>
              </a:ext>
            </a:extLst>
          </p:cNvPr>
          <p:cNvCxnSpPr>
            <a:cxnSpLocks/>
          </p:cNvCxnSpPr>
          <p:nvPr/>
        </p:nvCxnSpPr>
        <p:spPr>
          <a:xfrm>
            <a:off x="328921" y="4961696"/>
            <a:ext cx="11523643" cy="0"/>
          </a:xfrm>
          <a:prstGeom prst="line">
            <a:avLst/>
          </a:prstGeom>
          <a:ln w="38100">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C550373E-0C10-3CB7-4131-2B643E6C2323}"/>
              </a:ext>
            </a:extLst>
          </p:cNvPr>
          <p:cNvSpPr/>
          <p:nvPr/>
        </p:nvSpPr>
        <p:spPr>
          <a:xfrm>
            <a:off x="1857756" y="4971903"/>
            <a:ext cx="8437108" cy="3366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377">
              <a:lnSpc>
                <a:spcPct val="150000"/>
              </a:lnSpc>
              <a:spcBef>
                <a:spcPct val="20000"/>
              </a:spcBef>
            </a:pPr>
            <a:r>
              <a:rPr lang="en-US" altLang="zh-CN" sz="12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Summary and Outlook</a:t>
            </a:r>
          </a:p>
        </p:txBody>
      </p:sp>
      <p:pic>
        <p:nvPicPr>
          <p:cNvPr id="3" name="图片 2">
            <a:extLst>
              <a:ext uri="{FF2B5EF4-FFF2-40B4-BE49-F238E27FC236}">
                <a16:creationId xmlns:a16="http://schemas.microsoft.com/office/drawing/2014/main" id="{D6AB81BF-C509-7E62-E6B4-59EF31BEB7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37057" y="446446"/>
            <a:ext cx="1591597" cy="533480"/>
          </a:xfrm>
          <a:prstGeom prst="rect">
            <a:avLst/>
          </a:prstGeom>
        </p:spPr>
      </p:pic>
    </p:spTree>
    <p:extLst>
      <p:ext uri="{BB962C8B-B14F-4D97-AF65-F5344CB8AC3E}">
        <p14:creationId xmlns:p14="http://schemas.microsoft.com/office/powerpoint/2010/main" val="1578383910"/>
      </p:ext>
    </p:extLst>
  </p:cSld>
  <p:clrMapOvr>
    <a:masterClrMapping/>
  </p:clrMapOvr>
  <mc:AlternateContent xmlns:mc="http://schemas.openxmlformats.org/markup-compatibility/2006" xmlns:p14="http://schemas.microsoft.com/office/powerpoint/2010/main">
    <mc:Choice Requires="p14">
      <p:transition spd="slow" p14:dur="1500" advClick="0" advTm="116">
        <p:random/>
      </p:transition>
    </mc:Choice>
    <mc:Fallback xmlns="">
      <p:transition spd="slow" advClick="0" advTm="116">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ED182-C44B-EBAC-50EF-8C2E4823D753}"/>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E4EED97C-9B21-755F-21F8-CECDA2AF9258}"/>
              </a:ext>
            </a:extLst>
          </p:cNvPr>
          <p:cNvGrpSpPr/>
          <p:nvPr/>
        </p:nvGrpSpPr>
        <p:grpSpPr>
          <a:xfrm>
            <a:off x="3954227" y="538222"/>
            <a:ext cx="4328485" cy="830997"/>
            <a:chOff x="3954227" y="538222"/>
            <a:chExt cx="4328485" cy="830997"/>
          </a:xfrm>
        </p:grpSpPr>
        <p:sp>
          <p:nvSpPr>
            <p:cNvPr id="5" name="文本框 4">
              <a:extLst>
                <a:ext uri="{FF2B5EF4-FFF2-40B4-BE49-F238E27FC236}">
                  <a16:creationId xmlns:a16="http://schemas.microsoft.com/office/drawing/2014/main" id="{1854B630-A3BD-B99B-A871-A449A451AC55}"/>
                </a:ext>
              </a:extLst>
            </p:cNvPr>
            <p:cNvSpPr txBox="1"/>
            <p:nvPr/>
          </p:nvSpPr>
          <p:spPr>
            <a:xfrm>
              <a:off x="4034742" y="538222"/>
              <a:ext cx="4247970" cy="830997"/>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dirty="0">
                  <a:ea typeface="字魂58号-创中黑" panose="00000500000000000000" pitchFamily="2" charset="-122"/>
                  <a:sym typeface="字魂58号-创中黑" panose="00000500000000000000" pitchFamily="2" charset="-122"/>
                </a:rPr>
                <a:t>六、</a:t>
              </a:r>
              <a:r>
                <a:rPr lang="zh-CN" altLang="en-US" sz="2400" dirty="0">
                  <a:latin typeface="字魂58号-创中黑" panose="00000500000000000000" pitchFamily="2" charset="-122"/>
                  <a:ea typeface="字魂58号-创中黑" panose="00000500000000000000" pitchFamily="2" charset="-122"/>
                  <a:sym typeface="字魂58号-创中黑" panose="00000500000000000000" pitchFamily="2" charset="-122"/>
                </a:rPr>
                <a:t>总结与展望</a:t>
              </a:r>
            </a:p>
            <a:p>
              <a:endPar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6" name="文本框 20" descr="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
              <a:extLst>
                <a:ext uri="{FF2B5EF4-FFF2-40B4-BE49-F238E27FC236}">
                  <a16:creationId xmlns:a16="http://schemas.microsoft.com/office/drawing/2014/main" id="{BA443754-59AE-0127-4ECA-8E1D89D83208}"/>
                </a:ext>
              </a:extLst>
            </p:cNvPr>
            <p:cNvSpPr txBox="1">
              <a:spLocks noChangeArrowheads="1"/>
            </p:cNvSpPr>
            <p:nvPr/>
          </p:nvSpPr>
          <p:spPr bwMode="auto">
            <a:xfrm>
              <a:off x="3954227" y="869947"/>
              <a:ext cx="4283545" cy="2959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scene3d>
                <a:camera prst="orthographicFront"/>
                <a:lightRig rig="threePt" dir="t"/>
              </a:scene3d>
              <a:sp3d contourW="12700"/>
            </a:bodyPr>
            <a:lstStyle>
              <a:defPPr>
                <a:defRPr lang="en-US"/>
              </a:defPPr>
              <a:lvl1pPr algn="ctr" defTabSz="457200">
                <a:lnSpc>
                  <a:spcPct val="120000"/>
                </a:lnSpc>
                <a:defRPr sz="1000">
                  <a:solidFill>
                    <a:schemeClr val="bg1">
                      <a:lumMod val="50000"/>
                    </a:schemeClr>
                  </a:solidFill>
                  <a:latin typeface="Century Gothic" panose="020B0502020202020204" pitchFamily="34" charset="0"/>
                </a:defRPr>
              </a:lvl1pPr>
              <a:lvl2pPr defTabSz="457200"/>
              <a:lvl3pPr defTabSz="457200"/>
              <a:lvl4pPr defTabSz="457200"/>
              <a:lvl5pPr defTabSz="457200"/>
              <a:lvl6pPr defTabSz="457200"/>
              <a:lvl7pPr defTabSz="457200"/>
              <a:lvl8pPr defTabSz="457200"/>
              <a:lvl9pPr defTabSz="457200"/>
            </a:lstStyle>
            <a:p>
              <a:pPr defTabSz="457200">
                <a:lnSpc>
                  <a:spcPct val="150000"/>
                </a:lnSpc>
              </a:pPr>
              <a:r>
                <a:rPr lang="en-US" altLang="zh-CN" sz="1000" dirty="0">
                  <a:solidFill>
                    <a:schemeClr val="tx1">
                      <a:lumMod val="50000"/>
                      <a:lumOff val="50000"/>
                    </a:schemeClr>
                  </a:solidFill>
                  <a:latin typeface="字魂58号-创中黑" panose="00000500000000000000" pitchFamily="2" charset="-122"/>
                  <a:ea typeface="字魂58号-创中黑" panose="00000500000000000000" pitchFamily="2" charset="-122"/>
                  <a:sym typeface="字魂58号-创中黑" panose="00000500000000000000" pitchFamily="2" charset="-122"/>
                </a:rPr>
                <a:t>Summary and Outlook</a:t>
              </a:r>
            </a:p>
          </p:txBody>
        </p:sp>
        <p:cxnSp>
          <p:nvCxnSpPr>
            <p:cNvPr id="7" name="直接连接符 6" descr="e7d195523061f1c09e9d68d7cf438b91ef959ecb14fc25d26BBA7F7DBC18E55DFF4014AF651F0BF2569D4B6C1DA7F1A4683A481403BD872FC687266AD13265C1DE7C373772FD8728ABDD69ADD03BFF5BE2862BC891DBB79E20E800D2617F74A1B1C2BD36B4775443B247B420ECD0833E56641FB1FC45EF8A9F34DE2B3CCEF5430D0ECD5081AA93F6DEE27EA9C4260FE4">
              <a:extLst>
                <a:ext uri="{FF2B5EF4-FFF2-40B4-BE49-F238E27FC236}">
                  <a16:creationId xmlns:a16="http://schemas.microsoft.com/office/drawing/2014/main" id="{1B3F9910-AC57-2C67-B045-5724BD38C4C8}"/>
                </a:ext>
              </a:extLst>
            </p:cNvPr>
            <p:cNvCxnSpPr>
              <a:cxnSpLocks/>
            </p:cNvCxnSpPr>
            <p:nvPr/>
          </p:nvCxnSpPr>
          <p:spPr>
            <a:xfrm>
              <a:off x="5995989" y="1185781"/>
              <a:ext cx="184892" cy="0"/>
            </a:xfrm>
            <a:prstGeom prst="line">
              <a:avLst/>
            </a:prstGeom>
            <a:ln w="38100">
              <a:solidFill>
                <a:srgbClr val="1C4987"/>
              </a:solidFill>
            </a:ln>
          </p:spPr>
          <p:style>
            <a:lnRef idx="1">
              <a:schemeClr val="accent1"/>
            </a:lnRef>
            <a:fillRef idx="0">
              <a:schemeClr val="accent1"/>
            </a:fillRef>
            <a:effectRef idx="0">
              <a:schemeClr val="accent1"/>
            </a:effectRef>
            <a:fontRef idx="minor">
              <a:schemeClr val="tx1"/>
            </a:fontRef>
          </p:style>
        </p:cxnSp>
      </p:grpSp>
      <p:sp>
        <p:nvSpPr>
          <p:cNvPr id="32" name="文本框 31">
            <a:extLst>
              <a:ext uri="{FF2B5EF4-FFF2-40B4-BE49-F238E27FC236}">
                <a16:creationId xmlns:a16="http://schemas.microsoft.com/office/drawing/2014/main" id="{98121A62-3495-E365-43DE-F407812F95CA}"/>
              </a:ext>
            </a:extLst>
          </p:cNvPr>
          <p:cNvSpPr txBox="1"/>
          <p:nvPr/>
        </p:nvSpPr>
        <p:spPr>
          <a:xfrm>
            <a:off x="1272858" y="1203891"/>
            <a:ext cx="1389380" cy="396583"/>
          </a:xfrm>
          <a:prstGeom prst="rect">
            <a:avLst/>
          </a:prstGeom>
          <a:noFill/>
        </p:spPr>
        <p:txBody>
          <a:bodyPr wrap="square">
            <a:spAutoFit/>
          </a:bodyPr>
          <a:lstStyle/>
          <a:p>
            <a:pPr algn="ctr">
              <a:lnSpc>
                <a:spcPct val="120000"/>
              </a:lnSpc>
            </a:pPr>
            <a:r>
              <a:rPr lang="zh-CN" altLang="en-US"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rPr>
              <a:t>总结与展望</a:t>
            </a:r>
            <a:endParaRPr lang="en-US" altLang="zh-CN" b="1" kern="0" dirty="0">
              <a:solidFill>
                <a:prstClr val="black">
                  <a:lumMod val="65000"/>
                  <a:lumOff val="35000"/>
                </a:prstClr>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sp>
        <p:nvSpPr>
          <p:cNvPr id="35" name="文本框 34">
            <a:extLst>
              <a:ext uri="{FF2B5EF4-FFF2-40B4-BE49-F238E27FC236}">
                <a16:creationId xmlns:a16="http://schemas.microsoft.com/office/drawing/2014/main" id="{86A82F77-3CB0-7CAB-DAFB-23980A38F368}"/>
              </a:ext>
            </a:extLst>
          </p:cNvPr>
          <p:cNvSpPr txBox="1"/>
          <p:nvPr/>
        </p:nvSpPr>
        <p:spPr>
          <a:xfrm>
            <a:off x="1272858" y="2035023"/>
            <a:ext cx="10146981" cy="1530868"/>
          </a:xfrm>
          <a:prstGeom prst="rect">
            <a:avLst/>
          </a:prstGeom>
          <a:noFill/>
        </p:spPr>
        <p:txBody>
          <a:bodyPr wrap="square">
            <a:spAutoFit/>
          </a:bodyPr>
          <a:lstStyle/>
          <a:p>
            <a:pPr>
              <a:lnSpc>
                <a:spcPct val="150000"/>
              </a:lnSpc>
            </a:pPr>
            <a:r>
              <a:rPr lang="zh-CN" altLang="en-US" sz="1600" dirty="0">
                <a:ea typeface="字魂58号-创中黑" panose="00000500000000000000"/>
              </a:rPr>
              <a:t>       本研究面向冷轧连退带钢的力学性能预测与质量控制需求，提出一种融合物理机理与数据驱动模型的建模方法，并结合数字孪生理念构建了集预测分析、可视化展示与人机交互于一体的质量分析系统。通过解析冷轧工艺对性能参数的影响机制，完成数据清洗与特征构造，利用</a:t>
            </a:r>
            <a:r>
              <a:rPr lang="en-US" altLang="zh-CN" sz="1600" dirty="0" err="1">
                <a:ea typeface="字魂58号-创中黑" panose="00000500000000000000"/>
              </a:rPr>
              <a:t>XGBoost</a:t>
            </a:r>
            <a:r>
              <a:rPr lang="zh-CN" altLang="en-US" sz="1600" dirty="0">
                <a:ea typeface="字魂58号-创中黑" panose="00000500000000000000"/>
              </a:rPr>
              <a:t>构建多输出回归模型并引入贝叶斯优化提升预测精度，最终基于</a:t>
            </a:r>
            <a:r>
              <a:rPr lang="en-US" altLang="zh-CN" sz="1600" dirty="0">
                <a:ea typeface="字魂58号-创中黑" panose="00000500000000000000"/>
              </a:rPr>
              <a:t>Unity</a:t>
            </a:r>
            <a:r>
              <a:rPr lang="zh-CN" altLang="en-US" sz="1600" dirty="0">
                <a:ea typeface="字魂58号-创中黑" panose="00000500000000000000"/>
              </a:rPr>
              <a:t>实现了冷轧产线数字孪生系统，有效支撑了工业现场的性能预测与决策分析。</a:t>
            </a:r>
          </a:p>
        </p:txBody>
      </p:sp>
      <p:sp>
        <p:nvSpPr>
          <p:cNvPr id="45" name="文本框 44">
            <a:extLst>
              <a:ext uri="{FF2B5EF4-FFF2-40B4-BE49-F238E27FC236}">
                <a16:creationId xmlns:a16="http://schemas.microsoft.com/office/drawing/2014/main" id="{8940FA37-21E9-0492-2588-1A8686C2B32D}"/>
              </a:ext>
            </a:extLst>
          </p:cNvPr>
          <p:cNvSpPr txBox="1"/>
          <p:nvPr/>
        </p:nvSpPr>
        <p:spPr>
          <a:xfrm>
            <a:off x="1272858" y="4018550"/>
            <a:ext cx="10146980" cy="1530868"/>
          </a:xfrm>
          <a:prstGeom prst="rect">
            <a:avLst/>
          </a:prstGeom>
          <a:noFill/>
        </p:spPr>
        <p:txBody>
          <a:bodyPr wrap="square">
            <a:spAutoFit/>
          </a:bodyPr>
          <a:lstStyle/>
          <a:p>
            <a:pPr>
              <a:lnSpc>
                <a:spcPct val="150000"/>
              </a:lnSpc>
            </a:pPr>
            <a:r>
              <a:rPr lang="zh-CN" altLang="en-US" sz="1600" dirty="0">
                <a:ea typeface="字魂58号-创中黑" panose="00000500000000000000"/>
              </a:rPr>
              <a:t>        尽管当前系统已具备良好预测性能，但在复杂工况下的鲁棒性仍有提升空间，未来可引入</a:t>
            </a:r>
            <a:r>
              <a:rPr lang="en-US" altLang="zh-CN" sz="1600" dirty="0" err="1">
                <a:ea typeface="字魂58号-创中黑" panose="00000500000000000000"/>
              </a:rPr>
              <a:t>GNN</a:t>
            </a:r>
            <a:r>
              <a:rPr lang="zh-CN" altLang="en-US" sz="1600" dirty="0">
                <a:ea typeface="字魂58号-创中黑" panose="00000500000000000000"/>
              </a:rPr>
              <a:t>、</a:t>
            </a:r>
            <a:r>
              <a:rPr lang="en-US" altLang="zh-CN" sz="1600" dirty="0">
                <a:ea typeface="字魂58号-创中黑" panose="00000500000000000000"/>
              </a:rPr>
              <a:t>PINN</a:t>
            </a:r>
            <a:r>
              <a:rPr lang="zh-CN" altLang="en-US" sz="1600" dirty="0">
                <a:ea typeface="字魂58号-创中黑" panose="00000500000000000000"/>
              </a:rPr>
              <a:t>等新兴建模方法，融合更多异构工业数据增强模型泛化能力。同时，应进一步完善系统的闭环控制功能，实现预测与工艺调节的联动，并探索云平台、边缘计算的融合部署，以支持多产线协同及快速响应。结合</a:t>
            </a:r>
            <a:r>
              <a:rPr lang="en-US" altLang="zh-CN" sz="1600" dirty="0">
                <a:ea typeface="字魂58号-创中黑" panose="00000500000000000000"/>
              </a:rPr>
              <a:t>AR</a:t>
            </a:r>
            <a:r>
              <a:rPr lang="zh-CN" altLang="en-US" sz="1600" dirty="0">
                <a:ea typeface="字魂58号-创中黑" panose="00000500000000000000"/>
              </a:rPr>
              <a:t>交互、语音控制等智能手段，也有助于提升系统的可用性与智能化水平，为冷轧智能制造体系建设提供理论基础与实践路径。</a:t>
            </a:r>
          </a:p>
        </p:txBody>
      </p:sp>
      <p:sp>
        <p:nvSpPr>
          <p:cNvPr id="46" name="文本框 45">
            <a:extLst>
              <a:ext uri="{FF2B5EF4-FFF2-40B4-BE49-F238E27FC236}">
                <a16:creationId xmlns:a16="http://schemas.microsoft.com/office/drawing/2014/main" id="{09895448-BBAB-7BDB-FE58-28D1F6B8A3ED}"/>
              </a:ext>
            </a:extLst>
          </p:cNvPr>
          <p:cNvSpPr txBox="1"/>
          <p:nvPr/>
        </p:nvSpPr>
        <p:spPr>
          <a:xfrm>
            <a:off x="1272858" y="1669478"/>
            <a:ext cx="1043940" cy="338554"/>
          </a:xfrm>
          <a:prstGeom prst="rect">
            <a:avLst/>
          </a:prstGeom>
          <a:noFill/>
        </p:spPr>
        <p:txBody>
          <a:bodyPr wrap="square">
            <a:spAutoFit/>
          </a:bodyPr>
          <a:lstStyle/>
          <a:p>
            <a:r>
              <a:rPr lang="zh-CN" altLang="en-US" sz="1600" kern="100" dirty="0">
                <a:effectLst/>
                <a:latin typeface="Times New Roman" panose="02020603050405020304" pitchFamily="18" charset="0"/>
                <a:ea typeface="字魂58号-创中黑" panose="00000500000000000000"/>
                <a:cs typeface="Times New Roman" panose="02020603050405020304" pitchFamily="18" charset="0"/>
              </a:rPr>
              <a:t>总结部分</a:t>
            </a:r>
            <a:endParaRPr lang="zh-CN" altLang="en-US" sz="1600" dirty="0">
              <a:ea typeface="字魂58号-创中黑" panose="00000500000000000000"/>
            </a:endParaRPr>
          </a:p>
        </p:txBody>
      </p:sp>
      <p:sp>
        <p:nvSpPr>
          <p:cNvPr id="48" name="文本框 47">
            <a:extLst>
              <a:ext uri="{FF2B5EF4-FFF2-40B4-BE49-F238E27FC236}">
                <a16:creationId xmlns:a16="http://schemas.microsoft.com/office/drawing/2014/main" id="{42F8FFB7-58FD-29E5-2E0C-8D7102032757}"/>
              </a:ext>
            </a:extLst>
          </p:cNvPr>
          <p:cNvSpPr txBox="1"/>
          <p:nvPr/>
        </p:nvSpPr>
        <p:spPr>
          <a:xfrm>
            <a:off x="1272858" y="3679996"/>
            <a:ext cx="1043940" cy="338554"/>
          </a:xfrm>
          <a:prstGeom prst="rect">
            <a:avLst/>
          </a:prstGeom>
          <a:noFill/>
        </p:spPr>
        <p:txBody>
          <a:bodyPr wrap="square">
            <a:spAutoFit/>
          </a:bodyPr>
          <a:lstStyle/>
          <a:p>
            <a:r>
              <a:rPr lang="zh-CN" altLang="en-US" sz="1600" kern="100" dirty="0">
                <a:latin typeface="Times New Roman" panose="02020603050405020304" pitchFamily="18" charset="0"/>
                <a:ea typeface="字魂58号-创中黑" panose="00000500000000000000"/>
                <a:cs typeface="Times New Roman" panose="02020603050405020304" pitchFamily="18" charset="0"/>
              </a:rPr>
              <a:t>展望</a:t>
            </a:r>
            <a:r>
              <a:rPr lang="zh-CN" altLang="en-US" sz="1600" kern="100" dirty="0">
                <a:effectLst/>
                <a:latin typeface="Times New Roman" panose="02020603050405020304" pitchFamily="18" charset="0"/>
                <a:ea typeface="字魂58号-创中黑" panose="00000500000000000000"/>
                <a:cs typeface="Times New Roman" panose="02020603050405020304" pitchFamily="18" charset="0"/>
              </a:rPr>
              <a:t>部分</a:t>
            </a:r>
            <a:endParaRPr lang="zh-CN" altLang="en-US" sz="1600" dirty="0">
              <a:ea typeface="字魂58号-创中黑" panose="00000500000000000000"/>
            </a:endParaRPr>
          </a:p>
        </p:txBody>
      </p:sp>
    </p:spTree>
    <p:extLst>
      <p:ext uri="{BB962C8B-B14F-4D97-AF65-F5344CB8AC3E}">
        <p14:creationId xmlns:p14="http://schemas.microsoft.com/office/powerpoint/2010/main" val="1388562812"/>
      </p:ext>
    </p:extLst>
  </p:cSld>
  <p:clrMapOvr>
    <a:masterClrMapping/>
  </p:clrMapOvr>
  <mc:AlternateContent xmlns:mc="http://schemas.openxmlformats.org/markup-compatibility/2006" xmlns:p14="http://schemas.microsoft.com/office/powerpoint/2010/main">
    <mc:Choice Requires="p14">
      <p:transition spd="slow" p14:dur="1500" advClick="0" advTm="9686">
        <p:random/>
      </p:transition>
    </mc:Choice>
    <mc:Fallback xmlns="">
      <p:transition spd="slow" advClick="0" advTm="9686">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ECA2010B-558D-44BB-9A3A-8CC960541A3B}"/>
              </a:ext>
            </a:extLst>
          </p:cNvPr>
          <p:cNvSpPr txBox="1"/>
          <p:nvPr/>
        </p:nvSpPr>
        <p:spPr>
          <a:xfrm>
            <a:off x="959427" y="2825508"/>
            <a:ext cx="10273145" cy="923330"/>
          </a:xfrm>
          <a:prstGeom prst="rect">
            <a:avLst/>
          </a:prstGeom>
          <a:noFill/>
        </p:spPr>
        <p:txBody>
          <a:bodyPr wrap="square" rtlCol="0">
            <a:spAutoFit/>
          </a:bodyPr>
          <a:lstStyle/>
          <a:p>
            <a:pPr algn="ctr"/>
            <a:r>
              <a:rPr lang="zh-CN" altLang="en-US" sz="5400" b="1" dirty="0">
                <a:solidFill>
                  <a:srgbClr val="1C4987"/>
                </a:solidFill>
                <a:latin typeface="字魂58号-创中黑" panose="00000500000000000000" pitchFamily="2" charset="-122"/>
                <a:ea typeface="字魂58号-创中黑" panose="00000500000000000000" pitchFamily="2" charset="-122"/>
                <a:sym typeface="字魂58号-创中黑" panose="00000500000000000000" pitchFamily="2" charset="-122"/>
              </a:rPr>
              <a:t>请各位老师批评指正</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2671" y="1172619"/>
            <a:ext cx="3952010" cy="1324655"/>
          </a:xfrm>
          <a:prstGeom prst="rect">
            <a:avLst/>
          </a:prstGeom>
        </p:spPr>
      </p:pic>
      <p:sp>
        <p:nvSpPr>
          <p:cNvPr id="3" name="文本框 2" descr="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
            <a:extLst>
              <a:ext uri="{FF2B5EF4-FFF2-40B4-BE49-F238E27FC236}">
                <a16:creationId xmlns:a16="http://schemas.microsoft.com/office/drawing/2014/main" id="{B0E40231-B90C-F21E-1AE3-3AD13884CD0D}"/>
              </a:ext>
            </a:extLst>
          </p:cNvPr>
          <p:cNvSpPr txBox="1"/>
          <p:nvPr/>
        </p:nvSpPr>
        <p:spPr>
          <a:xfrm>
            <a:off x="3666380" y="4077072"/>
            <a:ext cx="5007022" cy="461665"/>
          </a:xfrm>
          <a:prstGeom prst="rect">
            <a:avLst/>
          </a:prstGeom>
          <a:noFill/>
        </p:spPr>
        <p:txBody>
          <a:bodyPr wrap="square" rtlCol="0">
            <a:spAutoFit/>
          </a:bodyPr>
          <a:lstStyle>
            <a:defPPr>
              <a:defRPr lang="zh-CN"/>
            </a:defPPr>
            <a:lvl1pPr algn="ctr">
              <a:defRPr sz="5400" b="1">
                <a:solidFill>
                  <a:srgbClr val="1C4987"/>
                </a:solidFill>
                <a:latin typeface="方正正粗黑简体" panose="02000000000000000000" pitchFamily="2" charset="-122"/>
                <a:ea typeface="方正正粗黑简体" panose="02000000000000000000" pitchFamily="2" charset="-122"/>
              </a:defRPr>
            </a:lvl1pPr>
          </a:lstStyle>
          <a:p>
            <a:r>
              <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rPr>
              <a:t>信息科学与工程学院自动化</a:t>
            </a:r>
            <a:r>
              <a:rPr lang="en-US" altLang="zh-CN"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rPr>
              <a:t>2021</a:t>
            </a:r>
            <a:r>
              <a:rPr lang="zh-CN" altLang="en-US"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rPr>
              <a:t>级</a:t>
            </a:r>
            <a:endParaRPr lang="en-US" altLang="zh-CN" sz="2400" b="0" dirty="0">
              <a:solidFill>
                <a:srgbClr val="0170BD"/>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grpSp>
        <p:nvGrpSpPr>
          <p:cNvPr id="4" name="组合 3" descr="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
            <a:extLst>
              <a:ext uri="{FF2B5EF4-FFF2-40B4-BE49-F238E27FC236}">
                <a16:creationId xmlns:a16="http://schemas.microsoft.com/office/drawing/2014/main" id="{276CF97A-CD0B-3D53-072F-F5B093B7E2A9}"/>
              </a:ext>
            </a:extLst>
          </p:cNvPr>
          <p:cNvGrpSpPr/>
          <p:nvPr/>
        </p:nvGrpSpPr>
        <p:grpSpPr>
          <a:xfrm>
            <a:off x="8726712" y="4241229"/>
            <a:ext cx="332342" cy="133350"/>
            <a:chOff x="8385415" y="3672960"/>
            <a:chExt cx="332342" cy="133350"/>
          </a:xfrm>
          <a:solidFill>
            <a:srgbClr val="0170BD"/>
          </a:solidFill>
        </p:grpSpPr>
        <p:sp>
          <p:nvSpPr>
            <p:cNvPr id="5" name="椭圆 4">
              <a:extLst>
                <a:ext uri="{FF2B5EF4-FFF2-40B4-BE49-F238E27FC236}">
                  <a16:creationId xmlns:a16="http://schemas.microsoft.com/office/drawing/2014/main" id="{7042E3DA-672E-DA39-7108-C9A4598AE957}"/>
                </a:ext>
              </a:extLst>
            </p:cNvPr>
            <p:cNvSpPr/>
            <p:nvPr/>
          </p:nvSpPr>
          <p:spPr>
            <a:xfrm>
              <a:off x="8385415" y="3672960"/>
              <a:ext cx="133350" cy="133350"/>
            </a:xfrm>
            <a:prstGeom prst="ellipse">
              <a:avLst/>
            </a:prstGeom>
            <a:grpFill/>
            <a:ln>
              <a:solidFill>
                <a:srgbClr val="0170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cxnSp>
          <p:nvCxnSpPr>
            <p:cNvPr id="6" name="直接连接符 5">
              <a:extLst>
                <a:ext uri="{FF2B5EF4-FFF2-40B4-BE49-F238E27FC236}">
                  <a16:creationId xmlns:a16="http://schemas.microsoft.com/office/drawing/2014/main" id="{66400519-7C83-B84E-D76E-68D554CEA2E9}"/>
                </a:ext>
              </a:extLst>
            </p:cNvPr>
            <p:cNvCxnSpPr/>
            <p:nvPr/>
          </p:nvCxnSpPr>
          <p:spPr>
            <a:xfrm>
              <a:off x="8516384" y="3739635"/>
              <a:ext cx="201373" cy="0"/>
            </a:xfrm>
            <a:prstGeom prst="line">
              <a:avLst/>
            </a:prstGeom>
            <a:grpFill/>
            <a:ln w="3175">
              <a:solidFill>
                <a:srgbClr val="0170BD"/>
              </a:solidFill>
            </a:ln>
          </p:spPr>
          <p:style>
            <a:lnRef idx="1">
              <a:schemeClr val="accent1"/>
            </a:lnRef>
            <a:fillRef idx="0">
              <a:schemeClr val="accent1"/>
            </a:fillRef>
            <a:effectRef idx="0">
              <a:schemeClr val="accent1"/>
            </a:effectRef>
            <a:fontRef idx="minor">
              <a:schemeClr val="tx1"/>
            </a:fontRef>
          </p:style>
        </p:cxnSp>
      </p:grpSp>
      <p:grpSp>
        <p:nvGrpSpPr>
          <p:cNvPr id="7" name="组合 6" descr="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
            <a:extLst>
              <a:ext uri="{FF2B5EF4-FFF2-40B4-BE49-F238E27FC236}">
                <a16:creationId xmlns:a16="http://schemas.microsoft.com/office/drawing/2014/main" id="{9F625852-D65D-5178-5206-FC54837BEB22}"/>
              </a:ext>
            </a:extLst>
          </p:cNvPr>
          <p:cNvGrpSpPr/>
          <p:nvPr/>
        </p:nvGrpSpPr>
        <p:grpSpPr>
          <a:xfrm flipH="1">
            <a:off x="3318112" y="4241229"/>
            <a:ext cx="332342" cy="133350"/>
            <a:chOff x="8385415" y="3672960"/>
            <a:chExt cx="332342" cy="133350"/>
          </a:xfrm>
          <a:solidFill>
            <a:srgbClr val="0170BD"/>
          </a:solidFill>
        </p:grpSpPr>
        <p:sp>
          <p:nvSpPr>
            <p:cNvPr id="8" name="椭圆 7">
              <a:extLst>
                <a:ext uri="{FF2B5EF4-FFF2-40B4-BE49-F238E27FC236}">
                  <a16:creationId xmlns:a16="http://schemas.microsoft.com/office/drawing/2014/main" id="{61097D43-F207-65E1-755E-8C99D454963B}"/>
                </a:ext>
              </a:extLst>
            </p:cNvPr>
            <p:cNvSpPr/>
            <p:nvPr/>
          </p:nvSpPr>
          <p:spPr>
            <a:xfrm>
              <a:off x="8385415" y="3672960"/>
              <a:ext cx="133350" cy="133350"/>
            </a:xfrm>
            <a:prstGeom prst="ellipse">
              <a:avLst/>
            </a:prstGeom>
            <a:grpFill/>
            <a:ln>
              <a:solidFill>
                <a:srgbClr val="0170B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字魂58号-创中黑" panose="00000500000000000000" pitchFamily="2" charset="-122"/>
                <a:ea typeface="字魂58号-创中黑" panose="00000500000000000000" pitchFamily="2" charset="-122"/>
                <a:sym typeface="字魂58号-创中黑" panose="00000500000000000000" pitchFamily="2" charset="-122"/>
              </a:endParaRPr>
            </a:p>
          </p:txBody>
        </p:sp>
        <p:cxnSp>
          <p:nvCxnSpPr>
            <p:cNvPr id="9" name="直接连接符 8">
              <a:extLst>
                <a:ext uri="{FF2B5EF4-FFF2-40B4-BE49-F238E27FC236}">
                  <a16:creationId xmlns:a16="http://schemas.microsoft.com/office/drawing/2014/main" id="{E4EC44FF-98F9-2216-CE43-50B151B017EF}"/>
                </a:ext>
              </a:extLst>
            </p:cNvPr>
            <p:cNvCxnSpPr/>
            <p:nvPr/>
          </p:nvCxnSpPr>
          <p:spPr>
            <a:xfrm>
              <a:off x="8516384" y="3739635"/>
              <a:ext cx="201373" cy="0"/>
            </a:xfrm>
            <a:prstGeom prst="line">
              <a:avLst/>
            </a:prstGeom>
            <a:grpFill/>
            <a:ln w="3175">
              <a:solidFill>
                <a:srgbClr val="0170BD"/>
              </a:solidFill>
            </a:ln>
          </p:spPr>
          <p:style>
            <a:lnRef idx="1">
              <a:schemeClr val="accent1"/>
            </a:lnRef>
            <a:fillRef idx="0">
              <a:schemeClr val="accent1"/>
            </a:fillRef>
            <a:effectRef idx="0">
              <a:schemeClr val="accent1"/>
            </a:effectRef>
            <a:fontRef idx="minor">
              <a:schemeClr val="tx1"/>
            </a:fontRef>
          </p:style>
        </p:cxnSp>
      </p:grpSp>
      <p:sp>
        <p:nvSpPr>
          <p:cNvPr id="20" name="文本框 19" descr="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
            <a:extLst>
              <a:ext uri="{FF2B5EF4-FFF2-40B4-BE49-F238E27FC236}">
                <a16:creationId xmlns:a16="http://schemas.microsoft.com/office/drawing/2014/main" id="{6B1B2C3C-4541-1460-0F3A-19B1D3B2E039}"/>
              </a:ext>
            </a:extLst>
          </p:cNvPr>
          <p:cNvSpPr txBox="1"/>
          <p:nvPr/>
        </p:nvSpPr>
        <p:spPr>
          <a:xfrm>
            <a:off x="2706442" y="4994944"/>
            <a:ext cx="1800493" cy="369332"/>
          </a:xfrm>
          <a:prstGeom prst="rect">
            <a:avLst/>
          </a:prstGeom>
          <a:noFill/>
        </p:spPr>
        <p:txBody>
          <a:bodyPr wrap="none" rtlCol="0">
            <a:spAutoFit/>
          </a:bodyPr>
          <a:lstStyle/>
          <a:p>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答辩学生：付蔚</a:t>
            </a:r>
          </a:p>
        </p:txBody>
      </p:sp>
      <p:sp>
        <p:nvSpPr>
          <p:cNvPr id="21" name="文本框 20" descr="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
            <a:extLst>
              <a:ext uri="{FF2B5EF4-FFF2-40B4-BE49-F238E27FC236}">
                <a16:creationId xmlns:a16="http://schemas.microsoft.com/office/drawing/2014/main" id="{0DCD1F22-6EAD-5D55-FB79-B7E2762A715A}"/>
              </a:ext>
            </a:extLst>
          </p:cNvPr>
          <p:cNvSpPr txBox="1"/>
          <p:nvPr/>
        </p:nvSpPr>
        <p:spPr>
          <a:xfrm>
            <a:off x="7673845" y="4994944"/>
            <a:ext cx="1811713" cy="369332"/>
          </a:xfrm>
          <a:prstGeom prst="rect">
            <a:avLst/>
          </a:prstGeom>
          <a:noFill/>
        </p:spPr>
        <p:txBody>
          <a:bodyPr wrap="square" rtlCol="0">
            <a:spAutoFit/>
          </a:bodyPr>
          <a:lstStyle/>
          <a:p>
            <a:pPr algn="ctr"/>
            <a:r>
              <a:rPr lang="zh-CN" altLang="en-US" dirty="0">
                <a:latin typeface="字魂58号-创中黑" panose="00000500000000000000" pitchFamily="2" charset="-122"/>
                <a:ea typeface="字魂58号-创中黑" panose="00000500000000000000" pitchFamily="2" charset="-122"/>
                <a:sym typeface="字魂58号-创中黑" panose="00000500000000000000" pitchFamily="2" charset="-122"/>
              </a:rPr>
              <a:t>指导老师：刘畅</a:t>
            </a:r>
          </a:p>
        </p:txBody>
      </p:sp>
    </p:spTree>
    <p:extLst>
      <p:ext uri="{BB962C8B-B14F-4D97-AF65-F5344CB8AC3E}">
        <p14:creationId xmlns:p14="http://schemas.microsoft.com/office/powerpoint/2010/main" val="1155359441"/>
      </p:ext>
    </p:extLst>
  </p:cSld>
  <p:clrMapOvr>
    <a:masterClrMapping/>
  </p:clrMapOvr>
  <mc:AlternateContent xmlns:mc="http://schemas.openxmlformats.org/markup-compatibility/2006" xmlns:p14="http://schemas.microsoft.com/office/powerpoint/2010/main">
    <mc:Choice Requires="p14">
      <p:transition spd="slow" p14:dur="1500" advClick="0" advTm="4550">
        <p:random/>
      </p:transition>
    </mc:Choice>
    <mc:Fallback xmlns="">
      <p:transition spd="slow" advClick="0" advTm="4550">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982"/>
  <p:tag name="ISPRING_SCORM_RATE_SLIDES" val="0"/>
  <p:tag name="ISPRING_SCORM_RATE_QUIZZES" val="0"/>
  <p:tag name="ISPRING_SCORM_PASSING_SCORE" val="0.000000"/>
  <p:tag name="ISPRING_ULTRA_SCORM_COURSE_ID" val="FBD9F647-9D34-4D8C-A890-0D0B4BF36918"/>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Repository"/>
  <p:tag name="ISPRING_OUTPUT_FOLDER" val="F:\1.30修改\79240"/>
  <p:tag name="ISPRING_FIRST_PUBLISH"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237">
    <a:dk1>
      <a:srgbClr val="000000"/>
    </a:dk1>
    <a:lt1>
      <a:srgbClr val="FFFFFF"/>
    </a:lt1>
    <a:dk2>
      <a:srgbClr val="778495"/>
    </a:dk2>
    <a:lt2>
      <a:srgbClr val="F0F0F0"/>
    </a:lt2>
    <a:accent1>
      <a:srgbClr val="0070C0"/>
    </a:accent1>
    <a:accent2>
      <a:srgbClr val="7F7F7F"/>
    </a:accent2>
    <a:accent3>
      <a:srgbClr val="0070C0"/>
    </a:accent3>
    <a:accent4>
      <a:srgbClr val="7F7F7F"/>
    </a:accent4>
    <a:accent5>
      <a:srgbClr val="0070C0"/>
    </a:accent5>
    <a:accent6>
      <a:srgbClr val="7F7F7F"/>
    </a:accent6>
    <a:hlink>
      <a:srgbClr val="0070C0"/>
    </a:hlink>
    <a:folHlink>
      <a:srgbClr val="7F7F7F"/>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2848</TotalTime>
  <Words>3295</Words>
  <Application>Microsoft Office PowerPoint</Application>
  <PresentationFormat>宽屏</PresentationFormat>
  <Paragraphs>525</Paragraphs>
  <Slides>38</Slides>
  <Notes>38</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48" baseType="lpstr">
      <vt:lpstr>等线</vt:lpstr>
      <vt:lpstr>等线 Light</vt:lpstr>
      <vt:lpstr>微软雅黑</vt:lpstr>
      <vt:lpstr>字魂58号-创中黑</vt:lpstr>
      <vt:lpstr>Arial</vt:lpstr>
      <vt:lpstr>Calibri</vt:lpstr>
      <vt:lpstr>Cambria Math</vt:lpstr>
      <vt:lpstr>Times New Roman</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982</dc:title>
  <dc:creator>Anzichen</dc:creator>
  <cp:lastModifiedBy>蔚 付</cp:lastModifiedBy>
  <cp:revision>91</cp:revision>
  <dcterms:created xsi:type="dcterms:W3CDTF">2018-09-08T09:26:10Z</dcterms:created>
  <dcterms:modified xsi:type="dcterms:W3CDTF">2025-06-04T05:58:19Z</dcterms:modified>
</cp:coreProperties>
</file>